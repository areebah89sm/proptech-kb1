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6"/>
  </p:notesMasterIdLst>
  <p:sldIdLst>
    <p:sldId id="276" r:id="rId2"/>
    <p:sldId id="258" r:id="rId3"/>
    <p:sldId id="1388" r:id="rId4"/>
    <p:sldId id="1380" r:id="rId5"/>
    <p:sldId id="1375" r:id="rId6"/>
    <p:sldId id="1386" r:id="rId7"/>
    <p:sldId id="1390" r:id="rId8"/>
    <p:sldId id="1381" r:id="rId9"/>
    <p:sldId id="1382" r:id="rId10"/>
    <p:sldId id="1387" r:id="rId11"/>
    <p:sldId id="1383" r:id="rId12"/>
    <p:sldId id="1384" r:id="rId13"/>
    <p:sldId id="779" r:id="rId14"/>
    <p:sldId id="289" r:id="rId15"/>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34" userDrawn="1">
          <p15:clr>
            <a:srgbClr val="A4A3A4"/>
          </p15:clr>
        </p15:guide>
        <p15:guide id="2" pos="421" userDrawn="1">
          <p15:clr>
            <a:srgbClr val="A4A3A4"/>
          </p15:clr>
        </p15:guide>
        <p15:guide id="3" orient="horz" pos="3271" userDrawn="1">
          <p15:clr>
            <a:srgbClr val="A4A3A4"/>
          </p15:clr>
        </p15:guide>
        <p15:guide id="4" orient="horz" pos="391" userDrawn="1">
          <p15:clr>
            <a:srgbClr val="A4A3A4"/>
          </p15:clr>
        </p15:guide>
        <p15:guide id="5" pos="541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echikova Svetlana" initials="CS" lastIdx="1" clrIdx="0">
    <p:extLst>
      <p:ext uri="{19B8F6BF-5375-455C-9EA6-DF929625EA0E}">
        <p15:presenceInfo xmlns:p15="http://schemas.microsoft.com/office/powerpoint/2012/main" userId="Chechikova Svetlan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B546B"/>
    <a:srgbClr val="7F7F7F"/>
    <a:srgbClr val="B2B2B2"/>
    <a:srgbClr val="63BE7B"/>
    <a:srgbClr val="A8C9DC"/>
    <a:srgbClr val="D6E5EE"/>
    <a:srgbClr val="C3DAE7"/>
    <a:srgbClr val="376C8A"/>
    <a:srgbClr val="9ACE7F"/>
    <a:srgbClr val="C2DA8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505E3EF-67EA-436B-97B2-0124C06EBD24}" styleName="Средний стиль 4 — акцент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16DA210-FB5B-4158-B5E0-FEB733F419BA}" styleName="Светлый стиль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C083E6E3-FA7D-4D7B-A595-EF9225AFEA82}" styleName="Светлый стиль 1 — акцент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799B23B-EC83-4686-B30A-512413B5E67A}" styleName="Светлый стиль 3 — акцент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D7AC3CCA-C797-4891-BE02-D94E43425B78}" styleName="Средний стиль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Светлый стиль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Светлый стиль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AF606853-7671-496A-8E4F-DF71F8EC918B}" styleName="Темный стиль 1 — акцент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123" autoAdjust="0"/>
    <p:restoredTop sz="87550" autoAdjust="0"/>
  </p:normalViewPr>
  <p:slideViewPr>
    <p:cSldViewPr snapToGrid="0">
      <p:cViewPr varScale="1">
        <p:scale>
          <a:sx n="59" d="100"/>
          <a:sy n="59" d="100"/>
        </p:scale>
        <p:origin x="168" y="48"/>
      </p:cViewPr>
      <p:guideLst>
        <p:guide orient="horz" pos="3634"/>
        <p:guide pos="421"/>
        <p:guide orient="horz" pos="3271"/>
        <p:guide orient="horz" pos="391"/>
        <p:guide pos="541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848101265822784E-2"/>
          <c:y val="0.24519797525309336"/>
          <c:w val="0.94430379746835447"/>
          <c:h val="0.61091100099339635"/>
        </c:manualLayout>
      </c:layout>
      <c:barChart>
        <c:barDir val="col"/>
        <c:grouping val="percentStacked"/>
        <c:varyColors val="0"/>
        <c:ser>
          <c:idx val="0"/>
          <c:order val="0"/>
          <c:tx>
            <c:strRef>
              <c:f>Лист1!$B$1</c:f>
              <c:strCache>
                <c:ptCount val="1"/>
                <c:pt idx="0">
                  <c:v>Неудовлетворенные</c:v>
                </c:pt>
              </c:strCache>
            </c:strRef>
          </c:tx>
          <c:spPr>
            <a:solidFill>
              <a:schemeClr val="tx1">
                <a:lumMod val="50000"/>
                <a:lumOff val="50000"/>
              </a:schemeClr>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4-A61D-40DE-9D0A-62F86311C405}"/>
                </c:ext>
              </c:extLst>
            </c:dLbl>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bg1"/>
                    </a:solidFill>
                    <a:latin typeface="Arial" panose="020B0604020202020204" pitchFamily="34" charset="0"/>
                    <a:ea typeface="+mn-ea"/>
                    <a:cs typeface="Arial" panose="020B0604020202020204" pitchFamily="34" charset="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Лист1!$A$2:$A$4</c:f>
              <c:strCache>
                <c:ptCount val="3"/>
                <c:pt idx="0">
                  <c:v>Хорошие</c:v>
                </c:pt>
                <c:pt idx="1">
                  <c:v>Нормальные</c:v>
                </c:pt>
                <c:pt idx="2">
                  <c:v>Плохие</c:v>
                </c:pt>
              </c:strCache>
            </c:strRef>
          </c:cat>
          <c:val>
            <c:numRef>
              <c:f>Лист1!$B$2:$B$4</c:f>
              <c:numCache>
                <c:formatCode>0</c:formatCode>
                <c:ptCount val="3"/>
                <c:pt idx="0">
                  <c:v>2.4021962937542893</c:v>
                </c:pt>
                <c:pt idx="1">
                  <c:v>7.7847309136420533</c:v>
                </c:pt>
                <c:pt idx="2">
                  <c:v>27.455621301775146</c:v>
                </c:pt>
              </c:numCache>
            </c:numRef>
          </c:val>
          <c:extLst>
            <c:ext xmlns:c16="http://schemas.microsoft.com/office/drawing/2014/chart" uri="{C3380CC4-5D6E-409C-BE32-E72D297353CC}">
              <c16:uniqueId val="{00000000-A61D-40DE-9D0A-62F86311C405}"/>
            </c:ext>
          </c:extLst>
        </c:ser>
        <c:ser>
          <c:idx val="1"/>
          <c:order val="1"/>
          <c:tx>
            <c:strRef>
              <c:f>Лист1!$C$1</c:f>
              <c:strCache>
                <c:ptCount val="1"/>
                <c:pt idx="0">
                  <c:v>Чем-то удовлетворены, чем-то нет</c:v>
                </c:pt>
              </c:strCache>
            </c:strRef>
          </c:tx>
          <c:spPr>
            <a:solidFill>
              <a:schemeClr val="bg1">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Лист1!$A$2:$A$4</c:f>
              <c:strCache>
                <c:ptCount val="3"/>
                <c:pt idx="0">
                  <c:v>Хорошие</c:v>
                </c:pt>
                <c:pt idx="1">
                  <c:v>Нормальные</c:v>
                </c:pt>
                <c:pt idx="2">
                  <c:v>Плохие</c:v>
                </c:pt>
              </c:strCache>
            </c:strRef>
          </c:cat>
          <c:val>
            <c:numRef>
              <c:f>Лист1!$C$2:$C$4</c:f>
              <c:numCache>
                <c:formatCode>0</c:formatCode>
                <c:ptCount val="3"/>
                <c:pt idx="0">
                  <c:v>10.706932052161978</c:v>
                </c:pt>
                <c:pt idx="1">
                  <c:v>25.281602002503128</c:v>
                </c:pt>
                <c:pt idx="2">
                  <c:v>32.071005917159759</c:v>
                </c:pt>
              </c:numCache>
            </c:numRef>
          </c:val>
          <c:extLst>
            <c:ext xmlns:c16="http://schemas.microsoft.com/office/drawing/2014/chart" uri="{C3380CC4-5D6E-409C-BE32-E72D297353CC}">
              <c16:uniqueId val="{00000001-A61D-40DE-9D0A-62F86311C405}"/>
            </c:ext>
          </c:extLst>
        </c:ser>
        <c:ser>
          <c:idx val="2"/>
          <c:order val="2"/>
          <c:tx>
            <c:strRef>
              <c:f>Лист1!$D$1</c:f>
              <c:strCache>
                <c:ptCount val="1"/>
                <c:pt idx="0">
                  <c:v>Удовлетворенные</c:v>
                </c:pt>
              </c:strCache>
            </c:strRef>
          </c:tx>
          <c:spPr>
            <a:solidFill>
              <a:srgbClr val="2B546B"/>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800" b="0" i="0" u="none" strike="noStrike" kern="1200" baseline="0">
                    <a:solidFill>
                      <a:schemeClr val="bg1"/>
                    </a:solidFill>
                    <a:latin typeface="Arial" panose="020B0604020202020204" pitchFamily="34" charset="0"/>
                    <a:ea typeface="+mn-ea"/>
                    <a:cs typeface="Arial" panose="020B0604020202020204" pitchFamily="34" charset="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Лист1!$A$2:$A$4</c:f>
              <c:strCache>
                <c:ptCount val="3"/>
                <c:pt idx="0">
                  <c:v>Хорошие</c:v>
                </c:pt>
                <c:pt idx="1">
                  <c:v>Нормальные</c:v>
                </c:pt>
                <c:pt idx="2">
                  <c:v>Плохие</c:v>
                </c:pt>
              </c:strCache>
            </c:strRef>
          </c:cat>
          <c:val>
            <c:numRef>
              <c:f>Лист1!$D$2:$D$4</c:f>
              <c:numCache>
                <c:formatCode>0</c:formatCode>
                <c:ptCount val="3"/>
                <c:pt idx="0">
                  <c:v>86.890871654083739</c:v>
                </c:pt>
                <c:pt idx="1">
                  <c:v>66.933667083854814</c:v>
                </c:pt>
                <c:pt idx="2">
                  <c:v>41</c:v>
                </c:pt>
              </c:numCache>
            </c:numRef>
          </c:val>
          <c:extLst>
            <c:ext xmlns:c16="http://schemas.microsoft.com/office/drawing/2014/chart" uri="{C3380CC4-5D6E-409C-BE32-E72D297353CC}">
              <c16:uniqueId val="{00000002-A61D-40DE-9D0A-62F86311C405}"/>
            </c:ext>
          </c:extLst>
        </c:ser>
        <c:dLbls>
          <c:showLegendKey val="0"/>
          <c:showVal val="0"/>
          <c:showCatName val="0"/>
          <c:showSerName val="0"/>
          <c:showPercent val="0"/>
          <c:showBubbleSize val="0"/>
        </c:dLbls>
        <c:gapWidth val="150"/>
        <c:overlap val="100"/>
        <c:axId val="598971375"/>
        <c:axId val="598990095"/>
      </c:barChart>
      <c:catAx>
        <c:axId val="598971375"/>
        <c:scaling>
          <c:orientation val="maxMin"/>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ru-RU"/>
          </a:p>
        </c:txPr>
        <c:crossAx val="598990095"/>
        <c:crosses val="autoZero"/>
        <c:auto val="1"/>
        <c:lblAlgn val="ctr"/>
        <c:lblOffset val="100"/>
        <c:noMultiLvlLbl val="0"/>
      </c:catAx>
      <c:valAx>
        <c:axId val="598990095"/>
        <c:scaling>
          <c:orientation val="minMax"/>
        </c:scaling>
        <c:delete val="1"/>
        <c:axPos val="r"/>
        <c:numFmt formatCode="0%" sourceLinked="1"/>
        <c:majorTickMark val="none"/>
        <c:minorTickMark val="none"/>
        <c:tickLblPos val="nextTo"/>
        <c:crossAx val="598971375"/>
        <c:crosses val="autoZero"/>
        <c:crossBetween val="between"/>
      </c:valAx>
      <c:spPr>
        <a:noFill/>
        <a:ln>
          <a:noFill/>
        </a:ln>
        <a:effectLst/>
      </c:spPr>
    </c:plotArea>
    <c:legend>
      <c:legendPos val="b"/>
      <c:layout>
        <c:manualLayout>
          <c:xMode val="edge"/>
          <c:yMode val="edge"/>
          <c:x val="1.1319768657236428E-2"/>
          <c:y val="1.4234700085013992E-2"/>
          <c:w val="0.80138457250365824"/>
          <c:h val="0.17856773649167806"/>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Arial" panose="020B0604020202020204" pitchFamily="34" charset="0"/>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Arial" panose="020B0604020202020204" pitchFamily="34" charset="0"/>
          <a:cs typeface="Arial" panose="020B0604020202020204" pitchFamily="34" charset="0"/>
        </a:defRPr>
      </a:pPr>
      <a:endParaRPr lang="ru-RU"/>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848101265822784E-2"/>
          <c:y val="0.24519797525309336"/>
          <c:w val="0.94430379746835447"/>
          <c:h val="0.61091100099339635"/>
        </c:manualLayout>
      </c:layout>
      <c:barChart>
        <c:barDir val="col"/>
        <c:grouping val="percentStacked"/>
        <c:varyColors val="0"/>
        <c:ser>
          <c:idx val="0"/>
          <c:order val="0"/>
          <c:tx>
            <c:strRef>
              <c:f>Лист1!$B$1</c:f>
              <c:strCache>
                <c:ptCount val="1"/>
                <c:pt idx="0">
                  <c:v>Неуверенные</c:v>
                </c:pt>
              </c:strCache>
            </c:strRef>
          </c:tx>
          <c:spPr>
            <a:solidFill>
              <a:schemeClr val="tx1">
                <a:lumMod val="50000"/>
                <a:lumOff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bg1"/>
                    </a:solidFill>
                    <a:latin typeface="Arial" panose="020B0604020202020204" pitchFamily="34" charset="0"/>
                    <a:ea typeface="+mn-ea"/>
                    <a:cs typeface="Arial" panose="020B0604020202020204" pitchFamily="34" charset="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Лист1!$A$2:$A$4</c:f>
              <c:strCache>
                <c:ptCount val="3"/>
                <c:pt idx="0">
                  <c:v>Хорошие</c:v>
                </c:pt>
                <c:pt idx="1">
                  <c:v>Нормальные</c:v>
                </c:pt>
                <c:pt idx="2">
                  <c:v>Плохие</c:v>
                </c:pt>
              </c:strCache>
            </c:strRef>
          </c:cat>
          <c:val>
            <c:numRef>
              <c:f>Лист1!$B$2:$B$4</c:f>
              <c:numCache>
                <c:formatCode>0</c:formatCode>
                <c:ptCount val="3"/>
                <c:pt idx="0">
                  <c:v>8.8122605363984672</c:v>
                </c:pt>
                <c:pt idx="1">
                  <c:v>20.588235294117645</c:v>
                </c:pt>
                <c:pt idx="2">
                  <c:v>41.978287092882994</c:v>
                </c:pt>
              </c:numCache>
            </c:numRef>
          </c:val>
          <c:extLst>
            <c:ext xmlns:c16="http://schemas.microsoft.com/office/drawing/2014/chart" uri="{C3380CC4-5D6E-409C-BE32-E72D297353CC}">
              <c16:uniqueId val="{00000000-ECC4-4400-B887-5FD3551A05A5}"/>
            </c:ext>
          </c:extLst>
        </c:ser>
        <c:ser>
          <c:idx val="1"/>
          <c:order val="1"/>
          <c:tx>
            <c:strRef>
              <c:f>Лист1!$C$1</c:f>
              <c:strCache>
                <c:ptCount val="1"/>
                <c:pt idx="0">
                  <c:v>В чем-то уверены, чем-то нет</c:v>
                </c:pt>
              </c:strCache>
            </c:strRef>
          </c:tx>
          <c:spPr>
            <a:solidFill>
              <a:schemeClr val="bg1">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Лист1!$A$2:$A$4</c:f>
              <c:strCache>
                <c:ptCount val="3"/>
                <c:pt idx="0">
                  <c:v>Хорошие</c:v>
                </c:pt>
                <c:pt idx="1">
                  <c:v>Нормальные</c:v>
                </c:pt>
                <c:pt idx="2">
                  <c:v>Плохие</c:v>
                </c:pt>
              </c:strCache>
            </c:strRef>
          </c:cat>
          <c:val>
            <c:numRef>
              <c:f>Лист1!$C$2:$C$4</c:f>
              <c:numCache>
                <c:formatCode>0</c:formatCode>
                <c:ptCount val="3"/>
                <c:pt idx="0">
                  <c:v>15.047021943573668</c:v>
                </c:pt>
                <c:pt idx="1">
                  <c:v>22.966751918158568</c:v>
                </c:pt>
                <c:pt idx="2">
                  <c:v>24.607961399276238</c:v>
                </c:pt>
              </c:numCache>
            </c:numRef>
          </c:val>
          <c:extLst>
            <c:ext xmlns:c16="http://schemas.microsoft.com/office/drawing/2014/chart" uri="{C3380CC4-5D6E-409C-BE32-E72D297353CC}">
              <c16:uniqueId val="{00000001-ECC4-4400-B887-5FD3551A05A5}"/>
            </c:ext>
          </c:extLst>
        </c:ser>
        <c:ser>
          <c:idx val="2"/>
          <c:order val="2"/>
          <c:tx>
            <c:strRef>
              <c:f>Лист1!$D$1</c:f>
              <c:strCache>
                <c:ptCount val="1"/>
                <c:pt idx="0">
                  <c:v>Уверенные</c:v>
                </c:pt>
              </c:strCache>
            </c:strRef>
          </c:tx>
          <c:spPr>
            <a:solidFill>
              <a:srgbClr val="2B546B"/>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800" b="0" i="0" u="none" strike="noStrike" kern="1200" baseline="0">
                    <a:solidFill>
                      <a:schemeClr val="bg1"/>
                    </a:solidFill>
                    <a:latin typeface="Arial" panose="020B0604020202020204" pitchFamily="34" charset="0"/>
                    <a:ea typeface="+mn-ea"/>
                    <a:cs typeface="Arial" panose="020B0604020202020204" pitchFamily="34" charset="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Лист1!$A$2:$A$4</c:f>
              <c:strCache>
                <c:ptCount val="3"/>
                <c:pt idx="0">
                  <c:v>Хорошие</c:v>
                </c:pt>
                <c:pt idx="1">
                  <c:v>Нормальные</c:v>
                </c:pt>
                <c:pt idx="2">
                  <c:v>Плохие</c:v>
                </c:pt>
              </c:strCache>
            </c:strRef>
          </c:cat>
          <c:val>
            <c:numRef>
              <c:f>Лист1!$D$2:$D$4</c:f>
              <c:numCache>
                <c:formatCode>0</c:formatCode>
                <c:ptCount val="3"/>
                <c:pt idx="0">
                  <c:v>76.140717520027863</c:v>
                </c:pt>
                <c:pt idx="1">
                  <c:v>56.445012787723783</c:v>
                </c:pt>
                <c:pt idx="2">
                  <c:v>33.413751507840772</c:v>
                </c:pt>
              </c:numCache>
            </c:numRef>
          </c:val>
          <c:extLst>
            <c:ext xmlns:c16="http://schemas.microsoft.com/office/drawing/2014/chart" uri="{C3380CC4-5D6E-409C-BE32-E72D297353CC}">
              <c16:uniqueId val="{00000002-ECC4-4400-B887-5FD3551A05A5}"/>
            </c:ext>
          </c:extLst>
        </c:ser>
        <c:dLbls>
          <c:showLegendKey val="0"/>
          <c:showVal val="0"/>
          <c:showCatName val="0"/>
          <c:showSerName val="0"/>
          <c:showPercent val="0"/>
          <c:showBubbleSize val="0"/>
        </c:dLbls>
        <c:gapWidth val="150"/>
        <c:overlap val="100"/>
        <c:axId val="598971375"/>
        <c:axId val="598990095"/>
      </c:barChart>
      <c:catAx>
        <c:axId val="598971375"/>
        <c:scaling>
          <c:orientation val="maxMin"/>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ru-RU"/>
          </a:p>
        </c:txPr>
        <c:crossAx val="598990095"/>
        <c:crosses val="autoZero"/>
        <c:auto val="1"/>
        <c:lblAlgn val="ctr"/>
        <c:lblOffset val="100"/>
        <c:noMultiLvlLbl val="0"/>
      </c:catAx>
      <c:valAx>
        <c:axId val="598990095"/>
        <c:scaling>
          <c:orientation val="minMax"/>
        </c:scaling>
        <c:delete val="1"/>
        <c:axPos val="r"/>
        <c:numFmt formatCode="0%" sourceLinked="1"/>
        <c:majorTickMark val="none"/>
        <c:minorTickMark val="none"/>
        <c:tickLblPos val="nextTo"/>
        <c:crossAx val="598971375"/>
        <c:crosses val="autoZero"/>
        <c:crossBetween val="between"/>
      </c:valAx>
      <c:spPr>
        <a:noFill/>
        <a:ln>
          <a:noFill/>
        </a:ln>
        <a:effectLst/>
      </c:spPr>
    </c:plotArea>
    <c:legend>
      <c:legendPos val="b"/>
      <c:layout>
        <c:manualLayout>
          <c:xMode val="edge"/>
          <c:yMode val="edge"/>
          <c:x val="1.1319768657236428E-2"/>
          <c:y val="1.4234700085013992E-2"/>
          <c:w val="0.72468840731191786"/>
          <c:h val="0.17856773649167806"/>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Arial" panose="020B0604020202020204" pitchFamily="34" charset="0"/>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Arial" panose="020B0604020202020204" pitchFamily="34" charset="0"/>
          <a:cs typeface="Arial" panose="020B0604020202020204" pitchFamily="34" charset="0"/>
        </a:defRPr>
      </a:pPr>
      <a:endParaRPr lang="ru-RU"/>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848101265822784E-2"/>
          <c:y val="0.24519797525309336"/>
          <c:w val="0.94430379746835447"/>
          <c:h val="0.61091100099339635"/>
        </c:manualLayout>
      </c:layout>
      <c:barChart>
        <c:barDir val="col"/>
        <c:grouping val="percentStacked"/>
        <c:varyColors val="0"/>
        <c:ser>
          <c:idx val="0"/>
          <c:order val="0"/>
          <c:tx>
            <c:strRef>
              <c:f>Лист1!$B$1</c:f>
              <c:strCache>
                <c:ptCount val="1"/>
                <c:pt idx="0">
                  <c:v>Лоялисты</c:v>
                </c:pt>
              </c:strCache>
            </c:strRef>
          </c:tx>
          <c:spPr>
            <a:solidFill>
              <a:srgbClr val="2B546B"/>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bg1"/>
                    </a:solidFill>
                    <a:latin typeface="Arial" panose="020B0604020202020204" pitchFamily="34" charset="0"/>
                    <a:ea typeface="+mn-ea"/>
                    <a:cs typeface="Arial" panose="020B0604020202020204" pitchFamily="34" charset="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Лист1!$A$2:$A$4</c:f>
              <c:strCache>
                <c:ptCount val="3"/>
                <c:pt idx="0">
                  <c:v>Хорошиие</c:v>
                </c:pt>
                <c:pt idx="1">
                  <c:v>Нормальные</c:v>
                </c:pt>
                <c:pt idx="2">
                  <c:v>Плохие</c:v>
                </c:pt>
              </c:strCache>
            </c:strRef>
          </c:cat>
          <c:val>
            <c:numRef>
              <c:f>Лист1!$B$2:$B$4</c:f>
              <c:numCache>
                <c:formatCode>0</c:formatCode>
                <c:ptCount val="3"/>
                <c:pt idx="0">
                  <c:v>68.533772652388805</c:v>
                </c:pt>
                <c:pt idx="1">
                  <c:v>53.154058808745916</c:v>
                </c:pt>
                <c:pt idx="2">
                  <c:v>36.861313868613138</c:v>
                </c:pt>
              </c:numCache>
            </c:numRef>
          </c:val>
          <c:extLst>
            <c:ext xmlns:c16="http://schemas.microsoft.com/office/drawing/2014/chart" uri="{C3380CC4-5D6E-409C-BE32-E72D297353CC}">
              <c16:uniqueId val="{00000000-A61D-40DE-9D0A-62F86311C405}"/>
            </c:ext>
          </c:extLst>
        </c:ser>
        <c:ser>
          <c:idx val="1"/>
          <c:order val="1"/>
          <c:tx>
            <c:strRef>
              <c:f>Лист1!$C$1</c:f>
              <c:strCache>
                <c:ptCount val="1"/>
                <c:pt idx="0">
                  <c:v>Нейтралы</c:v>
                </c:pt>
              </c:strCache>
            </c:strRef>
          </c:tx>
          <c:spPr>
            <a:solidFill>
              <a:schemeClr val="bg1">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Лист1!$A$2:$A$4</c:f>
              <c:strCache>
                <c:ptCount val="3"/>
                <c:pt idx="0">
                  <c:v>Хорошиие</c:v>
                </c:pt>
                <c:pt idx="1">
                  <c:v>Нормальные</c:v>
                </c:pt>
                <c:pt idx="2">
                  <c:v>Плохие</c:v>
                </c:pt>
              </c:strCache>
            </c:strRef>
          </c:cat>
          <c:val>
            <c:numRef>
              <c:f>Лист1!$C$2:$C$4</c:f>
              <c:numCache>
                <c:formatCode>0</c:formatCode>
                <c:ptCount val="3"/>
                <c:pt idx="0">
                  <c:v>16.738056013179573</c:v>
                </c:pt>
                <c:pt idx="1">
                  <c:v>20.98517215380749</c:v>
                </c:pt>
                <c:pt idx="2">
                  <c:v>20.559610705596107</c:v>
                </c:pt>
              </c:numCache>
            </c:numRef>
          </c:val>
          <c:extLst>
            <c:ext xmlns:c16="http://schemas.microsoft.com/office/drawing/2014/chart" uri="{C3380CC4-5D6E-409C-BE32-E72D297353CC}">
              <c16:uniqueId val="{00000001-A61D-40DE-9D0A-62F86311C405}"/>
            </c:ext>
          </c:extLst>
        </c:ser>
        <c:ser>
          <c:idx val="2"/>
          <c:order val="2"/>
          <c:tx>
            <c:strRef>
              <c:f>Лист1!$D$1</c:f>
              <c:strCache>
                <c:ptCount val="1"/>
                <c:pt idx="0">
                  <c:v>Критики</c:v>
                </c:pt>
              </c:strCache>
            </c:strRef>
          </c:tx>
          <c:spPr>
            <a:solidFill>
              <a:srgbClr val="7F7F7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800" b="0" i="0" u="none" strike="noStrike" kern="1200" baseline="0">
                    <a:solidFill>
                      <a:schemeClr val="bg1"/>
                    </a:solidFill>
                    <a:latin typeface="Arial" panose="020B0604020202020204" pitchFamily="34" charset="0"/>
                    <a:ea typeface="+mn-ea"/>
                    <a:cs typeface="Arial" panose="020B0604020202020204" pitchFamily="34" charset="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Лист1!$A$2:$A$4</c:f>
              <c:strCache>
                <c:ptCount val="3"/>
                <c:pt idx="0">
                  <c:v>Хорошиие</c:v>
                </c:pt>
                <c:pt idx="1">
                  <c:v>Нормальные</c:v>
                </c:pt>
                <c:pt idx="2">
                  <c:v>Плохие</c:v>
                </c:pt>
              </c:strCache>
            </c:strRef>
          </c:cat>
          <c:val>
            <c:numRef>
              <c:f>Лист1!$D$2:$D$4</c:f>
              <c:numCache>
                <c:formatCode>0</c:formatCode>
                <c:ptCount val="3"/>
                <c:pt idx="0">
                  <c:v>12.026359143327841</c:v>
                </c:pt>
                <c:pt idx="1">
                  <c:v>21.337019351595877</c:v>
                </c:pt>
                <c:pt idx="2">
                  <c:v>37.226277372262771</c:v>
                </c:pt>
              </c:numCache>
            </c:numRef>
          </c:val>
          <c:extLst>
            <c:ext xmlns:c16="http://schemas.microsoft.com/office/drawing/2014/chart" uri="{C3380CC4-5D6E-409C-BE32-E72D297353CC}">
              <c16:uniqueId val="{00000002-A61D-40DE-9D0A-62F86311C405}"/>
            </c:ext>
          </c:extLst>
        </c:ser>
        <c:ser>
          <c:idx val="3"/>
          <c:order val="3"/>
          <c:tx>
            <c:strRef>
              <c:f>Лист1!$E$1</c:f>
              <c:strCache>
                <c:ptCount val="1"/>
                <c:pt idx="0">
                  <c:v>З\о</c:v>
                </c:pt>
              </c:strCache>
            </c:strRef>
          </c:tx>
          <c:spPr>
            <a:solidFill>
              <a:schemeClr val="tx1">
                <a:lumMod val="65000"/>
                <a:lumOff val="35000"/>
              </a:schemeClr>
            </a:solidFill>
            <a:ln>
              <a:noFill/>
            </a:ln>
            <a:effectLst/>
          </c:spPr>
          <c:invertIfNegative val="0"/>
          <c:cat>
            <c:strRef>
              <c:f>Лист1!$A$2:$A$4</c:f>
              <c:strCache>
                <c:ptCount val="3"/>
                <c:pt idx="0">
                  <c:v>Хорошиие</c:v>
                </c:pt>
                <c:pt idx="1">
                  <c:v>Нормальные</c:v>
                </c:pt>
                <c:pt idx="2">
                  <c:v>Плохие</c:v>
                </c:pt>
              </c:strCache>
            </c:strRef>
          </c:cat>
          <c:val>
            <c:numRef>
              <c:f>Лист1!$E$2:$E$4</c:f>
              <c:numCache>
                <c:formatCode>0</c:formatCode>
                <c:ptCount val="3"/>
                <c:pt idx="0">
                  <c:v>2.7018121911037891</c:v>
                </c:pt>
                <c:pt idx="1">
                  <c:v>4.5237496858507162</c:v>
                </c:pt>
                <c:pt idx="2">
                  <c:v>5.3527980535279802</c:v>
                </c:pt>
              </c:numCache>
            </c:numRef>
          </c:val>
          <c:extLst>
            <c:ext xmlns:c16="http://schemas.microsoft.com/office/drawing/2014/chart" uri="{C3380CC4-5D6E-409C-BE32-E72D297353CC}">
              <c16:uniqueId val="{00000000-22BB-4CF1-80DE-E84D5A78BF1F}"/>
            </c:ext>
          </c:extLst>
        </c:ser>
        <c:dLbls>
          <c:showLegendKey val="0"/>
          <c:showVal val="0"/>
          <c:showCatName val="0"/>
          <c:showSerName val="0"/>
          <c:showPercent val="0"/>
          <c:showBubbleSize val="0"/>
        </c:dLbls>
        <c:gapWidth val="150"/>
        <c:overlap val="100"/>
        <c:axId val="598971375"/>
        <c:axId val="598990095"/>
      </c:barChart>
      <c:catAx>
        <c:axId val="598971375"/>
        <c:scaling>
          <c:orientation val="maxMin"/>
        </c:scaling>
        <c:delete val="0"/>
        <c:axPos val="t"/>
        <c:numFmt formatCode="General" sourceLinked="1"/>
        <c:majorTickMark val="none"/>
        <c:minorTickMark val="none"/>
        <c:tickLblPos val="high"/>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400" b="0" i="0" u="none" strike="noStrike" kern="1200" baseline="0">
                <a:solidFill>
                  <a:schemeClr val="tx1"/>
                </a:solidFill>
                <a:latin typeface="Arial" panose="020B0604020202020204" pitchFamily="34" charset="0"/>
                <a:ea typeface="+mn-ea"/>
                <a:cs typeface="Arial" panose="020B0604020202020204" pitchFamily="34" charset="0"/>
              </a:defRPr>
            </a:pPr>
            <a:endParaRPr lang="ru-RU"/>
          </a:p>
        </c:txPr>
        <c:crossAx val="598990095"/>
        <c:crosses val="autoZero"/>
        <c:auto val="1"/>
        <c:lblAlgn val="ctr"/>
        <c:lblOffset val="100"/>
        <c:noMultiLvlLbl val="0"/>
      </c:catAx>
      <c:valAx>
        <c:axId val="598990095"/>
        <c:scaling>
          <c:orientation val="maxMin"/>
        </c:scaling>
        <c:delete val="1"/>
        <c:axPos val="r"/>
        <c:numFmt formatCode="0%" sourceLinked="1"/>
        <c:majorTickMark val="out"/>
        <c:minorTickMark val="none"/>
        <c:tickLblPos val="nextTo"/>
        <c:crossAx val="598971375"/>
        <c:crosses val="autoZero"/>
        <c:crossBetween val="between"/>
      </c:valAx>
      <c:spPr>
        <a:noFill/>
        <a:ln>
          <a:noFill/>
        </a:ln>
        <a:effectLst/>
      </c:spPr>
    </c:plotArea>
    <c:legend>
      <c:legendPos val="b"/>
      <c:layout>
        <c:manualLayout>
          <c:xMode val="edge"/>
          <c:yMode val="edge"/>
          <c:x val="0.13521357396697098"/>
          <c:y val="4.6492772794709876E-2"/>
          <c:w val="0.78389845074675402"/>
          <c:h val="6.2180356154522783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Arial" panose="020B0604020202020204" pitchFamily="34" charset="0"/>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Arial" panose="020B0604020202020204" pitchFamily="34" charset="0"/>
          <a:cs typeface="Arial" panose="020B0604020202020204" pitchFamily="34" charset="0"/>
        </a:defRPr>
      </a:pPr>
      <a:endParaRPr lang="ru-RU"/>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848101265822784E-2"/>
          <c:y val="0.24519797525309336"/>
          <c:w val="0.94430379746835447"/>
          <c:h val="0.61091100099339635"/>
        </c:manualLayout>
      </c:layout>
      <c:barChart>
        <c:barDir val="col"/>
        <c:grouping val="percentStacked"/>
        <c:varyColors val="0"/>
        <c:ser>
          <c:idx val="0"/>
          <c:order val="0"/>
          <c:tx>
            <c:strRef>
              <c:f>Лист1!$B$1</c:f>
              <c:strCache>
                <c:ptCount val="1"/>
                <c:pt idx="0">
                  <c:v>Одобряю</c:v>
                </c:pt>
              </c:strCache>
            </c:strRef>
          </c:tx>
          <c:spPr>
            <a:solidFill>
              <a:srgbClr val="2B546B"/>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bg1"/>
                    </a:solidFill>
                    <a:latin typeface="Arial" panose="020B0604020202020204" pitchFamily="34" charset="0"/>
                    <a:ea typeface="+mn-ea"/>
                    <a:cs typeface="Arial" panose="020B0604020202020204" pitchFamily="34" charset="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Лист1!$A$2:$A$4</c:f>
              <c:strCache>
                <c:ptCount val="3"/>
                <c:pt idx="0">
                  <c:v>Хорошие</c:v>
                </c:pt>
                <c:pt idx="1">
                  <c:v>Нормальные</c:v>
                </c:pt>
                <c:pt idx="2">
                  <c:v>Плохие</c:v>
                </c:pt>
              </c:strCache>
            </c:strRef>
          </c:cat>
          <c:val>
            <c:numRef>
              <c:f>Лист1!$B$2:$B$4</c:f>
              <c:numCache>
                <c:formatCode>0</c:formatCode>
                <c:ptCount val="3"/>
                <c:pt idx="0">
                  <c:v>84.085667215815491</c:v>
                </c:pt>
                <c:pt idx="1">
                  <c:v>72.983161598391561</c:v>
                </c:pt>
                <c:pt idx="2">
                  <c:v>57.299270072992705</c:v>
                </c:pt>
              </c:numCache>
            </c:numRef>
          </c:val>
          <c:extLst>
            <c:ext xmlns:c16="http://schemas.microsoft.com/office/drawing/2014/chart" uri="{C3380CC4-5D6E-409C-BE32-E72D297353CC}">
              <c16:uniqueId val="{00000000-ECC4-4400-B887-5FD3551A05A5}"/>
            </c:ext>
          </c:extLst>
        </c:ser>
        <c:ser>
          <c:idx val="1"/>
          <c:order val="1"/>
          <c:tx>
            <c:strRef>
              <c:f>Лист1!$C$1</c:f>
              <c:strCache>
                <c:ptCount val="1"/>
                <c:pt idx="0">
                  <c:v>Не одобряю</c:v>
                </c:pt>
              </c:strCache>
            </c:strRef>
          </c:tx>
          <c:spPr>
            <a:solidFill>
              <a:schemeClr val="bg1">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Лист1!$A$2:$A$4</c:f>
              <c:strCache>
                <c:ptCount val="3"/>
                <c:pt idx="0">
                  <c:v>Хорошие</c:v>
                </c:pt>
                <c:pt idx="1">
                  <c:v>Нормальные</c:v>
                </c:pt>
                <c:pt idx="2">
                  <c:v>Плохие</c:v>
                </c:pt>
              </c:strCache>
            </c:strRef>
          </c:cat>
          <c:val>
            <c:numRef>
              <c:f>Лист1!$C$2:$C$4</c:f>
              <c:numCache>
                <c:formatCode>0</c:formatCode>
                <c:ptCount val="3"/>
                <c:pt idx="0">
                  <c:v>6.4579901153212518</c:v>
                </c:pt>
                <c:pt idx="1">
                  <c:v>12.565971349585322</c:v>
                </c:pt>
                <c:pt idx="2">
                  <c:v>22.749391727493919</c:v>
                </c:pt>
              </c:numCache>
            </c:numRef>
          </c:val>
          <c:extLst>
            <c:ext xmlns:c16="http://schemas.microsoft.com/office/drawing/2014/chart" uri="{C3380CC4-5D6E-409C-BE32-E72D297353CC}">
              <c16:uniqueId val="{00000001-ECC4-4400-B887-5FD3551A05A5}"/>
            </c:ext>
          </c:extLst>
        </c:ser>
        <c:ser>
          <c:idx val="2"/>
          <c:order val="2"/>
          <c:tx>
            <c:strRef>
              <c:f>Лист1!$D$1</c:f>
              <c:strCache>
                <c:ptCount val="1"/>
                <c:pt idx="0">
                  <c:v>З/о</c:v>
                </c:pt>
              </c:strCache>
            </c:strRef>
          </c:tx>
          <c:spPr>
            <a:solidFill>
              <a:schemeClr val="tx1">
                <a:lumMod val="65000"/>
                <a:lumOff val="35000"/>
              </a:schemeClr>
            </a:solidFill>
            <a:ln>
              <a:noFill/>
            </a:ln>
            <a:effectLst/>
          </c:spPr>
          <c:invertIfNegative val="0"/>
          <c:dLbls>
            <c:dLbl>
              <c:idx val="2"/>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9BA-444A-86C8-AC79D2AA77A9}"/>
                </c:ext>
              </c:extLst>
            </c:dLbl>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bg1"/>
                    </a:solidFill>
                    <a:latin typeface="Arial" panose="020B0604020202020204" pitchFamily="34" charset="0"/>
                    <a:ea typeface="+mn-ea"/>
                    <a:cs typeface="Arial" panose="020B0604020202020204" pitchFamily="34" charset="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Лист1!$A$2:$A$4</c:f>
              <c:strCache>
                <c:ptCount val="3"/>
                <c:pt idx="0">
                  <c:v>Хорошие</c:v>
                </c:pt>
                <c:pt idx="1">
                  <c:v>Нормальные</c:v>
                </c:pt>
                <c:pt idx="2">
                  <c:v>Плохие</c:v>
                </c:pt>
              </c:strCache>
            </c:strRef>
          </c:cat>
          <c:val>
            <c:numRef>
              <c:f>Лист1!$D$2:$D$4</c:f>
              <c:numCache>
                <c:formatCode>0</c:formatCode>
                <c:ptCount val="3"/>
                <c:pt idx="0">
                  <c:v>10</c:v>
                </c:pt>
                <c:pt idx="1">
                  <c:v>14</c:v>
                </c:pt>
                <c:pt idx="2">
                  <c:v>20</c:v>
                </c:pt>
              </c:numCache>
            </c:numRef>
          </c:val>
          <c:extLst>
            <c:ext xmlns:c16="http://schemas.microsoft.com/office/drawing/2014/chart" uri="{C3380CC4-5D6E-409C-BE32-E72D297353CC}">
              <c16:uniqueId val="{00000002-ECC4-4400-B887-5FD3551A05A5}"/>
            </c:ext>
          </c:extLst>
        </c:ser>
        <c:dLbls>
          <c:showLegendKey val="0"/>
          <c:showVal val="0"/>
          <c:showCatName val="0"/>
          <c:showSerName val="0"/>
          <c:showPercent val="0"/>
          <c:showBubbleSize val="0"/>
        </c:dLbls>
        <c:gapWidth val="150"/>
        <c:overlap val="100"/>
        <c:axId val="598971375"/>
        <c:axId val="598990095"/>
      </c:barChart>
      <c:catAx>
        <c:axId val="598971375"/>
        <c:scaling>
          <c:orientation val="maxMin"/>
        </c:scaling>
        <c:delete val="0"/>
        <c:axPos val="t"/>
        <c:numFmt formatCode="General" sourceLinked="1"/>
        <c:majorTickMark val="none"/>
        <c:minorTickMark val="none"/>
        <c:tickLblPos val="high"/>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ru-RU"/>
          </a:p>
        </c:txPr>
        <c:crossAx val="598990095"/>
        <c:crosses val="autoZero"/>
        <c:auto val="1"/>
        <c:lblAlgn val="ctr"/>
        <c:lblOffset val="100"/>
        <c:noMultiLvlLbl val="0"/>
      </c:catAx>
      <c:valAx>
        <c:axId val="598990095"/>
        <c:scaling>
          <c:orientation val="maxMin"/>
        </c:scaling>
        <c:delete val="1"/>
        <c:axPos val="r"/>
        <c:numFmt formatCode="0%" sourceLinked="1"/>
        <c:majorTickMark val="out"/>
        <c:minorTickMark val="none"/>
        <c:tickLblPos val="nextTo"/>
        <c:crossAx val="598971375"/>
        <c:crosses val="autoZero"/>
        <c:crossBetween val="between"/>
      </c:valAx>
      <c:spPr>
        <a:noFill/>
        <a:ln>
          <a:noFill/>
        </a:ln>
        <a:effectLst/>
      </c:spPr>
    </c:plotArea>
    <c:legend>
      <c:legendPos val="b"/>
      <c:layout>
        <c:manualLayout>
          <c:xMode val="edge"/>
          <c:yMode val="edge"/>
          <c:x val="0"/>
          <c:y val="4.557278272105226E-3"/>
          <c:w val="0.99964044317469192"/>
          <c:h val="0.11952200140259116"/>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Arial" panose="020B0604020202020204" pitchFamily="34" charset="0"/>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Arial" panose="020B0604020202020204" pitchFamily="34" charset="0"/>
          <a:cs typeface="Arial" panose="020B0604020202020204" pitchFamily="34" charset="0"/>
        </a:defRPr>
      </a:pPr>
      <a:endParaRPr lang="ru-RU"/>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9988921348133142"/>
          <c:y val="0"/>
          <c:w val="0.60686874209415687"/>
          <c:h val="1"/>
        </c:manualLayout>
      </c:layout>
      <c:barChart>
        <c:barDir val="bar"/>
        <c:grouping val="clustered"/>
        <c:varyColors val="0"/>
        <c:ser>
          <c:idx val="0"/>
          <c:order val="0"/>
          <c:tx>
            <c:strRef>
              <c:f>Лист1!$B$1</c:f>
              <c:strCache>
                <c:ptCount val="1"/>
                <c:pt idx="0">
                  <c:v>Столбец3</c:v>
                </c:pt>
              </c:strCache>
            </c:strRef>
          </c:tx>
          <c:spPr>
            <a:solidFill>
              <a:srgbClr val="2B546B"/>
            </a:solidFill>
            <a:ln>
              <a:noFill/>
            </a:ln>
            <a:effectLst/>
          </c:spPr>
          <c:invertIfNegative val="0"/>
          <c:dPt>
            <c:idx val="2"/>
            <c:invertIfNegative val="0"/>
            <c:bubble3D val="0"/>
            <c:spPr>
              <a:solidFill>
                <a:srgbClr val="2B546B"/>
              </a:solidFill>
              <a:ln>
                <a:noFill/>
              </a:ln>
              <a:effectLst/>
            </c:spPr>
            <c:extLst>
              <c:ext xmlns:c16="http://schemas.microsoft.com/office/drawing/2014/chart" uri="{C3380CC4-5D6E-409C-BE32-E72D297353CC}">
                <c16:uniqueId val="{00000001-A7DD-47C0-8958-6F3B75DB765D}"/>
              </c:ext>
            </c:extLst>
          </c:dPt>
          <c:dLbls>
            <c:spPr>
              <a:noFill/>
              <a:ln>
                <a:noFill/>
              </a:ln>
              <a:effectLst/>
            </c:spPr>
            <c:txPr>
              <a:bodyPr rot="0" spcFirstLastPara="1" vertOverflow="ellipsis" vert="horz" wrap="square" anchor="ctr" anchorCtr="1"/>
              <a:lstStyle/>
              <a:p>
                <a:pPr algn="ctr">
                  <a:defRPr sz="1800" b="0" i="0" u="none" strike="noStrike" kern="1200" baseline="0">
                    <a:solidFill>
                      <a:schemeClr val="tx1"/>
                    </a:solidFill>
                    <a:latin typeface="Arial" panose="020B0604020202020204" pitchFamily="34" charset="0"/>
                    <a:ea typeface="+mn-ea"/>
                    <a:cs typeface="Arial" panose="020B0604020202020204" pitchFamily="34" charset="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Лист1!$A$2:$A$5</c:f>
              <c:strCache>
                <c:ptCount val="4"/>
                <c:pt idx="0">
                  <c:v>Лично моё</c:v>
                </c:pt>
                <c:pt idx="1">
                  <c:v>Снимаю</c:v>
                </c:pt>
                <c:pt idx="2">
                  <c:v>Родственников</c:v>
                </c:pt>
                <c:pt idx="3">
                  <c:v>Другое </c:v>
                </c:pt>
              </c:strCache>
            </c:strRef>
          </c:cat>
          <c:val>
            <c:numRef>
              <c:f>Лист1!$B$2:$B$5</c:f>
              <c:numCache>
                <c:formatCode>###0</c:formatCode>
                <c:ptCount val="4"/>
                <c:pt idx="0">
                  <c:v>62</c:v>
                </c:pt>
                <c:pt idx="1">
                  <c:v>20</c:v>
                </c:pt>
                <c:pt idx="2">
                  <c:v>16</c:v>
                </c:pt>
                <c:pt idx="3">
                  <c:v>2</c:v>
                </c:pt>
              </c:numCache>
            </c:numRef>
          </c:val>
          <c:extLst>
            <c:ext xmlns:c16="http://schemas.microsoft.com/office/drawing/2014/chart" uri="{C3380CC4-5D6E-409C-BE32-E72D297353CC}">
              <c16:uniqueId val="{00000004-A7DD-47C0-8958-6F3B75DB765D}"/>
            </c:ext>
          </c:extLst>
        </c:ser>
        <c:dLbls>
          <c:showLegendKey val="0"/>
          <c:showVal val="0"/>
          <c:showCatName val="0"/>
          <c:showSerName val="0"/>
          <c:showPercent val="0"/>
          <c:showBubbleSize val="0"/>
        </c:dLbls>
        <c:gapWidth val="64"/>
        <c:axId val="652386799"/>
        <c:axId val="652374319"/>
      </c:barChart>
      <c:catAx>
        <c:axId val="652386799"/>
        <c:scaling>
          <c:orientation val="maxMin"/>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ru-RU"/>
          </a:p>
        </c:txPr>
        <c:crossAx val="652374319"/>
        <c:crosses val="autoZero"/>
        <c:auto val="1"/>
        <c:lblAlgn val="ctr"/>
        <c:lblOffset val="100"/>
        <c:noMultiLvlLbl val="0"/>
      </c:catAx>
      <c:valAx>
        <c:axId val="652374319"/>
        <c:scaling>
          <c:orientation val="minMax"/>
          <c:max val="100"/>
        </c:scaling>
        <c:delete val="1"/>
        <c:axPos val="t"/>
        <c:numFmt formatCode="###0" sourceLinked="1"/>
        <c:majorTickMark val="out"/>
        <c:minorTickMark val="none"/>
        <c:tickLblPos val="nextTo"/>
        <c:crossAx val="652386799"/>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latin typeface="Arial" panose="020B0604020202020204" pitchFamily="34" charset="0"/>
          <a:cs typeface="Arial" panose="020B0604020202020204" pitchFamily="34" charset="0"/>
        </a:defRPr>
      </a:pPr>
      <a:endParaRPr lang="ru-RU"/>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34468822964553"/>
          <c:y val="0.13794632488691627"/>
          <c:w val="0.5170875250620045"/>
          <c:h val="0.84122371616153968"/>
        </c:manualLayout>
      </c:layout>
      <c:doughnutChart>
        <c:varyColors val="1"/>
        <c:ser>
          <c:idx val="0"/>
          <c:order val="0"/>
          <c:tx>
            <c:strRef>
              <c:f>Лист1!$B$1</c:f>
              <c:strCache>
                <c:ptCount val="1"/>
                <c:pt idx="0">
                  <c:v>Столбец3</c:v>
                </c:pt>
              </c:strCache>
            </c:strRef>
          </c:tx>
          <c:spPr>
            <a:solidFill>
              <a:schemeClr val="bg1"/>
            </a:solidFill>
          </c:spPr>
          <c:dPt>
            <c:idx val="0"/>
            <c:bubble3D val="0"/>
            <c:explosion val="10"/>
            <c:spPr>
              <a:solidFill>
                <a:schemeClr val="bg1"/>
              </a:solidFill>
              <a:ln>
                <a:noFill/>
              </a:ln>
              <a:effectLst/>
            </c:spPr>
            <c:extLst>
              <c:ext xmlns:c16="http://schemas.microsoft.com/office/drawing/2014/chart" uri="{C3380CC4-5D6E-409C-BE32-E72D297353CC}">
                <c16:uniqueId val="{00000007-E39B-4F5C-977C-C9D3ED1E18D0}"/>
              </c:ext>
            </c:extLst>
          </c:dPt>
          <c:dPt>
            <c:idx val="1"/>
            <c:bubble3D val="0"/>
            <c:explosion val="8"/>
            <c:spPr>
              <a:solidFill>
                <a:schemeClr val="bg1">
                  <a:lumMod val="75000"/>
                </a:schemeClr>
              </a:solidFill>
              <a:ln>
                <a:noFill/>
              </a:ln>
              <a:effectLst/>
            </c:spPr>
            <c:extLst>
              <c:ext xmlns:c16="http://schemas.microsoft.com/office/drawing/2014/chart" uri="{C3380CC4-5D6E-409C-BE32-E72D297353CC}">
                <c16:uniqueId val="{00000004-E39B-4F5C-977C-C9D3ED1E18D0}"/>
              </c:ext>
            </c:extLst>
          </c:dPt>
          <c:dPt>
            <c:idx val="2"/>
            <c:bubble3D val="0"/>
            <c:explosion val="14"/>
            <c:spPr>
              <a:solidFill>
                <a:schemeClr val="bg1">
                  <a:lumMod val="65000"/>
                </a:schemeClr>
              </a:solidFill>
              <a:ln>
                <a:noFill/>
              </a:ln>
              <a:effectLst/>
            </c:spPr>
            <c:extLst>
              <c:ext xmlns:c16="http://schemas.microsoft.com/office/drawing/2014/chart" uri="{C3380CC4-5D6E-409C-BE32-E72D297353CC}">
                <c16:uniqueId val="{00000001-E39B-4F5C-977C-C9D3ED1E18D0}"/>
              </c:ext>
            </c:extLst>
          </c:dPt>
          <c:dLbls>
            <c:spPr>
              <a:noFill/>
              <a:ln>
                <a:noFill/>
              </a:ln>
              <a:effectLst/>
            </c:spPr>
            <c:txPr>
              <a:bodyPr rot="0" spcFirstLastPara="1" vertOverflow="ellipsis" vert="horz" wrap="square" anchor="ctr" anchorCtr="1"/>
              <a:lstStyle/>
              <a:p>
                <a:pPr algn="ctr">
                  <a:defRPr sz="1600" b="0" i="0" u="none" strike="noStrike" kern="1200" baseline="0">
                    <a:solidFill>
                      <a:schemeClr val="tx1"/>
                    </a:solidFill>
                    <a:latin typeface="Arial" panose="020B0604020202020204" pitchFamily="34" charset="0"/>
                    <a:ea typeface="+mn-ea"/>
                    <a:cs typeface="Arial" panose="020B0604020202020204" pitchFamily="34" charset="0"/>
                  </a:defRPr>
                </a:pPr>
                <a:endParaRPr lang="ru-RU"/>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Лист1!$A$2:$A$4</c:f>
              <c:strCache>
                <c:ptCount val="3"/>
                <c:pt idx="0">
                  <c:v>Квартира / дом полностью</c:v>
                </c:pt>
                <c:pt idx="1">
                  <c:v>Одну комнату</c:v>
                </c:pt>
                <c:pt idx="2">
                  <c:v>Несколько комнат</c:v>
                </c:pt>
              </c:strCache>
            </c:strRef>
          </c:cat>
          <c:val>
            <c:numRef>
              <c:f>Лист1!$B$2:$B$4</c:f>
              <c:numCache>
                <c:formatCode>###0</c:formatCode>
                <c:ptCount val="3"/>
                <c:pt idx="0">
                  <c:v>57</c:v>
                </c:pt>
                <c:pt idx="1">
                  <c:v>33</c:v>
                </c:pt>
                <c:pt idx="2">
                  <c:v>10</c:v>
                </c:pt>
              </c:numCache>
            </c:numRef>
          </c:val>
          <c:extLst>
            <c:ext xmlns:c16="http://schemas.microsoft.com/office/drawing/2014/chart" uri="{C3380CC4-5D6E-409C-BE32-E72D297353CC}">
              <c16:uniqueId val="{00000002-E39B-4F5C-977C-C9D3ED1E18D0}"/>
            </c:ext>
          </c:extLst>
        </c:ser>
        <c:dLbls>
          <c:showLegendKey val="0"/>
          <c:showVal val="0"/>
          <c:showCatName val="0"/>
          <c:showSerName val="0"/>
          <c:showPercent val="0"/>
          <c:showBubbleSize val="0"/>
          <c:showLeaderLines val="1"/>
        </c:dLbls>
        <c:firstSliceAng val="0"/>
        <c:holeSize val="72"/>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latin typeface="Arial" panose="020B0604020202020204" pitchFamily="34" charset="0"/>
          <a:cs typeface="Arial" panose="020B0604020202020204" pitchFamily="34" charset="0"/>
        </a:defRPr>
      </a:pPr>
      <a:endParaRPr lang="ru-RU"/>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9988921348133142"/>
          <c:y val="0"/>
          <c:w val="0.60686881318507924"/>
          <c:h val="1"/>
        </c:manualLayout>
      </c:layout>
      <c:barChart>
        <c:barDir val="bar"/>
        <c:grouping val="clustered"/>
        <c:varyColors val="0"/>
        <c:ser>
          <c:idx val="0"/>
          <c:order val="0"/>
          <c:tx>
            <c:strRef>
              <c:f>Лист1!$B$1</c:f>
              <c:strCache>
                <c:ptCount val="1"/>
                <c:pt idx="0">
                  <c:v>Столбец3</c:v>
                </c:pt>
              </c:strCache>
            </c:strRef>
          </c:tx>
          <c:spPr>
            <a:solidFill>
              <a:srgbClr val="2B546B"/>
            </a:solidFill>
            <a:ln>
              <a:noFill/>
            </a:ln>
            <a:effectLst/>
          </c:spPr>
          <c:invertIfNegative val="0"/>
          <c:dPt>
            <c:idx val="2"/>
            <c:invertIfNegative val="0"/>
            <c:bubble3D val="0"/>
            <c:spPr>
              <a:solidFill>
                <a:schemeClr val="bg1">
                  <a:lumMod val="85000"/>
                </a:schemeClr>
              </a:solidFill>
              <a:ln>
                <a:noFill/>
              </a:ln>
              <a:effectLst/>
            </c:spPr>
            <c:extLst>
              <c:ext xmlns:c16="http://schemas.microsoft.com/office/drawing/2014/chart" uri="{C3380CC4-5D6E-409C-BE32-E72D297353CC}">
                <c16:uniqueId val="{00000001-A7DD-47C0-8958-6F3B75DB765D}"/>
              </c:ext>
            </c:extLst>
          </c:dPt>
          <c:dLbls>
            <c:dLbl>
              <c:idx val="0"/>
              <c:spPr>
                <a:noFill/>
                <a:ln>
                  <a:noFill/>
                </a:ln>
                <a:effectLst/>
              </c:spPr>
              <c:txPr>
                <a:bodyPr rot="0" spcFirstLastPara="1" vertOverflow="ellipsis" vert="horz" wrap="square" anchor="ctr" anchorCtr="0"/>
                <a:lstStyle/>
                <a:p>
                  <a:pPr algn="ctr">
                    <a:defRPr lang="en-US" sz="1800" b="0" i="0" u="none" strike="noStrike" kern="1200" baseline="0">
                      <a:solidFill>
                        <a:schemeClr val="tx1"/>
                      </a:solidFill>
                      <a:latin typeface="Arial" panose="020B0604020202020204" pitchFamily="34" charset="0"/>
                      <a:ea typeface="+mn-ea"/>
                      <a:cs typeface="Arial" panose="020B0604020202020204" pitchFamily="34" charset="0"/>
                    </a:defRPr>
                  </a:pPr>
                  <a:endParaRPr lang="ru-RU"/>
                </a:p>
              </c:txPr>
              <c:showLegendKey val="0"/>
              <c:showVal val="1"/>
              <c:showCatName val="0"/>
              <c:showSerName val="0"/>
              <c:showPercent val="0"/>
              <c:showBubbleSize val="0"/>
              <c:extLst>
                <c:ext xmlns:c16="http://schemas.microsoft.com/office/drawing/2014/chart" uri="{C3380CC4-5D6E-409C-BE32-E72D297353CC}">
                  <c16:uniqueId val="{00000002-81F2-4B6D-9D28-C0953653FA04}"/>
                </c:ext>
              </c:extLst>
            </c:dLbl>
            <c:spPr>
              <a:noFill/>
              <a:ln>
                <a:noFill/>
              </a:ln>
              <a:effectLst/>
            </c:spPr>
            <c:txPr>
              <a:bodyPr rot="0" spcFirstLastPara="1" vertOverflow="ellipsis" vert="horz" wrap="square" anchor="ctr" anchorCtr="1"/>
              <a:lstStyle/>
              <a:p>
                <a:pPr algn="ctr">
                  <a:defRPr sz="1800" b="0" i="0" u="none" strike="noStrike" kern="1200" baseline="0">
                    <a:solidFill>
                      <a:schemeClr val="tx1"/>
                    </a:solidFill>
                    <a:latin typeface="Arial" panose="020B0604020202020204" pitchFamily="34" charset="0"/>
                    <a:ea typeface="+mn-ea"/>
                    <a:cs typeface="Arial" panose="020B0604020202020204" pitchFamily="34" charset="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Лист1!$A$2:$A$6</c:f>
              <c:strCache>
                <c:ptCount val="5"/>
                <c:pt idx="0">
                  <c:v>Планирую, в ближайшие год-два</c:v>
                </c:pt>
                <c:pt idx="1">
                  <c:v>Планирую, в ближайшие 3-5 лет</c:v>
                </c:pt>
                <c:pt idx="2">
                  <c:v>Нет, не планирую</c:v>
                </c:pt>
                <c:pt idx="3">
                  <c:v>Отказ от ответа</c:v>
                </c:pt>
                <c:pt idx="4">
                  <c:v>З/о</c:v>
                </c:pt>
              </c:strCache>
            </c:strRef>
          </c:cat>
          <c:val>
            <c:numRef>
              <c:f>Лист1!$B$2:$B$6</c:f>
              <c:numCache>
                <c:formatCode>###0</c:formatCode>
                <c:ptCount val="5"/>
                <c:pt idx="0">
                  <c:v>19</c:v>
                </c:pt>
                <c:pt idx="1">
                  <c:v>28</c:v>
                </c:pt>
                <c:pt idx="2">
                  <c:v>45</c:v>
                </c:pt>
                <c:pt idx="3">
                  <c:v>1</c:v>
                </c:pt>
                <c:pt idx="4">
                  <c:v>7</c:v>
                </c:pt>
              </c:numCache>
            </c:numRef>
          </c:val>
          <c:extLst>
            <c:ext xmlns:c16="http://schemas.microsoft.com/office/drawing/2014/chart" uri="{C3380CC4-5D6E-409C-BE32-E72D297353CC}">
              <c16:uniqueId val="{00000004-A7DD-47C0-8958-6F3B75DB765D}"/>
            </c:ext>
          </c:extLst>
        </c:ser>
        <c:dLbls>
          <c:showLegendKey val="0"/>
          <c:showVal val="0"/>
          <c:showCatName val="0"/>
          <c:showSerName val="0"/>
          <c:showPercent val="0"/>
          <c:showBubbleSize val="0"/>
        </c:dLbls>
        <c:gapWidth val="64"/>
        <c:axId val="652386799"/>
        <c:axId val="652374319"/>
      </c:barChart>
      <c:catAx>
        <c:axId val="652386799"/>
        <c:scaling>
          <c:orientation val="maxMin"/>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Arial" panose="020B0604020202020204" pitchFamily="34" charset="0"/>
              </a:defRPr>
            </a:pPr>
            <a:endParaRPr lang="ru-RU"/>
          </a:p>
        </c:txPr>
        <c:crossAx val="652374319"/>
        <c:crosses val="autoZero"/>
        <c:auto val="1"/>
        <c:lblAlgn val="ctr"/>
        <c:lblOffset val="100"/>
        <c:noMultiLvlLbl val="0"/>
      </c:catAx>
      <c:valAx>
        <c:axId val="652374319"/>
        <c:scaling>
          <c:orientation val="minMax"/>
          <c:max val="100"/>
        </c:scaling>
        <c:delete val="1"/>
        <c:axPos val="t"/>
        <c:numFmt formatCode="###0" sourceLinked="1"/>
        <c:majorTickMark val="out"/>
        <c:minorTickMark val="none"/>
        <c:tickLblPos val="nextTo"/>
        <c:crossAx val="652386799"/>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latin typeface="Arial" panose="020B0604020202020204" pitchFamily="34" charset="0"/>
          <a:cs typeface="Arial" panose="020B0604020202020204" pitchFamily="34" charset="0"/>
        </a:defRPr>
      </a:pPr>
      <a:endParaRPr lang="ru-RU"/>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34468822964553"/>
          <c:y val="0.13794632488691627"/>
          <c:w val="0.5170875250620045"/>
          <c:h val="0.84122371616153968"/>
        </c:manualLayout>
      </c:layout>
      <c:doughnutChart>
        <c:varyColors val="1"/>
        <c:ser>
          <c:idx val="0"/>
          <c:order val="0"/>
          <c:tx>
            <c:strRef>
              <c:f>Лист1!$B$1</c:f>
              <c:strCache>
                <c:ptCount val="1"/>
                <c:pt idx="0">
                  <c:v>Столбец3</c:v>
                </c:pt>
              </c:strCache>
            </c:strRef>
          </c:tx>
          <c:spPr>
            <a:solidFill>
              <a:schemeClr val="bg1"/>
            </a:solidFill>
          </c:spPr>
          <c:explosion val="10"/>
          <c:dPt>
            <c:idx val="0"/>
            <c:bubble3D val="0"/>
            <c:explosion val="5"/>
            <c:spPr>
              <a:solidFill>
                <a:schemeClr val="bg1"/>
              </a:solidFill>
              <a:ln>
                <a:noFill/>
              </a:ln>
              <a:effectLst/>
            </c:spPr>
            <c:extLst>
              <c:ext xmlns:c16="http://schemas.microsoft.com/office/drawing/2014/chart" uri="{C3380CC4-5D6E-409C-BE32-E72D297353CC}">
                <c16:uniqueId val="{00000007-E39B-4F5C-977C-C9D3ED1E18D0}"/>
              </c:ext>
            </c:extLst>
          </c:dPt>
          <c:dPt>
            <c:idx val="1"/>
            <c:bubble3D val="0"/>
            <c:explosion val="3"/>
            <c:spPr>
              <a:solidFill>
                <a:schemeClr val="bg1">
                  <a:lumMod val="85000"/>
                </a:schemeClr>
              </a:solidFill>
              <a:ln>
                <a:noFill/>
              </a:ln>
              <a:effectLst/>
            </c:spPr>
            <c:extLst>
              <c:ext xmlns:c16="http://schemas.microsoft.com/office/drawing/2014/chart" uri="{C3380CC4-5D6E-409C-BE32-E72D297353CC}">
                <c16:uniqueId val="{00000004-E39B-4F5C-977C-C9D3ED1E18D0}"/>
              </c:ext>
            </c:extLst>
          </c:dPt>
          <c:dPt>
            <c:idx val="2"/>
            <c:bubble3D val="0"/>
            <c:explosion val="3"/>
            <c:spPr>
              <a:solidFill>
                <a:schemeClr val="bg1">
                  <a:lumMod val="65000"/>
                </a:schemeClr>
              </a:solidFill>
              <a:ln>
                <a:noFill/>
              </a:ln>
              <a:effectLst/>
            </c:spPr>
            <c:extLst>
              <c:ext xmlns:c16="http://schemas.microsoft.com/office/drawing/2014/chart" uri="{C3380CC4-5D6E-409C-BE32-E72D297353CC}">
                <c16:uniqueId val="{00000001-E39B-4F5C-977C-C9D3ED1E18D0}"/>
              </c:ext>
            </c:extLst>
          </c:dPt>
          <c:dPt>
            <c:idx val="3"/>
            <c:bubble3D val="0"/>
            <c:explosion val="3"/>
            <c:spPr>
              <a:solidFill>
                <a:schemeClr val="tx1">
                  <a:lumMod val="50000"/>
                  <a:lumOff val="50000"/>
                </a:schemeClr>
              </a:solidFill>
              <a:ln>
                <a:noFill/>
              </a:ln>
              <a:effectLst/>
            </c:spPr>
            <c:extLst>
              <c:ext xmlns:c16="http://schemas.microsoft.com/office/drawing/2014/chart" uri="{C3380CC4-5D6E-409C-BE32-E72D297353CC}">
                <c16:uniqueId val="{00000006-E39B-4F5C-977C-C9D3ED1E18D0}"/>
              </c:ext>
            </c:extLst>
          </c:dPt>
          <c:dLbls>
            <c:spPr>
              <a:noFill/>
              <a:ln>
                <a:noFill/>
              </a:ln>
              <a:effectLst/>
            </c:spPr>
            <c:txPr>
              <a:bodyPr rot="0" spcFirstLastPara="1" vertOverflow="ellipsis" vert="horz" wrap="square" anchor="ctr" anchorCtr="1"/>
              <a:lstStyle/>
              <a:p>
                <a:pPr algn="ctr">
                  <a:defRPr sz="1600" b="0" i="0" u="none" strike="noStrike" kern="1200" baseline="0">
                    <a:solidFill>
                      <a:schemeClr val="tx1"/>
                    </a:solidFill>
                    <a:latin typeface="Arial" panose="020B0604020202020204" pitchFamily="34" charset="0"/>
                    <a:ea typeface="+mn-ea"/>
                    <a:cs typeface="Arial" panose="020B0604020202020204" pitchFamily="34" charset="0"/>
                  </a:defRPr>
                </a:pPr>
                <a:endParaRPr lang="ru-RU"/>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Лист1!$A$2:$A$5</c:f>
              <c:strCache>
                <c:ptCount val="4"/>
                <c:pt idx="0">
                  <c:v>квартиру от собственника на вторичном рынке </c:v>
                </c:pt>
                <c:pt idx="1">
                  <c:v>квартиру от застройщика в новостройке / в строящемся доме </c:v>
                </c:pt>
                <c:pt idx="2">
                  <c:v>дом/часть дома </c:v>
                </c:pt>
                <c:pt idx="3">
                  <c:v>Другое</c:v>
                </c:pt>
              </c:strCache>
            </c:strRef>
          </c:cat>
          <c:val>
            <c:numRef>
              <c:f>Лист1!$B$2:$B$5</c:f>
              <c:numCache>
                <c:formatCode>###0</c:formatCode>
                <c:ptCount val="4"/>
                <c:pt idx="0">
                  <c:v>21</c:v>
                </c:pt>
                <c:pt idx="1">
                  <c:v>34</c:v>
                </c:pt>
                <c:pt idx="2">
                  <c:v>32</c:v>
                </c:pt>
                <c:pt idx="3">
                  <c:v>13</c:v>
                </c:pt>
              </c:numCache>
            </c:numRef>
          </c:val>
          <c:extLst>
            <c:ext xmlns:c16="http://schemas.microsoft.com/office/drawing/2014/chart" uri="{C3380CC4-5D6E-409C-BE32-E72D297353CC}">
              <c16:uniqueId val="{00000002-E39B-4F5C-977C-C9D3ED1E18D0}"/>
            </c:ext>
          </c:extLst>
        </c:ser>
        <c:dLbls>
          <c:showLegendKey val="0"/>
          <c:showVal val="0"/>
          <c:showCatName val="0"/>
          <c:showSerName val="0"/>
          <c:showPercent val="0"/>
          <c:showBubbleSize val="0"/>
          <c:showLeaderLines val="1"/>
        </c:dLbls>
        <c:firstSliceAng val="174"/>
        <c:holeSize val="68"/>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latin typeface="Arial" panose="020B0604020202020204" pitchFamily="34" charset="0"/>
          <a:cs typeface="Arial" panose="020B0604020202020204" pitchFamily="34" charset="0"/>
        </a:defRPr>
      </a:pPr>
      <a:endParaRPr lang="ru-RU"/>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34468822964553"/>
          <c:y val="0.13794632488691627"/>
          <c:w val="0.5170875250620045"/>
          <c:h val="0.84122371616153968"/>
        </c:manualLayout>
      </c:layout>
      <c:doughnutChart>
        <c:varyColors val="1"/>
        <c:ser>
          <c:idx val="0"/>
          <c:order val="0"/>
          <c:tx>
            <c:strRef>
              <c:f>Лист1!$B$1</c:f>
              <c:strCache>
                <c:ptCount val="1"/>
                <c:pt idx="0">
                  <c:v>Столбец3</c:v>
                </c:pt>
              </c:strCache>
            </c:strRef>
          </c:tx>
          <c:spPr>
            <a:solidFill>
              <a:schemeClr val="bg1"/>
            </a:solidFill>
          </c:spPr>
          <c:explosion val="10"/>
          <c:dPt>
            <c:idx val="0"/>
            <c:bubble3D val="0"/>
            <c:explosion val="5"/>
            <c:spPr>
              <a:solidFill>
                <a:schemeClr val="bg1"/>
              </a:solidFill>
              <a:ln>
                <a:noFill/>
              </a:ln>
              <a:effectLst/>
            </c:spPr>
            <c:extLst>
              <c:ext xmlns:c16="http://schemas.microsoft.com/office/drawing/2014/chart" uri="{C3380CC4-5D6E-409C-BE32-E72D297353CC}">
                <c16:uniqueId val="{00000001-0195-43A6-BF29-90DED31F4D63}"/>
              </c:ext>
            </c:extLst>
          </c:dPt>
          <c:dPt>
            <c:idx val="1"/>
            <c:bubble3D val="0"/>
            <c:explosion val="3"/>
            <c:spPr>
              <a:solidFill>
                <a:schemeClr val="bg1">
                  <a:lumMod val="85000"/>
                </a:schemeClr>
              </a:solidFill>
              <a:ln>
                <a:noFill/>
              </a:ln>
              <a:effectLst/>
            </c:spPr>
            <c:extLst>
              <c:ext xmlns:c16="http://schemas.microsoft.com/office/drawing/2014/chart" uri="{C3380CC4-5D6E-409C-BE32-E72D297353CC}">
                <c16:uniqueId val="{00000003-0195-43A6-BF29-90DED31F4D63}"/>
              </c:ext>
            </c:extLst>
          </c:dPt>
          <c:dPt>
            <c:idx val="2"/>
            <c:bubble3D val="0"/>
            <c:explosion val="3"/>
            <c:spPr>
              <a:solidFill>
                <a:schemeClr val="bg1">
                  <a:lumMod val="65000"/>
                </a:schemeClr>
              </a:solidFill>
              <a:ln>
                <a:noFill/>
              </a:ln>
              <a:effectLst/>
            </c:spPr>
            <c:extLst>
              <c:ext xmlns:c16="http://schemas.microsoft.com/office/drawing/2014/chart" uri="{C3380CC4-5D6E-409C-BE32-E72D297353CC}">
                <c16:uniqueId val="{00000005-0195-43A6-BF29-90DED31F4D63}"/>
              </c:ext>
            </c:extLst>
          </c:dPt>
          <c:dPt>
            <c:idx val="3"/>
            <c:bubble3D val="0"/>
            <c:explosion val="3"/>
            <c:spPr>
              <a:solidFill>
                <a:schemeClr val="tx1">
                  <a:lumMod val="50000"/>
                  <a:lumOff val="50000"/>
                </a:schemeClr>
              </a:solidFill>
              <a:ln>
                <a:noFill/>
              </a:ln>
              <a:effectLst/>
            </c:spPr>
            <c:extLst>
              <c:ext xmlns:c16="http://schemas.microsoft.com/office/drawing/2014/chart" uri="{C3380CC4-5D6E-409C-BE32-E72D297353CC}">
                <c16:uniqueId val="{00000007-0195-43A6-BF29-90DED31F4D63}"/>
              </c:ext>
            </c:extLst>
          </c:dPt>
          <c:dLbls>
            <c:spPr>
              <a:noFill/>
              <a:ln>
                <a:noFill/>
              </a:ln>
              <a:effectLst/>
            </c:spPr>
            <c:txPr>
              <a:bodyPr rot="0" spcFirstLastPara="1" vertOverflow="ellipsis" vert="horz" wrap="square" anchor="ctr" anchorCtr="1"/>
              <a:lstStyle/>
              <a:p>
                <a:pPr algn="ctr">
                  <a:defRPr sz="1600" b="0" i="0" u="none" strike="noStrike" kern="1200" baseline="0">
                    <a:solidFill>
                      <a:schemeClr val="tx1"/>
                    </a:solidFill>
                    <a:latin typeface="Arial" panose="020B0604020202020204" pitchFamily="34" charset="0"/>
                    <a:ea typeface="+mn-ea"/>
                    <a:cs typeface="Arial" panose="020B0604020202020204" pitchFamily="34" charset="0"/>
                  </a:defRPr>
                </a:pPr>
                <a:endParaRPr lang="ru-RU"/>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Лист1!$A$2:$A$5</c:f>
              <c:strCache>
                <c:ptCount val="4"/>
                <c:pt idx="0">
                  <c:v>Собственные накопления</c:v>
                </c:pt>
                <c:pt idx="1">
                  <c:v>Ипотека</c:v>
                </c:pt>
                <c:pt idx="2">
                  <c:v>Продажа, обмен квартиры</c:v>
                </c:pt>
                <c:pt idx="3">
                  <c:v>Другое</c:v>
                </c:pt>
              </c:strCache>
            </c:strRef>
          </c:cat>
          <c:val>
            <c:numRef>
              <c:f>Лист1!$B$2:$B$5</c:f>
              <c:numCache>
                <c:formatCode>###0</c:formatCode>
                <c:ptCount val="4"/>
                <c:pt idx="0">
                  <c:v>42</c:v>
                </c:pt>
                <c:pt idx="1">
                  <c:v>51</c:v>
                </c:pt>
                <c:pt idx="2">
                  <c:v>13</c:v>
                </c:pt>
                <c:pt idx="3">
                  <c:v>4</c:v>
                </c:pt>
              </c:numCache>
            </c:numRef>
          </c:val>
          <c:extLst>
            <c:ext xmlns:c16="http://schemas.microsoft.com/office/drawing/2014/chart" uri="{C3380CC4-5D6E-409C-BE32-E72D297353CC}">
              <c16:uniqueId val="{00000008-0195-43A6-BF29-90DED31F4D63}"/>
            </c:ext>
          </c:extLst>
        </c:ser>
        <c:dLbls>
          <c:showLegendKey val="0"/>
          <c:showVal val="0"/>
          <c:showCatName val="0"/>
          <c:showSerName val="0"/>
          <c:showPercent val="0"/>
          <c:showBubbleSize val="0"/>
          <c:showLeaderLines val="1"/>
        </c:dLbls>
        <c:firstSliceAng val="86"/>
        <c:holeSize val="68"/>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latin typeface="Arial" panose="020B0604020202020204" pitchFamily="34" charset="0"/>
          <a:cs typeface="Arial" panose="020B0604020202020204" pitchFamily="34" charset="0"/>
        </a:defRPr>
      </a:pPr>
      <a:endParaRPr lang="ru-RU"/>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dirty="0"/>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921869-19AB-4DD0-B7F5-D47431D569B4}" type="datetimeFigureOut">
              <a:rPr lang="ru-RU" smtClean="0"/>
              <a:t>11.09.2023</a:t>
            </a:fld>
            <a:endParaRPr lang="ru-RU" dirty="0"/>
          </a:p>
        </p:txBody>
      </p:sp>
      <p:sp>
        <p:nvSpPr>
          <p:cNvPr id="4" name="Образ слайда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ru-RU" dirty="0"/>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dirty="0"/>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1974A5-6791-4F53-94EC-0448A88BC959}" type="slidenum">
              <a:rPr lang="ru-RU" smtClean="0"/>
              <a:t>‹#›</a:t>
            </a:fld>
            <a:endParaRPr lang="ru-RU" dirty="0"/>
          </a:p>
        </p:txBody>
      </p:sp>
    </p:spTree>
    <p:extLst>
      <p:ext uri="{BB962C8B-B14F-4D97-AF65-F5344CB8AC3E}">
        <p14:creationId xmlns:p14="http://schemas.microsoft.com/office/powerpoint/2010/main" val="2292164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xml"/><Relationship Id="rId1" Type="http://schemas.openxmlformats.org/officeDocument/2006/relationships/vmlDrawing" Target="../drawings/vmlDrawing1.vml"/><Relationship Id="rId5" Type="http://schemas.openxmlformats.org/officeDocument/2006/relationships/image" Target="../media/image1.emf"/><Relationship Id="rId4" Type="http://schemas.openxmlformats.org/officeDocument/2006/relationships/oleObject" Target="../embeddings/oleObject1.bin"/></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ru-RU"/>
              <a:t>Образец заголовка</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26AC5A75-35FD-8440-9084-0E2C4B04F3E8}" type="datetimeFigureOut">
              <a:rPr lang="ru-RU" smtClean="0"/>
              <a:t>11.09.2023</a:t>
            </a:fld>
            <a:endParaRPr lang="ru-RU" dirty="0"/>
          </a:p>
        </p:txBody>
      </p:sp>
      <p:sp>
        <p:nvSpPr>
          <p:cNvPr id="5" name="Footer Placeholder 4"/>
          <p:cNvSpPr>
            <a:spLocks noGrp="1"/>
          </p:cNvSpPr>
          <p:nvPr>
            <p:ph type="ftr" sz="quarter" idx="11"/>
          </p:nvPr>
        </p:nvSpPr>
        <p:spPr/>
        <p:txBody>
          <a:bodyPr/>
          <a:lstStyle/>
          <a:p>
            <a:endParaRPr lang="ru-RU" dirty="0"/>
          </a:p>
        </p:txBody>
      </p:sp>
      <p:sp>
        <p:nvSpPr>
          <p:cNvPr id="6" name="Slide Number Placeholder 5"/>
          <p:cNvSpPr>
            <a:spLocks noGrp="1"/>
          </p:cNvSpPr>
          <p:nvPr>
            <p:ph type="sldNum" sz="quarter" idx="12"/>
          </p:nvPr>
        </p:nvSpPr>
        <p:spPr/>
        <p:txBody>
          <a:bodyPr/>
          <a:lstStyle/>
          <a:p>
            <a:fld id="{4A13AE21-251D-504D-8818-0609ABA8D9E1}" type="slidenum">
              <a:rPr lang="ru-RU" smtClean="0"/>
              <a:t>‹#›</a:t>
            </a:fld>
            <a:endParaRPr lang="ru-RU" dirty="0"/>
          </a:p>
        </p:txBody>
      </p:sp>
    </p:spTree>
    <p:extLst>
      <p:ext uri="{BB962C8B-B14F-4D97-AF65-F5344CB8AC3E}">
        <p14:creationId xmlns:p14="http://schemas.microsoft.com/office/powerpoint/2010/main" val="3378131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26AC5A75-35FD-8440-9084-0E2C4B04F3E8}" type="datetimeFigureOut">
              <a:rPr lang="ru-RU" smtClean="0"/>
              <a:t>11.09.2023</a:t>
            </a:fld>
            <a:endParaRPr lang="ru-RU" dirty="0"/>
          </a:p>
        </p:txBody>
      </p:sp>
      <p:sp>
        <p:nvSpPr>
          <p:cNvPr id="5" name="Footer Placeholder 4"/>
          <p:cNvSpPr>
            <a:spLocks noGrp="1"/>
          </p:cNvSpPr>
          <p:nvPr>
            <p:ph type="ftr" sz="quarter" idx="11"/>
          </p:nvPr>
        </p:nvSpPr>
        <p:spPr/>
        <p:txBody>
          <a:bodyPr/>
          <a:lstStyle/>
          <a:p>
            <a:endParaRPr lang="ru-RU" dirty="0"/>
          </a:p>
        </p:txBody>
      </p:sp>
      <p:sp>
        <p:nvSpPr>
          <p:cNvPr id="6" name="Slide Number Placeholder 5"/>
          <p:cNvSpPr>
            <a:spLocks noGrp="1"/>
          </p:cNvSpPr>
          <p:nvPr>
            <p:ph type="sldNum" sz="quarter" idx="12"/>
          </p:nvPr>
        </p:nvSpPr>
        <p:spPr/>
        <p:txBody>
          <a:bodyPr/>
          <a:lstStyle/>
          <a:p>
            <a:fld id="{4A13AE21-251D-504D-8818-0609ABA8D9E1}" type="slidenum">
              <a:rPr lang="ru-RU" smtClean="0"/>
              <a:t>‹#›</a:t>
            </a:fld>
            <a:endParaRPr lang="ru-RU" dirty="0"/>
          </a:p>
        </p:txBody>
      </p:sp>
    </p:spTree>
    <p:extLst>
      <p:ext uri="{BB962C8B-B14F-4D97-AF65-F5344CB8AC3E}">
        <p14:creationId xmlns:p14="http://schemas.microsoft.com/office/powerpoint/2010/main" val="2034547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ru-RU"/>
              <a:t>Образец заголовка</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26AC5A75-35FD-8440-9084-0E2C4B04F3E8}" type="datetimeFigureOut">
              <a:rPr lang="ru-RU" smtClean="0"/>
              <a:t>11.09.2023</a:t>
            </a:fld>
            <a:endParaRPr lang="ru-RU" dirty="0"/>
          </a:p>
        </p:txBody>
      </p:sp>
      <p:sp>
        <p:nvSpPr>
          <p:cNvPr id="5" name="Footer Placeholder 4"/>
          <p:cNvSpPr>
            <a:spLocks noGrp="1"/>
          </p:cNvSpPr>
          <p:nvPr>
            <p:ph type="ftr" sz="quarter" idx="11"/>
          </p:nvPr>
        </p:nvSpPr>
        <p:spPr/>
        <p:txBody>
          <a:bodyPr/>
          <a:lstStyle/>
          <a:p>
            <a:endParaRPr lang="ru-RU" dirty="0"/>
          </a:p>
        </p:txBody>
      </p:sp>
      <p:sp>
        <p:nvSpPr>
          <p:cNvPr id="6" name="Slide Number Placeholder 5"/>
          <p:cNvSpPr>
            <a:spLocks noGrp="1"/>
          </p:cNvSpPr>
          <p:nvPr>
            <p:ph type="sldNum" sz="quarter" idx="12"/>
          </p:nvPr>
        </p:nvSpPr>
        <p:spPr/>
        <p:txBody>
          <a:bodyPr/>
          <a:lstStyle/>
          <a:p>
            <a:fld id="{4A13AE21-251D-504D-8818-0609ABA8D9E1}" type="slidenum">
              <a:rPr lang="ru-RU" smtClean="0"/>
              <a:t>‹#›</a:t>
            </a:fld>
            <a:endParaRPr lang="ru-RU" dirty="0"/>
          </a:p>
        </p:txBody>
      </p:sp>
    </p:spTree>
    <p:extLst>
      <p:ext uri="{BB962C8B-B14F-4D97-AF65-F5344CB8AC3E}">
        <p14:creationId xmlns:p14="http://schemas.microsoft.com/office/powerpoint/2010/main" val="4155137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26AC5A75-35FD-8440-9084-0E2C4B04F3E8}" type="datetimeFigureOut">
              <a:rPr lang="ru-RU" smtClean="0"/>
              <a:t>11.09.2023</a:t>
            </a:fld>
            <a:endParaRPr lang="ru-RU" dirty="0"/>
          </a:p>
        </p:txBody>
      </p:sp>
      <p:sp>
        <p:nvSpPr>
          <p:cNvPr id="6" name="Footer Placeholder 5"/>
          <p:cNvSpPr>
            <a:spLocks noGrp="1"/>
          </p:cNvSpPr>
          <p:nvPr>
            <p:ph type="ftr" sz="quarter" idx="11"/>
          </p:nvPr>
        </p:nvSpPr>
        <p:spPr/>
        <p:txBody>
          <a:bodyPr/>
          <a:lstStyle/>
          <a:p>
            <a:endParaRPr lang="ru-RU" dirty="0"/>
          </a:p>
        </p:txBody>
      </p:sp>
      <p:sp>
        <p:nvSpPr>
          <p:cNvPr id="7" name="Slide Number Placeholder 6"/>
          <p:cNvSpPr>
            <a:spLocks noGrp="1"/>
          </p:cNvSpPr>
          <p:nvPr>
            <p:ph type="sldNum" sz="quarter" idx="12"/>
          </p:nvPr>
        </p:nvSpPr>
        <p:spPr/>
        <p:txBody>
          <a:bodyPr/>
          <a:lstStyle/>
          <a:p>
            <a:fld id="{4A13AE21-251D-504D-8818-0609ABA8D9E1}" type="slidenum">
              <a:rPr lang="ru-RU" smtClean="0"/>
              <a:t>‹#›</a:t>
            </a:fld>
            <a:endParaRPr lang="ru-RU" dirty="0"/>
          </a:p>
        </p:txBody>
      </p:sp>
    </p:spTree>
    <p:extLst>
      <p:ext uri="{BB962C8B-B14F-4D97-AF65-F5344CB8AC3E}">
        <p14:creationId xmlns:p14="http://schemas.microsoft.com/office/powerpoint/2010/main" val="2865463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ru-RU"/>
              <a:t>Образец заголовка</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682329" y="2505075"/>
            <a:ext cx="4190702"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5014913" y="2505075"/>
            <a:ext cx="4211340"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26AC5A75-35FD-8440-9084-0E2C4B04F3E8}" type="datetimeFigureOut">
              <a:rPr lang="ru-RU" smtClean="0"/>
              <a:t>11.09.2023</a:t>
            </a:fld>
            <a:endParaRPr lang="ru-RU" dirty="0"/>
          </a:p>
        </p:txBody>
      </p:sp>
      <p:sp>
        <p:nvSpPr>
          <p:cNvPr id="8" name="Footer Placeholder 7"/>
          <p:cNvSpPr>
            <a:spLocks noGrp="1"/>
          </p:cNvSpPr>
          <p:nvPr>
            <p:ph type="ftr" sz="quarter" idx="11"/>
          </p:nvPr>
        </p:nvSpPr>
        <p:spPr/>
        <p:txBody>
          <a:bodyPr/>
          <a:lstStyle/>
          <a:p>
            <a:endParaRPr lang="ru-RU" dirty="0"/>
          </a:p>
        </p:txBody>
      </p:sp>
      <p:sp>
        <p:nvSpPr>
          <p:cNvPr id="9" name="Slide Number Placeholder 8"/>
          <p:cNvSpPr>
            <a:spLocks noGrp="1"/>
          </p:cNvSpPr>
          <p:nvPr>
            <p:ph type="sldNum" sz="quarter" idx="12"/>
          </p:nvPr>
        </p:nvSpPr>
        <p:spPr/>
        <p:txBody>
          <a:bodyPr/>
          <a:lstStyle/>
          <a:p>
            <a:fld id="{4A13AE21-251D-504D-8818-0609ABA8D9E1}" type="slidenum">
              <a:rPr lang="ru-RU" smtClean="0"/>
              <a:t>‹#›</a:t>
            </a:fld>
            <a:endParaRPr lang="ru-RU" dirty="0"/>
          </a:p>
        </p:txBody>
      </p:sp>
    </p:spTree>
    <p:extLst>
      <p:ext uri="{BB962C8B-B14F-4D97-AF65-F5344CB8AC3E}">
        <p14:creationId xmlns:p14="http://schemas.microsoft.com/office/powerpoint/2010/main" val="42198440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26AC5A75-35FD-8440-9084-0E2C4B04F3E8}" type="datetimeFigureOut">
              <a:rPr lang="ru-RU" smtClean="0"/>
              <a:t>11.09.2023</a:t>
            </a:fld>
            <a:endParaRPr lang="ru-RU" dirty="0"/>
          </a:p>
        </p:txBody>
      </p:sp>
      <p:sp>
        <p:nvSpPr>
          <p:cNvPr id="4" name="Footer Placeholder 3"/>
          <p:cNvSpPr>
            <a:spLocks noGrp="1"/>
          </p:cNvSpPr>
          <p:nvPr>
            <p:ph type="ftr" sz="quarter" idx="11"/>
          </p:nvPr>
        </p:nvSpPr>
        <p:spPr/>
        <p:txBody>
          <a:bodyPr/>
          <a:lstStyle/>
          <a:p>
            <a:endParaRPr lang="ru-RU" dirty="0"/>
          </a:p>
        </p:txBody>
      </p:sp>
      <p:sp>
        <p:nvSpPr>
          <p:cNvPr id="5" name="Slide Number Placeholder 4"/>
          <p:cNvSpPr>
            <a:spLocks noGrp="1"/>
          </p:cNvSpPr>
          <p:nvPr>
            <p:ph type="sldNum" sz="quarter" idx="12"/>
          </p:nvPr>
        </p:nvSpPr>
        <p:spPr/>
        <p:txBody>
          <a:bodyPr/>
          <a:lstStyle/>
          <a:p>
            <a:fld id="{4A13AE21-251D-504D-8818-0609ABA8D9E1}" type="slidenum">
              <a:rPr lang="ru-RU" smtClean="0"/>
              <a:t>‹#›</a:t>
            </a:fld>
            <a:endParaRPr lang="ru-RU" dirty="0"/>
          </a:p>
        </p:txBody>
      </p:sp>
    </p:spTree>
    <p:extLst>
      <p:ext uri="{BB962C8B-B14F-4D97-AF65-F5344CB8AC3E}">
        <p14:creationId xmlns:p14="http://schemas.microsoft.com/office/powerpoint/2010/main" val="14400743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AC5A75-35FD-8440-9084-0E2C4B04F3E8}" type="datetimeFigureOut">
              <a:rPr lang="ru-RU" smtClean="0"/>
              <a:t>11.09.2023</a:t>
            </a:fld>
            <a:endParaRPr lang="ru-RU" dirty="0"/>
          </a:p>
        </p:txBody>
      </p:sp>
      <p:sp>
        <p:nvSpPr>
          <p:cNvPr id="3" name="Footer Placeholder 2"/>
          <p:cNvSpPr>
            <a:spLocks noGrp="1"/>
          </p:cNvSpPr>
          <p:nvPr>
            <p:ph type="ftr" sz="quarter" idx="11"/>
          </p:nvPr>
        </p:nvSpPr>
        <p:spPr/>
        <p:txBody>
          <a:bodyPr/>
          <a:lstStyle/>
          <a:p>
            <a:endParaRPr lang="ru-RU" dirty="0"/>
          </a:p>
        </p:txBody>
      </p:sp>
      <p:sp>
        <p:nvSpPr>
          <p:cNvPr id="4" name="Slide Number Placeholder 3"/>
          <p:cNvSpPr>
            <a:spLocks noGrp="1"/>
          </p:cNvSpPr>
          <p:nvPr>
            <p:ph type="sldNum" sz="quarter" idx="12"/>
          </p:nvPr>
        </p:nvSpPr>
        <p:spPr/>
        <p:txBody>
          <a:bodyPr/>
          <a:lstStyle/>
          <a:p>
            <a:fld id="{4A13AE21-251D-504D-8818-0609ABA8D9E1}" type="slidenum">
              <a:rPr lang="ru-RU" smtClean="0"/>
              <a:t>‹#›</a:t>
            </a:fld>
            <a:endParaRPr lang="ru-RU" dirty="0"/>
          </a:p>
        </p:txBody>
      </p:sp>
    </p:spTree>
    <p:extLst>
      <p:ext uri="{BB962C8B-B14F-4D97-AF65-F5344CB8AC3E}">
        <p14:creationId xmlns:p14="http://schemas.microsoft.com/office/powerpoint/2010/main" val="60690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26AC5A75-35FD-8440-9084-0E2C4B04F3E8}" type="datetimeFigureOut">
              <a:rPr lang="ru-RU" smtClean="0"/>
              <a:t>11.09.2023</a:t>
            </a:fld>
            <a:endParaRPr lang="ru-RU" dirty="0"/>
          </a:p>
        </p:txBody>
      </p:sp>
      <p:sp>
        <p:nvSpPr>
          <p:cNvPr id="6" name="Footer Placeholder 5"/>
          <p:cNvSpPr>
            <a:spLocks noGrp="1"/>
          </p:cNvSpPr>
          <p:nvPr>
            <p:ph type="ftr" sz="quarter" idx="11"/>
          </p:nvPr>
        </p:nvSpPr>
        <p:spPr/>
        <p:txBody>
          <a:bodyPr/>
          <a:lstStyle/>
          <a:p>
            <a:endParaRPr lang="ru-RU" dirty="0"/>
          </a:p>
        </p:txBody>
      </p:sp>
      <p:sp>
        <p:nvSpPr>
          <p:cNvPr id="7" name="Slide Number Placeholder 6"/>
          <p:cNvSpPr>
            <a:spLocks noGrp="1"/>
          </p:cNvSpPr>
          <p:nvPr>
            <p:ph type="sldNum" sz="quarter" idx="12"/>
          </p:nvPr>
        </p:nvSpPr>
        <p:spPr/>
        <p:txBody>
          <a:bodyPr/>
          <a:lstStyle/>
          <a:p>
            <a:fld id="{4A13AE21-251D-504D-8818-0609ABA8D9E1}" type="slidenum">
              <a:rPr lang="ru-RU" smtClean="0"/>
              <a:t>‹#›</a:t>
            </a:fld>
            <a:endParaRPr lang="ru-RU" dirty="0"/>
          </a:p>
        </p:txBody>
      </p:sp>
    </p:spTree>
    <p:extLst>
      <p:ext uri="{BB962C8B-B14F-4D97-AF65-F5344CB8AC3E}">
        <p14:creationId xmlns:p14="http://schemas.microsoft.com/office/powerpoint/2010/main" val="3732915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dirty="0"/>
              <a:t>Вставка рисунка</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26AC5A75-35FD-8440-9084-0E2C4B04F3E8}" type="datetimeFigureOut">
              <a:rPr lang="ru-RU" smtClean="0"/>
              <a:t>11.09.2023</a:t>
            </a:fld>
            <a:endParaRPr lang="ru-RU" dirty="0"/>
          </a:p>
        </p:txBody>
      </p:sp>
      <p:sp>
        <p:nvSpPr>
          <p:cNvPr id="6" name="Footer Placeholder 5"/>
          <p:cNvSpPr>
            <a:spLocks noGrp="1"/>
          </p:cNvSpPr>
          <p:nvPr>
            <p:ph type="ftr" sz="quarter" idx="11"/>
          </p:nvPr>
        </p:nvSpPr>
        <p:spPr/>
        <p:txBody>
          <a:bodyPr/>
          <a:lstStyle/>
          <a:p>
            <a:endParaRPr lang="ru-RU" dirty="0"/>
          </a:p>
        </p:txBody>
      </p:sp>
      <p:sp>
        <p:nvSpPr>
          <p:cNvPr id="7" name="Slide Number Placeholder 6"/>
          <p:cNvSpPr>
            <a:spLocks noGrp="1"/>
          </p:cNvSpPr>
          <p:nvPr>
            <p:ph type="sldNum" sz="quarter" idx="12"/>
          </p:nvPr>
        </p:nvSpPr>
        <p:spPr/>
        <p:txBody>
          <a:bodyPr/>
          <a:lstStyle/>
          <a:p>
            <a:fld id="{4A13AE21-251D-504D-8818-0609ABA8D9E1}" type="slidenum">
              <a:rPr lang="ru-RU" smtClean="0"/>
              <a:t>‹#›</a:t>
            </a:fld>
            <a:endParaRPr lang="ru-RU" dirty="0"/>
          </a:p>
        </p:txBody>
      </p:sp>
    </p:spTree>
    <p:extLst>
      <p:ext uri="{BB962C8B-B14F-4D97-AF65-F5344CB8AC3E}">
        <p14:creationId xmlns:p14="http://schemas.microsoft.com/office/powerpoint/2010/main" val="2427049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26AC5A75-35FD-8440-9084-0E2C4B04F3E8}" type="datetimeFigureOut">
              <a:rPr lang="ru-RU" smtClean="0"/>
              <a:t>11.09.2023</a:t>
            </a:fld>
            <a:endParaRPr lang="ru-RU" dirty="0"/>
          </a:p>
        </p:txBody>
      </p:sp>
      <p:sp>
        <p:nvSpPr>
          <p:cNvPr id="5" name="Footer Placeholder 4"/>
          <p:cNvSpPr>
            <a:spLocks noGrp="1"/>
          </p:cNvSpPr>
          <p:nvPr>
            <p:ph type="ftr" sz="quarter" idx="11"/>
          </p:nvPr>
        </p:nvSpPr>
        <p:spPr/>
        <p:txBody>
          <a:bodyPr/>
          <a:lstStyle/>
          <a:p>
            <a:endParaRPr lang="ru-RU" dirty="0"/>
          </a:p>
        </p:txBody>
      </p:sp>
      <p:sp>
        <p:nvSpPr>
          <p:cNvPr id="6" name="Slide Number Placeholder 5"/>
          <p:cNvSpPr>
            <a:spLocks noGrp="1"/>
          </p:cNvSpPr>
          <p:nvPr>
            <p:ph type="sldNum" sz="quarter" idx="12"/>
          </p:nvPr>
        </p:nvSpPr>
        <p:spPr/>
        <p:txBody>
          <a:bodyPr/>
          <a:lstStyle/>
          <a:p>
            <a:fld id="{4A13AE21-251D-504D-8818-0609ABA8D9E1}" type="slidenum">
              <a:rPr lang="ru-RU" smtClean="0"/>
              <a:t>‹#›</a:t>
            </a:fld>
            <a:endParaRPr lang="ru-RU" dirty="0"/>
          </a:p>
        </p:txBody>
      </p:sp>
    </p:spTree>
    <p:extLst>
      <p:ext uri="{BB962C8B-B14F-4D97-AF65-F5344CB8AC3E}">
        <p14:creationId xmlns:p14="http://schemas.microsoft.com/office/powerpoint/2010/main" val="229758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26AC5A75-35FD-8440-9084-0E2C4B04F3E8}" type="datetimeFigureOut">
              <a:rPr lang="ru-RU" smtClean="0"/>
              <a:t>11.09.2023</a:t>
            </a:fld>
            <a:endParaRPr lang="ru-RU" dirty="0"/>
          </a:p>
        </p:txBody>
      </p:sp>
      <p:sp>
        <p:nvSpPr>
          <p:cNvPr id="5" name="Footer Placeholder 4"/>
          <p:cNvSpPr>
            <a:spLocks noGrp="1"/>
          </p:cNvSpPr>
          <p:nvPr>
            <p:ph type="ftr" sz="quarter" idx="11"/>
          </p:nvPr>
        </p:nvSpPr>
        <p:spPr/>
        <p:txBody>
          <a:bodyPr/>
          <a:lstStyle/>
          <a:p>
            <a:endParaRPr lang="ru-RU" dirty="0"/>
          </a:p>
        </p:txBody>
      </p:sp>
      <p:sp>
        <p:nvSpPr>
          <p:cNvPr id="6" name="Slide Number Placeholder 5"/>
          <p:cNvSpPr>
            <a:spLocks noGrp="1"/>
          </p:cNvSpPr>
          <p:nvPr>
            <p:ph type="sldNum" sz="quarter" idx="12"/>
          </p:nvPr>
        </p:nvSpPr>
        <p:spPr/>
        <p:txBody>
          <a:bodyPr/>
          <a:lstStyle/>
          <a:p>
            <a:fld id="{4A13AE21-251D-504D-8818-0609ABA8D9E1}" type="slidenum">
              <a:rPr lang="ru-RU" smtClean="0"/>
              <a:t>‹#›</a:t>
            </a:fld>
            <a:endParaRPr lang="ru-RU" dirty="0"/>
          </a:p>
        </p:txBody>
      </p:sp>
    </p:spTree>
    <p:extLst>
      <p:ext uri="{BB962C8B-B14F-4D97-AF65-F5344CB8AC3E}">
        <p14:creationId xmlns:p14="http://schemas.microsoft.com/office/powerpoint/2010/main" val="174872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Заголовок и объект">
    <p:spTree>
      <p:nvGrpSpPr>
        <p:cNvPr id="1" name=""/>
        <p:cNvGrpSpPr/>
        <p:nvPr/>
      </p:nvGrpSpPr>
      <p:grpSpPr>
        <a:xfrm>
          <a:off x="0" y="0"/>
          <a:ext cx="0" cy="0"/>
          <a:chOff x="0" y="0"/>
          <a:chExt cx="0" cy="0"/>
        </a:xfrm>
      </p:grpSpPr>
      <p:graphicFrame>
        <p:nvGraphicFramePr>
          <p:cNvPr id="8" name="Объект 7" hidden="1">
            <a:extLst>
              <a:ext uri="{FF2B5EF4-FFF2-40B4-BE49-F238E27FC236}">
                <a16:creationId xmlns:a16="http://schemas.microsoft.com/office/drawing/2014/main" id="{2AAAEFFE-BE63-466C-811F-48C75C6936D7}"/>
              </a:ext>
            </a:extLst>
          </p:cNvPr>
          <p:cNvGraphicFramePr>
            <a:graphicFrameLocks noChangeAspect="1"/>
          </p:cNvGraphicFramePr>
          <p:nvPr>
            <p:custDataLst>
              <p:tags r:id="rId2"/>
            </p:custDataLst>
            <p:extLst>
              <p:ext uri="{D42A27DB-BD31-4B8C-83A1-F6EECF244321}">
                <p14:modId xmlns:p14="http://schemas.microsoft.com/office/powerpoint/2010/main" val="1380640320"/>
              </p:ext>
            </p:extLst>
          </p:nvPr>
        </p:nvGraphicFramePr>
        <p:xfrm>
          <a:off x="1721" y="1588"/>
          <a:ext cx="1720" cy="1588"/>
        </p:xfrm>
        <a:graphic>
          <a:graphicData uri="http://schemas.openxmlformats.org/presentationml/2006/ole">
            <mc:AlternateContent xmlns:mc="http://schemas.openxmlformats.org/markup-compatibility/2006">
              <mc:Choice xmlns:v="urn:schemas-microsoft-com:vml" Requires="v">
                <p:oleObj spid="_x0000_s1036" name="Слайд think-cell" r:id="rId4" imgW="473" imgH="473" progId="TCLayout.ActiveDocument.1">
                  <p:embed/>
                </p:oleObj>
              </mc:Choice>
              <mc:Fallback>
                <p:oleObj name="Слайд think-cell" r:id="rId4" imgW="473" imgH="473" progId="TCLayout.ActiveDocument.1">
                  <p:embed/>
                  <p:pic>
                    <p:nvPicPr>
                      <p:cNvPr id="8" name="Объект 7" hidden="1">
                        <a:extLst>
                          <a:ext uri="{FF2B5EF4-FFF2-40B4-BE49-F238E27FC236}">
                            <a16:creationId xmlns:a16="http://schemas.microsoft.com/office/drawing/2014/main" id="{2AAAEFFE-BE63-466C-811F-48C75C6936D7}"/>
                          </a:ext>
                        </a:extLst>
                      </p:cNvPr>
                      <p:cNvPicPr/>
                      <p:nvPr/>
                    </p:nvPicPr>
                    <p:blipFill>
                      <a:blip r:embed="rId5"/>
                      <a:stretch>
                        <a:fillRect/>
                      </a:stretch>
                    </p:blipFill>
                    <p:spPr>
                      <a:xfrm>
                        <a:off x="1721" y="1588"/>
                        <a:ext cx="1720" cy="1588"/>
                      </a:xfrm>
                      <a:prstGeom prst="rect">
                        <a:avLst/>
                      </a:prstGeom>
                    </p:spPr>
                  </p:pic>
                </p:oleObj>
              </mc:Fallback>
            </mc:AlternateContent>
          </a:graphicData>
        </a:graphic>
      </p:graphicFrame>
      <p:sp>
        <p:nvSpPr>
          <p:cNvPr id="2" name="Title 1"/>
          <p:cNvSpPr>
            <a:spLocks noGrp="1"/>
          </p:cNvSpPr>
          <p:nvPr>
            <p:ph type="title"/>
          </p:nvPr>
        </p:nvSpPr>
        <p:spPr>
          <a:xfrm>
            <a:off x="448866" y="159862"/>
            <a:ext cx="9031486" cy="830738"/>
          </a:xfrm>
        </p:spPr>
        <p:txBody>
          <a:bodyPr vert="horz">
            <a:noAutofit/>
          </a:bodyPr>
          <a:lstStyle>
            <a:lvl1pPr algn="ctr">
              <a:defRPr sz="1800"/>
            </a:lvl1pPr>
          </a:lstStyle>
          <a:p>
            <a:r>
              <a:rPr lang="ru-RU"/>
              <a:t>Образец заголовка</a:t>
            </a:r>
            <a:endParaRPr lang="en-US" dirty="0"/>
          </a:p>
        </p:txBody>
      </p:sp>
      <p:sp>
        <p:nvSpPr>
          <p:cNvPr id="6" name="Slide Number Placeholder 5"/>
          <p:cNvSpPr>
            <a:spLocks noGrp="1"/>
          </p:cNvSpPr>
          <p:nvPr>
            <p:ph type="sldNum" sz="quarter" idx="12"/>
          </p:nvPr>
        </p:nvSpPr>
        <p:spPr>
          <a:xfrm>
            <a:off x="9164555" y="6537327"/>
            <a:ext cx="514434" cy="253998"/>
          </a:xfrm>
        </p:spPr>
        <p:txBody>
          <a:bodyPr anchor="t"/>
          <a:lstStyle>
            <a:lvl1pPr>
              <a:defRPr sz="751">
                <a:solidFill>
                  <a:schemeClr val="tx1">
                    <a:lumMod val="50000"/>
                    <a:lumOff val="50000"/>
                  </a:schemeClr>
                </a:solidFill>
              </a:defRPr>
            </a:lvl1pPr>
          </a:lstStyle>
          <a:p>
            <a:fld id="{3C1BF337-9E29-4E92-919C-571149AA1FA7}" type="slidenum">
              <a:rPr lang="ru-KZ" smtClean="0"/>
              <a:pPr/>
              <a:t>‹#›</a:t>
            </a:fld>
            <a:r>
              <a:rPr lang="en-US" dirty="0"/>
              <a:t> / 1</a:t>
            </a:r>
            <a:r>
              <a:rPr lang="ru-RU" dirty="0"/>
              <a:t>2</a:t>
            </a:r>
            <a:endParaRPr lang="ru-KZ" dirty="0"/>
          </a:p>
        </p:txBody>
      </p:sp>
      <p:sp>
        <p:nvSpPr>
          <p:cNvPr id="12" name="Текст 11">
            <a:extLst>
              <a:ext uri="{FF2B5EF4-FFF2-40B4-BE49-F238E27FC236}">
                <a16:creationId xmlns:a16="http://schemas.microsoft.com/office/drawing/2014/main" id="{2DAD389E-D3EA-45B3-8E4F-3FB6901076AE}"/>
              </a:ext>
            </a:extLst>
          </p:cNvPr>
          <p:cNvSpPr>
            <a:spLocks noGrp="1"/>
          </p:cNvSpPr>
          <p:nvPr>
            <p:ph type="body" sz="quarter" idx="14" hasCustomPrompt="1"/>
          </p:nvPr>
        </p:nvSpPr>
        <p:spPr>
          <a:xfrm>
            <a:off x="681038" y="2209821"/>
            <a:ext cx="1764506" cy="485775"/>
          </a:xfrm>
        </p:spPr>
        <p:txBody>
          <a:bodyPr>
            <a:noAutofit/>
          </a:bodyPr>
          <a:lstStyle>
            <a:lvl1pPr marL="135747" indent="-135747">
              <a:buFont typeface="Wingdings" panose="05000000000000000000" pitchFamily="2" charset="2"/>
              <a:buChar char="§"/>
              <a:defRPr sz="1200"/>
            </a:lvl1pPr>
          </a:lstStyle>
          <a:p>
            <a:pPr lvl="0"/>
            <a:r>
              <a:rPr lang="ru-RU" dirty="0"/>
              <a:t>Текст</a:t>
            </a:r>
          </a:p>
        </p:txBody>
      </p:sp>
      <p:sp>
        <p:nvSpPr>
          <p:cNvPr id="14" name="Текст 13">
            <a:extLst>
              <a:ext uri="{FF2B5EF4-FFF2-40B4-BE49-F238E27FC236}">
                <a16:creationId xmlns:a16="http://schemas.microsoft.com/office/drawing/2014/main" id="{100326B6-A3CA-402F-BD4D-05A0934836A3}"/>
              </a:ext>
            </a:extLst>
          </p:cNvPr>
          <p:cNvSpPr>
            <a:spLocks noGrp="1"/>
          </p:cNvSpPr>
          <p:nvPr>
            <p:ph type="body" sz="quarter" idx="15" hasCustomPrompt="1"/>
          </p:nvPr>
        </p:nvSpPr>
        <p:spPr>
          <a:xfrm>
            <a:off x="681038" y="1800229"/>
            <a:ext cx="1764506" cy="407427"/>
          </a:xfrm>
        </p:spPr>
        <p:txBody>
          <a:bodyPr>
            <a:noAutofit/>
          </a:bodyPr>
          <a:lstStyle>
            <a:lvl1pPr marL="0" indent="0">
              <a:buNone/>
              <a:defRPr sz="1351" b="1"/>
            </a:lvl1pPr>
          </a:lstStyle>
          <a:p>
            <a:pPr lvl="0"/>
            <a:r>
              <a:rPr lang="ru-RU" dirty="0"/>
              <a:t>Заголовок</a:t>
            </a:r>
          </a:p>
        </p:txBody>
      </p:sp>
    </p:spTree>
    <p:extLst>
      <p:ext uri="{BB962C8B-B14F-4D97-AF65-F5344CB8AC3E}">
        <p14:creationId xmlns:p14="http://schemas.microsoft.com/office/powerpoint/2010/main" val="2943785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AC5A75-35FD-8440-9084-0E2C4B04F3E8}" type="datetimeFigureOut">
              <a:rPr lang="ru-RU" smtClean="0"/>
              <a:t>11.09.2023</a:t>
            </a:fld>
            <a:endParaRPr lang="ru-RU" dirty="0"/>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dirty="0"/>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13AE21-251D-504D-8818-0609ABA8D9E1}" type="slidenum">
              <a:rPr lang="ru-RU" smtClean="0"/>
              <a:t>‹#›</a:t>
            </a:fld>
            <a:endParaRPr lang="ru-RU" dirty="0"/>
          </a:p>
        </p:txBody>
      </p:sp>
    </p:spTree>
    <p:extLst>
      <p:ext uri="{BB962C8B-B14F-4D97-AF65-F5344CB8AC3E}">
        <p14:creationId xmlns:p14="http://schemas.microsoft.com/office/powerpoint/2010/main" val="10306384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Прямоугольник 2">
            <a:extLst>
              <a:ext uri="{FF2B5EF4-FFF2-40B4-BE49-F238E27FC236}">
                <a16:creationId xmlns:a16="http://schemas.microsoft.com/office/drawing/2014/main" id="{909700C6-14B5-4983-A78D-6BF763ADF292}"/>
              </a:ext>
            </a:extLst>
          </p:cNvPr>
          <p:cNvSpPr/>
          <p:nvPr/>
        </p:nvSpPr>
        <p:spPr>
          <a:xfrm>
            <a:off x="163286" y="152400"/>
            <a:ext cx="9568543" cy="6564085"/>
          </a:xfrm>
          <a:prstGeom prst="rect">
            <a:avLst/>
          </a:prstGeom>
          <a:solidFill>
            <a:srgbClr val="2B546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 name="Рисунок 1">
            <a:extLst>
              <a:ext uri="{FF2B5EF4-FFF2-40B4-BE49-F238E27FC236}">
                <a16:creationId xmlns:a16="http://schemas.microsoft.com/office/drawing/2014/main" id="{69BE798D-95AE-D344-328B-56303ADCE789}"/>
              </a:ext>
            </a:extLst>
          </p:cNvPr>
          <p:cNvPicPr>
            <a:picLocks noChangeAspect="1"/>
          </p:cNvPicPr>
          <p:nvPr/>
        </p:nvPicPr>
        <p:blipFill>
          <a:blip r:embed="rId2" cstate="print">
            <a:lum bright="70000" contrast="-70000"/>
            <a:extLst>
              <a:ext uri="{28A0092B-C50C-407E-A947-70E740481C1C}">
                <a14:useLocalDpi xmlns:a14="http://schemas.microsoft.com/office/drawing/2010/main"/>
              </a:ext>
            </a:extLst>
          </a:blip>
          <a:stretch>
            <a:fillRect/>
          </a:stretch>
        </p:blipFill>
        <p:spPr>
          <a:xfrm>
            <a:off x="6446888" y="501160"/>
            <a:ext cx="3095016" cy="882176"/>
          </a:xfrm>
          <a:prstGeom prst="rect">
            <a:avLst/>
          </a:prstGeom>
        </p:spPr>
      </p:pic>
      <p:sp>
        <p:nvSpPr>
          <p:cNvPr id="8" name="Заголовок 1">
            <a:extLst>
              <a:ext uri="{FF2B5EF4-FFF2-40B4-BE49-F238E27FC236}">
                <a16:creationId xmlns:a16="http://schemas.microsoft.com/office/drawing/2014/main" id="{6AB16A79-302E-43C4-85BA-8AF73CAA73D7}"/>
              </a:ext>
            </a:extLst>
          </p:cNvPr>
          <p:cNvSpPr txBox="1">
            <a:spLocks/>
          </p:cNvSpPr>
          <p:nvPr/>
        </p:nvSpPr>
        <p:spPr>
          <a:xfrm>
            <a:off x="560387" y="2616402"/>
            <a:ext cx="6840537" cy="1625195"/>
          </a:xfrm>
          <a:prstGeom prst="rect">
            <a:avLst/>
          </a:prstGeom>
        </p:spPr>
        <p:txBody>
          <a:bodyPr vert="horz" lIns="74295" tIns="37148" rIns="74295" bIns="37148" rtlCol="0" anchor="t">
            <a:noAutofit/>
          </a:bodyPr>
          <a:lstStyle>
            <a:lvl1pPr algn="l" defTabSz="914400" rtl="0" eaLnBrk="1" latinLnBrk="0" hangingPunct="1">
              <a:lnSpc>
                <a:spcPct val="90000"/>
              </a:lnSpc>
              <a:spcBef>
                <a:spcPct val="0"/>
              </a:spcBef>
              <a:buNone/>
              <a:defRPr sz="3600" b="1" kern="1200">
                <a:solidFill>
                  <a:srgbClr val="376C8A"/>
                </a:solidFill>
                <a:latin typeface="+mj-lt"/>
                <a:ea typeface="+mj-ea"/>
                <a:cs typeface="+mj-cs"/>
              </a:defRPr>
            </a:lvl1pPr>
          </a:lstStyle>
          <a:p>
            <a:pPr>
              <a:lnSpc>
                <a:spcPts val="3200"/>
              </a:lnSpc>
            </a:pPr>
            <a:r>
              <a:rPr lang="ru-RU" dirty="0">
                <a:solidFill>
                  <a:schemeClr val="bg1"/>
                </a:solidFill>
                <a:latin typeface="Arial" panose="020B0604020202020204" pitchFamily="34" charset="0"/>
                <a:ea typeface="Calibri" panose="020F0502020204030204" pitchFamily="34" charset="0"/>
                <a:cs typeface="Arial" panose="020B0604020202020204" pitchFamily="34" charset="0"/>
              </a:rPr>
              <a:t>Субъективная оценка жилищных условий населения и планы </a:t>
            </a:r>
          </a:p>
          <a:p>
            <a:pPr>
              <a:lnSpc>
                <a:spcPts val="3200"/>
              </a:lnSpc>
            </a:pPr>
            <a:r>
              <a:rPr lang="ru-RU" dirty="0">
                <a:solidFill>
                  <a:schemeClr val="bg1"/>
                </a:solidFill>
                <a:latin typeface="Arial" panose="020B0604020202020204" pitchFamily="34" charset="0"/>
                <a:ea typeface="Calibri" panose="020F0502020204030204" pitchFamily="34" charset="0"/>
                <a:cs typeface="Arial" panose="020B0604020202020204" pitchFamily="34" charset="0"/>
              </a:rPr>
              <a:t>по их улучшению</a:t>
            </a:r>
            <a:endParaRPr lang="ru-RU"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5" name="Заголовок 1">
            <a:extLst>
              <a:ext uri="{FF2B5EF4-FFF2-40B4-BE49-F238E27FC236}">
                <a16:creationId xmlns:a16="http://schemas.microsoft.com/office/drawing/2014/main" id="{625B5112-D375-4096-BC29-7848BF95A428}"/>
              </a:ext>
            </a:extLst>
          </p:cNvPr>
          <p:cNvSpPr txBox="1">
            <a:spLocks/>
          </p:cNvSpPr>
          <p:nvPr/>
        </p:nvSpPr>
        <p:spPr>
          <a:xfrm>
            <a:off x="560388" y="4437874"/>
            <a:ext cx="2439987" cy="357555"/>
          </a:xfrm>
          <a:prstGeom prst="rect">
            <a:avLst/>
          </a:prstGeom>
        </p:spPr>
        <p:txBody>
          <a:bodyPr vert="horz" lIns="74295" tIns="37148" rIns="74295" bIns="37148" rtlCol="0" anchor="t">
            <a:noAutofit/>
          </a:bodyPr>
          <a:lstStyle>
            <a:lvl1pPr algn="l" defTabSz="914400" rtl="0" eaLnBrk="1" latinLnBrk="0" hangingPunct="1">
              <a:lnSpc>
                <a:spcPct val="90000"/>
              </a:lnSpc>
              <a:spcBef>
                <a:spcPct val="0"/>
              </a:spcBef>
              <a:buNone/>
              <a:defRPr sz="3600" b="1" kern="1200">
                <a:solidFill>
                  <a:srgbClr val="376C8A"/>
                </a:solidFill>
                <a:latin typeface="+mj-lt"/>
                <a:ea typeface="+mj-ea"/>
                <a:cs typeface="+mj-cs"/>
              </a:defRPr>
            </a:lvl1pPr>
          </a:lstStyle>
          <a:p>
            <a:r>
              <a:rPr lang="ru-RU" sz="1800" b="0" i="1" dirty="0">
                <a:solidFill>
                  <a:schemeClr val="bg1"/>
                </a:solidFill>
                <a:latin typeface="Arial" panose="020B0604020202020204" pitchFamily="34" charset="0"/>
                <a:cs typeface="Arial" panose="020B0604020202020204" pitchFamily="34" charset="0"/>
              </a:rPr>
              <a:t>11 сентября, 2023</a:t>
            </a:r>
          </a:p>
        </p:txBody>
      </p:sp>
    </p:spTree>
    <p:extLst>
      <p:ext uri="{BB962C8B-B14F-4D97-AF65-F5344CB8AC3E}">
        <p14:creationId xmlns:p14="http://schemas.microsoft.com/office/powerpoint/2010/main" val="24128390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Рисунок 15" descr="Смартфон со сплошной заливкой">
            <a:extLst>
              <a:ext uri="{FF2B5EF4-FFF2-40B4-BE49-F238E27FC236}">
                <a16:creationId xmlns:a16="http://schemas.microsoft.com/office/drawing/2014/main" id="{AC231513-157A-5634-1462-64D5F3783CE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0361" y="2909744"/>
            <a:ext cx="548124" cy="548124"/>
          </a:xfrm>
          <a:prstGeom prst="rect">
            <a:avLst/>
          </a:prstGeom>
        </p:spPr>
      </p:pic>
      <p:sp>
        <p:nvSpPr>
          <p:cNvPr id="5" name="TextBox 4">
            <a:extLst>
              <a:ext uri="{FF2B5EF4-FFF2-40B4-BE49-F238E27FC236}">
                <a16:creationId xmlns:a16="http://schemas.microsoft.com/office/drawing/2014/main" id="{70B07190-0547-9866-6F2A-61BFD98E67F7}"/>
              </a:ext>
            </a:extLst>
          </p:cNvPr>
          <p:cNvSpPr txBox="1"/>
          <p:nvPr/>
        </p:nvSpPr>
        <p:spPr>
          <a:xfrm>
            <a:off x="1556692" y="2854555"/>
            <a:ext cx="2458628" cy="570355"/>
          </a:xfrm>
          <a:prstGeom prst="rect">
            <a:avLst/>
          </a:prstGeom>
          <a:noFill/>
        </p:spPr>
        <p:txBody>
          <a:bodyPr wrap="none" rtlCol="0">
            <a:noAutofit/>
          </a:bodyPr>
          <a:lstStyle/>
          <a:p>
            <a:pPr algn="l"/>
            <a:r>
              <a:rPr lang="ru-RU" sz="1300" b="1" dirty="0">
                <a:latin typeface="Arial" panose="020B0604020202020204" pitchFamily="34" charset="0"/>
                <a:cs typeface="Arial" panose="020B0604020202020204" pitchFamily="34" charset="0"/>
              </a:rPr>
              <a:t>Метод </a:t>
            </a:r>
          </a:p>
          <a:p>
            <a:pPr algn="l"/>
            <a:r>
              <a:rPr lang="ru-RU" sz="1300" dirty="0">
                <a:latin typeface="Arial" panose="020B0604020202020204" pitchFamily="34" charset="0"/>
                <a:cs typeface="Arial" panose="020B0604020202020204" pitchFamily="34" charset="0"/>
              </a:rPr>
              <a:t>телефонный опрос </a:t>
            </a:r>
          </a:p>
          <a:p>
            <a:pPr algn="l"/>
            <a:r>
              <a:rPr lang="ru-RU" sz="1300" dirty="0">
                <a:latin typeface="Arial" panose="020B0604020202020204" pitchFamily="34" charset="0"/>
                <a:cs typeface="Arial" panose="020B0604020202020204" pitchFamily="34" charset="0"/>
              </a:rPr>
              <a:t>по случайно сгенерированным</a:t>
            </a:r>
          </a:p>
          <a:p>
            <a:pPr algn="l"/>
            <a:r>
              <a:rPr lang="ru-RU" sz="1300" dirty="0">
                <a:latin typeface="Arial" panose="020B0604020202020204" pitchFamily="34" charset="0"/>
                <a:cs typeface="Arial" panose="020B0604020202020204" pitchFamily="34" charset="0"/>
              </a:rPr>
              <a:t>мобильным номерам</a:t>
            </a:r>
          </a:p>
        </p:txBody>
      </p:sp>
      <p:sp>
        <p:nvSpPr>
          <p:cNvPr id="12" name="TextBox 11">
            <a:extLst>
              <a:ext uri="{FF2B5EF4-FFF2-40B4-BE49-F238E27FC236}">
                <a16:creationId xmlns:a16="http://schemas.microsoft.com/office/drawing/2014/main" id="{51A46BC7-EF7F-DA9D-9106-E2901EB394F3}"/>
              </a:ext>
            </a:extLst>
          </p:cNvPr>
          <p:cNvSpPr txBox="1"/>
          <p:nvPr/>
        </p:nvSpPr>
        <p:spPr>
          <a:xfrm>
            <a:off x="5636691" y="4464510"/>
            <a:ext cx="3526359" cy="2107740"/>
          </a:xfrm>
          <a:prstGeom prst="rect">
            <a:avLst/>
          </a:prstGeom>
          <a:noFill/>
        </p:spPr>
        <p:txBody>
          <a:bodyPr wrap="square" rtlCol="0">
            <a:noAutofit/>
          </a:bodyPr>
          <a:lstStyle/>
          <a:p>
            <a:pPr marL="232195" indent="-232195">
              <a:buFont typeface="Wingdings" panose="05000000000000000000" pitchFamily="2" charset="2"/>
              <a:buChar char="§"/>
            </a:pPr>
            <a:r>
              <a:rPr lang="ru-RU" sz="1300" dirty="0">
                <a:latin typeface="Arial" panose="020B0604020202020204" pitchFamily="34" charset="0"/>
                <a:cs typeface="Arial" panose="020B0604020202020204" pitchFamily="34" charset="0"/>
              </a:rPr>
              <a:t>Настроение и дела в стране</a:t>
            </a:r>
            <a:endParaRPr lang="ru-RU" sz="1300" i="1" dirty="0">
              <a:latin typeface="Arial" panose="020B0604020202020204" pitchFamily="34" charset="0"/>
              <a:cs typeface="Arial" panose="020B0604020202020204" pitchFamily="34" charset="0"/>
            </a:endParaRPr>
          </a:p>
          <a:p>
            <a:pPr marL="232195" indent="-232195">
              <a:buFont typeface="Wingdings" panose="05000000000000000000" pitchFamily="2" charset="2"/>
              <a:buChar char="§"/>
            </a:pPr>
            <a:r>
              <a:rPr lang="ru-RU" sz="1300" dirty="0">
                <a:latin typeface="Arial" panose="020B0604020202020204" pitchFamily="34" charset="0"/>
                <a:cs typeface="Arial" panose="020B0604020202020204" pitchFamily="34" charset="0"/>
              </a:rPr>
              <a:t>Удовлетворенность жизнью и уверенность в завтрашнем дне</a:t>
            </a:r>
          </a:p>
          <a:p>
            <a:pPr marL="232195" indent="-232195">
              <a:buFont typeface="Wingdings" panose="05000000000000000000" pitchFamily="2" charset="2"/>
              <a:buChar char="§"/>
            </a:pPr>
            <a:r>
              <a:rPr lang="ru-RU" sz="1300" dirty="0">
                <a:latin typeface="Arial" panose="020B0604020202020204" pitchFamily="34" charset="0"/>
                <a:cs typeface="Arial" panose="020B0604020202020204" pitchFamily="34" charset="0"/>
              </a:rPr>
              <a:t>Доверие институтам</a:t>
            </a:r>
          </a:p>
          <a:p>
            <a:endParaRPr lang="ru-RU" sz="1300" dirty="0">
              <a:latin typeface="Arial" panose="020B0604020202020204" pitchFamily="34" charset="0"/>
              <a:cs typeface="Arial" panose="020B0604020202020204" pitchFamily="34" charset="0"/>
            </a:endParaRPr>
          </a:p>
          <a:p>
            <a:pPr marL="232195" indent="-232195">
              <a:buFont typeface="Wingdings" panose="05000000000000000000" pitchFamily="2" charset="2"/>
              <a:buChar char="§"/>
            </a:pPr>
            <a:r>
              <a:rPr lang="ru-RU" sz="1300" dirty="0">
                <a:latin typeface="Arial" panose="020B0604020202020204" pitchFamily="34" charset="0"/>
                <a:cs typeface="Arial" panose="020B0604020202020204" pitchFamily="34" charset="0"/>
              </a:rPr>
              <a:t>В фокусе: жилищные условия проживания и планы по покупке жилья</a:t>
            </a:r>
          </a:p>
        </p:txBody>
      </p:sp>
      <p:sp>
        <p:nvSpPr>
          <p:cNvPr id="44" name="TextBox 43">
            <a:extLst>
              <a:ext uri="{FF2B5EF4-FFF2-40B4-BE49-F238E27FC236}">
                <a16:creationId xmlns:a16="http://schemas.microsoft.com/office/drawing/2014/main" id="{07800B7C-A5AE-3F7D-C1FA-32C9E914AAB8}"/>
              </a:ext>
            </a:extLst>
          </p:cNvPr>
          <p:cNvSpPr txBox="1"/>
          <p:nvPr/>
        </p:nvSpPr>
        <p:spPr>
          <a:xfrm>
            <a:off x="6002386" y="2902847"/>
            <a:ext cx="2458628" cy="358395"/>
          </a:xfrm>
          <a:prstGeom prst="rect">
            <a:avLst/>
          </a:prstGeom>
          <a:noFill/>
        </p:spPr>
        <p:txBody>
          <a:bodyPr wrap="none" rtlCol="0">
            <a:noAutofit/>
          </a:bodyPr>
          <a:lstStyle/>
          <a:p>
            <a:pPr algn="l"/>
            <a:r>
              <a:rPr lang="ru-RU" sz="1300" b="1" dirty="0">
                <a:latin typeface="Arial" panose="020B0604020202020204" pitchFamily="34" charset="0"/>
                <a:cs typeface="Arial" panose="020B0604020202020204" pitchFamily="34" charset="0"/>
              </a:rPr>
              <a:t>Инструментарий</a:t>
            </a:r>
          </a:p>
          <a:p>
            <a:pPr algn="l"/>
            <a:r>
              <a:rPr lang="ru-RU" sz="1300" dirty="0">
                <a:latin typeface="Arial" panose="020B0604020202020204" pitchFamily="34" charset="0"/>
                <a:cs typeface="Arial" panose="020B0604020202020204" pitchFamily="34" charset="0"/>
              </a:rPr>
              <a:t>35 вопросов</a:t>
            </a:r>
          </a:p>
        </p:txBody>
      </p:sp>
      <p:pic>
        <p:nvPicPr>
          <p:cNvPr id="46" name="Рисунок 45" descr="Список со сплошной заливкой">
            <a:extLst>
              <a:ext uri="{FF2B5EF4-FFF2-40B4-BE49-F238E27FC236}">
                <a16:creationId xmlns:a16="http://schemas.microsoft.com/office/drawing/2014/main" id="{25751E65-25C4-A5AD-9A83-21013B795D2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36692" y="2881123"/>
            <a:ext cx="565703" cy="565703"/>
          </a:xfrm>
          <a:prstGeom prst="rect">
            <a:avLst/>
          </a:prstGeom>
        </p:spPr>
      </p:pic>
      <p:sp>
        <p:nvSpPr>
          <p:cNvPr id="47" name="TextBox 46">
            <a:extLst>
              <a:ext uri="{FF2B5EF4-FFF2-40B4-BE49-F238E27FC236}">
                <a16:creationId xmlns:a16="http://schemas.microsoft.com/office/drawing/2014/main" id="{083CD0E3-0A28-2AAF-C26E-5C7BDD94918C}"/>
              </a:ext>
            </a:extLst>
          </p:cNvPr>
          <p:cNvSpPr txBox="1"/>
          <p:nvPr/>
        </p:nvSpPr>
        <p:spPr>
          <a:xfrm>
            <a:off x="5637774" y="4198264"/>
            <a:ext cx="2458628" cy="358395"/>
          </a:xfrm>
          <a:prstGeom prst="rect">
            <a:avLst/>
          </a:prstGeom>
          <a:noFill/>
        </p:spPr>
        <p:txBody>
          <a:bodyPr wrap="none" rtlCol="0">
            <a:noAutofit/>
          </a:bodyPr>
          <a:lstStyle/>
          <a:p>
            <a:pPr algn="l"/>
            <a:r>
              <a:rPr lang="ru-RU" sz="1300" b="1" dirty="0">
                <a:latin typeface="Arial" panose="020B0604020202020204" pitchFamily="34" charset="0"/>
                <a:cs typeface="Arial" panose="020B0604020202020204" pitchFamily="34" charset="0"/>
              </a:rPr>
              <a:t>Блоки вопросов</a:t>
            </a:r>
            <a:endParaRPr lang="ru-RU" sz="1300" i="1" dirty="0">
              <a:latin typeface="Arial" panose="020B0604020202020204" pitchFamily="34" charset="0"/>
              <a:cs typeface="Arial" panose="020B0604020202020204" pitchFamily="34" charset="0"/>
            </a:endParaRPr>
          </a:p>
        </p:txBody>
      </p:sp>
      <p:sp>
        <p:nvSpPr>
          <p:cNvPr id="2" name="Заголовок 1">
            <a:extLst>
              <a:ext uri="{FF2B5EF4-FFF2-40B4-BE49-F238E27FC236}">
                <a16:creationId xmlns:a16="http://schemas.microsoft.com/office/drawing/2014/main" id="{B73457EF-1CCC-5885-4561-23E0DABEB265}"/>
              </a:ext>
            </a:extLst>
          </p:cNvPr>
          <p:cNvSpPr>
            <a:spLocks noGrp="1"/>
          </p:cNvSpPr>
          <p:nvPr>
            <p:ph type="title"/>
          </p:nvPr>
        </p:nvSpPr>
        <p:spPr>
          <a:xfrm>
            <a:off x="635024" y="350777"/>
            <a:ext cx="9031486" cy="674975"/>
          </a:xfrm>
        </p:spPr>
        <p:txBody>
          <a:bodyPr/>
          <a:lstStyle/>
          <a:p>
            <a:pPr algn="l"/>
            <a:r>
              <a:rPr lang="ru-RU" sz="3200" b="1" dirty="0">
                <a:latin typeface="Arial" panose="020B0604020202020204" pitchFamily="34" charset="0"/>
                <a:ea typeface="+mn-ea"/>
                <a:cs typeface="Arial" panose="020B0604020202020204" pitchFamily="34" charset="0"/>
              </a:rPr>
              <a:t>Дизайн исследования</a:t>
            </a:r>
            <a:endParaRPr lang="ru-KZ" sz="3200" b="1" dirty="0">
              <a:latin typeface="Arial" panose="020B0604020202020204" pitchFamily="34" charset="0"/>
              <a:ea typeface="+mn-ea"/>
              <a:cs typeface="Arial" panose="020B0604020202020204" pitchFamily="34" charset="0"/>
            </a:endParaRPr>
          </a:p>
        </p:txBody>
      </p:sp>
      <p:sp>
        <p:nvSpPr>
          <p:cNvPr id="74" name="TextBox 73">
            <a:extLst>
              <a:ext uri="{FF2B5EF4-FFF2-40B4-BE49-F238E27FC236}">
                <a16:creationId xmlns:a16="http://schemas.microsoft.com/office/drawing/2014/main" id="{58C093BF-B394-449A-9AD3-E6E869DDE945}"/>
              </a:ext>
            </a:extLst>
          </p:cNvPr>
          <p:cNvSpPr txBox="1"/>
          <p:nvPr/>
        </p:nvSpPr>
        <p:spPr>
          <a:xfrm>
            <a:off x="1556692" y="1803687"/>
            <a:ext cx="2458628" cy="570355"/>
          </a:xfrm>
          <a:prstGeom prst="rect">
            <a:avLst/>
          </a:prstGeom>
          <a:noFill/>
        </p:spPr>
        <p:txBody>
          <a:bodyPr wrap="none" rtlCol="0">
            <a:noAutofit/>
          </a:bodyPr>
          <a:lstStyle/>
          <a:p>
            <a:pPr algn="l"/>
            <a:r>
              <a:rPr lang="ru-RU" sz="1300" b="1" dirty="0">
                <a:latin typeface="Arial" panose="020B0604020202020204" pitchFamily="34" charset="0"/>
                <a:cs typeface="Arial" panose="020B0604020202020204" pitchFamily="34" charset="0"/>
              </a:rPr>
              <a:t>Целевая аудитория</a:t>
            </a:r>
          </a:p>
          <a:p>
            <a:pPr algn="l"/>
            <a:r>
              <a:rPr lang="ru-RU" sz="1300" dirty="0">
                <a:latin typeface="Arial" panose="020B0604020202020204" pitchFamily="34" charset="0"/>
                <a:cs typeface="Arial" panose="020B0604020202020204" pitchFamily="34" charset="0"/>
              </a:rPr>
              <a:t>взрослое население Казахстана </a:t>
            </a:r>
          </a:p>
        </p:txBody>
      </p:sp>
      <p:pic>
        <p:nvPicPr>
          <p:cNvPr id="75" name="Рисунок 74">
            <a:extLst>
              <a:ext uri="{FF2B5EF4-FFF2-40B4-BE49-F238E27FC236}">
                <a16:creationId xmlns:a16="http://schemas.microsoft.com/office/drawing/2014/main" id="{0FABA879-89F5-4C82-AB24-0BD021A88CFB}"/>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11248" y="1807957"/>
            <a:ext cx="484133" cy="484133"/>
          </a:xfrm>
          <a:prstGeom prst="rect">
            <a:avLst/>
          </a:prstGeom>
        </p:spPr>
      </p:pic>
      <p:pic>
        <p:nvPicPr>
          <p:cNvPr id="76" name="Рисунок 75" descr="Месячный календарь со сплошной заливкой">
            <a:extLst>
              <a:ext uri="{FF2B5EF4-FFF2-40B4-BE49-F238E27FC236}">
                <a16:creationId xmlns:a16="http://schemas.microsoft.com/office/drawing/2014/main" id="{3783FBCD-9C69-40CE-97E7-21B31CC846F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08859" y="4187392"/>
            <a:ext cx="627213" cy="627213"/>
          </a:xfrm>
          <a:prstGeom prst="rect">
            <a:avLst/>
          </a:prstGeom>
        </p:spPr>
      </p:pic>
      <p:sp>
        <p:nvSpPr>
          <p:cNvPr id="77" name="TextBox 76">
            <a:extLst>
              <a:ext uri="{FF2B5EF4-FFF2-40B4-BE49-F238E27FC236}">
                <a16:creationId xmlns:a16="http://schemas.microsoft.com/office/drawing/2014/main" id="{158285F3-E233-4779-BF73-B9D8AF049389}"/>
              </a:ext>
            </a:extLst>
          </p:cNvPr>
          <p:cNvSpPr txBox="1"/>
          <p:nvPr/>
        </p:nvSpPr>
        <p:spPr>
          <a:xfrm>
            <a:off x="1532413" y="4446493"/>
            <a:ext cx="2458628" cy="1462583"/>
          </a:xfrm>
          <a:prstGeom prst="rect">
            <a:avLst/>
          </a:prstGeom>
          <a:noFill/>
        </p:spPr>
        <p:txBody>
          <a:bodyPr wrap="none" rtlCol="0">
            <a:noAutofit/>
          </a:bodyPr>
          <a:lstStyle/>
          <a:p>
            <a:r>
              <a:rPr lang="ru-RU" sz="1300" dirty="0">
                <a:latin typeface="Arial" panose="020B0604020202020204" pitchFamily="34" charset="0"/>
                <a:cs typeface="Arial" panose="020B0604020202020204" pitchFamily="34" charset="0"/>
              </a:rPr>
              <a:t>8000 респондентов,</a:t>
            </a:r>
          </a:p>
          <a:p>
            <a:r>
              <a:rPr lang="ru-RU" sz="1300" dirty="0">
                <a:latin typeface="Arial" panose="020B0604020202020204" pitchFamily="34" charset="0"/>
                <a:cs typeface="Arial" panose="020B0604020202020204" pitchFamily="34" charset="0"/>
              </a:rPr>
              <a:t>по 400 в каждой области</a:t>
            </a:r>
          </a:p>
          <a:p>
            <a:endParaRPr lang="ru-RU" sz="1300" dirty="0">
              <a:latin typeface="Arial" panose="020B0604020202020204" pitchFamily="34" charset="0"/>
              <a:cs typeface="Arial" panose="020B0604020202020204" pitchFamily="34" charset="0"/>
            </a:endParaRPr>
          </a:p>
          <a:p>
            <a:pPr algn="l"/>
            <a:r>
              <a:rPr lang="en-CA" sz="1300" dirty="0">
                <a:latin typeface="Arial" panose="020B0604020202020204" pitchFamily="34" charset="0"/>
                <a:cs typeface="Arial" panose="020B0604020202020204" pitchFamily="34" charset="0"/>
              </a:rPr>
              <a:t>17 </a:t>
            </a:r>
            <a:r>
              <a:rPr lang="ru-RU" sz="1300" dirty="0">
                <a:latin typeface="Arial" panose="020B0604020202020204" pitchFamily="34" charset="0"/>
                <a:cs typeface="Arial" panose="020B0604020202020204" pitchFamily="34" charset="0"/>
              </a:rPr>
              <a:t>областей, </a:t>
            </a:r>
          </a:p>
          <a:p>
            <a:pPr algn="l"/>
            <a:r>
              <a:rPr lang="ru-RU" sz="1300" dirty="0">
                <a:latin typeface="Arial" panose="020B0604020202020204" pitchFamily="34" charset="0"/>
                <a:cs typeface="Arial" panose="020B0604020202020204" pitchFamily="34" charset="0"/>
              </a:rPr>
              <a:t>3 города республиканского значения</a:t>
            </a:r>
          </a:p>
          <a:p>
            <a:pPr algn="l"/>
            <a:endParaRPr lang="ru-RU" sz="1300" dirty="0">
              <a:latin typeface="Arial" panose="020B0604020202020204" pitchFamily="34" charset="0"/>
              <a:cs typeface="Arial" panose="020B0604020202020204" pitchFamily="34" charset="0"/>
            </a:endParaRPr>
          </a:p>
          <a:p>
            <a:pPr algn="l"/>
            <a:r>
              <a:rPr lang="ru-RU" sz="1300" dirty="0">
                <a:latin typeface="Arial" panose="020B0604020202020204" pitchFamily="34" charset="0"/>
                <a:cs typeface="Arial" panose="020B0604020202020204" pitchFamily="34" charset="0"/>
              </a:rPr>
              <a:t>Проведение опроса: 22 июня – </a:t>
            </a:r>
            <a:r>
              <a:rPr lang="en-US" sz="1300" dirty="0">
                <a:latin typeface="Arial" panose="020B0604020202020204" pitchFamily="34" charset="0"/>
                <a:cs typeface="Arial" panose="020B0604020202020204" pitchFamily="34" charset="0"/>
              </a:rPr>
              <a:t>2</a:t>
            </a:r>
            <a:r>
              <a:rPr lang="ru-RU" sz="1300" dirty="0">
                <a:latin typeface="Arial" panose="020B0604020202020204" pitchFamily="34" charset="0"/>
                <a:cs typeface="Arial" panose="020B0604020202020204" pitchFamily="34" charset="0"/>
              </a:rPr>
              <a:t> августа</a:t>
            </a:r>
            <a:r>
              <a:rPr lang="en-US" sz="1300" dirty="0">
                <a:latin typeface="Arial" panose="020B0604020202020204" pitchFamily="34" charset="0"/>
                <a:cs typeface="Arial" panose="020B0604020202020204" pitchFamily="34" charset="0"/>
              </a:rPr>
              <a:t> </a:t>
            </a:r>
            <a:r>
              <a:rPr lang="ru-RU" sz="1300" dirty="0">
                <a:latin typeface="Arial" panose="020B0604020202020204" pitchFamily="34" charset="0"/>
                <a:cs typeface="Arial" panose="020B0604020202020204" pitchFamily="34" charset="0"/>
              </a:rPr>
              <a:t>2023 г. </a:t>
            </a:r>
          </a:p>
          <a:p>
            <a:pPr algn="l"/>
            <a:endParaRPr lang="ru-RU" sz="1300" dirty="0">
              <a:latin typeface="Arial" panose="020B0604020202020204" pitchFamily="34" charset="0"/>
              <a:cs typeface="Arial" panose="020B0604020202020204" pitchFamily="34" charset="0"/>
            </a:endParaRPr>
          </a:p>
        </p:txBody>
      </p:sp>
      <p:sp>
        <p:nvSpPr>
          <p:cNvPr id="78" name="TextBox 77">
            <a:extLst>
              <a:ext uri="{FF2B5EF4-FFF2-40B4-BE49-F238E27FC236}">
                <a16:creationId xmlns:a16="http://schemas.microsoft.com/office/drawing/2014/main" id="{F8EE5A5B-087E-43CB-859A-C7D4734150E3}"/>
              </a:ext>
            </a:extLst>
          </p:cNvPr>
          <p:cNvSpPr txBox="1"/>
          <p:nvPr/>
        </p:nvSpPr>
        <p:spPr>
          <a:xfrm>
            <a:off x="1532413" y="4198264"/>
            <a:ext cx="3389092" cy="323437"/>
          </a:xfrm>
          <a:prstGeom prst="rect">
            <a:avLst/>
          </a:prstGeom>
          <a:noFill/>
        </p:spPr>
        <p:txBody>
          <a:bodyPr wrap="square" rtlCol="0">
            <a:noAutofit/>
          </a:bodyPr>
          <a:lstStyle/>
          <a:p>
            <a:pPr algn="l"/>
            <a:r>
              <a:rPr lang="ru-RU" sz="1300" b="1" dirty="0">
                <a:latin typeface="Arial" panose="020B0604020202020204" pitchFamily="34" charset="0"/>
                <a:cs typeface="Arial" panose="020B0604020202020204" pitchFamily="34" charset="0"/>
              </a:rPr>
              <a:t>Выборка</a:t>
            </a:r>
          </a:p>
          <a:p>
            <a:pPr algn="l"/>
            <a:endParaRPr lang="ru-RU" sz="1300" b="1" dirty="0">
              <a:latin typeface="Arial" panose="020B0604020202020204" pitchFamily="34" charset="0"/>
              <a:cs typeface="Arial" panose="020B0604020202020204" pitchFamily="34" charset="0"/>
            </a:endParaRPr>
          </a:p>
        </p:txBody>
      </p:sp>
      <p:sp>
        <p:nvSpPr>
          <p:cNvPr id="41" name="TextBox 40">
            <a:extLst>
              <a:ext uri="{FF2B5EF4-FFF2-40B4-BE49-F238E27FC236}">
                <a16:creationId xmlns:a16="http://schemas.microsoft.com/office/drawing/2014/main" id="{E61CBC2D-8868-4B2F-9F5A-866887EF30CE}"/>
              </a:ext>
            </a:extLst>
          </p:cNvPr>
          <p:cNvSpPr txBox="1"/>
          <p:nvPr/>
        </p:nvSpPr>
        <p:spPr>
          <a:xfrm>
            <a:off x="6253547" y="1804518"/>
            <a:ext cx="3389092" cy="545951"/>
          </a:xfrm>
          <a:prstGeom prst="rect">
            <a:avLst/>
          </a:prstGeom>
          <a:noFill/>
        </p:spPr>
        <p:txBody>
          <a:bodyPr wrap="square" rtlCol="0">
            <a:noAutofit/>
          </a:bodyPr>
          <a:lstStyle/>
          <a:p>
            <a:pPr algn="l"/>
            <a:r>
              <a:rPr lang="ru-RU" sz="1300" b="1" dirty="0">
                <a:latin typeface="Arial" panose="020B0604020202020204" pitchFamily="34" charset="0"/>
                <a:cs typeface="Arial" panose="020B0604020202020204" pitchFamily="34" charset="0"/>
              </a:rPr>
              <a:t>Параметры репрезентативности</a:t>
            </a:r>
          </a:p>
        </p:txBody>
      </p:sp>
      <p:sp>
        <p:nvSpPr>
          <p:cNvPr id="43" name="TextBox 42">
            <a:extLst>
              <a:ext uri="{FF2B5EF4-FFF2-40B4-BE49-F238E27FC236}">
                <a16:creationId xmlns:a16="http://schemas.microsoft.com/office/drawing/2014/main" id="{38F3BE30-4469-4C53-BBB1-40220373F3E1}"/>
              </a:ext>
            </a:extLst>
          </p:cNvPr>
          <p:cNvSpPr txBox="1"/>
          <p:nvPr/>
        </p:nvSpPr>
        <p:spPr>
          <a:xfrm>
            <a:off x="6253009" y="1995613"/>
            <a:ext cx="2987935" cy="545951"/>
          </a:xfrm>
          <a:prstGeom prst="rect">
            <a:avLst/>
          </a:prstGeom>
          <a:noFill/>
        </p:spPr>
        <p:txBody>
          <a:bodyPr wrap="square" rtlCol="0">
            <a:noAutofit/>
          </a:bodyPr>
          <a:lstStyle/>
          <a:p>
            <a:pPr>
              <a:spcAft>
                <a:spcPts val="488"/>
              </a:spcAft>
            </a:pPr>
            <a:r>
              <a:rPr lang="ru-RU" sz="1300" dirty="0">
                <a:latin typeface="Arial" panose="020B0604020202020204" pitchFamily="34" charset="0"/>
                <a:cs typeface="Arial" panose="020B0604020202020204" pitchFamily="34" charset="0"/>
              </a:rPr>
              <a:t>Пол, возраст, место проживания, национальность, язык</a:t>
            </a:r>
          </a:p>
        </p:txBody>
      </p:sp>
      <p:grpSp>
        <p:nvGrpSpPr>
          <p:cNvPr id="49" name="Группа 48">
            <a:extLst>
              <a:ext uri="{FF2B5EF4-FFF2-40B4-BE49-F238E27FC236}">
                <a16:creationId xmlns:a16="http://schemas.microsoft.com/office/drawing/2014/main" id="{7D2E2CE4-08BB-40AB-860F-9F9870C69101}"/>
              </a:ext>
            </a:extLst>
          </p:cNvPr>
          <p:cNvGrpSpPr/>
          <p:nvPr/>
        </p:nvGrpSpPr>
        <p:grpSpPr>
          <a:xfrm>
            <a:off x="5093068" y="1827119"/>
            <a:ext cx="1160487" cy="601263"/>
            <a:chOff x="2105890" y="2140060"/>
            <a:chExt cx="6717902" cy="3583235"/>
          </a:xfrm>
          <a:solidFill>
            <a:srgbClr val="376C8A"/>
          </a:solidFill>
        </p:grpSpPr>
        <p:sp>
          <p:nvSpPr>
            <p:cNvPr id="71" name="Freeform 227">
              <a:extLst>
                <a:ext uri="{FF2B5EF4-FFF2-40B4-BE49-F238E27FC236}">
                  <a16:creationId xmlns:a16="http://schemas.microsoft.com/office/drawing/2014/main" id="{37085EA6-B888-494C-93D4-5BF28383E3D7}"/>
                </a:ext>
              </a:extLst>
            </p:cNvPr>
            <p:cNvSpPr>
              <a:spLocks/>
            </p:cNvSpPr>
            <p:nvPr/>
          </p:nvSpPr>
          <p:spPr bwMode="auto">
            <a:xfrm>
              <a:off x="4065271" y="3960427"/>
              <a:ext cx="1618061" cy="1347307"/>
            </a:xfrm>
            <a:custGeom>
              <a:avLst/>
              <a:gdLst>
                <a:gd name="T0" fmla="*/ 32 w 609"/>
                <a:gd name="T1" fmla="*/ 157 h 530"/>
                <a:gd name="T2" fmla="*/ 31 w 609"/>
                <a:gd name="T3" fmla="*/ 165 h 530"/>
                <a:gd name="T4" fmla="*/ 16 w 609"/>
                <a:gd name="T5" fmla="*/ 170 h 530"/>
                <a:gd name="T6" fmla="*/ 26 w 609"/>
                <a:gd name="T7" fmla="*/ 184 h 530"/>
                <a:gd name="T8" fmla="*/ 52 w 609"/>
                <a:gd name="T9" fmla="*/ 177 h 530"/>
                <a:gd name="T10" fmla="*/ 63 w 609"/>
                <a:gd name="T11" fmla="*/ 155 h 530"/>
                <a:gd name="T12" fmla="*/ 58 w 609"/>
                <a:gd name="T13" fmla="*/ 141 h 530"/>
                <a:gd name="T14" fmla="*/ 69 w 609"/>
                <a:gd name="T15" fmla="*/ 129 h 530"/>
                <a:gd name="T16" fmla="*/ 69 w 609"/>
                <a:gd name="T17" fmla="*/ 154 h 530"/>
                <a:gd name="T18" fmla="*/ 92 w 609"/>
                <a:gd name="T19" fmla="*/ 159 h 530"/>
                <a:gd name="T20" fmla="*/ 112 w 609"/>
                <a:gd name="T21" fmla="*/ 159 h 530"/>
                <a:gd name="T22" fmla="*/ 112 w 609"/>
                <a:gd name="T23" fmla="*/ 168 h 530"/>
                <a:gd name="T24" fmla="*/ 94 w 609"/>
                <a:gd name="T25" fmla="*/ 171 h 530"/>
                <a:gd name="T26" fmla="*/ 70 w 609"/>
                <a:gd name="T27" fmla="*/ 166 h 530"/>
                <a:gd name="T28" fmla="*/ 64 w 609"/>
                <a:gd name="T29" fmla="*/ 183 h 530"/>
                <a:gd name="T30" fmla="*/ 59 w 609"/>
                <a:gd name="T31" fmla="*/ 200 h 530"/>
                <a:gd name="T32" fmla="*/ 71 w 609"/>
                <a:gd name="T33" fmla="*/ 197 h 530"/>
                <a:gd name="T34" fmla="*/ 81 w 609"/>
                <a:gd name="T35" fmla="*/ 234 h 530"/>
                <a:gd name="T36" fmla="*/ 77 w 609"/>
                <a:gd name="T37" fmla="*/ 268 h 530"/>
                <a:gd name="T38" fmla="*/ 141 w 609"/>
                <a:gd name="T39" fmla="*/ 337 h 530"/>
                <a:gd name="T40" fmla="*/ 278 w 609"/>
                <a:gd name="T41" fmla="*/ 398 h 530"/>
                <a:gd name="T42" fmla="*/ 322 w 609"/>
                <a:gd name="T43" fmla="*/ 407 h 530"/>
                <a:gd name="T44" fmla="*/ 395 w 609"/>
                <a:gd name="T45" fmla="*/ 393 h 530"/>
                <a:gd name="T46" fmla="*/ 437 w 609"/>
                <a:gd name="T47" fmla="*/ 434 h 530"/>
                <a:gd name="T48" fmla="*/ 456 w 609"/>
                <a:gd name="T49" fmla="*/ 479 h 530"/>
                <a:gd name="T50" fmla="*/ 480 w 609"/>
                <a:gd name="T51" fmla="*/ 465 h 530"/>
                <a:gd name="T52" fmla="*/ 490 w 609"/>
                <a:gd name="T53" fmla="*/ 520 h 530"/>
                <a:gd name="T54" fmla="*/ 522 w 609"/>
                <a:gd name="T55" fmla="*/ 493 h 530"/>
                <a:gd name="T56" fmla="*/ 541 w 609"/>
                <a:gd name="T57" fmla="*/ 480 h 530"/>
                <a:gd name="T58" fmla="*/ 561 w 609"/>
                <a:gd name="T59" fmla="*/ 473 h 530"/>
                <a:gd name="T60" fmla="*/ 596 w 609"/>
                <a:gd name="T61" fmla="*/ 449 h 530"/>
                <a:gd name="T62" fmla="*/ 584 w 609"/>
                <a:gd name="T63" fmla="*/ 428 h 530"/>
                <a:gd name="T64" fmla="*/ 604 w 609"/>
                <a:gd name="T65" fmla="*/ 405 h 530"/>
                <a:gd name="T66" fmla="*/ 604 w 609"/>
                <a:gd name="T67" fmla="*/ 385 h 530"/>
                <a:gd name="T68" fmla="*/ 609 w 609"/>
                <a:gd name="T69" fmla="*/ 368 h 530"/>
                <a:gd name="T70" fmla="*/ 578 w 609"/>
                <a:gd name="T71" fmla="*/ 341 h 530"/>
                <a:gd name="T72" fmla="*/ 576 w 609"/>
                <a:gd name="T73" fmla="*/ 273 h 530"/>
                <a:gd name="T74" fmla="*/ 554 w 609"/>
                <a:gd name="T75" fmla="*/ 245 h 530"/>
                <a:gd name="T76" fmla="*/ 560 w 609"/>
                <a:gd name="T77" fmla="*/ 234 h 530"/>
                <a:gd name="T78" fmla="*/ 548 w 609"/>
                <a:gd name="T79" fmla="*/ 173 h 530"/>
                <a:gd name="T80" fmla="*/ 517 w 609"/>
                <a:gd name="T81" fmla="*/ 178 h 530"/>
                <a:gd name="T82" fmla="*/ 516 w 609"/>
                <a:gd name="T83" fmla="*/ 179 h 530"/>
                <a:gd name="T84" fmla="*/ 451 w 609"/>
                <a:gd name="T85" fmla="*/ 177 h 530"/>
                <a:gd name="T86" fmla="*/ 415 w 609"/>
                <a:gd name="T87" fmla="*/ 149 h 530"/>
                <a:gd name="T88" fmla="*/ 312 w 609"/>
                <a:gd name="T89" fmla="*/ 100 h 530"/>
                <a:gd name="T90" fmla="*/ 292 w 609"/>
                <a:gd name="T91" fmla="*/ 80 h 530"/>
                <a:gd name="T92" fmla="*/ 278 w 609"/>
                <a:gd name="T93" fmla="*/ 78 h 530"/>
                <a:gd name="T94" fmla="*/ 269 w 609"/>
                <a:gd name="T95" fmla="*/ 66 h 530"/>
                <a:gd name="T96" fmla="*/ 255 w 609"/>
                <a:gd name="T97" fmla="*/ 56 h 530"/>
                <a:gd name="T98" fmla="*/ 253 w 609"/>
                <a:gd name="T99" fmla="*/ 45 h 530"/>
                <a:gd name="T100" fmla="*/ 179 w 609"/>
                <a:gd name="T101" fmla="*/ 0 h 530"/>
                <a:gd name="T102" fmla="*/ 147 w 609"/>
                <a:gd name="T103" fmla="*/ 58 h 530"/>
                <a:gd name="T104" fmla="*/ 109 w 609"/>
                <a:gd name="T105" fmla="*/ 58 h 530"/>
                <a:gd name="T106" fmla="*/ 104 w 609"/>
                <a:gd name="T107" fmla="*/ 82 h 530"/>
                <a:gd name="T108" fmla="*/ 93 w 609"/>
                <a:gd name="T109" fmla="*/ 78 h 530"/>
                <a:gd name="T110" fmla="*/ 23 w 609"/>
                <a:gd name="T111" fmla="*/ 150 h 530"/>
                <a:gd name="T112" fmla="*/ 21 w 609"/>
                <a:gd name="T113" fmla="*/ 151 h 530"/>
                <a:gd name="T114" fmla="*/ 0 w 609"/>
                <a:gd name="T115" fmla="*/ 160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09" h="530">
                  <a:moveTo>
                    <a:pt x="27" y="159"/>
                  </a:moveTo>
                  <a:cubicBezTo>
                    <a:pt x="32" y="157"/>
                    <a:pt x="32" y="157"/>
                    <a:pt x="32" y="157"/>
                  </a:cubicBezTo>
                  <a:cubicBezTo>
                    <a:pt x="34" y="160"/>
                    <a:pt x="34" y="160"/>
                    <a:pt x="34" y="160"/>
                  </a:cubicBezTo>
                  <a:cubicBezTo>
                    <a:pt x="31" y="165"/>
                    <a:pt x="31" y="165"/>
                    <a:pt x="31" y="165"/>
                  </a:cubicBezTo>
                  <a:cubicBezTo>
                    <a:pt x="27" y="170"/>
                    <a:pt x="27" y="170"/>
                    <a:pt x="27" y="170"/>
                  </a:cubicBezTo>
                  <a:cubicBezTo>
                    <a:pt x="16" y="170"/>
                    <a:pt x="16" y="170"/>
                    <a:pt x="16" y="170"/>
                  </a:cubicBezTo>
                  <a:cubicBezTo>
                    <a:pt x="26" y="175"/>
                    <a:pt x="26" y="175"/>
                    <a:pt x="26" y="175"/>
                  </a:cubicBezTo>
                  <a:cubicBezTo>
                    <a:pt x="26" y="184"/>
                    <a:pt x="26" y="184"/>
                    <a:pt x="26" y="184"/>
                  </a:cubicBezTo>
                  <a:cubicBezTo>
                    <a:pt x="37" y="184"/>
                    <a:pt x="37" y="184"/>
                    <a:pt x="37" y="184"/>
                  </a:cubicBezTo>
                  <a:cubicBezTo>
                    <a:pt x="52" y="177"/>
                    <a:pt x="52" y="177"/>
                    <a:pt x="52" y="177"/>
                  </a:cubicBezTo>
                  <a:cubicBezTo>
                    <a:pt x="56" y="164"/>
                    <a:pt x="56" y="164"/>
                    <a:pt x="56" y="164"/>
                  </a:cubicBezTo>
                  <a:cubicBezTo>
                    <a:pt x="63" y="155"/>
                    <a:pt x="63" y="155"/>
                    <a:pt x="63" y="155"/>
                  </a:cubicBezTo>
                  <a:cubicBezTo>
                    <a:pt x="63" y="151"/>
                    <a:pt x="63" y="151"/>
                    <a:pt x="63" y="151"/>
                  </a:cubicBezTo>
                  <a:cubicBezTo>
                    <a:pt x="58" y="141"/>
                    <a:pt x="58" y="141"/>
                    <a:pt x="58" y="141"/>
                  </a:cubicBezTo>
                  <a:cubicBezTo>
                    <a:pt x="52" y="128"/>
                    <a:pt x="52" y="128"/>
                    <a:pt x="52" y="128"/>
                  </a:cubicBezTo>
                  <a:cubicBezTo>
                    <a:pt x="69" y="129"/>
                    <a:pt x="69" y="129"/>
                    <a:pt x="69" y="129"/>
                  </a:cubicBezTo>
                  <a:cubicBezTo>
                    <a:pt x="69" y="145"/>
                    <a:pt x="69" y="145"/>
                    <a:pt x="69" y="145"/>
                  </a:cubicBezTo>
                  <a:cubicBezTo>
                    <a:pt x="69" y="154"/>
                    <a:pt x="69" y="154"/>
                    <a:pt x="69" y="154"/>
                  </a:cubicBezTo>
                  <a:cubicBezTo>
                    <a:pt x="83" y="154"/>
                    <a:pt x="83" y="154"/>
                    <a:pt x="83" y="154"/>
                  </a:cubicBezTo>
                  <a:cubicBezTo>
                    <a:pt x="92" y="159"/>
                    <a:pt x="92" y="159"/>
                    <a:pt x="92" y="159"/>
                  </a:cubicBezTo>
                  <a:cubicBezTo>
                    <a:pt x="107" y="157"/>
                    <a:pt x="107" y="157"/>
                    <a:pt x="107" y="157"/>
                  </a:cubicBezTo>
                  <a:cubicBezTo>
                    <a:pt x="112" y="159"/>
                    <a:pt x="112" y="159"/>
                    <a:pt x="112" y="159"/>
                  </a:cubicBezTo>
                  <a:cubicBezTo>
                    <a:pt x="121" y="161"/>
                    <a:pt x="121" y="161"/>
                    <a:pt x="121" y="161"/>
                  </a:cubicBezTo>
                  <a:cubicBezTo>
                    <a:pt x="112" y="168"/>
                    <a:pt x="112" y="168"/>
                    <a:pt x="112" y="168"/>
                  </a:cubicBezTo>
                  <a:cubicBezTo>
                    <a:pt x="107" y="175"/>
                    <a:pt x="107" y="175"/>
                    <a:pt x="107" y="175"/>
                  </a:cubicBezTo>
                  <a:cubicBezTo>
                    <a:pt x="94" y="171"/>
                    <a:pt x="94" y="171"/>
                    <a:pt x="94" y="171"/>
                  </a:cubicBezTo>
                  <a:cubicBezTo>
                    <a:pt x="81" y="166"/>
                    <a:pt x="81" y="166"/>
                    <a:pt x="81" y="166"/>
                  </a:cubicBezTo>
                  <a:cubicBezTo>
                    <a:pt x="70" y="166"/>
                    <a:pt x="70" y="166"/>
                    <a:pt x="70" y="166"/>
                  </a:cubicBezTo>
                  <a:cubicBezTo>
                    <a:pt x="65" y="176"/>
                    <a:pt x="65" y="176"/>
                    <a:pt x="65" y="176"/>
                  </a:cubicBezTo>
                  <a:cubicBezTo>
                    <a:pt x="64" y="183"/>
                    <a:pt x="64" y="183"/>
                    <a:pt x="64" y="183"/>
                  </a:cubicBezTo>
                  <a:cubicBezTo>
                    <a:pt x="58" y="186"/>
                    <a:pt x="58" y="186"/>
                    <a:pt x="58" y="186"/>
                  </a:cubicBezTo>
                  <a:cubicBezTo>
                    <a:pt x="59" y="200"/>
                    <a:pt x="59" y="200"/>
                    <a:pt x="59" y="200"/>
                  </a:cubicBezTo>
                  <a:cubicBezTo>
                    <a:pt x="68" y="201"/>
                    <a:pt x="68" y="201"/>
                    <a:pt x="68" y="201"/>
                  </a:cubicBezTo>
                  <a:cubicBezTo>
                    <a:pt x="71" y="197"/>
                    <a:pt x="71" y="197"/>
                    <a:pt x="71" y="197"/>
                  </a:cubicBezTo>
                  <a:cubicBezTo>
                    <a:pt x="81" y="203"/>
                    <a:pt x="81" y="203"/>
                    <a:pt x="81" y="203"/>
                  </a:cubicBezTo>
                  <a:cubicBezTo>
                    <a:pt x="81" y="234"/>
                    <a:pt x="81" y="234"/>
                    <a:pt x="81" y="234"/>
                  </a:cubicBezTo>
                  <a:cubicBezTo>
                    <a:pt x="78" y="237"/>
                    <a:pt x="78" y="237"/>
                    <a:pt x="78" y="237"/>
                  </a:cubicBezTo>
                  <a:cubicBezTo>
                    <a:pt x="77" y="268"/>
                    <a:pt x="77" y="268"/>
                    <a:pt x="77" y="268"/>
                  </a:cubicBezTo>
                  <a:cubicBezTo>
                    <a:pt x="139" y="318"/>
                    <a:pt x="139" y="318"/>
                    <a:pt x="139" y="318"/>
                  </a:cubicBezTo>
                  <a:cubicBezTo>
                    <a:pt x="141" y="337"/>
                    <a:pt x="141" y="337"/>
                    <a:pt x="141" y="337"/>
                  </a:cubicBezTo>
                  <a:cubicBezTo>
                    <a:pt x="195" y="411"/>
                    <a:pt x="195" y="411"/>
                    <a:pt x="195" y="411"/>
                  </a:cubicBezTo>
                  <a:cubicBezTo>
                    <a:pt x="278" y="398"/>
                    <a:pt x="278" y="398"/>
                    <a:pt x="278" y="398"/>
                  </a:cubicBezTo>
                  <a:cubicBezTo>
                    <a:pt x="298" y="407"/>
                    <a:pt x="298" y="407"/>
                    <a:pt x="298" y="407"/>
                  </a:cubicBezTo>
                  <a:cubicBezTo>
                    <a:pt x="322" y="407"/>
                    <a:pt x="322" y="407"/>
                    <a:pt x="322" y="407"/>
                  </a:cubicBezTo>
                  <a:cubicBezTo>
                    <a:pt x="366" y="413"/>
                    <a:pt x="366" y="413"/>
                    <a:pt x="366" y="413"/>
                  </a:cubicBezTo>
                  <a:cubicBezTo>
                    <a:pt x="395" y="393"/>
                    <a:pt x="395" y="393"/>
                    <a:pt x="395" y="393"/>
                  </a:cubicBezTo>
                  <a:cubicBezTo>
                    <a:pt x="418" y="424"/>
                    <a:pt x="418" y="424"/>
                    <a:pt x="418" y="424"/>
                  </a:cubicBezTo>
                  <a:cubicBezTo>
                    <a:pt x="437" y="434"/>
                    <a:pt x="437" y="434"/>
                    <a:pt x="437" y="434"/>
                  </a:cubicBezTo>
                  <a:cubicBezTo>
                    <a:pt x="444" y="446"/>
                    <a:pt x="444" y="446"/>
                    <a:pt x="444" y="446"/>
                  </a:cubicBezTo>
                  <a:cubicBezTo>
                    <a:pt x="456" y="479"/>
                    <a:pt x="456" y="479"/>
                    <a:pt x="456" y="479"/>
                  </a:cubicBezTo>
                  <a:cubicBezTo>
                    <a:pt x="467" y="473"/>
                    <a:pt x="467" y="473"/>
                    <a:pt x="467" y="473"/>
                  </a:cubicBezTo>
                  <a:cubicBezTo>
                    <a:pt x="480" y="465"/>
                    <a:pt x="480" y="465"/>
                    <a:pt x="480" y="465"/>
                  </a:cubicBezTo>
                  <a:cubicBezTo>
                    <a:pt x="475" y="530"/>
                    <a:pt x="475" y="530"/>
                    <a:pt x="475" y="530"/>
                  </a:cubicBezTo>
                  <a:cubicBezTo>
                    <a:pt x="490" y="520"/>
                    <a:pt x="490" y="520"/>
                    <a:pt x="490" y="520"/>
                  </a:cubicBezTo>
                  <a:cubicBezTo>
                    <a:pt x="499" y="512"/>
                    <a:pt x="499" y="512"/>
                    <a:pt x="499" y="512"/>
                  </a:cubicBezTo>
                  <a:cubicBezTo>
                    <a:pt x="522" y="493"/>
                    <a:pt x="522" y="493"/>
                    <a:pt x="522" y="493"/>
                  </a:cubicBezTo>
                  <a:cubicBezTo>
                    <a:pt x="541" y="480"/>
                    <a:pt x="541" y="480"/>
                    <a:pt x="541" y="480"/>
                  </a:cubicBezTo>
                  <a:cubicBezTo>
                    <a:pt x="541" y="480"/>
                    <a:pt x="541" y="480"/>
                    <a:pt x="541" y="480"/>
                  </a:cubicBezTo>
                  <a:cubicBezTo>
                    <a:pt x="541" y="480"/>
                    <a:pt x="541" y="480"/>
                    <a:pt x="541" y="480"/>
                  </a:cubicBezTo>
                  <a:cubicBezTo>
                    <a:pt x="561" y="473"/>
                    <a:pt x="561" y="473"/>
                    <a:pt x="561" y="473"/>
                  </a:cubicBezTo>
                  <a:cubicBezTo>
                    <a:pt x="563" y="473"/>
                    <a:pt x="576" y="462"/>
                    <a:pt x="577" y="462"/>
                  </a:cubicBezTo>
                  <a:cubicBezTo>
                    <a:pt x="596" y="449"/>
                    <a:pt x="596" y="449"/>
                    <a:pt x="596" y="449"/>
                  </a:cubicBezTo>
                  <a:cubicBezTo>
                    <a:pt x="585" y="429"/>
                    <a:pt x="585" y="429"/>
                    <a:pt x="585" y="429"/>
                  </a:cubicBezTo>
                  <a:cubicBezTo>
                    <a:pt x="584" y="428"/>
                    <a:pt x="584" y="428"/>
                    <a:pt x="584" y="428"/>
                  </a:cubicBezTo>
                  <a:cubicBezTo>
                    <a:pt x="585" y="427"/>
                    <a:pt x="585" y="427"/>
                    <a:pt x="585" y="427"/>
                  </a:cubicBezTo>
                  <a:cubicBezTo>
                    <a:pt x="604" y="405"/>
                    <a:pt x="604" y="405"/>
                    <a:pt x="604" y="405"/>
                  </a:cubicBezTo>
                  <a:cubicBezTo>
                    <a:pt x="604" y="385"/>
                    <a:pt x="604" y="385"/>
                    <a:pt x="604" y="385"/>
                  </a:cubicBezTo>
                  <a:cubicBezTo>
                    <a:pt x="604" y="385"/>
                    <a:pt x="604" y="385"/>
                    <a:pt x="604" y="385"/>
                  </a:cubicBezTo>
                  <a:cubicBezTo>
                    <a:pt x="604" y="384"/>
                    <a:pt x="604" y="384"/>
                    <a:pt x="604" y="384"/>
                  </a:cubicBezTo>
                  <a:cubicBezTo>
                    <a:pt x="609" y="368"/>
                    <a:pt x="609" y="368"/>
                    <a:pt x="609" y="368"/>
                  </a:cubicBezTo>
                  <a:cubicBezTo>
                    <a:pt x="578" y="341"/>
                    <a:pt x="578" y="341"/>
                    <a:pt x="578" y="341"/>
                  </a:cubicBezTo>
                  <a:cubicBezTo>
                    <a:pt x="578" y="341"/>
                    <a:pt x="578" y="341"/>
                    <a:pt x="578" y="341"/>
                  </a:cubicBezTo>
                  <a:cubicBezTo>
                    <a:pt x="578" y="340"/>
                    <a:pt x="578" y="340"/>
                    <a:pt x="578" y="340"/>
                  </a:cubicBezTo>
                  <a:cubicBezTo>
                    <a:pt x="576" y="273"/>
                    <a:pt x="576" y="273"/>
                    <a:pt x="576" y="273"/>
                  </a:cubicBezTo>
                  <a:cubicBezTo>
                    <a:pt x="555" y="246"/>
                    <a:pt x="555" y="246"/>
                    <a:pt x="555" y="246"/>
                  </a:cubicBezTo>
                  <a:cubicBezTo>
                    <a:pt x="554" y="245"/>
                    <a:pt x="554" y="245"/>
                    <a:pt x="554" y="245"/>
                  </a:cubicBezTo>
                  <a:cubicBezTo>
                    <a:pt x="555" y="244"/>
                    <a:pt x="555" y="244"/>
                    <a:pt x="555" y="244"/>
                  </a:cubicBezTo>
                  <a:cubicBezTo>
                    <a:pt x="560" y="234"/>
                    <a:pt x="560" y="234"/>
                    <a:pt x="560" y="234"/>
                  </a:cubicBezTo>
                  <a:cubicBezTo>
                    <a:pt x="565" y="189"/>
                    <a:pt x="565" y="189"/>
                    <a:pt x="565" y="189"/>
                  </a:cubicBezTo>
                  <a:cubicBezTo>
                    <a:pt x="548" y="173"/>
                    <a:pt x="548" y="173"/>
                    <a:pt x="548" y="173"/>
                  </a:cubicBezTo>
                  <a:cubicBezTo>
                    <a:pt x="522" y="174"/>
                    <a:pt x="522" y="174"/>
                    <a:pt x="522" y="174"/>
                  </a:cubicBezTo>
                  <a:cubicBezTo>
                    <a:pt x="517" y="178"/>
                    <a:pt x="517" y="178"/>
                    <a:pt x="517" y="178"/>
                  </a:cubicBezTo>
                  <a:cubicBezTo>
                    <a:pt x="517" y="179"/>
                    <a:pt x="517" y="179"/>
                    <a:pt x="517" y="179"/>
                  </a:cubicBezTo>
                  <a:cubicBezTo>
                    <a:pt x="516" y="179"/>
                    <a:pt x="516" y="179"/>
                    <a:pt x="516" y="179"/>
                  </a:cubicBezTo>
                  <a:cubicBezTo>
                    <a:pt x="451" y="177"/>
                    <a:pt x="451" y="177"/>
                    <a:pt x="451" y="177"/>
                  </a:cubicBezTo>
                  <a:cubicBezTo>
                    <a:pt x="451" y="177"/>
                    <a:pt x="451" y="177"/>
                    <a:pt x="451" y="177"/>
                  </a:cubicBezTo>
                  <a:cubicBezTo>
                    <a:pt x="450" y="177"/>
                    <a:pt x="450" y="177"/>
                    <a:pt x="450" y="177"/>
                  </a:cubicBezTo>
                  <a:cubicBezTo>
                    <a:pt x="415" y="149"/>
                    <a:pt x="415" y="149"/>
                    <a:pt x="415" y="149"/>
                  </a:cubicBezTo>
                  <a:cubicBezTo>
                    <a:pt x="312" y="100"/>
                    <a:pt x="312" y="100"/>
                    <a:pt x="312" y="100"/>
                  </a:cubicBezTo>
                  <a:cubicBezTo>
                    <a:pt x="312" y="100"/>
                    <a:pt x="312" y="100"/>
                    <a:pt x="312" y="100"/>
                  </a:cubicBezTo>
                  <a:cubicBezTo>
                    <a:pt x="311" y="100"/>
                    <a:pt x="311" y="100"/>
                    <a:pt x="311" y="100"/>
                  </a:cubicBezTo>
                  <a:cubicBezTo>
                    <a:pt x="292" y="80"/>
                    <a:pt x="292" y="80"/>
                    <a:pt x="292" y="80"/>
                  </a:cubicBezTo>
                  <a:cubicBezTo>
                    <a:pt x="279" y="79"/>
                    <a:pt x="279" y="79"/>
                    <a:pt x="279" y="79"/>
                  </a:cubicBezTo>
                  <a:cubicBezTo>
                    <a:pt x="278" y="78"/>
                    <a:pt x="278" y="78"/>
                    <a:pt x="278" y="78"/>
                  </a:cubicBezTo>
                  <a:cubicBezTo>
                    <a:pt x="277" y="78"/>
                    <a:pt x="277" y="78"/>
                    <a:pt x="277" y="78"/>
                  </a:cubicBezTo>
                  <a:cubicBezTo>
                    <a:pt x="269" y="66"/>
                    <a:pt x="269" y="66"/>
                    <a:pt x="269" y="66"/>
                  </a:cubicBezTo>
                  <a:cubicBezTo>
                    <a:pt x="256" y="57"/>
                    <a:pt x="256" y="57"/>
                    <a:pt x="256" y="57"/>
                  </a:cubicBezTo>
                  <a:cubicBezTo>
                    <a:pt x="255" y="56"/>
                    <a:pt x="255" y="56"/>
                    <a:pt x="255" y="56"/>
                  </a:cubicBezTo>
                  <a:cubicBezTo>
                    <a:pt x="255" y="55"/>
                    <a:pt x="255" y="55"/>
                    <a:pt x="255" y="55"/>
                  </a:cubicBezTo>
                  <a:cubicBezTo>
                    <a:pt x="253" y="45"/>
                    <a:pt x="253" y="45"/>
                    <a:pt x="253" y="45"/>
                  </a:cubicBezTo>
                  <a:cubicBezTo>
                    <a:pt x="211" y="1"/>
                    <a:pt x="211" y="1"/>
                    <a:pt x="211" y="1"/>
                  </a:cubicBezTo>
                  <a:cubicBezTo>
                    <a:pt x="179" y="0"/>
                    <a:pt x="179" y="0"/>
                    <a:pt x="179" y="0"/>
                  </a:cubicBezTo>
                  <a:cubicBezTo>
                    <a:pt x="147" y="57"/>
                    <a:pt x="147" y="57"/>
                    <a:pt x="147" y="57"/>
                  </a:cubicBezTo>
                  <a:cubicBezTo>
                    <a:pt x="147" y="58"/>
                    <a:pt x="147" y="58"/>
                    <a:pt x="147" y="58"/>
                  </a:cubicBezTo>
                  <a:cubicBezTo>
                    <a:pt x="145" y="58"/>
                    <a:pt x="145" y="58"/>
                    <a:pt x="145" y="58"/>
                  </a:cubicBezTo>
                  <a:cubicBezTo>
                    <a:pt x="109" y="58"/>
                    <a:pt x="109" y="58"/>
                    <a:pt x="109" y="58"/>
                  </a:cubicBezTo>
                  <a:cubicBezTo>
                    <a:pt x="105" y="80"/>
                    <a:pt x="105" y="80"/>
                    <a:pt x="105" y="80"/>
                  </a:cubicBezTo>
                  <a:cubicBezTo>
                    <a:pt x="104" y="82"/>
                    <a:pt x="104" y="82"/>
                    <a:pt x="104" y="82"/>
                  </a:cubicBezTo>
                  <a:cubicBezTo>
                    <a:pt x="102" y="81"/>
                    <a:pt x="102" y="81"/>
                    <a:pt x="102" y="81"/>
                  </a:cubicBezTo>
                  <a:cubicBezTo>
                    <a:pt x="93" y="78"/>
                    <a:pt x="93" y="78"/>
                    <a:pt x="93" y="78"/>
                  </a:cubicBezTo>
                  <a:cubicBezTo>
                    <a:pt x="29" y="138"/>
                    <a:pt x="29" y="138"/>
                    <a:pt x="29" y="138"/>
                  </a:cubicBezTo>
                  <a:cubicBezTo>
                    <a:pt x="23" y="150"/>
                    <a:pt x="23" y="150"/>
                    <a:pt x="23" y="150"/>
                  </a:cubicBezTo>
                  <a:cubicBezTo>
                    <a:pt x="22" y="151"/>
                    <a:pt x="22" y="151"/>
                    <a:pt x="22" y="151"/>
                  </a:cubicBezTo>
                  <a:cubicBezTo>
                    <a:pt x="21" y="151"/>
                    <a:pt x="21" y="151"/>
                    <a:pt x="21" y="151"/>
                  </a:cubicBezTo>
                  <a:cubicBezTo>
                    <a:pt x="0" y="152"/>
                    <a:pt x="0" y="152"/>
                    <a:pt x="0" y="152"/>
                  </a:cubicBezTo>
                  <a:cubicBezTo>
                    <a:pt x="0" y="160"/>
                    <a:pt x="0" y="160"/>
                    <a:pt x="0" y="160"/>
                  </a:cubicBezTo>
                  <a:cubicBezTo>
                    <a:pt x="27" y="159"/>
                    <a:pt x="27" y="159"/>
                    <a:pt x="27" y="159"/>
                  </a:cubicBezTo>
                  <a:close/>
                </a:path>
              </a:pathLst>
            </a:custGeom>
            <a:grp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743024">
                <a:defRPr/>
              </a:pPr>
              <a:endParaRPr lang="ru-RU" sz="1300" kern="0" dirty="0">
                <a:solidFill>
                  <a:sysClr val="windowText" lastClr="000000"/>
                </a:solidFill>
                <a:latin typeface="Arial" panose="020B0604020202020204" pitchFamily="34" charset="0"/>
                <a:cs typeface="Arial" panose="020B0604020202020204" pitchFamily="34" charset="0"/>
              </a:endParaRPr>
            </a:p>
          </p:txBody>
        </p:sp>
        <p:sp>
          <p:nvSpPr>
            <p:cNvPr id="72" name="Freeform 144">
              <a:extLst>
                <a:ext uri="{FF2B5EF4-FFF2-40B4-BE49-F238E27FC236}">
                  <a16:creationId xmlns:a16="http://schemas.microsoft.com/office/drawing/2014/main" id="{75A253B5-4B8D-4A89-B916-05157317A58D}"/>
                </a:ext>
              </a:extLst>
            </p:cNvPr>
            <p:cNvSpPr>
              <a:spLocks/>
            </p:cNvSpPr>
            <p:nvPr/>
          </p:nvSpPr>
          <p:spPr bwMode="auto">
            <a:xfrm>
              <a:off x="4805971" y="3126103"/>
              <a:ext cx="2500888" cy="1310716"/>
            </a:xfrm>
            <a:custGeom>
              <a:avLst/>
              <a:gdLst>
                <a:gd name="T0" fmla="*/ 910 w 941"/>
                <a:gd name="T1" fmla="*/ 367 h 516"/>
                <a:gd name="T2" fmla="*/ 904 w 941"/>
                <a:gd name="T3" fmla="*/ 367 h 516"/>
                <a:gd name="T4" fmla="*/ 889 w 941"/>
                <a:gd name="T5" fmla="*/ 337 h 516"/>
                <a:gd name="T6" fmla="*/ 900 w 941"/>
                <a:gd name="T7" fmla="*/ 287 h 516"/>
                <a:gd name="T8" fmla="*/ 898 w 941"/>
                <a:gd name="T9" fmla="*/ 261 h 516"/>
                <a:gd name="T10" fmla="*/ 882 w 941"/>
                <a:gd name="T11" fmla="*/ 229 h 516"/>
                <a:gd name="T12" fmla="*/ 893 w 941"/>
                <a:gd name="T13" fmla="*/ 194 h 516"/>
                <a:gd name="T14" fmla="*/ 887 w 941"/>
                <a:gd name="T15" fmla="*/ 181 h 516"/>
                <a:gd name="T16" fmla="*/ 883 w 941"/>
                <a:gd name="T17" fmla="*/ 135 h 516"/>
                <a:gd name="T18" fmla="*/ 878 w 941"/>
                <a:gd name="T19" fmla="*/ 116 h 516"/>
                <a:gd name="T20" fmla="*/ 900 w 941"/>
                <a:gd name="T21" fmla="*/ 52 h 516"/>
                <a:gd name="T22" fmla="*/ 874 w 941"/>
                <a:gd name="T23" fmla="*/ 30 h 516"/>
                <a:gd name="T24" fmla="*/ 842 w 941"/>
                <a:gd name="T25" fmla="*/ 58 h 516"/>
                <a:gd name="T26" fmla="*/ 813 w 941"/>
                <a:gd name="T27" fmla="*/ 74 h 516"/>
                <a:gd name="T28" fmla="*/ 769 w 941"/>
                <a:gd name="T29" fmla="*/ 82 h 516"/>
                <a:gd name="T30" fmla="*/ 738 w 941"/>
                <a:gd name="T31" fmla="*/ 98 h 516"/>
                <a:gd name="T32" fmla="*/ 720 w 941"/>
                <a:gd name="T33" fmla="*/ 58 h 516"/>
                <a:gd name="T34" fmla="*/ 675 w 941"/>
                <a:gd name="T35" fmla="*/ 46 h 516"/>
                <a:gd name="T36" fmla="*/ 667 w 941"/>
                <a:gd name="T37" fmla="*/ 24 h 516"/>
                <a:gd name="T38" fmla="*/ 662 w 941"/>
                <a:gd name="T39" fmla="*/ 0 h 516"/>
                <a:gd name="T40" fmla="*/ 628 w 941"/>
                <a:gd name="T41" fmla="*/ 15 h 516"/>
                <a:gd name="T42" fmla="*/ 596 w 941"/>
                <a:gd name="T43" fmla="*/ 46 h 516"/>
                <a:gd name="T44" fmla="*/ 565 w 941"/>
                <a:gd name="T45" fmla="*/ 76 h 516"/>
                <a:gd name="T46" fmla="*/ 542 w 941"/>
                <a:gd name="T47" fmla="*/ 48 h 516"/>
                <a:gd name="T48" fmla="*/ 486 w 941"/>
                <a:gd name="T49" fmla="*/ 99 h 516"/>
                <a:gd name="T50" fmla="*/ 453 w 941"/>
                <a:gd name="T51" fmla="*/ 109 h 516"/>
                <a:gd name="T52" fmla="*/ 432 w 941"/>
                <a:gd name="T53" fmla="*/ 101 h 516"/>
                <a:gd name="T54" fmla="*/ 417 w 941"/>
                <a:gd name="T55" fmla="*/ 101 h 516"/>
                <a:gd name="T56" fmla="*/ 365 w 941"/>
                <a:gd name="T57" fmla="*/ 51 h 516"/>
                <a:gd name="T58" fmla="*/ 338 w 941"/>
                <a:gd name="T59" fmla="*/ 68 h 516"/>
                <a:gd name="T60" fmla="*/ 328 w 941"/>
                <a:gd name="T61" fmla="*/ 89 h 516"/>
                <a:gd name="T62" fmla="*/ 278 w 941"/>
                <a:gd name="T63" fmla="*/ 146 h 516"/>
                <a:gd name="T64" fmla="*/ 232 w 941"/>
                <a:gd name="T65" fmla="*/ 203 h 516"/>
                <a:gd name="T66" fmla="*/ 205 w 941"/>
                <a:gd name="T67" fmla="*/ 235 h 516"/>
                <a:gd name="T68" fmla="*/ 141 w 941"/>
                <a:gd name="T69" fmla="*/ 241 h 516"/>
                <a:gd name="T70" fmla="*/ 122 w 941"/>
                <a:gd name="T71" fmla="*/ 242 h 516"/>
                <a:gd name="T72" fmla="*/ 107 w 941"/>
                <a:gd name="T73" fmla="*/ 272 h 516"/>
                <a:gd name="T74" fmla="*/ 92 w 941"/>
                <a:gd name="T75" fmla="*/ 297 h 516"/>
                <a:gd name="T76" fmla="*/ 91 w 941"/>
                <a:gd name="T77" fmla="*/ 325 h 516"/>
                <a:gd name="T78" fmla="*/ 92 w 941"/>
                <a:gd name="T79" fmla="*/ 338 h 516"/>
                <a:gd name="T80" fmla="*/ 32 w 941"/>
                <a:gd name="T81" fmla="*/ 382 h 516"/>
                <a:gd name="T82" fmla="*/ 15 w 941"/>
                <a:gd name="T83" fmla="*/ 406 h 516"/>
                <a:gd name="T84" fmla="*/ 139 w 941"/>
                <a:gd name="T85" fmla="*/ 475 h 516"/>
                <a:gd name="T86" fmla="*/ 243 w 941"/>
                <a:gd name="T87" fmla="*/ 499 h 516"/>
                <a:gd name="T88" fmla="*/ 288 w 941"/>
                <a:gd name="T89" fmla="*/ 516 h 516"/>
                <a:gd name="T90" fmla="*/ 427 w 941"/>
                <a:gd name="T91" fmla="*/ 509 h 516"/>
                <a:gd name="T92" fmla="*/ 700 w 941"/>
                <a:gd name="T93" fmla="*/ 496 h 516"/>
                <a:gd name="T94" fmla="*/ 723 w 941"/>
                <a:gd name="T95" fmla="*/ 454 h 516"/>
                <a:gd name="T96" fmla="*/ 772 w 941"/>
                <a:gd name="T97" fmla="*/ 408 h 516"/>
                <a:gd name="T98" fmla="*/ 831 w 941"/>
                <a:gd name="T99" fmla="*/ 399 h 516"/>
                <a:gd name="T100" fmla="*/ 890 w 941"/>
                <a:gd name="T101" fmla="*/ 399 h 516"/>
                <a:gd name="T102" fmla="*/ 941 w 941"/>
                <a:gd name="T103" fmla="*/ 403 h 516"/>
                <a:gd name="T104" fmla="*/ 933 w 941"/>
                <a:gd name="T105" fmla="*/ 367 h 516"/>
                <a:gd name="T106" fmla="*/ 936 w 941"/>
                <a:gd name="T107" fmla="*/ 349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41" h="516">
                  <a:moveTo>
                    <a:pt x="929" y="356"/>
                  </a:moveTo>
                  <a:cubicBezTo>
                    <a:pt x="928" y="356"/>
                    <a:pt x="928" y="356"/>
                    <a:pt x="928" y="356"/>
                  </a:cubicBezTo>
                  <a:cubicBezTo>
                    <a:pt x="928" y="356"/>
                    <a:pt x="928" y="356"/>
                    <a:pt x="928" y="356"/>
                  </a:cubicBezTo>
                  <a:cubicBezTo>
                    <a:pt x="919" y="358"/>
                    <a:pt x="919" y="358"/>
                    <a:pt x="919" y="358"/>
                  </a:cubicBezTo>
                  <a:cubicBezTo>
                    <a:pt x="910" y="367"/>
                    <a:pt x="910" y="367"/>
                    <a:pt x="910" y="367"/>
                  </a:cubicBezTo>
                  <a:cubicBezTo>
                    <a:pt x="910" y="367"/>
                    <a:pt x="910" y="367"/>
                    <a:pt x="910" y="367"/>
                  </a:cubicBezTo>
                  <a:cubicBezTo>
                    <a:pt x="909" y="367"/>
                    <a:pt x="909" y="367"/>
                    <a:pt x="909" y="367"/>
                  </a:cubicBezTo>
                  <a:cubicBezTo>
                    <a:pt x="905" y="367"/>
                    <a:pt x="905" y="367"/>
                    <a:pt x="905" y="367"/>
                  </a:cubicBezTo>
                  <a:cubicBezTo>
                    <a:pt x="904" y="367"/>
                    <a:pt x="904" y="367"/>
                    <a:pt x="904" y="367"/>
                  </a:cubicBezTo>
                  <a:cubicBezTo>
                    <a:pt x="904" y="367"/>
                    <a:pt x="904" y="367"/>
                    <a:pt x="904" y="367"/>
                  </a:cubicBezTo>
                  <a:cubicBezTo>
                    <a:pt x="890" y="355"/>
                    <a:pt x="890" y="355"/>
                    <a:pt x="890" y="355"/>
                  </a:cubicBezTo>
                  <a:cubicBezTo>
                    <a:pt x="889" y="354"/>
                    <a:pt x="889" y="354"/>
                    <a:pt x="889" y="354"/>
                  </a:cubicBezTo>
                  <a:cubicBezTo>
                    <a:pt x="889" y="353"/>
                    <a:pt x="889" y="353"/>
                    <a:pt x="889" y="353"/>
                  </a:cubicBezTo>
                  <a:cubicBezTo>
                    <a:pt x="889" y="338"/>
                    <a:pt x="889" y="338"/>
                    <a:pt x="889" y="338"/>
                  </a:cubicBezTo>
                  <a:cubicBezTo>
                    <a:pt x="889" y="337"/>
                    <a:pt x="889" y="337"/>
                    <a:pt x="889" y="337"/>
                  </a:cubicBezTo>
                  <a:cubicBezTo>
                    <a:pt x="890" y="337"/>
                    <a:pt x="890" y="337"/>
                    <a:pt x="890" y="337"/>
                  </a:cubicBezTo>
                  <a:cubicBezTo>
                    <a:pt x="899" y="333"/>
                    <a:pt x="899" y="333"/>
                    <a:pt x="899" y="333"/>
                  </a:cubicBezTo>
                  <a:cubicBezTo>
                    <a:pt x="900" y="289"/>
                    <a:pt x="900" y="289"/>
                    <a:pt x="900" y="289"/>
                  </a:cubicBezTo>
                  <a:cubicBezTo>
                    <a:pt x="900" y="288"/>
                    <a:pt x="900" y="288"/>
                    <a:pt x="900" y="288"/>
                  </a:cubicBezTo>
                  <a:cubicBezTo>
                    <a:pt x="900" y="287"/>
                    <a:pt x="900" y="287"/>
                    <a:pt x="900" y="287"/>
                  </a:cubicBezTo>
                  <a:cubicBezTo>
                    <a:pt x="908" y="278"/>
                    <a:pt x="908" y="278"/>
                    <a:pt x="908" y="278"/>
                  </a:cubicBezTo>
                  <a:cubicBezTo>
                    <a:pt x="913" y="273"/>
                    <a:pt x="913" y="273"/>
                    <a:pt x="913" y="273"/>
                  </a:cubicBezTo>
                  <a:cubicBezTo>
                    <a:pt x="899" y="261"/>
                    <a:pt x="899" y="261"/>
                    <a:pt x="899" y="261"/>
                  </a:cubicBezTo>
                  <a:cubicBezTo>
                    <a:pt x="899" y="261"/>
                    <a:pt x="899" y="261"/>
                    <a:pt x="899" y="261"/>
                  </a:cubicBezTo>
                  <a:cubicBezTo>
                    <a:pt x="898" y="261"/>
                    <a:pt x="898" y="261"/>
                    <a:pt x="898" y="261"/>
                  </a:cubicBezTo>
                  <a:cubicBezTo>
                    <a:pt x="884" y="243"/>
                    <a:pt x="884" y="243"/>
                    <a:pt x="884" y="243"/>
                  </a:cubicBezTo>
                  <a:cubicBezTo>
                    <a:pt x="884" y="242"/>
                    <a:pt x="884" y="242"/>
                    <a:pt x="884" y="242"/>
                  </a:cubicBezTo>
                  <a:cubicBezTo>
                    <a:pt x="884" y="242"/>
                    <a:pt x="884" y="242"/>
                    <a:pt x="884" y="242"/>
                  </a:cubicBezTo>
                  <a:cubicBezTo>
                    <a:pt x="883" y="230"/>
                    <a:pt x="883" y="230"/>
                    <a:pt x="883" y="230"/>
                  </a:cubicBezTo>
                  <a:cubicBezTo>
                    <a:pt x="882" y="229"/>
                    <a:pt x="882" y="229"/>
                    <a:pt x="882" y="229"/>
                  </a:cubicBezTo>
                  <a:cubicBezTo>
                    <a:pt x="884" y="228"/>
                    <a:pt x="884" y="228"/>
                    <a:pt x="884" y="228"/>
                  </a:cubicBezTo>
                  <a:cubicBezTo>
                    <a:pt x="893" y="225"/>
                    <a:pt x="893" y="225"/>
                    <a:pt x="893" y="225"/>
                  </a:cubicBezTo>
                  <a:cubicBezTo>
                    <a:pt x="900" y="219"/>
                    <a:pt x="900" y="219"/>
                    <a:pt x="900" y="219"/>
                  </a:cubicBezTo>
                  <a:cubicBezTo>
                    <a:pt x="906" y="207"/>
                    <a:pt x="906" y="207"/>
                    <a:pt x="906" y="207"/>
                  </a:cubicBezTo>
                  <a:cubicBezTo>
                    <a:pt x="893" y="194"/>
                    <a:pt x="893" y="194"/>
                    <a:pt x="893" y="194"/>
                  </a:cubicBezTo>
                  <a:cubicBezTo>
                    <a:pt x="893" y="194"/>
                    <a:pt x="893" y="194"/>
                    <a:pt x="893" y="194"/>
                  </a:cubicBezTo>
                  <a:cubicBezTo>
                    <a:pt x="892" y="194"/>
                    <a:pt x="892" y="194"/>
                    <a:pt x="892" y="194"/>
                  </a:cubicBezTo>
                  <a:cubicBezTo>
                    <a:pt x="887" y="182"/>
                    <a:pt x="887" y="182"/>
                    <a:pt x="887" y="182"/>
                  </a:cubicBezTo>
                  <a:cubicBezTo>
                    <a:pt x="887" y="182"/>
                    <a:pt x="887" y="182"/>
                    <a:pt x="887" y="182"/>
                  </a:cubicBezTo>
                  <a:cubicBezTo>
                    <a:pt x="887" y="181"/>
                    <a:pt x="887" y="181"/>
                    <a:pt x="887" y="181"/>
                  </a:cubicBezTo>
                  <a:cubicBezTo>
                    <a:pt x="886" y="165"/>
                    <a:pt x="886" y="165"/>
                    <a:pt x="886" y="165"/>
                  </a:cubicBezTo>
                  <a:cubicBezTo>
                    <a:pt x="886" y="165"/>
                    <a:pt x="886" y="165"/>
                    <a:pt x="886" y="165"/>
                  </a:cubicBezTo>
                  <a:cubicBezTo>
                    <a:pt x="886" y="164"/>
                    <a:pt x="886" y="164"/>
                    <a:pt x="886" y="164"/>
                  </a:cubicBezTo>
                  <a:cubicBezTo>
                    <a:pt x="897" y="150"/>
                    <a:pt x="897" y="150"/>
                    <a:pt x="897" y="150"/>
                  </a:cubicBezTo>
                  <a:cubicBezTo>
                    <a:pt x="883" y="135"/>
                    <a:pt x="883" y="135"/>
                    <a:pt x="883" y="135"/>
                  </a:cubicBezTo>
                  <a:cubicBezTo>
                    <a:pt x="883" y="135"/>
                    <a:pt x="883" y="135"/>
                    <a:pt x="883" y="135"/>
                  </a:cubicBezTo>
                  <a:cubicBezTo>
                    <a:pt x="883" y="135"/>
                    <a:pt x="883" y="135"/>
                    <a:pt x="883" y="135"/>
                  </a:cubicBezTo>
                  <a:cubicBezTo>
                    <a:pt x="878" y="117"/>
                    <a:pt x="878" y="117"/>
                    <a:pt x="878" y="117"/>
                  </a:cubicBezTo>
                  <a:cubicBezTo>
                    <a:pt x="878" y="116"/>
                    <a:pt x="878" y="116"/>
                    <a:pt x="878" y="116"/>
                  </a:cubicBezTo>
                  <a:cubicBezTo>
                    <a:pt x="878" y="116"/>
                    <a:pt x="878" y="116"/>
                    <a:pt x="878" y="116"/>
                  </a:cubicBezTo>
                  <a:cubicBezTo>
                    <a:pt x="879" y="95"/>
                    <a:pt x="879" y="95"/>
                    <a:pt x="879" y="95"/>
                  </a:cubicBezTo>
                  <a:cubicBezTo>
                    <a:pt x="879" y="94"/>
                    <a:pt x="879" y="94"/>
                    <a:pt x="879" y="94"/>
                  </a:cubicBezTo>
                  <a:cubicBezTo>
                    <a:pt x="879" y="94"/>
                    <a:pt x="879" y="94"/>
                    <a:pt x="879" y="94"/>
                  </a:cubicBezTo>
                  <a:cubicBezTo>
                    <a:pt x="909" y="66"/>
                    <a:pt x="909" y="66"/>
                    <a:pt x="909" y="66"/>
                  </a:cubicBezTo>
                  <a:cubicBezTo>
                    <a:pt x="900" y="52"/>
                    <a:pt x="900" y="52"/>
                    <a:pt x="900" y="52"/>
                  </a:cubicBezTo>
                  <a:cubicBezTo>
                    <a:pt x="899" y="52"/>
                    <a:pt x="899" y="52"/>
                    <a:pt x="899" y="52"/>
                  </a:cubicBezTo>
                  <a:cubicBezTo>
                    <a:pt x="899" y="51"/>
                    <a:pt x="899" y="51"/>
                    <a:pt x="899" y="51"/>
                  </a:cubicBezTo>
                  <a:cubicBezTo>
                    <a:pt x="902" y="36"/>
                    <a:pt x="902" y="36"/>
                    <a:pt x="902" y="36"/>
                  </a:cubicBezTo>
                  <a:cubicBezTo>
                    <a:pt x="894" y="31"/>
                    <a:pt x="894" y="31"/>
                    <a:pt x="894" y="31"/>
                  </a:cubicBezTo>
                  <a:cubicBezTo>
                    <a:pt x="874" y="30"/>
                    <a:pt x="874" y="30"/>
                    <a:pt x="874" y="30"/>
                  </a:cubicBezTo>
                  <a:cubicBezTo>
                    <a:pt x="874" y="30"/>
                    <a:pt x="874" y="30"/>
                    <a:pt x="874" y="30"/>
                  </a:cubicBezTo>
                  <a:cubicBezTo>
                    <a:pt x="873" y="30"/>
                    <a:pt x="873" y="30"/>
                    <a:pt x="873" y="30"/>
                  </a:cubicBezTo>
                  <a:cubicBezTo>
                    <a:pt x="868" y="25"/>
                    <a:pt x="868" y="25"/>
                    <a:pt x="868" y="25"/>
                  </a:cubicBezTo>
                  <a:cubicBezTo>
                    <a:pt x="855" y="25"/>
                    <a:pt x="855" y="25"/>
                    <a:pt x="855" y="25"/>
                  </a:cubicBezTo>
                  <a:cubicBezTo>
                    <a:pt x="842" y="58"/>
                    <a:pt x="842" y="58"/>
                    <a:pt x="842" y="58"/>
                  </a:cubicBezTo>
                  <a:cubicBezTo>
                    <a:pt x="840" y="58"/>
                    <a:pt x="840" y="58"/>
                    <a:pt x="840" y="58"/>
                  </a:cubicBezTo>
                  <a:cubicBezTo>
                    <a:pt x="840" y="59"/>
                    <a:pt x="840" y="59"/>
                    <a:pt x="840" y="59"/>
                  </a:cubicBezTo>
                  <a:cubicBezTo>
                    <a:pt x="814" y="73"/>
                    <a:pt x="814" y="73"/>
                    <a:pt x="814" y="73"/>
                  </a:cubicBezTo>
                  <a:cubicBezTo>
                    <a:pt x="813" y="74"/>
                    <a:pt x="813" y="74"/>
                    <a:pt x="813" y="74"/>
                  </a:cubicBezTo>
                  <a:cubicBezTo>
                    <a:pt x="813" y="74"/>
                    <a:pt x="813" y="74"/>
                    <a:pt x="813" y="74"/>
                  </a:cubicBezTo>
                  <a:cubicBezTo>
                    <a:pt x="797" y="72"/>
                    <a:pt x="797" y="72"/>
                    <a:pt x="797" y="72"/>
                  </a:cubicBezTo>
                  <a:cubicBezTo>
                    <a:pt x="783" y="79"/>
                    <a:pt x="783" y="79"/>
                    <a:pt x="783" y="79"/>
                  </a:cubicBezTo>
                  <a:cubicBezTo>
                    <a:pt x="783" y="79"/>
                    <a:pt x="783" y="79"/>
                    <a:pt x="783" y="79"/>
                  </a:cubicBezTo>
                  <a:cubicBezTo>
                    <a:pt x="783" y="79"/>
                    <a:pt x="783" y="79"/>
                    <a:pt x="783" y="79"/>
                  </a:cubicBezTo>
                  <a:cubicBezTo>
                    <a:pt x="769" y="82"/>
                    <a:pt x="769" y="82"/>
                    <a:pt x="769" y="82"/>
                  </a:cubicBezTo>
                  <a:cubicBezTo>
                    <a:pt x="755" y="101"/>
                    <a:pt x="755" y="101"/>
                    <a:pt x="755" y="101"/>
                  </a:cubicBezTo>
                  <a:cubicBezTo>
                    <a:pt x="754" y="102"/>
                    <a:pt x="754" y="102"/>
                    <a:pt x="754" y="102"/>
                  </a:cubicBezTo>
                  <a:cubicBezTo>
                    <a:pt x="752" y="102"/>
                    <a:pt x="752" y="102"/>
                    <a:pt x="752" y="102"/>
                  </a:cubicBezTo>
                  <a:cubicBezTo>
                    <a:pt x="740" y="98"/>
                    <a:pt x="740" y="98"/>
                    <a:pt x="740" y="98"/>
                  </a:cubicBezTo>
                  <a:cubicBezTo>
                    <a:pt x="738" y="98"/>
                    <a:pt x="738" y="98"/>
                    <a:pt x="738" y="98"/>
                  </a:cubicBezTo>
                  <a:cubicBezTo>
                    <a:pt x="739" y="95"/>
                    <a:pt x="739" y="95"/>
                    <a:pt x="739" y="95"/>
                  </a:cubicBezTo>
                  <a:cubicBezTo>
                    <a:pt x="746" y="83"/>
                    <a:pt x="746" y="83"/>
                    <a:pt x="746" y="83"/>
                  </a:cubicBezTo>
                  <a:cubicBezTo>
                    <a:pt x="744" y="66"/>
                    <a:pt x="744" y="66"/>
                    <a:pt x="744" y="66"/>
                  </a:cubicBezTo>
                  <a:cubicBezTo>
                    <a:pt x="730" y="58"/>
                    <a:pt x="730" y="58"/>
                    <a:pt x="730" y="58"/>
                  </a:cubicBezTo>
                  <a:cubicBezTo>
                    <a:pt x="720" y="58"/>
                    <a:pt x="720" y="58"/>
                    <a:pt x="720" y="58"/>
                  </a:cubicBezTo>
                  <a:cubicBezTo>
                    <a:pt x="719" y="58"/>
                    <a:pt x="719" y="58"/>
                    <a:pt x="719" y="58"/>
                  </a:cubicBezTo>
                  <a:cubicBezTo>
                    <a:pt x="718" y="57"/>
                    <a:pt x="718" y="57"/>
                    <a:pt x="718" y="57"/>
                  </a:cubicBezTo>
                  <a:cubicBezTo>
                    <a:pt x="711" y="48"/>
                    <a:pt x="711" y="48"/>
                    <a:pt x="711" y="48"/>
                  </a:cubicBezTo>
                  <a:cubicBezTo>
                    <a:pt x="676" y="46"/>
                    <a:pt x="676" y="46"/>
                    <a:pt x="676" y="46"/>
                  </a:cubicBezTo>
                  <a:cubicBezTo>
                    <a:pt x="675" y="46"/>
                    <a:pt x="675" y="46"/>
                    <a:pt x="675" y="46"/>
                  </a:cubicBezTo>
                  <a:cubicBezTo>
                    <a:pt x="675" y="45"/>
                    <a:pt x="675" y="45"/>
                    <a:pt x="675" y="45"/>
                  </a:cubicBezTo>
                  <a:cubicBezTo>
                    <a:pt x="668" y="32"/>
                    <a:pt x="668" y="32"/>
                    <a:pt x="668" y="32"/>
                  </a:cubicBezTo>
                  <a:cubicBezTo>
                    <a:pt x="667" y="31"/>
                    <a:pt x="667" y="31"/>
                    <a:pt x="667" y="31"/>
                  </a:cubicBezTo>
                  <a:cubicBezTo>
                    <a:pt x="667" y="31"/>
                    <a:pt x="667" y="31"/>
                    <a:pt x="667" y="31"/>
                  </a:cubicBezTo>
                  <a:cubicBezTo>
                    <a:pt x="667" y="24"/>
                    <a:pt x="667" y="24"/>
                    <a:pt x="667" y="24"/>
                  </a:cubicBezTo>
                  <a:cubicBezTo>
                    <a:pt x="667" y="22"/>
                    <a:pt x="667" y="22"/>
                    <a:pt x="667" y="22"/>
                  </a:cubicBezTo>
                  <a:cubicBezTo>
                    <a:pt x="668" y="21"/>
                    <a:pt x="668" y="21"/>
                    <a:pt x="668" y="21"/>
                  </a:cubicBezTo>
                  <a:cubicBezTo>
                    <a:pt x="677" y="16"/>
                    <a:pt x="677" y="16"/>
                    <a:pt x="677" y="16"/>
                  </a:cubicBezTo>
                  <a:cubicBezTo>
                    <a:pt x="674" y="13"/>
                    <a:pt x="669" y="7"/>
                    <a:pt x="669" y="7"/>
                  </a:cubicBezTo>
                  <a:cubicBezTo>
                    <a:pt x="662" y="0"/>
                    <a:pt x="662" y="0"/>
                    <a:pt x="662" y="0"/>
                  </a:cubicBezTo>
                  <a:cubicBezTo>
                    <a:pt x="653" y="6"/>
                    <a:pt x="653" y="6"/>
                    <a:pt x="653" y="6"/>
                  </a:cubicBezTo>
                  <a:cubicBezTo>
                    <a:pt x="653" y="6"/>
                    <a:pt x="653" y="6"/>
                    <a:pt x="653" y="6"/>
                  </a:cubicBezTo>
                  <a:cubicBezTo>
                    <a:pt x="653" y="6"/>
                    <a:pt x="653" y="6"/>
                    <a:pt x="653" y="6"/>
                  </a:cubicBezTo>
                  <a:cubicBezTo>
                    <a:pt x="641" y="8"/>
                    <a:pt x="641" y="8"/>
                    <a:pt x="641" y="8"/>
                  </a:cubicBezTo>
                  <a:cubicBezTo>
                    <a:pt x="628" y="15"/>
                    <a:pt x="628" y="15"/>
                    <a:pt x="628" y="15"/>
                  </a:cubicBezTo>
                  <a:cubicBezTo>
                    <a:pt x="621" y="27"/>
                    <a:pt x="621" y="27"/>
                    <a:pt x="621" y="27"/>
                  </a:cubicBezTo>
                  <a:cubicBezTo>
                    <a:pt x="621" y="28"/>
                    <a:pt x="621" y="28"/>
                    <a:pt x="621" y="28"/>
                  </a:cubicBezTo>
                  <a:cubicBezTo>
                    <a:pt x="620" y="28"/>
                    <a:pt x="620" y="28"/>
                    <a:pt x="620" y="28"/>
                  </a:cubicBezTo>
                  <a:cubicBezTo>
                    <a:pt x="602" y="30"/>
                    <a:pt x="602" y="30"/>
                    <a:pt x="602" y="30"/>
                  </a:cubicBezTo>
                  <a:cubicBezTo>
                    <a:pt x="596" y="46"/>
                    <a:pt x="596" y="46"/>
                    <a:pt x="596" y="46"/>
                  </a:cubicBezTo>
                  <a:cubicBezTo>
                    <a:pt x="596" y="47"/>
                    <a:pt x="596" y="47"/>
                    <a:pt x="596" y="47"/>
                  </a:cubicBezTo>
                  <a:cubicBezTo>
                    <a:pt x="596" y="47"/>
                    <a:pt x="596" y="47"/>
                    <a:pt x="596" y="47"/>
                  </a:cubicBezTo>
                  <a:cubicBezTo>
                    <a:pt x="578" y="58"/>
                    <a:pt x="578" y="58"/>
                    <a:pt x="578" y="58"/>
                  </a:cubicBezTo>
                  <a:cubicBezTo>
                    <a:pt x="566" y="75"/>
                    <a:pt x="566" y="75"/>
                    <a:pt x="566" y="75"/>
                  </a:cubicBezTo>
                  <a:cubicBezTo>
                    <a:pt x="565" y="76"/>
                    <a:pt x="565" y="76"/>
                    <a:pt x="565" y="76"/>
                  </a:cubicBezTo>
                  <a:cubicBezTo>
                    <a:pt x="564" y="75"/>
                    <a:pt x="564" y="75"/>
                    <a:pt x="564" y="75"/>
                  </a:cubicBezTo>
                  <a:cubicBezTo>
                    <a:pt x="546" y="74"/>
                    <a:pt x="546" y="74"/>
                    <a:pt x="546" y="74"/>
                  </a:cubicBezTo>
                  <a:cubicBezTo>
                    <a:pt x="544" y="73"/>
                    <a:pt x="544" y="73"/>
                    <a:pt x="544" y="73"/>
                  </a:cubicBezTo>
                  <a:cubicBezTo>
                    <a:pt x="544" y="72"/>
                    <a:pt x="544" y="72"/>
                    <a:pt x="544" y="72"/>
                  </a:cubicBezTo>
                  <a:cubicBezTo>
                    <a:pt x="542" y="48"/>
                    <a:pt x="542" y="48"/>
                    <a:pt x="542" y="48"/>
                  </a:cubicBezTo>
                  <a:cubicBezTo>
                    <a:pt x="532" y="45"/>
                    <a:pt x="532" y="45"/>
                    <a:pt x="532" y="45"/>
                  </a:cubicBezTo>
                  <a:cubicBezTo>
                    <a:pt x="528" y="48"/>
                    <a:pt x="506" y="64"/>
                    <a:pt x="506" y="64"/>
                  </a:cubicBezTo>
                  <a:cubicBezTo>
                    <a:pt x="486" y="81"/>
                    <a:pt x="486" y="81"/>
                    <a:pt x="486" y="81"/>
                  </a:cubicBezTo>
                  <a:cubicBezTo>
                    <a:pt x="486" y="98"/>
                    <a:pt x="486" y="98"/>
                    <a:pt x="486" y="98"/>
                  </a:cubicBezTo>
                  <a:cubicBezTo>
                    <a:pt x="486" y="99"/>
                    <a:pt x="486" y="99"/>
                    <a:pt x="486" y="99"/>
                  </a:cubicBezTo>
                  <a:cubicBezTo>
                    <a:pt x="485" y="99"/>
                    <a:pt x="485" y="99"/>
                    <a:pt x="485" y="99"/>
                  </a:cubicBezTo>
                  <a:cubicBezTo>
                    <a:pt x="473" y="109"/>
                    <a:pt x="473" y="109"/>
                    <a:pt x="473" y="109"/>
                  </a:cubicBezTo>
                  <a:cubicBezTo>
                    <a:pt x="472" y="109"/>
                    <a:pt x="472" y="109"/>
                    <a:pt x="472" y="109"/>
                  </a:cubicBezTo>
                  <a:cubicBezTo>
                    <a:pt x="471" y="109"/>
                    <a:pt x="471" y="109"/>
                    <a:pt x="471" y="109"/>
                  </a:cubicBezTo>
                  <a:cubicBezTo>
                    <a:pt x="453" y="109"/>
                    <a:pt x="453" y="109"/>
                    <a:pt x="453" y="109"/>
                  </a:cubicBezTo>
                  <a:cubicBezTo>
                    <a:pt x="452" y="109"/>
                    <a:pt x="452" y="109"/>
                    <a:pt x="452" y="109"/>
                  </a:cubicBezTo>
                  <a:cubicBezTo>
                    <a:pt x="452" y="109"/>
                    <a:pt x="452" y="109"/>
                    <a:pt x="452" y="109"/>
                  </a:cubicBezTo>
                  <a:cubicBezTo>
                    <a:pt x="442" y="101"/>
                    <a:pt x="442" y="101"/>
                    <a:pt x="442" y="101"/>
                  </a:cubicBezTo>
                  <a:cubicBezTo>
                    <a:pt x="432" y="98"/>
                    <a:pt x="432" y="98"/>
                    <a:pt x="432" y="98"/>
                  </a:cubicBezTo>
                  <a:cubicBezTo>
                    <a:pt x="432" y="101"/>
                    <a:pt x="432" y="101"/>
                    <a:pt x="432" y="101"/>
                  </a:cubicBezTo>
                  <a:cubicBezTo>
                    <a:pt x="432" y="103"/>
                    <a:pt x="432" y="103"/>
                    <a:pt x="432" y="103"/>
                  </a:cubicBezTo>
                  <a:cubicBezTo>
                    <a:pt x="430" y="103"/>
                    <a:pt x="430" y="103"/>
                    <a:pt x="430" y="103"/>
                  </a:cubicBezTo>
                  <a:cubicBezTo>
                    <a:pt x="419" y="103"/>
                    <a:pt x="419" y="103"/>
                    <a:pt x="419" y="103"/>
                  </a:cubicBezTo>
                  <a:cubicBezTo>
                    <a:pt x="417" y="103"/>
                    <a:pt x="417" y="103"/>
                    <a:pt x="417" y="103"/>
                  </a:cubicBezTo>
                  <a:cubicBezTo>
                    <a:pt x="417" y="101"/>
                    <a:pt x="417" y="101"/>
                    <a:pt x="417" y="101"/>
                  </a:cubicBezTo>
                  <a:cubicBezTo>
                    <a:pt x="412" y="82"/>
                    <a:pt x="412" y="82"/>
                    <a:pt x="412" y="82"/>
                  </a:cubicBezTo>
                  <a:cubicBezTo>
                    <a:pt x="385" y="78"/>
                    <a:pt x="385" y="78"/>
                    <a:pt x="385" y="78"/>
                  </a:cubicBezTo>
                  <a:cubicBezTo>
                    <a:pt x="384" y="78"/>
                    <a:pt x="384" y="78"/>
                    <a:pt x="384" y="78"/>
                  </a:cubicBezTo>
                  <a:cubicBezTo>
                    <a:pt x="383" y="77"/>
                    <a:pt x="383" y="77"/>
                    <a:pt x="383" y="77"/>
                  </a:cubicBezTo>
                  <a:cubicBezTo>
                    <a:pt x="365" y="51"/>
                    <a:pt x="365" y="51"/>
                    <a:pt x="365" y="51"/>
                  </a:cubicBezTo>
                  <a:cubicBezTo>
                    <a:pt x="350" y="51"/>
                    <a:pt x="350" y="51"/>
                    <a:pt x="350" y="51"/>
                  </a:cubicBezTo>
                  <a:cubicBezTo>
                    <a:pt x="348" y="56"/>
                    <a:pt x="348" y="56"/>
                    <a:pt x="348" y="56"/>
                  </a:cubicBezTo>
                  <a:cubicBezTo>
                    <a:pt x="348" y="57"/>
                    <a:pt x="348" y="57"/>
                    <a:pt x="348" y="57"/>
                  </a:cubicBezTo>
                  <a:cubicBezTo>
                    <a:pt x="348" y="57"/>
                    <a:pt x="348" y="57"/>
                    <a:pt x="348" y="57"/>
                  </a:cubicBezTo>
                  <a:cubicBezTo>
                    <a:pt x="338" y="68"/>
                    <a:pt x="338" y="68"/>
                    <a:pt x="338" y="68"/>
                  </a:cubicBezTo>
                  <a:cubicBezTo>
                    <a:pt x="338" y="68"/>
                    <a:pt x="338" y="68"/>
                    <a:pt x="338" y="68"/>
                  </a:cubicBezTo>
                  <a:cubicBezTo>
                    <a:pt x="337" y="68"/>
                    <a:pt x="337" y="68"/>
                    <a:pt x="337" y="68"/>
                  </a:cubicBezTo>
                  <a:cubicBezTo>
                    <a:pt x="328" y="72"/>
                    <a:pt x="328" y="72"/>
                    <a:pt x="328" y="72"/>
                  </a:cubicBezTo>
                  <a:cubicBezTo>
                    <a:pt x="328" y="87"/>
                    <a:pt x="328" y="87"/>
                    <a:pt x="328" y="87"/>
                  </a:cubicBezTo>
                  <a:cubicBezTo>
                    <a:pt x="328" y="89"/>
                    <a:pt x="328" y="89"/>
                    <a:pt x="328" y="89"/>
                  </a:cubicBezTo>
                  <a:cubicBezTo>
                    <a:pt x="327" y="89"/>
                    <a:pt x="327" y="89"/>
                    <a:pt x="327" y="89"/>
                  </a:cubicBezTo>
                  <a:cubicBezTo>
                    <a:pt x="327" y="89"/>
                    <a:pt x="317" y="96"/>
                    <a:pt x="317" y="95"/>
                  </a:cubicBezTo>
                  <a:cubicBezTo>
                    <a:pt x="295" y="112"/>
                    <a:pt x="295" y="112"/>
                    <a:pt x="295" y="112"/>
                  </a:cubicBezTo>
                  <a:cubicBezTo>
                    <a:pt x="278" y="146"/>
                    <a:pt x="278" y="146"/>
                    <a:pt x="278" y="146"/>
                  </a:cubicBezTo>
                  <a:cubicBezTo>
                    <a:pt x="278" y="146"/>
                    <a:pt x="278" y="146"/>
                    <a:pt x="278" y="146"/>
                  </a:cubicBezTo>
                  <a:cubicBezTo>
                    <a:pt x="277" y="146"/>
                    <a:pt x="277" y="146"/>
                    <a:pt x="277" y="146"/>
                  </a:cubicBezTo>
                  <a:cubicBezTo>
                    <a:pt x="254" y="166"/>
                    <a:pt x="254" y="166"/>
                    <a:pt x="254" y="166"/>
                  </a:cubicBezTo>
                  <a:cubicBezTo>
                    <a:pt x="234" y="184"/>
                    <a:pt x="234" y="184"/>
                    <a:pt x="234" y="184"/>
                  </a:cubicBezTo>
                  <a:cubicBezTo>
                    <a:pt x="232" y="203"/>
                    <a:pt x="232" y="203"/>
                    <a:pt x="232" y="203"/>
                  </a:cubicBezTo>
                  <a:cubicBezTo>
                    <a:pt x="232" y="203"/>
                    <a:pt x="232" y="203"/>
                    <a:pt x="232" y="203"/>
                  </a:cubicBezTo>
                  <a:cubicBezTo>
                    <a:pt x="232" y="203"/>
                    <a:pt x="232" y="203"/>
                    <a:pt x="232" y="203"/>
                  </a:cubicBezTo>
                  <a:cubicBezTo>
                    <a:pt x="216" y="217"/>
                    <a:pt x="216" y="217"/>
                    <a:pt x="216" y="217"/>
                  </a:cubicBezTo>
                  <a:cubicBezTo>
                    <a:pt x="207" y="234"/>
                    <a:pt x="207" y="234"/>
                    <a:pt x="207" y="234"/>
                  </a:cubicBezTo>
                  <a:cubicBezTo>
                    <a:pt x="206" y="235"/>
                    <a:pt x="206" y="235"/>
                    <a:pt x="206" y="235"/>
                  </a:cubicBezTo>
                  <a:cubicBezTo>
                    <a:pt x="205" y="235"/>
                    <a:pt x="205" y="235"/>
                    <a:pt x="205" y="235"/>
                  </a:cubicBezTo>
                  <a:cubicBezTo>
                    <a:pt x="193" y="234"/>
                    <a:pt x="193" y="234"/>
                    <a:pt x="193" y="234"/>
                  </a:cubicBezTo>
                  <a:cubicBezTo>
                    <a:pt x="180" y="246"/>
                    <a:pt x="180" y="246"/>
                    <a:pt x="180" y="246"/>
                  </a:cubicBezTo>
                  <a:cubicBezTo>
                    <a:pt x="180" y="247"/>
                    <a:pt x="180" y="247"/>
                    <a:pt x="180" y="247"/>
                  </a:cubicBezTo>
                  <a:cubicBezTo>
                    <a:pt x="179" y="247"/>
                    <a:pt x="179" y="247"/>
                    <a:pt x="179" y="247"/>
                  </a:cubicBezTo>
                  <a:cubicBezTo>
                    <a:pt x="141" y="241"/>
                    <a:pt x="141" y="241"/>
                    <a:pt x="141" y="241"/>
                  </a:cubicBezTo>
                  <a:cubicBezTo>
                    <a:pt x="140" y="241"/>
                    <a:pt x="140" y="241"/>
                    <a:pt x="140" y="241"/>
                  </a:cubicBezTo>
                  <a:cubicBezTo>
                    <a:pt x="140" y="240"/>
                    <a:pt x="140" y="240"/>
                    <a:pt x="140" y="240"/>
                  </a:cubicBezTo>
                  <a:cubicBezTo>
                    <a:pt x="134" y="233"/>
                    <a:pt x="134" y="233"/>
                    <a:pt x="134" y="233"/>
                  </a:cubicBezTo>
                  <a:cubicBezTo>
                    <a:pt x="127" y="233"/>
                    <a:pt x="127" y="233"/>
                    <a:pt x="127" y="233"/>
                  </a:cubicBezTo>
                  <a:cubicBezTo>
                    <a:pt x="122" y="242"/>
                    <a:pt x="122" y="242"/>
                    <a:pt x="122" y="242"/>
                  </a:cubicBezTo>
                  <a:cubicBezTo>
                    <a:pt x="121" y="254"/>
                    <a:pt x="121" y="254"/>
                    <a:pt x="121" y="254"/>
                  </a:cubicBezTo>
                  <a:cubicBezTo>
                    <a:pt x="121" y="255"/>
                    <a:pt x="121" y="255"/>
                    <a:pt x="121" y="255"/>
                  </a:cubicBezTo>
                  <a:cubicBezTo>
                    <a:pt x="120" y="256"/>
                    <a:pt x="120" y="256"/>
                    <a:pt x="120" y="256"/>
                  </a:cubicBezTo>
                  <a:cubicBezTo>
                    <a:pt x="112" y="261"/>
                    <a:pt x="112" y="261"/>
                    <a:pt x="112" y="261"/>
                  </a:cubicBezTo>
                  <a:cubicBezTo>
                    <a:pt x="107" y="272"/>
                    <a:pt x="107" y="272"/>
                    <a:pt x="107" y="272"/>
                  </a:cubicBezTo>
                  <a:cubicBezTo>
                    <a:pt x="107" y="273"/>
                    <a:pt x="107" y="273"/>
                    <a:pt x="107" y="273"/>
                  </a:cubicBezTo>
                  <a:cubicBezTo>
                    <a:pt x="106" y="273"/>
                    <a:pt x="106" y="273"/>
                    <a:pt x="106" y="273"/>
                  </a:cubicBezTo>
                  <a:cubicBezTo>
                    <a:pt x="96" y="279"/>
                    <a:pt x="96" y="279"/>
                    <a:pt x="96" y="279"/>
                  </a:cubicBezTo>
                  <a:cubicBezTo>
                    <a:pt x="96" y="281"/>
                    <a:pt x="94" y="288"/>
                    <a:pt x="94" y="288"/>
                  </a:cubicBezTo>
                  <a:cubicBezTo>
                    <a:pt x="92" y="297"/>
                    <a:pt x="92" y="297"/>
                    <a:pt x="92" y="297"/>
                  </a:cubicBezTo>
                  <a:cubicBezTo>
                    <a:pt x="92" y="298"/>
                    <a:pt x="92" y="298"/>
                    <a:pt x="92" y="298"/>
                  </a:cubicBezTo>
                  <a:cubicBezTo>
                    <a:pt x="91" y="298"/>
                    <a:pt x="91" y="298"/>
                    <a:pt x="91" y="298"/>
                  </a:cubicBezTo>
                  <a:cubicBezTo>
                    <a:pt x="81" y="300"/>
                    <a:pt x="81" y="300"/>
                    <a:pt x="81" y="300"/>
                  </a:cubicBezTo>
                  <a:cubicBezTo>
                    <a:pt x="81" y="312"/>
                    <a:pt x="81" y="312"/>
                    <a:pt x="81" y="312"/>
                  </a:cubicBezTo>
                  <a:cubicBezTo>
                    <a:pt x="91" y="325"/>
                    <a:pt x="91" y="325"/>
                    <a:pt x="91" y="325"/>
                  </a:cubicBezTo>
                  <a:cubicBezTo>
                    <a:pt x="91" y="325"/>
                    <a:pt x="91" y="325"/>
                    <a:pt x="91" y="325"/>
                  </a:cubicBezTo>
                  <a:cubicBezTo>
                    <a:pt x="92" y="326"/>
                    <a:pt x="92" y="326"/>
                    <a:pt x="92" y="326"/>
                  </a:cubicBezTo>
                  <a:cubicBezTo>
                    <a:pt x="93" y="336"/>
                    <a:pt x="93" y="336"/>
                    <a:pt x="93" y="336"/>
                  </a:cubicBezTo>
                  <a:cubicBezTo>
                    <a:pt x="93" y="337"/>
                    <a:pt x="93" y="337"/>
                    <a:pt x="93" y="337"/>
                  </a:cubicBezTo>
                  <a:cubicBezTo>
                    <a:pt x="92" y="338"/>
                    <a:pt x="92" y="338"/>
                    <a:pt x="92" y="338"/>
                  </a:cubicBezTo>
                  <a:cubicBezTo>
                    <a:pt x="59" y="362"/>
                    <a:pt x="59" y="362"/>
                    <a:pt x="59" y="362"/>
                  </a:cubicBezTo>
                  <a:cubicBezTo>
                    <a:pt x="49" y="369"/>
                    <a:pt x="49" y="369"/>
                    <a:pt x="49" y="369"/>
                  </a:cubicBezTo>
                  <a:cubicBezTo>
                    <a:pt x="32" y="381"/>
                    <a:pt x="32" y="381"/>
                    <a:pt x="32" y="381"/>
                  </a:cubicBezTo>
                  <a:cubicBezTo>
                    <a:pt x="32" y="382"/>
                    <a:pt x="32" y="382"/>
                    <a:pt x="32" y="382"/>
                  </a:cubicBezTo>
                  <a:cubicBezTo>
                    <a:pt x="32" y="382"/>
                    <a:pt x="32" y="382"/>
                    <a:pt x="32" y="382"/>
                  </a:cubicBezTo>
                  <a:cubicBezTo>
                    <a:pt x="18" y="388"/>
                    <a:pt x="18" y="388"/>
                    <a:pt x="18" y="388"/>
                  </a:cubicBezTo>
                  <a:cubicBezTo>
                    <a:pt x="0" y="402"/>
                    <a:pt x="0" y="402"/>
                    <a:pt x="0" y="402"/>
                  </a:cubicBezTo>
                  <a:cubicBezTo>
                    <a:pt x="1" y="404"/>
                    <a:pt x="1" y="404"/>
                    <a:pt x="1" y="404"/>
                  </a:cubicBezTo>
                  <a:cubicBezTo>
                    <a:pt x="14" y="406"/>
                    <a:pt x="14" y="406"/>
                    <a:pt x="14" y="406"/>
                  </a:cubicBezTo>
                  <a:cubicBezTo>
                    <a:pt x="15" y="406"/>
                    <a:pt x="15" y="406"/>
                    <a:pt x="15" y="406"/>
                  </a:cubicBezTo>
                  <a:cubicBezTo>
                    <a:pt x="15" y="406"/>
                    <a:pt x="15" y="406"/>
                    <a:pt x="15" y="406"/>
                  </a:cubicBezTo>
                  <a:cubicBezTo>
                    <a:pt x="35" y="426"/>
                    <a:pt x="35" y="426"/>
                    <a:pt x="35" y="426"/>
                  </a:cubicBezTo>
                  <a:cubicBezTo>
                    <a:pt x="138" y="475"/>
                    <a:pt x="138" y="475"/>
                    <a:pt x="138" y="475"/>
                  </a:cubicBezTo>
                  <a:cubicBezTo>
                    <a:pt x="138" y="475"/>
                    <a:pt x="138" y="475"/>
                    <a:pt x="138" y="475"/>
                  </a:cubicBezTo>
                  <a:cubicBezTo>
                    <a:pt x="139" y="475"/>
                    <a:pt x="139" y="475"/>
                    <a:pt x="139" y="475"/>
                  </a:cubicBezTo>
                  <a:cubicBezTo>
                    <a:pt x="173" y="502"/>
                    <a:pt x="173" y="502"/>
                    <a:pt x="173" y="502"/>
                  </a:cubicBezTo>
                  <a:cubicBezTo>
                    <a:pt x="236" y="504"/>
                    <a:pt x="236" y="504"/>
                    <a:pt x="236" y="504"/>
                  </a:cubicBezTo>
                  <a:cubicBezTo>
                    <a:pt x="241" y="499"/>
                    <a:pt x="241" y="499"/>
                    <a:pt x="241" y="499"/>
                  </a:cubicBezTo>
                  <a:cubicBezTo>
                    <a:pt x="241" y="499"/>
                    <a:pt x="241" y="499"/>
                    <a:pt x="241" y="499"/>
                  </a:cubicBezTo>
                  <a:cubicBezTo>
                    <a:pt x="243" y="499"/>
                    <a:pt x="243" y="499"/>
                    <a:pt x="243" y="499"/>
                  </a:cubicBezTo>
                  <a:cubicBezTo>
                    <a:pt x="268" y="498"/>
                    <a:pt x="268" y="498"/>
                    <a:pt x="268" y="498"/>
                  </a:cubicBezTo>
                  <a:cubicBezTo>
                    <a:pt x="269" y="498"/>
                    <a:pt x="269" y="498"/>
                    <a:pt x="269" y="498"/>
                  </a:cubicBezTo>
                  <a:cubicBezTo>
                    <a:pt x="270" y="499"/>
                    <a:pt x="270" y="499"/>
                    <a:pt x="270" y="499"/>
                  </a:cubicBezTo>
                  <a:cubicBezTo>
                    <a:pt x="288" y="516"/>
                    <a:pt x="288" y="516"/>
                    <a:pt x="288" y="516"/>
                  </a:cubicBezTo>
                  <a:cubicBezTo>
                    <a:pt x="288" y="516"/>
                    <a:pt x="288" y="516"/>
                    <a:pt x="288" y="516"/>
                  </a:cubicBezTo>
                  <a:cubicBezTo>
                    <a:pt x="408" y="514"/>
                    <a:pt x="408" y="514"/>
                    <a:pt x="408" y="514"/>
                  </a:cubicBezTo>
                  <a:cubicBezTo>
                    <a:pt x="410" y="514"/>
                    <a:pt x="410" y="514"/>
                    <a:pt x="410" y="514"/>
                  </a:cubicBezTo>
                  <a:cubicBezTo>
                    <a:pt x="410" y="515"/>
                    <a:pt x="410" y="515"/>
                    <a:pt x="410" y="515"/>
                  </a:cubicBezTo>
                  <a:cubicBezTo>
                    <a:pt x="426" y="509"/>
                    <a:pt x="426" y="509"/>
                    <a:pt x="426" y="509"/>
                  </a:cubicBezTo>
                  <a:cubicBezTo>
                    <a:pt x="427" y="509"/>
                    <a:pt x="427" y="509"/>
                    <a:pt x="427" y="509"/>
                  </a:cubicBezTo>
                  <a:cubicBezTo>
                    <a:pt x="427" y="509"/>
                    <a:pt x="427" y="509"/>
                    <a:pt x="427" y="509"/>
                  </a:cubicBezTo>
                  <a:cubicBezTo>
                    <a:pt x="494" y="508"/>
                    <a:pt x="494" y="508"/>
                    <a:pt x="494" y="508"/>
                  </a:cubicBezTo>
                  <a:cubicBezTo>
                    <a:pt x="692" y="508"/>
                    <a:pt x="692" y="508"/>
                    <a:pt x="692" y="508"/>
                  </a:cubicBezTo>
                  <a:cubicBezTo>
                    <a:pt x="691" y="507"/>
                    <a:pt x="691" y="507"/>
                    <a:pt x="691" y="507"/>
                  </a:cubicBezTo>
                  <a:cubicBezTo>
                    <a:pt x="700" y="496"/>
                    <a:pt x="700" y="496"/>
                    <a:pt x="700" y="496"/>
                  </a:cubicBezTo>
                  <a:cubicBezTo>
                    <a:pt x="707" y="491"/>
                    <a:pt x="707" y="491"/>
                    <a:pt x="707" y="491"/>
                  </a:cubicBezTo>
                  <a:cubicBezTo>
                    <a:pt x="699" y="479"/>
                    <a:pt x="699" y="479"/>
                    <a:pt x="699" y="479"/>
                  </a:cubicBezTo>
                  <a:cubicBezTo>
                    <a:pt x="701" y="470"/>
                    <a:pt x="701" y="470"/>
                    <a:pt x="701" y="470"/>
                  </a:cubicBezTo>
                  <a:cubicBezTo>
                    <a:pt x="723" y="464"/>
                    <a:pt x="723" y="464"/>
                    <a:pt x="723" y="464"/>
                  </a:cubicBezTo>
                  <a:cubicBezTo>
                    <a:pt x="723" y="454"/>
                    <a:pt x="723" y="454"/>
                    <a:pt x="723" y="454"/>
                  </a:cubicBezTo>
                  <a:cubicBezTo>
                    <a:pt x="732" y="448"/>
                    <a:pt x="732" y="448"/>
                    <a:pt x="732" y="448"/>
                  </a:cubicBezTo>
                  <a:cubicBezTo>
                    <a:pt x="748" y="432"/>
                    <a:pt x="748" y="432"/>
                    <a:pt x="748" y="432"/>
                  </a:cubicBezTo>
                  <a:cubicBezTo>
                    <a:pt x="754" y="414"/>
                    <a:pt x="754" y="414"/>
                    <a:pt x="754" y="414"/>
                  </a:cubicBezTo>
                  <a:cubicBezTo>
                    <a:pt x="762" y="408"/>
                    <a:pt x="762" y="408"/>
                    <a:pt x="762" y="408"/>
                  </a:cubicBezTo>
                  <a:cubicBezTo>
                    <a:pt x="772" y="408"/>
                    <a:pt x="772" y="408"/>
                    <a:pt x="772" y="408"/>
                  </a:cubicBezTo>
                  <a:cubicBezTo>
                    <a:pt x="787" y="404"/>
                    <a:pt x="787" y="404"/>
                    <a:pt x="787" y="404"/>
                  </a:cubicBezTo>
                  <a:cubicBezTo>
                    <a:pt x="807" y="408"/>
                    <a:pt x="807" y="408"/>
                    <a:pt x="807" y="408"/>
                  </a:cubicBezTo>
                  <a:cubicBezTo>
                    <a:pt x="815" y="413"/>
                    <a:pt x="815" y="413"/>
                    <a:pt x="815" y="413"/>
                  </a:cubicBezTo>
                  <a:cubicBezTo>
                    <a:pt x="819" y="404"/>
                    <a:pt x="819" y="404"/>
                    <a:pt x="819" y="404"/>
                  </a:cubicBezTo>
                  <a:cubicBezTo>
                    <a:pt x="831" y="399"/>
                    <a:pt x="831" y="399"/>
                    <a:pt x="831" y="399"/>
                  </a:cubicBezTo>
                  <a:cubicBezTo>
                    <a:pt x="845" y="398"/>
                    <a:pt x="845" y="398"/>
                    <a:pt x="845" y="398"/>
                  </a:cubicBezTo>
                  <a:cubicBezTo>
                    <a:pt x="856" y="396"/>
                    <a:pt x="856" y="396"/>
                    <a:pt x="856" y="396"/>
                  </a:cubicBezTo>
                  <a:cubicBezTo>
                    <a:pt x="869" y="402"/>
                    <a:pt x="869" y="402"/>
                    <a:pt x="869" y="402"/>
                  </a:cubicBezTo>
                  <a:cubicBezTo>
                    <a:pt x="879" y="408"/>
                    <a:pt x="879" y="408"/>
                    <a:pt x="879" y="408"/>
                  </a:cubicBezTo>
                  <a:cubicBezTo>
                    <a:pt x="890" y="399"/>
                    <a:pt x="890" y="399"/>
                    <a:pt x="890" y="399"/>
                  </a:cubicBezTo>
                  <a:cubicBezTo>
                    <a:pt x="901" y="404"/>
                    <a:pt x="901" y="404"/>
                    <a:pt x="901" y="404"/>
                  </a:cubicBezTo>
                  <a:cubicBezTo>
                    <a:pt x="913" y="404"/>
                    <a:pt x="913" y="404"/>
                    <a:pt x="913" y="404"/>
                  </a:cubicBezTo>
                  <a:cubicBezTo>
                    <a:pt x="923" y="408"/>
                    <a:pt x="923" y="408"/>
                    <a:pt x="923" y="408"/>
                  </a:cubicBezTo>
                  <a:cubicBezTo>
                    <a:pt x="938" y="404"/>
                    <a:pt x="938" y="404"/>
                    <a:pt x="938" y="404"/>
                  </a:cubicBezTo>
                  <a:cubicBezTo>
                    <a:pt x="941" y="403"/>
                    <a:pt x="941" y="403"/>
                    <a:pt x="941" y="403"/>
                  </a:cubicBezTo>
                  <a:cubicBezTo>
                    <a:pt x="939" y="403"/>
                    <a:pt x="939" y="403"/>
                    <a:pt x="939" y="403"/>
                  </a:cubicBezTo>
                  <a:cubicBezTo>
                    <a:pt x="938" y="394"/>
                    <a:pt x="938" y="394"/>
                    <a:pt x="938" y="394"/>
                  </a:cubicBezTo>
                  <a:cubicBezTo>
                    <a:pt x="938" y="371"/>
                    <a:pt x="938" y="371"/>
                    <a:pt x="938" y="371"/>
                  </a:cubicBezTo>
                  <a:cubicBezTo>
                    <a:pt x="934" y="368"/>
                    <a:pt x="934" y="368"/>
                    <a:pt x="934" y="368"/>
                  </a:cubicBezTo>
                  <a:cubicBezTo>
                    <a:pt x="933" y="367"/>
                    <a:pt x="933" y="367"/>
                    <a:pt x="933" y="367"/>
                  </a:cubicBezTo>
                  <a:cubicBezTo>
                    <a:pt x="934" y="366"/>
                    <a:pt x="934" y="366"/>
                    <a:pt x="934" y="366"/>
                  </a:cubicBezTo>
                  <a:cubicBezTo>
                    <a:pt x="938" y="352"/>
                    <a:pt x="938" y="352"/>
                    <a:pt x="938" y="352"/>
                  </a:cubicBezTo>
                  <a:cubicBezTo>
                    <a:pt x="939" y="351"/>
                    <a:pt x="939" y="351"/>
                    <a:pt x="939" y="351"/>
                  </a:cubicBezTo>
                  <a:cubicBezTo>
                    <a:pt x="939" y="351"/>
                    <a:pt x="939" y="351"/>
                    <a:pt x="939" y="351"/>
                  </a:cubicBezTo>
                  <a:cubicBezTo>
                    <a:pt x="936" y="349"/>
                    <a:pt x="936" y="349"/>
                    <a:pt x="936" y="349"/>
                  </a:cubicBezTo>
                  <a:cubicBezTo>
                    <a:pt x="929" y="356"/>
                    <a:pt x="929" y="356"/>
                    <a:pt x="929" y="356"/>
                  </a:cubicBezTo>
                  <a:close/>
                </a:path>
              </a:pathLst>
            </a:custGeom>
            <a:grp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743024">
                <a:defRPr/>
              </a:pPr>
              <a:endParaRPr lang="ru-RU" sz="1300" kern="0" dirty="0">
                <a:solidFill>
                  <a:sysClr val="windowText" lastClr="000000"/>
                </a:solidFill>
                <a:latin typeface="Arial" panose="020B0604020202020204" pitchFamily="34" charset="0"/>
                <a:cs typeface="Arial" panose="020B0604020202020204" pitchFamily="34" charset="0"/>
              </a:endParaRPr>
            </a:p>
          </p:txBody>
        </p:sp>
        <p:sp>
          <p:nvSpPr>
            <p:cNvPr id="73" name="Freeform 146">
              <a:extLst>
                <a:ext uri="{FF2B5EF4-FFF2-40B4-BE49-F238E27FC236}">
                  <a16:creationId xmlns:a16="http://schemas.microsoft.com/office/drawing/2014/main" id="{E0AA529C-A276-47E9-9BA5-13814D1F21A1}"/>
                </a:ext>
              </a:extLst>
            </p:cNvPr>
            <p:cNvSpPr>
              <a:spLocks/>
            </p:cNvSpPr>
            <p:nvPr/>
          </p:nvSpPr>
          <p:spPr bwMode="auto">
            <a:xfrm>
              <a:off x="2171156" y="3458617"/>
              <a:ext cx="1477301" cy="829815"/>
            </a:xfrm>
            <a:custGeom>
              <a:avLst/>
              <a:gdLst>
                <a:gd name="T0" fmla="*/ 393 w 556"/>
                <a:gd name="T1" fmla="*/ 280 h 327"/>
                <a:gd name="T2" fmla="*/ 422 w 556"/>
                <a:gd name="T3" fmla="*/ 281 h 327"/>
                <a:gd name="T4" fmla="*/ 448 w 556"/>
                <a:gd name="T5" fmla="*/ 277 h 327"/>
                <a:gd name="T6" fmla="*/ 457 w 556"/>
                <a:gd name="T7" fmla="*/ 286 h 327"/>
                <a:gd name="T8" fmla="*/ 477 w 556"/>
                <a:gd name="T9" fmla="*/ 285 h 327"/>
                <a:gd name="T10" fmla="*/ 485 w 556"/>
                <a:gd name="T11" fmla="*/ 275 h 327"/>
                <a:gd name="T12" fmla="*/ 523 w 556"/>
                <a:gd name="T13" fmla="*/ 309 h 327"/>
                <a:gd name="T14" fmla="*/ 556 w 556"/>
                <a:gd name="T15" fmla="*/ 325 h 327"/>
                <a:gd name="T16" fmla="*/ 508 w 556"/>
                <a:gd name="T17" fmla="*/ 260 h 327"/>
                <a:gd name="T18" fmla="*/ 490 w 556"/>
                <a:gd name="T19" fmla="*/ 242 h 327"/>
                <a:gd name="T20" fmla="*/ 489 w 556"/>
                <a:gd name="T21" fmla="*/ 216 h 327"/>
                <a:gd name="T22" fmla="*/ 481 w 556"/>
                <a:gd name="T23" fmla="*/ 201 h 327"/>
                <a:gd name="T24" fmla="*/ 485 w 556"/>
                <a:gd name="T25" fmla="*/ 183 h 327"/>
                <a:gd name="T26" fmla="*/ 504 w 556"/>
                <a:gd name="T27" fmla="*/ 142 h 327"/>
                <a:gd name="T28" fmla="*/ 496 w 556"/>
                <a:gd name="T29" fmla="*/ 128 h 327"/>
                <a:gd name="T30" fmla="*/ 495 w 556"/>
                <a:gd name="T31" fmla="*/ 79 h 327"/>
                <a:gd name="T32" fmla="*/ 475 w 556"/>
                <a:gd name="T33" fmla="*/ 60 h 327"/>
                <a:gd name="T34" fmla="*/ 452 w 556"/>
                <a:gd name="T35" fmla="*/ 51 h 327"/>
                <a:gd name="T36" fmla="*/ 450 w 556"/>
                <a:gd name="T37" fmla="*/ 25 h 327"/>
                <a:gd name="T38" fmla="*/ 458 w 556"/>
                <a:gd name="T39" fmla="*/ 17 h 327"/>
                <a:gd name="T40" fmla="*/ 421 w 556"/>
                <a:gd name="T41" fmla="*/ 9 h 327"/>
                <a:gd name="T42" fmla="*/ 399 w 556"/>
                <a:gd name="T43" fmla="*/ 10 h 327"/>
                <a:gd name="T44" fmla="*/ 391 w 556"/>
                <a:gd name="T45" fmla="*/ 5 h 327"/>
                <a:gd name="T46" fmla="*/ 375 w 556"/>
                <a:gd name="T47" fmla="*/ 32 h 327"/>
                <a:gd name="T48" fmla="*/ 348 w 556"/>
                <a:gd name="T49" fmla="*/ 56 h 327"/>
                <a:gd name="T50" fmla="*/ 330 w 556"/>
                <a:gd name="T51" fmla="*/ 42 h 327"/>
                <a:gd name="T52" fmla="*/ 279 w 556"/>
                <a:gd name="T53" fmla="*/ 13 h 327"/>
                <a:gd name="T54" fmla="*/ 255 w 556"/>
                <a:gd name="T55" fmla="*/ 33 h 327"/>
                <a:gd name="T56" fmla="*/ 179 w 556"/>
                <a:gd name="T57" fmla="*/ 54 h 327"/>
                <a:gd name="T58" fmla="*/ 151 w 556"/>
                <a:gd name="T59" fmla="*/ 56 h 327"/>
                <a:gd name="T60" fmla="*/ 95 w 556"/>
                <a:gd name="T61" fmla="*/ 22 h 327"/>
                <a:gd name="T62" fmla="*/ 0 w 556"/>
                <a:gd name="T63" fmla="*/ 26 h 327"/>
                <a:gd name="T64" fmla="*/ 12 w 556"/>
                <a:gd name="T65" fmla="*/ 58 h 327"/>
                <a:gd name="T66" fmla="*/ 35 w 556"/>
                <a:gd name="T67" fmla="*/ 59 h 327"/>
                <a:gd name="T68" fmla="*/ 68 w 556"/>
                <a:gd name="T69" fmla="*/ 75 h 327"/>
                <a:gd name="T70" fmla="*/ 83 w 556"/>
                <a:gd name="T71" fmla="*/ 136 h 327"/>
                <a:gd name="T72" fmla="*/ 97 w 556"/>
                <a:gd name="T73" fmla="*/ 170 h 327"/>
                <a:gd name="T74" fmla="*/ 70 w 556"/>
                <a:gd name="T75" fmla="*/ 163 h 327"/>
                <a:gd name="T76" fmla="*/ 60 w 556"/>
                <a:gd name="T77" fmla="*/ 179 h 327"/>
                <a:gd name="T78" fmla="*/ 102 w 556"/>
                <a:gd name="T79" fmla="*/ 198 h 327"/>
                <a:gd name="T80" fmla="*/ 149 w 556"/>
                <a:gd name="T81" fmla="*/ 194 h 327"/>
                <a:gd name="T82" fmla="*/ 213 w 556"/>
                <a:gd name="T83" fmla="*/ 171 h 327"/>
                <a:gd name="T84" fmla="*/ 252 w 556"/>
                <a:gd name="T85" fmla="*/ 171 h 327"/>
                <a:gd name="T86" fmla="*/ 291 w 556"/>
                <a:gd name="T87" fmla="*/ 202 h 327"/>
                <a:gd name="T88" fmla="*/ 311 w 556"/>
                <a:gd name="T89" fmla="*/ 197 h 327"/>
                <a:gd name="T90" fmla="*/ 339 w 556"/>
                <a:gd name="T91" fmla="*/ 201 h 327"/>
                <a:gd name="T92" fmla="*/ 356 w 556"/>
                <a:gd name="T93" fmla="*/ 240 h 327"/>
                <a:gd name="T94" fmla="*/ 350 w 556"/>
                <a:gd name="T95" fmla="*/ 290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56" h="327">
                  <a:moveTo>
                    <a:pt x="391" y="280"/>
                  </a:moveTo>
                  <a:cubicBezTo>
                    <a:pt x="392" y="280"/>
                    <a:pt x="392" y="280"/>
                    <a:pt x="392" y="280"/>
                  </a:cubicBezTo>
                  <a:cubicBezTo>
                    <a:pt x="393" y="280"/>
                    <a:pt x="393" y="280"/>
                    <a:pt x="393" y="280"/>
                  </a:cubicBezTo>
                  <a:cubicBezTo>
                    <a:pt x="404" y="286"/>
                    <a:pt x="404" y="286"/>
                    <a:pt x="404" y="286"/>
                  </a:cubicBezTo>
                  <a:cubicBezTo>
                    <a:pt x="420" y="286"/>
                    <a:pt x="420" y="286"/>
                    <a:pt x="420" y="286"/>
                  </a:cubicBezTo>
                  <a:cubicBezTo>
                    <a:pt x="422" y="281"/>
                    <a:pt x="422" y="281"/>
                    <a:pt x="422" y="281"/>
                  </a:cubicBezTo>
                  <a:cubicBezTo>
                    <a:pt x="423" y="279"/>
                    <a:pt x="423" y="279"/>
                    <a:pt x="423" y="279"/>
                  </a:cubicBezTo>
                  <a:cubicBezTo>
                    <a:pt x="424" y="279"/>
                    <a:pt x="424" y="279"/>
                    <a:pt x="424" y="279"/>
                  </a:cubicBezTo>
                  <a:cubicBezTo>
                    <a:pt x="448" y="277"/>
                    <a:pt x="448" y="277"/>
                    <a:pt x="448" y="277"/>
                  </a:cubicBezTo>
                  <a:cubicBezTo>
                    <a:pt x="449" y="277"/>
                    <a:pt x="449" y="277"/>
                    <a:pt x="449" y="277"/>
                  </a:cubicBezTo>
                  <a:cubicBezTo>
                    <a:pt x="450" y="278"/>
                    <a:pt x="450" y="278"/>
                    <a:pt x="450" y="278"/>
                  </a:cubicBezTo>
                  <a:cubicBezTo>
                    <a:pt x="457" y="286"/>
                    <a:pt x="457" y="286"/>
                    <a:pt x="457" y="286"/>
                  </a:cubicBezTo>
                  <a:cubicBezTo>
                    <a:pt x="463" y="292"/>
                    <a:pt x="463" y="292"/>
                    <a:pt x="463" y="292"/>
                  </a:cubicBezTo>
                  <a:cubicBezTo>
                    <a:pt x="468" y="294"/>
                    <a:pt x="468" y="294"/>
                    <a:pt x="468" y="294"/>
                  </a:cubicBezTo>
                  <a:cubicBezTo>
                    <a:pt x="477" y="285"/>
                    <a:pt x="477" y="285"/>
                    <a:pt x="477" y="285"/>
                  </a:cubicBezTo>
                  <a:cubicBezTo>
                    <a:pt x="482" y="276"/>
                    <a:pt x="482" y="276"/>
                    <a:pt x="482" y="276"/>
                  </a:cubicBezTo>
                  <a:cubicBezTo>
                    <a:pt x="483" y="274"/>
                    <a:pt x="483" y="274"/>
                    <a:pt x="483" y="274"/>
                  </a:cubicBezTo>
                  <a:cubicBezTo>
                    <a:pt x="485" y="275"/>
                    <a:pt x="485" y="275"/>
                    <a:pt x="485" y="275"/>
                  </a:cubicBezTo>
                  <a:cubicBezTo>
                    <a:pt x="492" y="281"/>
                    <a:pt x="492" y="281"/>
                    <a:pt x="492" y="281"/>
                  </a:cubicBezTo>
                  <a:cubicBezTo>
                    <a:pt x="502" y="291"/>
                    <a:pt x="502" y="291"/>
                    <a:pt x="502" y="291"/>
                  </a:cubicBezTo>
                  <a:cubicBezTo>
                    <a:pt x="523" y="309"/>
                    <a:pt x="523" y="309"/>
                    <a:pt x="523" y="309"/>
                  </a:cubicBezTo>
                  <a:cubicBezTo>
                    <a:pt x="524" y="310"/>
                    <a:pt x="535" y="317"/>
                    <a:pt x="535" y="317"/>
                  </a:cubicBezTo>
                  <a:cubicBezTo>
                    <a:pt x="550" y="327"/>
                    <a:pt x="550" y="327"/>
                    <a:pt x="550" y="327"/>
                  </a:cubicBezTo>
                  <a:cubicBezTo>
                    <a:pt x="556" y="325"/>
                    <a:pt x="556" y="325"/>
                    <a:pt x="556" y="325"/>
                  </a:cubicBezTo>
                  <a:cubicBezTo>
                    <a:pt x="550" y="279"/>
                    <a:pt x="550" y="279"/>
                    <a:pt x="550" y="279"/>
                  </a:cubicBezTo>
                  <a:cubicBezTo>
                    <a:pt x="547" y="278"/>
                    <a:pt x="535" y="272"/>
                    <a:pt x="535" y="272"/>
                  </a:cubicBezTo>
                  <a:cubicBezTo>
                    <a:pt x="508" y="260"/>
                    <a:pt x="508" y="260"/>
                    <a:pt x="508" y="260"/>
                  </a:cubicBezTo>
                  <a:cubicBezTo>
                    <a:pt x="508" y="259"/>
                    <a:pt x="508" y="259"/>
                    <a:pt x="508" y="259"/>
                  </a:cubicBezTo>
                  <a:cubicBezTo>
                    <a:pt x="507" y="259"/>
                    <a:pt x="507" y="259"/>
                    <a:pt x="507" y="259"/>
                  </a:cubicBezTo>
                  <a:cubicBezTo>
                    <a:pt x="490" y="242"/>
                    <a:pt x="490" y="242"/>
                    <a:pt x="490" y="242"/>
                  </a:cubicBezTo>
                  <a:cubicBezTo>
                    <a:pt x="489" y="241"/>
                    <a:pt x="489" y="241"/>
                    <a:pt x="489" y="241"/>
                  </a:cubicBezTo>
                  <a:cubicBezTo>
                    <a:pt x="489" y="241"/>
                    <a:pt x="489" y="241"/>
                    <a:pt x="489" y="241"/>
                  </a:cubicBezTo>
                  <a:cubicBezTo>
                    <a:pt x="489" y="216"/>
                    <a:pt x="489" y="216"/>
                    <a:pt x="489" y="216"/>
                  </a:cubicBezTo>
                  <a:cubicBezTo>
                    <a:pt x="481" y="203"/>
                    <a:pt x="481" y="203"/>
                    <a:pt x="481" y="203"/>
                  </a:cubicBezTo>
                  <a:cubicBezTo>
                    <a:pt x="480" y="202"/>
                    <a:pt x="480" y="202"/>
                    <a:pt x="480" y="202"/>
                  </a:cubicBezTo>
                  <a:cubicBezTo>
                    <a:pt x="481" y="201"/>
                    <a:pt x="481" y="201"/>
                    <a:pt x="481" y="201"/>
                  </a:cubicBezTo>
                  <a:cubicBezTo>
                    <a:pt x="484" y="183"/>
                    <a:pt x="484" y="183"/>
                    <a:pt x="484" y="183"/>
                  </a:cubicBezTo>
                  <a:cubicBezTo>
                    <a:pt x="484" y="183"/>
                    <a:pt x="484" y="183"/>
                    <a:pt x="484" y="183"/>
                  </a:cubicBezTo>
                  <a:cubicBezTo>
                    <a:pt x="485" y="183"/>
                    <a:pt x="485" y="183"/>
                    <a:pt x="485" y="183"/>
                  </a:cubicBezTo>
                  <a:cubicBezTo>
                    <a:pt x="492" y="166"/>
                    <a:pt x="492" y="166"/>
                    <a:pt x="492" y="166"/>
                  </a:cubicBezTo>
                  <a:cubicBezTo>
                    <a:pt x="499" y="154"/>
                    <a:pt x="499" y="154"/>
                    <a:pt x="499" y="154"/>
                  </a:cubicBezTo>
                  <a:cubicBezTo>
                    <a:pt x="504" y="142"/>
                    <a:pt x="504" y="142"/>
                    <a:pt x="504" y="142"/>
                  </a:cubicBezTo>
                  <a:cubicBezTo>
                    <a:pt x="496" y="129"/>
                    <a:pt x="496" y="129"/>
                    <a:pt x="496" y="129"/>
                  </a:cubicBezTo>
                  <a:cubicBezTo>
                    <a:pt x="496" y="129"/>
                    <a:pt x="496" y="129"/>
                    <a:pt x="496" y="129"/>
                  </a:cubicBezTo>
                  <a:cubicBezTo>
                    <a:pt x="496" y="128"/>
                    <a:pt x="496" y="128"/>
                    <a:pt x="496" y="128"/>
                  </a:cubicBezTo>
                  <a:cubicBezTo>
                    <a:pt x="495" y="80"/>
                    <a:pt x="495" y="80"/>
                    <a:pt x="495" y="80"/>
                  </a:cubicBezTo>
                  <a:cubicBezTo>
                    <a:pt x="495" y="80"/>
                    <a:pt x="495" y="80"/>
                    <a:pt x="495" y="80"/>
                  </a:cubicBezTo>
                  <a:cubicBezTo>
                    <a:pt x="495" y="79"/>
                    <a:pt x="495" y="79"/>
                    <a:pt x="495" y="79"/>
                  </a:cubicBezTo>
                  <a:cubicBezTo>
                    <a:pt x="502" y="64"/>
                    <a:pt x="502" y="64"/>
                    <a:pt x="502" y="64"/>
                  </a:cubicBezTo>
                  <a:cubicBezTo>
                    <a:pt x="484" y="54"/>
                    <a:pt x="484" y="54"/>
                    <a:pt x="484" y="54"/>
                  </a:cubicBezTo>
                  <a:cubicBezTo>
                    <a:pt x="475" y="60"/>
                    <a:pt x="475" y="60"/>
                    <a:pt x="475" y="60"/>
                  </a:cubicBezTo>
                  <a:cubicBezTo>
                    <a:pt x="474" y="61"/>
                    <a:pt x="474" y="61"/>
                    <a:pt x="474" y="61"/>
                  </a:cubicBezTo>
                  <a:cubicBezTo>
                    <a:pt x="474" y="60"/>
                    <a:pt x="474" y="60"/>
                    <a:pt x="474" y="60"/>
                  </a:cubicBezTo>
                  <a:cubicBezTo>
                    <a:pt x="452" y="51"/>
                    <a:pt x="452" y="51"/>
                    <a:pt x="452" y="51"/>
                  </a:cubicBezTo>
                  <a:cubicBezTo>
                    <a:pt x="450" y="50"/>
                    <a:pt x="450" y="50"/>
                    <a:pt x="450" y="50"/>
                  </a:cubicBezTo>
                  <a:cubicBezTo>
                    <a:pt x="450" y="49"/>
                    <a:pt x="450" y="49"/>
                    <a:pt x="450" y="49"/>
                  </a:cubicBezTo>
                  <a:cubicBezTo>
                    <a:pt x="450" y="25"/>
                    <a:pt x="450" y="25"/>
                    <a:pt x="450" y="25"/>
                  </a:cubicBezTo>
                  <a:cubicBezTo>
                    <a:pt x="450" y="24"/>
                    <a:pt x="450" y="24"/>
                    <a:pt x="450" y="24"/>
                  </a:cubicBezTo>
                  <a:cubicBezTo>
                    <a:pt x="451" y="24"/>
                    <a:pt x="451" y="24"/>
                    <a:pt x="451" y="24"/>
                  </a:cubicBezTo>
                  <a:cubicBezTo>
                    <a:pt x="458" y="17"/>
                    <a:pt x="458" y="17"/>
                    <a:pt x="458" y="17"/>
                  </a:cubicBezTo>
                  <a:cubicBezTo>
                    <a:pt x="458" y="14"/>
                    <a:pt x="458" y="14"/>
                    <a:pt x="458" y="14"/>
                  </a:cubicBezTo>
                  <a:cubicBezTo>
                    <a:pt x="436" y="0"/>
                    <a:pt x="436" y="0"/>
                    <a:pt x="436" y="0"/>
                  </a:cubicBezTo>
                  <a:cubicBezTo>
                    <a:pt x="421" y="9"/>
                    <a:pt x="421" y="9"/>
                    <a:pt x="421" y="9"/>
                  </a:cubicBezTo>
                  <a:cubicBezTo>
                    <a:pt x="420" y="9"/>
                    <a:pt x="420" y="9"/>
                    <a:pt x="420" y="9"/>
                  </a:cubicBezTo>
                  <a:cubicBezTo>
                    <a:pt x="420" y="9"/>
                    <a:pt x="420" y="9"/>
                    <a:pt x="420" y="9"/>
                  </a:cubicBezTo>
                  <a:cubicBezTo>
                    <a:pt x="399" y="10"/>
                    <a:pt x="399" y="10"/>
                    <a:pt x="399" y="10"/>
                  </a:cubicBezTo>
                  <a:cubicBezTo>
                    <a:pt x="398" y="10"/>
                    <a:pt x="398" y="10"/>
                    <a:pt x="398" y="10"/>
                  </a:cubicBezTo>
                  <a:cubicBezTo>
                    <a:pt x="398" y="10"/>
                    <a:pt x="398" y="10"/>
                    <a:pt x="398" y="10"/>
                  </a:cubicBezTo>
                  <a:cubicBezTo>
                    <a:pt x="391" y="5"/>
                    <a:pt x="391" y="5"/>
                    <a:pt x="391" y="5"/>
                  </a:cubicBezTo>
                  <a:cubicBezTo>
                    <a:pt x="378" y="21"/>
                    <a:pt x="378" y="21"/>
                    <a:pt x="378" y="21"/>
                  </a:cubicBezTo>
                  <a:cubicBezTo>
                    <a:pt x="375" y="32"/>
                    <a:pt x="375" y="32"/>
                    <a:pt x="375" y="32"/>
                  </a:cubicBezTo>
                  <a:cubicBezTo>
                    <a:pt x="375" y="32"/>
                    <a:pt x="375" y="32"/>
                    <a:pt x="375" y="32"/>
                  </a:cubicBezTo>
                  <a:cubicBezTo>
                    <a:pt x="375" y="33"/>
                    <a:pt x="375" y="33"/>
                    <a:pt x="375" y="33"/>
                  </a:cubicBezTo>
                  <a:cubicBezTo>
                    <a:pt x="349" y="55"/>
                    <a:pt x="349" y="55"/>
                    <a:pt x="349" y="55"/>
                  </a:cubicBezTo>
                  <a:cubicBezTo>
                    <a:pt x="348" y="56"/>
                    <a:pt x="348" y="56"/>
                    <a:pt x="348" y="56"/>
                  </a:cubicBezTo>
                  <a:cubicBezTo>
                    <a:pt x="346" y="55"/>
                    <a:pt x="346" y="55"/>
                    <a:pt x="346" y="55"/>
                  </a:cubicBezTo>
                  <a:cubicBezTo>
                    <a:pt x="330" y="42"/>
                    <a:pt x="330" y="42"/>
                    <a:pt x="330" y="42"/>
                  </a:cubicBezTo>
                  <a:cubicBezTo>
                    <a:pt x="330" y="42"/>
                    <a:pt x="330" y="42"/>
                    <a:pt x="330" y="42"/>
                  </a:cubicBezTo>
                  <a:cubicBezTo>
                    <a:pt x="330" y="42"/>
                    <a:pt x="330" y="42"/>
                    <a:pt x="330" y="42"/>
                  </a:cubicBezTo>
                  <a:cubicBezTo>
                    <a:pt x="307" y="15"/>
                    <a:pt x="307" y="15"/>
                    <a:pt x="307" y="15"/>
                  </a:cubicBezTo>
                  <a:cubicBezTo>
                    <a:pt x="279" y="13"/>
                    <a:pt x="279" y="13"/>
                    <a:pt x="279" y="13"/>
                  </a:cubicBezTo>
                  <a:cubicBezTo>
                    <a:pt x="256" y="33"/>
                    <a:pt x="256" y="33"/>
                    <a:pt x="256" y="33"/>
                  </a:cubicBezTo>
                  <a:cubicBezTo>
                    <a:pt x="256" y="33"/>
                    <a:pt x="256" y="33"/>
                    <a:pt x="256" y="33"/>
                  </a:cubicBezTo>
                  <a:cubicBezTo>
                    <a:pt x="255" y="33"/>
                    <a:pt x="255" y="33"/>
                    <a:pt x="255" y="33"/>
                  </a:cubicBezTo>
                  <a:cubicBezTo>
                    <a:pt x="215" y="31"/>
                    <a:pt x="215" y="31"/>
                    <a:pt x="215" y="31"/>
                  </a:cubicBezTo>
                  <a:cubicBezTo>
                    <a:pt x="179" y="53"/>
                    <a:pt x="179" y="53"/>
                    <a:pt x="179" y="53"/>
                  </a:cubicBezTo>
                  <a:cubicBezTo>
                    <a:pt x="179" y="54"/>
                    <a:pt x="179" y="54"/>
                    <a:pt x="179" y="54"/>
                  </a:cubicBezTo>
                  <a:cubicBezTo>
                    <a:pt x="178" y="53"/>
                    <a:pt x="178" y="53"/>
                    <a:pt x="178" y="53"/>
                  </a:cubicBezTo>
                  <a:cubicBezTo>
                    <a:pt x="163" y="49"/>
                    <a:pt x="163" y="49"/>
                    <a:pt x="163" y="49"/>
                  </a:cubicBezTo>
                  <a:cubicBezTo>
                    <a:pt x="151" y="56"/>
                    <a:pt x="151" y="56"/>
                    <a:pt x="151" y="56"/>
                  </a:cubicBezTo>
                  <a:cubicBezTo>
                    <a:pt x="150" y="57"/>
                    <a:pt x="150" y="57"/>
                    <a:pt x="150" y="57"/>
                  </a:cubicBezTo>
                  <a:cubicBezTo>
                    <a:pt x="149" y="56"/>
                    <a:pt x="149" y="56"/>
                    <a:pt x="149" y="56"/>
                  </a:cubicBezTo>
                  <a:cubicBezTo>
                    <a:pt x="95" y="22"/>
                    <a:pt x="95" y="22"/>
                    <a:pt x="95" y="22"/>
                  </a:cubicBezTo>
                  <a:cubicBezTo>
                    <a:pt x="8" y="19"/>
                    <a:pt x="8" y="19"/>
                    <a:pt x="8" y="19"/>
                  </a:cubicBezTo>
                  <a:cubicBezTo>
                    <a:pt x="8" y="20"/>
                    <a:pt x="8" y="20"/>
                    <a:pt x="8" y="20"/>
                  </a:cubicBezTo>
                  <a:cubicBezTo>
                    <a:pt x="0" y="26"/>
                    <a:pt x="0" y="26"/>
                    <a:pt x="0" y="26"/>
                  </a:cubicBezTo>
                  <a:cubicBezTo>
                    <a:pt x="0" y="34"/>
                    <a:pt x="0" y="34"/>
                    <a:pt x="0" y="34"/>
                  </a:cubicBezTo>
                  <a:cubicBezTo>
                    <a:pt x="0" y="50"/>
                    <a:pt x="0" y="50"/>
                    <a:pt x="0" y="50"/>
                  </a:cubicBezTo>
                  <a:cubicBezTo>
                    <a:pt x="12" y="58"/>
                    <a:pt x="12" y="58"/>
                    <a:pt x="12" y="58"/>
                  </a:cubicBezTo>
                  <a:cubicBezTo>
                    <a:pt x="16" y="52"/>
                    <a:pt x="16" y="52"/>
                    <a:pt x="16" y="52"/>
                  </a:cubicBezTo>
                  <a:cubicBezTo>
                    <a:pt x="22" y="44"/>
                    <a:pt x="22" y="44"/>
                    <a:pt x="22" y="44"/>
                  </a:cubicBezTo>
                  <a:cubicBezTo>
                    <a:pt x="35" y="59"/>
                    <a:pt x="35" y="59"/>
                    <a:pt x="35" y="59"/>
                  </a:cubicBezTo>
                  <a:cubicBezTo>
                    <a:pt x="51" y="59"/>
                    <a:pt x="51" y="59"/>
                    <a:pt x="51" y="59"/>
                  </a:cubicBezTo>
                  <a:cubicBezTo>
                    <a:pt x="59" y="65"/>
                    <a:pt x="59" y="65"/>
                    <a:pt x="59" y="65"/>
                  </a:cubicBezTo>
                  <a:cubicBezTo>
                    <a:pt x="68" y="75"/>
                    <a:pt x="68" y="75"/>
                    <a:pt x="68" y="75"/>
                  </a:cubicBezTo>
                  <a:cubicBezTo>
                    <a:pt x="68" y="93"/>
                    <a:pt x="68" y="93"/>
                    <a:pt x="68" y="93"/>
                  </a:cubicBezTo>
                  <a:cubicBezTo>
                    <a:pt x="78" y="103"/>
                    <a:pt x="78" y="103"/>
                    <a:pt x="78" y="103"/>
                  </a:cubicBezTo>
                  <a:cubicBezTo>
                    <a:pt x="83" y="136"/>
                    <a:pt x="83" y="136"/>
                    <a:pt x="83" y="136"/>
                  </a:cubicBezTo>
                  <a:cubicBezTo>
                    <a:pt x="87" y="151"/>
                    <a:pt x="87" y="151"/>
                    <a:pt x="87" y="151"/>
                  </a:cubicBezTo>
                  <a:cubicBezTo>
                    <a:pt x="92" y="161"/>
                    <a:pt x="92" y="161"/>
                    <a:pt x="92" y="161"/>
                  </a:cubicBezTo>
                  <a:cubicBezTo>
                    <a:pt x="97" y="170"/>
                    <a:pt x="97" y="170"/>
                    <a:pt x="97" y="170"/>
                  </a:cubicBezTo>
                  <a:cubicBezTo>
                    <a:pt x="88" y="175"/>
                    <a:pt x="88" y="175"/>
                    <a:pt x="88" y="175"/>
                  </a:cubicBezTo>
                  <a:cubicBezTo>
                    <a:pt x="80" y="174"/>
                    <a:pt x="80" y="174"/>
                    <a:pt x="80" y="174"/>
                  </a:cubicBezTo>
                  <a:cubicBezTo>
                    <a:pt x="70" y="163"/>
                    <a:pt x="70" y="163"/>
                    <a:pt x="70" y="163"/>
                  </a:cubicBezTo>
                  <a:cubicBezTo>
                    <a:pt x="60" y="162"/>
                    <a:pt x="60" y="162"/>
                    <a:pt x="60" y="162"/>
                  </a:cubicBezTo>
                  <a:cubicBezTo>
                    <a:pt x="55" y="170"/>
                    <a:pt x="55" y="170"/>
                    <a:pt x="55" y="170"/>
                  </a:cubicBezTo>
                  <a:cubicBezTo>
                    <a:pt x="60" y="179"/>
                    <a:pt x="60" y="179"/>
                    <a:pt x="60" y="179"/>
                  </a:cubicBezTo>
                  <a:cubicBezTo>
                    <a:pt x="87" y="202"/>
                    <a:pt x="87" y="202"/>
                    <a:pt x="87" y="202"/>
                  </a:cubicBezTo>
                  <a:cubicBezTo>
                    <a:pt x="94" y="209"/>
                    <a:pt x="94" y="209"/>
                    <a:pt x="94" y="209"/>
                  </a:cubicBezTo>
                  <a:cubicBezTo>
                    <a:pt x="102" y="198"/>
                    <a:pt x="102" y="198"/>
                    <a:pt x="102" y="198"/>
                  </a:cubicBezTo>
                  <a:cubicBezTo>
                    <a:pt x="117" y="197"/>
                    <a:pt x="117" y="197"/>
                    <a:pt x="117" y="197"/>
                  </a:cubicBezTo>
                  <a:cubicBezTo>
                    <a:pt x="141" y="200"/>
                    <a:pt x="141" y="200"/>
                    <a:pt x="141" y="200"/>
                  </a:cubicBezTo>
                  <a:cubicBezTo>
                    <a:pt x="149" y="194"/>
                    <a:pt x="149" y="194"/>
                    <a:pt x="149" y="194"/>
                  </a:cubicBezTo>
                  <a:cubicBezTo>
                    <a:pt x="191" y="179"/>
                    <a:pt x="191" y="179"/>
                    <a:pt x="191" y="179"/>
                  </a:cubicBezTo>
                  <a:cubicBezTo>
                    <a:pt x="202" y="175"/>
                    <a:pt x="202" y="175"/>
                    <a:pt x="202" y="175"/>
                  </a:cubicBezTo>
                  <a:cubicBezTo>
                    <a:pt x="213" y="171"/>
                    <a:pt x="213" y="171"/>
                    <a:pt x="213" y="171"/>
                  </a:cubicBezTo>
                  <a:cubicBezTo>
                    <a:pt x="236" y="166"/>
                    <a:pt x="236" y="166"/>
                    <a:pt x="236" y="166"/>
                  </a:cubicBezTo>
                  <a:cubicBezTo>
                    <a:pt x="244" y="169"/>
                    <a:pt x="244" y="169"/>
                    <a:pt x="244" y="169"/>
                  </a:cubicBezTo>
                  <a:cubicBezTo>
                    <a:pt x="252" y="171"/>
                    <a:pt x="252" y="171"/>
                    <a:pt x="252" y="171"/>
                  </a:cubicBezTo>
                  <a:cubicBezTo>
                    <a:pt x="264" y="182"/>
                    <a:pt x="264" y="182"/>
                    <a:pt x="264" y="182"/>
                  </a:cubicBezTo>
                  <a:cubicBezTo>
                    <a:pt x="274" y="192"/>
                    <a:pt x="274" y="192"/>
                    <a:pt x="274" y="192"/>
                  </a:cubicBezTo>
                  <a:cubicBezTo>
                    <a:pt x="291" y="202"/>
                    <a:pt x="291" y="202"/>
                    <a:pt x="291" y="202"/>
                  </a:cubicBezTo>
                  <a:cubicBezTo>
                    <a:pt x="297" y="207"/>
                    <a:pt x="297" y="207"/>
                    <a:pt x="297" y="207"/>
                  </a:cubicBezTo>
                  <a:cubicBezTo>
                    <a:pt x="302" y="203"/>
                    <a:pt x="302" y="203"/>
                    <a:pt x="302" y="203"/>
                  </a:cubicBezTo>
                  <a:cubicBezTo>
                    <a:pt x="311" y="197"/>
                    <a:pt x="311" y="197"/>
                    <a:pt x="311" y="197"/>
                  </a:cubicBezTo>
                  <a:cubicBezTo>
                    <a:pt x="319" y="192"/>
                    <a:pt x="319" y="192"/>
                    <a:pt x="319" y="192"/>
                  </a:cubicBezTo>
                  <a:cubicBezTo>
                    <a:pt x="328" y="196"/>
                    <a:pt x="328" y="196"/>
                    <a:pt x="328" y="196"/>
                  </a:cubicBezTo>
                  <a:cubicBezTo>
                    <a:pt x="339" y="201"/>
                    <a:pt x="339" y="201"/>
                    <a:pt x="339" y="201"/>
                  </a:cubicBezTo>
                  <a:cubicBezTo>
                    <a:pt x="353" y="211"/>
                    <a:pt x="353" y="211"/>
                    <a:pt x="353" y="211"/>
                  </a:cubicBezTo>
                  <a:cubicBezTo>
                    <a:pt x="351" y="238"/>
                    <a:pt x="351" y="238"/>
                    <a:pt x="351" y="238"/>
                  </a:cubicBezTo>
                  <a:cubicBezTo>
                    <a:pt x="356" y="240"/>
                    <a:pt x="356" y="240"/>
                    <a:pt x="356" y="240"/>
                  </a:cubicBezTo>
                  <a:cubicBezTo>
                    <a:pt x="357" y="274"/>
                    <a:pt x="357" y="274"/>
                    <a:pt x="357" y="274"/>
                  </a:cubicBezTo>
                  <a:cubicBezTo>
                    <a:pt x="354" y="278"/>
                    <a:pt x="354" y="278"/>
                    <a:pt x="354" y="278"/>
                  </a:cubicBezTo>
                  <a:cubicBezTo>
                    <a:pt x="350" y="290"/>
                    <a:pt x="350" y="290"/>
                    <a:pt x="350" y="290"/>
                  </a:cubicBezTo>
                  <a:cubicBezTo>
                    <a:pt x="380" y="288"/>
                    <a:pt x="380" y="288"/>
                    <a:pt x="380" y="288"/>
                  </a:cubicBezTo>
                  <a:cubicBezTo>
                    <a:pt x="391" y="280"/>
                    <a:pt x="391" y="280"/>
                    <a:pt x="391" y="280"/>
                  </a:cubicBezTo>
                  <a:close/>
                </a:path>
              </a:pathLst>
            </a:custGeom>
            <a:grp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743024">
                <a:defRPr/>
              </a:pPr>
              <a:endParaRPr lang="ru-RU" sz="1300" kern="0" dirty="0">
                <a:solidFill>
                  <a:sysClr val="windowText" lastClr="000000"/>
                </a:solidFill>
                <a:latin typeface="Arial" panose="020B0604020202020204" pitchFamily="34" charset="0"/>
                <a:cs typeface="Arial" panose="020B0604020202020204" pitchFamily="34" charset="0"/>
              </a:endParaRPr>
            </a:p>
          </p:txBody>
        </p:sp>
        <p:sp>
          <p:nvSpPr>
            <p:cNvPr id="79" name="Freeform 148">
              <a:extLst>
                <a:ext uri="{FF2B5EF4-FFF2-40B4-BE49-F238E27FC236}">
                  <a16:creationId xmlns:a16="http://schemas.microsoft.com/office/drawing/2014/main" id="{F96A2C10-5B35-4AC4-A8E3-7B746F268001}"/>
                </a:ext>
              </a:extLst>
            </p:cNvPr>
            <p:cNvSpPr>
              <a:spLocks/>
            </p:cNvSpPr>
            <p:nvPr/>
          </p:nvSpPr>
          <p:spPr bwMode="auto">
            <a:xfrm>
              <a:off x="2105890" y="2782915"/>
              <a:ext cx="1415803" cy="810214"/>
            </a:xfrm>
            <a:custGeom>
              <a:avLst/>
              <a:gdLst>
                <a:gd name="T0" fmla="*/ 233 w 1036"/>
                <a:gd name="T1" fmla="*/ 554 h 620"/>
                <a:gd name="T2" fmla="*/ 340 w 1036"/>
                <a:gd name="T3" fmla="*/ 620 h 620"/>
                <a:gd name="T4" fmla="*/ 363 w 1036"/>
                <a:gd name="T5" fmla="*/ 607 h 620"/>
                <a:gd name="T6" fmla="*/ 393 w 1036"/>
                <a:gd name="T7" fmla="*/ 615 h 620"/>
                <a:gd name="T8" fmla="*/ 466 w 1036"/>
                <a:gd name="T9" fmla="*/ 572 h 620"/>
                <a:gd name="T10" fmla="*/ 585 w 1036"/>
                <a:gd name="T11" fmla="*/ 537 h 620"/>
                <a:gd name="T12" fmla="*/ 589 w 1036"/>
                <a:gd name="T13" fmla="*/ 537 h 620"/>
                <a:gd name="T14" fmla="*/ 649 w 1036"/>
                <a:gd name="T15" fmla="*/ 543 h 620"/>
                <a:gd name="T16" fmla="*/ 725 w 1036"/>
                <a:gd name="T17" fmla="*/ 618 h 620"/>
                <a:gd name="T18" fmla="*/ 776 w 1036"/>
                <a:gd name="T19" fmla="*/ 558 h 620"/>
                <a:gd name="T20" fmla="*/ 805 w 1036"/>
                <a:gd name="T21" fmla="*/ 521 h 620"/>
                <a:gd name="T22" fmla="*/ 811 w 1036"/>
                <a:gd name="T23" fmla="*/ 521 h 620"/>
                <a:gd name="T24" fmla="*/ 861 w 1036"/>
                <a:gd name="T25" fmla="*/ 529 h 620"/>
                <a:gd name="T26" fmla="*/ 912 w 1036"/>
                <a:gd name="T27" fmla="*/ 457 h 620"/>
                <a:gd name="T28" fmla="*/ 916 w 1036"/>
                <a:gd name="T29" fmla="*/ 455 h 620"/>
                <a:gd name="T30" fmla="*/ 1036 w 1036"/>
                <a:gd name="T31" fmla="*/ 401 h 620"/>
                <a:gd name="T32" fmla="*/ 1021 w 1036"/>
                <a:gd name="T33" fmla="*/ 331 h 620"/>
                <a:gd name="T34" fmla="*/ 1021 w 1036"/>
                <a:gd name="T35" fmla="*/ 327 h 620"/>
                <a:gd name="T36" fmla="*/ 1019 w 1036"/>
                <a:gd name="T37" fmla="*/ 300 h 620"/>
                <a:gd name="T38" fmla="*/ 1026 w 1036"/>
                <a:gd name="T39" fmla="*/ 241 h 620"/>
                <a:gd name="T40" fmla="*/ 997 w 1036"/>
                <a:gd name="T41" fmla="*/ 201 h 620"/>
                <a:gd name="T42" fmla="*/ 947 w 1036"/>
                <a:gd name="T43" fmla="*/ 160 h 620"/>
                <a:gd name="T44" fmla="*/ 931 w 1036"/>
                <a:gd name="T45" fmla="*/ 107 h 620"/>
                <a:gd name="T46" fmla="*/ 830 w 1036"/>
                <a:gd name="T47" fmla="*/ 92 h 620"/>
                <a:gd name="T48" fmla="*/ 770 w 1036"/>
                <a:gd name="T49" fmla="*/ 43 h 620"/>
                <a:gd name="T50" fmla="*/ 704 w 1036"/>
                <a:gd name="T51" fmla="*/ 65 h 620"/>
                <a:gd name="T52" fmla="*/ 643 w 1036"/>
                <a:gd name="T53" fmla="*/ 18 h 620"/>
                <a:gd name="T54" fmla="*/ 626 w 1036"/>
                <a:gd name="T55" fmla="*/ 24 h 620"/>
                <a:gd name="T56" fmla="*/ 585 w 1036"/>
                <a:gd name="T57" fmla="*/ 51 h 620"/>
                <a:gd name="T58" fmla="*/ 531 w 1036"/>
                <a:gd name="T59" fmla="*/ 76 h 620"/>
                <a:gd name="T60" fmla="*/ 474 w 1036"/>
                <a:gd name="T61" fmla="*/ 86 h 620"/>
                <a:gd name="T62" fmla="*/ 451 w 1036"/>
                <a:gd name="T63" fmla="*/ 131 h 620"/>
                <a:gd name="T64" fmla="*/ 381 w 1036"/>
                <a:gd name="T65" fmla="*/ 154 h 620"/>
                <a:gd name="T66" fmla="*/ 348 w 1036"/>
                <a:gd name="T67" fmla="*/ 222 h 620"/>
                <a:gd name="T68" fmla="*/ 360 w 1036"/>
                <a:gd name="T69" fmla="*/ 278 h 620"/>
                <a:gd name="T70" fmla="*/ 293 w 1036"/>
                <a:gd name="T71" fmla="*/ 286 h 620"/>
                <a:gd name="T72" fmla="*/ 266 w 1036"/>
                <a:gd name="T73" fmla="*/ 220 h 620"/>
                <a:gd name="T74" fmla="*/ 222 w 1036"/>
                <a:gd name="T75" fmla="*/ 148 h 620"/>
                <a:gd name="T76" fmla="*/ 179 w 1036"/>
                <a:gd name="T77" fmla="*/ 179 h 620"/>
                <a:gd name="T78" fmla="*/ 157 w 1036"/>
                <a:gd name="T79" fmla="*/ 232 h 620"/>
                <a:gd name="T80" fmla="*/ 83 w 1036"/>
                <a:gd name="T81" fmla="*/ 325 h 620"/>
                <a:gd name="T82" fmla="*/ 107 w 1036"/>
                <a:gd name="T83" fmla="*/ 358 h 620"/>
                <a:gd name="T84" fmla="*/ 60 w 1036"/>
                <a:gd name="T85" fmla="*/ 393 h 620"/>
                <a:gd name="T86" fmla="*/ 62 w 1036"/>
                <a:gd name="T87" fmla="*/ 523 h 620"/>
                <a:gd name="T88" fmla="*/ 62 w 1036"/>
                <a:gd name="T89" fmla="*/ 548 h 620"/>
                <a:gd name="T90" fmla="*/ 231 w 1036"/>
                <a:gd name="T91" fmla="*/ 554 h 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036" h="620">
                  <a:moveTo>
                    <a:pt x="231" y="554"/>
                  </a:moveTo>
                  <a:lnTo>
                    <a:pt x="233" y="554"/>
                  </a:lnTo>
                  <a:lnTo>
                    <a:pt x="233" y="556"/>
                  </a:lnTo>
                  <a:lnTo>
                    <a:pt x="340" y="620"/>
                  </a:lnTo>
                  <a:lnTo>
                    <a:pt x="361" y="607"/>
                  </a:lnTo>
                  <a:lnTo>
                    <a:pt x="363" y="607"/>
                  </a:lnTo>
                  <a:lnTo>
                    <a:pt x="365" y="607"/>
                  </a:lnTo>
                  <a:lnTo>
                    <a:pt x="393" y="615"/>
                  </a:lnTo>
                  <a:lnTo>
                    <a:pt x="463" y="572"/>
                  </a:lnTo>
                  <a:lnTo>
                    <a:pt x="466" y="572"/>
                  </a:lnTo>
                  <a:lnTo>
                    <a:pt x="540" y="576"/>
                  </a:lnTo>
                  <a:lnTo>
                    <a:pt x="585" y="537"/>
                  </a:lnTo>
                  <a:lnTo>
                    <a:pt x="587" y="537"/>
                  </a:lnTo>
                  <a:lnTo>
                    <a:pt x="589" y="537"/>
                  </a:lnTo>
                  <a:lnTo>
                    <a:pt x="647" y="541"/>
                  </a:lnTo>
                  <a:lnTo>
                    <a:pt x="649" y="543"/>
                  </a:lnTo>
                  <a:lnTo>
                    <a:pt x="696" y="595"/>
                  </a:lnTo>
                  <a:lnTo>
                    <a:pt x="725" y="618"/>
                  </a:lnTo>
                  <a:lnTo>
                    <a:pt x="768" y="578"/>
                  </a:lnTo>
                  <a:lnTo>
                    <a:pt x="776" y="558"/>
                  </a:lnTo>
                  <a:lnTo>
                    <a:pt x="776" y="556"/>
                  </a:lnTo>
                  <a:lnTo>
                    <a:pt x="805" y="521"/>
                  </a:lnTo>
                  <a:lnTo>
                    <a:pt x="807" y="519"/>
                  </a:lnTo>
                  <a:lnTo>
                    <a:pt x="811" y="521"/>
                  </a:lnTo>
                  <a:lnTo>
                    <a:pt x="824" y="531"/>
                  </a:lnTo>
                  <a:lnTo>
                    <a:pt x="861" y="529"/>
                  </a:lnTo>
                  <a:lnTo>
                    <a:pt x="892" y="512"/>
                  </a:lnTo>
                  <a:lnTo>
                    <a:pt x="912" y="457"/>
                  </a:lnTo>
                  <a:lnTo>
                    <a:pt x="914" y="455"/>
                  </a:lnTo>
                  <a:lnTo>
                    <a:pt x="916" y="455"/>
                  </a:lnTo>
                  <a:lnTo>
                    <a:pt x="991" y="455"/>
                  </a:lnTo>
                  <a:lnTo>
                    <a:pt x="1036" y="401"/>
                  </a:lnTo>
                  <a:lnTo>
                    <a:pt x="1030" y="358"/>
                  </a:lnTo>
                  <a:lnTo>
                    <a:pt x="1021" y="331"/>
                  </a:lnTo>
                  <a:lnTo>
                    <a:pt x="1021" y="327"/>
                  </a:lnTo>
                  <a:lnTo>
                    <a:pt x="1021" y="327"/>
                  </a:lnTo>
                  <a:lnTo>
                    <a:pt x="1036" y="302"/>
                  </a:lnTo>
                  <a:lnTo>
                    <a:pt x="1019" y="300"/>
                  </a:lnTo>
                  <a:lnTo>
                    <a:pt x="1011" y="280"/>
                  </a:lnTo>
                  <a:lnTo>
                    <a:pt x="1026" y="241"/>
                  </a:lnTo>
                  <a:lnTo>
                    <a:pt x="999" y="228"/>
                  </a:lnTo>
                  <a:lnTo>
                    <a:pt x="997" y="201"/>
                  </a:lnTo>
                  <a:lnTo>
                    <a:pt x="976" y="175"/>
                  </a:lnTo>
                  <a:lnTo>
                    <a:pt x="947" y="160"/>
                  </a:lnTo>
                  <a:lnTo>
                    <a:pt x="945" y="123"/>
                  </a:lnTo>
                  <a:lnTo>
                    <a:pt x="931" y="107"/>
                  </a:lnTo>
                  <a:lnTo>
                    <a:pt x="906" y="101"/>
                  </a:lnTo>
                  <a:lnTo>
                    <a:pt x="830" y="92"/>
                  </a:lnTo>
                  <a:lnTo>
                    <a:pt x="813" y="37"/>
                  </a:lnTo>
                  <a:lnTo>
                    <a:pt x="770" y="43"/>
                  </a:lnTo>
                  <a:lnTo>
                    <a:pt x="745" y="65"/>
                  </a:lnTo>
                  <a:lnTo>
                    <a:pt x="704" y="65"/>
                  </a:lnTo>
                  <a:lnTo>
                    <a:pt x="684" y="18"/>
                  </a:lnTo>
                  <a:lnTo>
                    <a:pt x="643" y="18"/>
                  </a:lnTo>
                  <a:lnTo>
                    <a:pt x="636" y="0"/>
                  </a:lnTo>
                  <a:lnTo>
                    <a:pt x="626" y="24"/>
                  </a:lnTo>
                  <a:lnTo>
                    <a:pt x="612" y="32"/>
                  </a:lnTo>
                  <a:lnTo>
                    <a:pt x="585" y="51"/>
                  </a:lnTo>
                  <a:lnTo>
                    <a:pt x="568" y="76"/>
                  </a:lnTo>
                  <a:lnTo>
                    <a:pt x="531" y="76"/>
                  </a:lnTo>
                  <a:lnTo>
                    <a:pt x="507" y="94"/>
                  </a:lnTo>
                  <a:lnTo>
                    <a:pt x="474" y="86"/>
                  </a:lnTo>
                  <a:lnTo>
                    <a:pt x="451" y="86"/>
                  </a:lnTo>
                  <a:lnTo>
                    <a:pt x="451" y="131"/>
                  </a:lnTo>
                  <a:lnTo>
                    <a:pt x="412" y="136"/>
                  </a:lnTo>
                  <a:lnTo>
                    <a:pt x="381" y="154"/>
                  </a:lnTo>
                  <a:lnTo>
                    <a:pt x="350" y="146"/>
                  </a:lnTo>
                  <a:lnTo>
                    <a:pt x="348" y="222"/>
                  </a:lnTo>
                  <a:lnTo>
                    <a:pt x="363" y="247"/>
                  </a:lnTo>
                  <a:lnTo>
                    <a:pt x="360" y="278"/>
                  </a:lnTo>
                  <a:lnTo>
                    <a:pt x="336" y="278"/>
                  </a:lnTo>
                  <a:lnTo>
                    <a:pt x="293" y="286"/>
                  </a:lnTo>
                  <a:lnTo>
                    <a:pt x="270" y="263"/>
                  </a:lnTo>
                  <a:lnTo>
                    <a:pt x="266" y="220"/>
                  </a:lnTo>
                  <a:lnTo>
                    <a:pt x="239" y="162"/>
                  </a:lnTo>
                  <a:lnTo>
                    <a:pt x="222" y="148"/>
                  </a:lnTo>
                  <a:lnTo>
                    <a:pt x="194" y="160"/>
                  </a:lnTo>
                  <a:lnTo>
                    <a:pt x="179" y="179"/>
                  </a:lnTo>
                  <a:lnTo>
                    <a:pt x="177" y="216"/>
                  </a:lnTo>
                  <a:lnTo>
                    <a:pt x="157" y="232"/>
                  </a:lnTo>
                  <a:lnTo>
                    <a:pt x="118" y="232"/>
                  </a:lnTo>
                  <a:lnTo>
                    <a:pt x="83" y="325"/>
                  </a:lnTo>
                  <a:lnTo>
                    <a:pt x="105" y="339"/>
                  </a:lnTo>
                  <a:lnTo>
                    <a:pt x="107" y="358"/>
                  </a:lnTo>
                  <a:lnTo>
                    <a:pt x="93" y="383"/>
                  </a:lnTo>
                  <a:lnTo>
                    <a:pt x="60" y="393"/>
                  </a:lnTo>
                  <a:lnTo>
                    <a:pt x="0" y="473"/>
                  </a:lnTo>
                  <a:lnTo>
                    <a:pt x="62" y="523"/>
                  </a:lnTo>
                  <a:lnTo>
                    <a:pt x="62" y="552"/>
                  </a:lnTo>
                  <a:lnTo>
                    <a:pt x="62" y="548"/>
                  </a:lnTo>
                  <a:lnTo>
                    <a:pt x="231" y="554"/>
                  </a:lnTo>
                  <a:lnTo>
                    <a:pt x="231" y="554"/>
                  </a:lnTo>
                  <a:close/>
                </a:path>
              </a:pathLst>
            </a:custGeom>
            <a:grp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743024">
                <a:defRPr/>
              </a:pPr>
              <a:endParaRPr lang="ru-RU" sz="1300" kern="0" dirty="0">
                <a:solidFill>
                  <a:sysClr val="windowText" lastClr="000000"/>
                </a:solidFill>
                <a:latin typeface="Arial" panose="020B0604020202020204" pitchFamily="34" charset="0"/>
                <a:cs typeface="Arial" panose="020B0604020202020204" pitchFamily="34" charset="0"/>
              </a:endParaRPr>
            </a:p>
          </p:txBody>
        </p:sp>
        <p:sp>
          <p:nvSpPr>
            <p:cNvPr id="80" name="Freeform 150">
              <a:extLst>
                <a:ext uri="{FF2B5EF4-FFF2-40B4-BE49-F238E27FC236}">
                  <a16:creationId xmlns:a16="http://schemas.microsoft.com/office/drawing/2014/main" id="{A0E07D21-5180-4F1A-A0EA-ACD789D5C927}"/>
                </a:ext>
              </a:extLst>
            </p:cNvPr>
            <p:cNvSpPr>
              <a:spLocks/>
            </p:cNvSpPr>
            <p:nvPr/>
          </p:nvSpPr>
          <p:spPr bwMode="auto">
            <a:xfrm>
              <a:off x="2495042" y="4166901"/>
              <a:ext cx="1182114" cy="1241457"/>
            </a:xfrm>
            <a:custGeom>
              <a:avLst/>
              <a:gdLst>
                <a:gd name="T0" fmla="*/ 428 w 445"/>
                <a:gd name="T1" fmla="*/ 52 h 489"/>
                <a:gd name="T2" fmla="*/ 411 w 445"/>
                <a:gd name="T3" fmla="*/ 41 h 489"/>
                <a:gd name="T4" fmla="*/ 398 w 445"/>
                <a:gd name="T5" fmla="*/ 33 h 489"/>
                <a:gd name="T6" fmla="*/ 363 w 445"/>
                <a:gd name="T7" fmla="*/ 0 h 489"/>
                <a:gd name="T8" fmla="*/ 359 w 445"/>
                <a:gd name="T9" fmla="*/ 8 h 489"/>
                <a:gd name="T10" fmla="*/ 347 w 445"/>
                <a:gd name="T11" fmla="*/ 18 h 489"/>
                <a:gd name="T12" fmla="*/ 339 w 445"/>
                <a:gd name="T13" fmla="*/ 15 h 489"/>
                <a:gd name="T14" fmla="*/ 304 w 445"/>
                <a:gd name="T15" fmla="*/ 3 h 489"/>
                <a:gd name="T16" fmla="*/ 299 w 445"/>
                <a:gd name="T17" fmla="*/ 10 h 489"/>
                <a:gd name="T18" fmla="*/ 281 w 445"/>
                <a:gd name="T19" fmla="*/ 10 h 489"/>
                <a:gd name="T20" fmla="*/ 259 w 445"/>
                <a:gd name="T21" fmla="*/ 12 h 489"/>
                <a:gd name="T22" fmla="*/ 227 w 445"/>
                <a:gd name="T23" fmla="*/ 12 h 489"/>
                <a:gd name="T24" fmla="*/ 211 w 445"/>
                <a:gd name="T25" fmla="*/ 39 h 489"/>
                <a:gd name="T26" fmla="*/ 214 w 445"/>
                <a:gd name="T27" fmla="*/ 72 h 489"/>
                <a:gd name="T28" fmla="*/ 242 w 445"/>
                <a:gd name="T29" fmla="*/ 84 h 489"/>
                <a:gd name="T30" fmla="*/ 279 w 445"/>
                <a:gd name="T31" fmla="*/ 75 h 489"/>
                <a:gd name="T32" fmla="*/ 276 w 445"/>
                <a:gd name="T33" fmla="*/ 98 h 489"/>
                <a:gd name="T34" fmla="*/ 279 w 445"/>
                <a:gd name="T35" fmla="*/ 124 h 489"/>
                <a:gd name="T36" fmla="*/ 252 w 445"/>
                <a:gd name="T37" fmla="*/ 122 h 489"/>
                <a:gd name="T38" fmla="*/ 261 w 445"/>
                <a:gd name="T39" fmla="*/ 109 h 489"/>
                <a:gd name="T40" fmla="*/ 244 w 445"/>
                <a:gd name="T41" fmla="*/ 92 h 489"/>
                <a:gd name="T42" fmla="*/ 214 w 445"/>
                <a:gd name="T43" fmla="*/ 89 h 489"/>
                <a:gd name="T44" fmla="*/ 110 w 445"/>
                <a:gd name="T45" fmla="*/ 54 h 489"/>
                <a:gd name="T46" fmla="*/ 88 w 445"/>
                <a:gd name="T47" fmla="*/ 59 h 489"/>
                <a:gd name="T48" fmla="*/ 59 w 445"/>
                <a:gd name="T49" fmla="*/ 81 h 489"/>
                <a:gd name="T50" fmla="*/ 93 w 445"/>
                <a:gd name="T51" fmla="*/ 132 h 489"/>
                <a:gd name="T52" fmla="*/ 68 w 445"/>
                <a:gd name="T53" fmla="*/ 128 h 489"/>
                <a:gd name="T54" fmla="*/ 35 w 445"/>
                <a:gd name="T55" fmla="*/ 111 h 489"/>
                <a:gd name="T56" fmla="*/ 1 w 445"/>
                <a:gd name="T57" fmla="*/ 111 h 489"/>
                <a:gd name="T58" fmla="*/ 33 w 445"/>
                <a:gd name="T59" fmla="*/ 147 h 489"/>
                <a:gd name="T60" fmla="*/ 41 w 445"/>
                <a:gd name="T61" fmla="*/ 186 h 489"/>
                <a:gd name="T62" fmla="*/ 51 w 445"/>
                <a:gd name="T63" fmla="*/ 240 h 489"/>
                <a:gd name="T64" fmla="*/ 72 w 445"/>
                <a:gd name="T65" fmla="*/ 259 h 489"/>
                <a:gd name="T66" fmla="*/ 99 w 445"/>
                <a:gd name="T67" fmla="*/ 293 h 489"/>
                <a:gd name="T68" fmla="*/ 121 w 445"/>
                <a:gd name="T69" fmla="*/ 304 h 489"/>
                <a:gd name="T70" fmla="*/ 131 w 445"/>
                <a:gd name="T71" fmla="*/ 333 h 489"/>
                <a:gd name="T72" fmla="*/ 102 w 445"/>
                <a:gd name="T73" fmla="*/ 368 h 489"/>
                <a:gd name="T74" fmla="*/ 96 w 445"/>
                <a:gd name="T75" fmla="*/ 402 h 489"/>
                <a:gd name="T76" fmla="*/ 108 w 445"/>
                <a:gd name="T77" fmla="*/ 401 h 489"/>
                <a:gd name="T78" fmla="*/ 153 w 445"/>
                <a:gd name="T79" fmla="*/ 374 h 489"/>
                <a:gd name="T80" fmla="*/ 277 w 445"/>
                <a:gd name="T81" fmla="*/ 415 h 489"/>
                <a:gd name="T82" fmla="*/ 305 w 445"/>
                <a:gd name="T83" fmla="*/ 489 h 489"/>
                <a:gd name="T84" fmla="*/ 445 w 445"/>
                <a:gd name="T85" fmla="*/ 133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45" h="489">
                  <a:moveTo>
                    <a:pt x="439" y="87"/>
                  </a:moveTo>
                  <a:cubicBezTo>
                    <a:pt x="435" y="50"/>
                    <a:pt x="435" y="50"/>
                    <a:pt x="435" y="50"/>
                  </a:cubicBezTo>
                  <a:cubicBezTo>
                    <a:pt x="428" y="52"/>
                    <a:pt x="428" y="52"/>
                    <a:pt x="428" y="52"/>
                  </a:cubicBezTo>
                  <a:cubicBezTo>
                    <a:pt x="427" y="52"/>
                    <a:pt x="427" y="52"/>
                    <a:pt x="427" y="52"/>
                  </a:cubicBezTo>
                  <a:cubicBezTo>
                    <a:pt x="426" y="51"/>
                    <a:pt x="426" y="51"/>
                    <a:pt x="426" y="51"/>
                  </a:cubicBezTo>
                  <a:cubicBezTo>
                    <a:pt x="411" y="41"/>
                    <a:pt x="411" y="41"/>
                    <a:pt x="411" y="41"/>
                  </a:cubicBezTo>
                  <a:cubicBezTo>
                    <a:pt x="398" y="34"/>
                    <a:pt x="398" y="34"/>
                    <a:pt x="398" y="34"/>
                  </a:cubicBezTo>
                  <a:cubicBezTo>
                    <a:pt x="398" y="34"/>
                    <a:pt x="398" y="34"/>
                    <a:pt x="398" y="34"/>
                  </a:cubicBezTo>
                  <a:cubicBezTo>
                    <a:pt x="398" y="33"/>
                    <a:pt x="398" y="33"/>
                    <a:pt x="398" y="33"/>
                  </a:cubicBezTo>
                  <a:cubicBezTo>
                    <a:pt x="378" y="14"/>
                    <a:pt x="378" y="14"/>
                    <a:pt x="378" y="14"/>
                  </a:cubicBezTo>
                  <a:cubicBezTo>
                    <a:pt x="368" y="4"/>
                    <a:pt x="368" y="4"/>
                    <a:pt x="368" y="4"/>
                  </a:cubicBezTo>
                  <a:cubicBezTo>
                    <a:pt x="363" y="0"/>
                    <a:pt x="363" y="0"/>
                    <a:pt x="363" y="0"/>
                  </a:cubicBezTo>
                  <a:cubicBezTo>
                    <a:pt x="359" y="7"/>
                    <a:pt x="359" y="7"/>
                    <a:pt x="359" y="7"/>
                  </a:cubicBezTo>
                  <a:cubicBezTo>
                    <a:pt x="359" y="8"/>
                    <a:pt x="359" y="8"/>
                    <a:pt x="359" y="8"/>
                  </a:cubicBezTo>
                  <a:cubicBezTo>
                    <a:pt x="359" y="8"/>
                    <a:pt x="359" y="8"/>
                    <a:pt x="359" y="8"/>
                  </a:cubicBezTo>
                  <a:cubicBezTo>
                    <a:pt x="349" y="17"/>
                    <a:pt x="349" y="17"/>
                    <a:pt x="349" y="17"/>
                  </a:cubicBezTo>
                  <a:cubicBezTo>
                    <a:pt x="348" y="18"/>
                    <a:pt x="348" y="18"/>
                    <a:pt x="348" y="18"/>
                  </a:cubicBezTo>
                  <a:cubicBezTo>
                    <a:pt x="347" y="18"/>
                    <a:pt x="347" y="18"/>
                    <a:pt x="347" y="18"/>
                  </a:cubicBezTo>
                  <a:cubicBezTo>
                    <a:pt x="340" y="15"/>
                    <a:pt x="340" y="15"/>
                    <a:pt x="340" y="15"/>
                  </a:cubicBezTo>
                  <a:cubicBezTo>
                    <a:pt x="339" y="15"/>
                    <a:pt x="339" y="15"/>
                    <a:pt x="339" y="15"/>
                  </a:cubicBezTo>
                  <a:cubicBezTo>
                    <a:pt x="339" y="15"/>
                    <a:pt x="339" y="15"/>
                    <a:pt x="339" y="15"/>
                  </a:cubicBezTo>
                  <a:cubicBezTo>
                    <a:pt x="339" y="15"/>
                    <a:pt x="332" y="9"/>
                    <a:pt x="332" y="8"/>
                  </a:cubicBezTo>
                  <a:cubicBezTo>
                    <a:pt x="326" y="2"/>
                    <a:pt x="326" y="2"/>
                    <a:pt x="326" y="2"/>
                  </a:cubicBezTo>
                  <a:cubicBezTo>
                    <a:pt x="304" y="3"/>
                    <a:pt x="304" y="3"/>
                    <a:pt x="304" y="3"/>
                  </a:cubicBezTo>
                  <a:cubicBezTo>
                    <a:pt x="301" y="9"/>
                    <a:pt x="301" y="9"/>
                    <a:pt x="301" y="9"/>
                  </a:cubicBezTo>
                  <a:cubicBezTo>
                    <a:pt x="300" y="10"/>
                    <a:pt x="300" y="10"/>
                    <a:pt x="300" y="10"/>
                  </a:cubicBezTo>
                  <a:cubicBezTo>
                    <a:pt x="299" y="10"/>
                    <a:pt x="299" y="10"/>
                    <a:pt x="299" y="10"/>
                  </a:cubicBezTo>
                  <a:cubicBezTo>
                    <a:pt x="282" y="10"/>
                    <a:pt x="282" y="10"/>
                    <a:pt x="282" y="10"/>
                  </a:cubicBezTo>
                  <a:cubicBezTo>
                    <a:pt x="281" y="10"/>
                    <a:pt x="281" y="10"/>
                    <a:pt x="281" y="10"/>
                  </a:cubicBezTo>
                  <a:cubicBezTo>
                    <a:pt x="281" y="10"/>
                    <a:pt x="281" y="10"/>
                    <a:pt x="281" y="10"/>
                  </a:cubicBezTo>
                  <a:cubicBezTo>
                    <a:pt x="270" y="4"/>
                    <a:pt x="270" y="4"/>
                    <a:pt x="270" y="4"/>
                  </a:cubicBezTo>
                  <a:cubicBezTo>
                    <a:pt x="260" y="12"/>
                    <a:pt x="260" y="12"/>
                    <a:pt x="260" y="12"/>
                  </a:cubicBezTo>
                  <a:cubicBezTo>
                    <a:pt x="259" y="12"/>
                    <a:pt x="259" y="12"/>
                    <a:pt x="259" y="12"/>
                  </a:cubicBezTo>
                  <a:cubicBezTo>
                    <a:pt x="259" y="12"/>
                    <a:pt x="259" y="12"/>
                    <a:pt x="259" y="12"/>
                  </a:cubicBezTo>
                  <a:cubicBezTo>
                    <a:pt x="227" y="14"/>
                    <a:pt x="227" y="14"/>
                    <a:pt x="227" y="14"/>
                  </a:cubicBezTo>
                  <a:cubicBezTo>
                    <a:pt x="227" y="12"/>
                    <a:pt x="227" y="12"/>
                    <a:pt x="227" y="12"/>
                  </a:cubicBezTo>
                  <a:cubicBezTo>
                    <a:pt x="226" y="13"/>
                    <a:pt x="226" y="13"/>
                    <a:pt x="226" y="13"/>
                  </a:cubicBezTo>
                  <a:cubicBezTo>
                    <a:pt x="210" y="34"/>
                    <a:pt x="210" y="34"/>
                    <a:pt x="210" y="34"/>
                  </a:cubicBezTo>
                  <a:cubicBezTo>
                    <a:pt x="211" y="39"/>
                    <a:pt x="211" y="39"/>
                    <a:pt x="211" y="39"/>
                  </a:cubicBezTo>
                  <a:cubicBezTo>
                    <a:pt x="206" y="46"/>
                    <a:pt x="206" y="46"/>
                    <a:pt x="206" y="46"/>
                  </a:cubicBezTo>
                  <a:cubicBezTo>
                    <a:pt x="209" y="56"/>
                    <a:pt x="209" y="56"/>
                    <a:pt x="209" y="56"/>
                  </a:cubicBezTo>
                  <a:cubicBezTo>
                    <a:pt x="214" y="72"/>
                    <a:pt x="214" y="72"/>
                    <a:pt x="214" y="72"/>
                  </a:cubicBezTo>
                  <a:cubicBezTo>
                    <a:pt x="223" y="72"/>
                    <a:pt x="223" y="72"/>
                    <a:pt x="223" y="72"/>
                  </a:cubicBezTo>
                  <a:cubicBezTo>
                    <a:pt x="231" y="83"/>
                    <a:pt x="231" y="83"/>
                    <a:pt x="231" y="83"/>
                  </a:cubicBezTo>
                  <a:cubicBezTo>
                    <a:pt x="242" y="84"/>
                    <a:pt x="242" y="84"/>
                    <a:pt x="242" y="84"/>
                  </a:cubicBezTo>
                  <a:cubicBezTo>
                    <a:pt x="259" y="80"/>
                    <a:pt x="259" y="80"/>
                    <a:pt x="259" y="80"/>
                  </a:cubicBezTo>
                  <a:cubicBezTo>
                    <a:pt x="270" y="68"/>
                    <a:pt x="270" y="68"/>
                    <a:pt x="270" y="68"/>
                  </a:cubicBezTo>
                  <a:cubicBezTo>
                    <a:pt x="279" y="75"/>
                    <a:pt x="279" y="75"/>
                    <a:pt x="279" y="75"/>
                  </a:cubicBezTo>
                  <a:cubicBezTo>
                    <a:pt x="282" y="81"/>
                    <a:pt x="282" y="81"/>
                    <a:pt x="282" y="81"/>
                  </a:cubicBezTo>
                  <a:cubicBezTo>
                    <a:pt x="276" y="84"/>
                    <a:pt x="276" y="84"/>
                    <a:pt x="276" y="84"/>
                  </a:cubicBezTo>
                  <a:cubicBezTo>
                    <a:pt x="276" y="98"/>
                    <a:pt x="276" y="98"/>
                    <a:pt x="276" y="98"/>
                  </a:cubicBezTo>
                  <a:cubicBezTo>
                    <a:pt x="280" y="106"/>
                    <a:pt x="280" y="106"/>
                    <a:pt x="280" y="106"/>
                  </a:cubicBezTo>
                  <a:cubicBezTo>
                    <a:pt x="286" y="119"/>
                    <a:pt x="286" y="119"/>
                    <a:pt x="286" y="119"/>
                  </a:cubicBezTo>
                  <a:cubicBezTo>
                    <a:pt x="279" y="124"/>
                    <a:pt x="279" y="124"/>
                    <a:pt x="279" y="124"/>
                  </a:cubicBezTo>
                  <a:cubicBezTo>
                    <a:pt x="274" y="120"/>
                    <a:pt x="274" y="120"/>
                    <a:pt x="274" y="120"/>
                  </a:cubicBezTo>
                  <a:cubicBezTo>
                    <a:pt x="259" y="123"/>
                    <a:pt x="259" y="123"/>
                    <a:pt x="259" y="123"/>
                  </a:cubicBezTo>
                  <a:cubicBezTo>
                    <a:pt x="252" y="122"/>
                    <a:pt x="252" y="122"/>
                    <a:pt x="252" y="122"/>
                  </a:cubicBezTo>
                  <a:cubicBezTo>
                    <a:pt x="249" y="117"/>
                    <a:pt x="249" y="117"/>
                    <a:pt x="249" y="117"/>
                  </a:cubicBezTo>
                  <a:cubicBezTo>
                    <a:pt x="248" y="112"/>
                    <a:pt x="248" y="112"/>
                    <a:pt x="248" y="112"/>
                  </a:cubicBezTo>
                  <a:cubicBezTo>
                    <a:pt x="261" y="109"/>
                    <a:pt x="261" y="109"/>
                    <a:pt x="261" y="109"/>
                  </a:cubicBezTo>
                  <a:cubicBezTo>
                    <a:pt x="269" y="105"/>
                    <a:pt x="269" y="105"/>
                    <a:pt x="269" y="105"/>
                  </a:cubicBezTo>
                  <a:cubicBezTo>
                    <a:pt x="267" y="93"/>
                    <a:pt x="267" y="93"/>
                    <a:pt x="267" y="93"/>
                  </a:cubicBezTo>
                  <a:cubicBezTo>
                    <a:pt x="244" y="92"/>
                    <a:pt x="244" y="92"/>
                    <a:pt x="244" y="92"/>
                  </a:cubicBezTo>
                  <a:cubicBezTo>
                    <a:pt x="233" y="95"/>
                    <a:pt x="233" y="95"/>
                    <a:pt x="233" y="95"/>
                  </a:cubicBezTo>
                  <a:cubicBezTo>
                    <a:pt x="228" y="87"/>
                    <a:pt x="228" y="87"/>
                    <a:pt x="228" y="87"/>
                  </a:cubicBezTo>
                  <a:cubicBezTo>
                    <a:pt x="214" y="89"/>
                    <a:pt x="214" y="89"/>
                    <a:pt x="214" y="89"/>
                  </a:cubicBezTo>
                  <a:cubicBezTo>
                    <a:pt x="128" y="53"/>
                    <a:pt x="128" y="53"/>
                    <a:pt x="128" y="53"/>
                  </a:cubicBezTo>
                  <a:cubicBezTo>
                    <a:pt x="119" y="49"/>
                    <a:pt x="119" y="49"/>
                    <a:pt x="119" y="49"/>
                  </a:cubicBezTo>
                  <a:cubicBezTo>
                    <a:pt x="110" y="54"/>
                    <a:pt x="110" y="54"/>
                    <a:pt x="110" y="54"/>
                  </a:cubicBezTo>
                  <a:cubicBezTo>
                    <a:pt x="98" y="54"/>
                    <a:pt x="98" y="54"/>
                    <a:pt x="98" y="54"/>
                  </a:cubicBezTo>
                  <a:cubicBezTo>
                    <a:pt x="94" y="51"/>
                    <a:pt x="94" y="51"/>
                    <a:pt x="94" y="51"/>
                  </a:cubicBezTo>
                  <a:cubicBezTo>
                    <a:pt x="88" y="59"/>
                    <a:pt x="88" y="59"/>
                    <a:pt x="88" y="59"/>
                  </a:cubicBezTo>
                  <a:cubicBezTo>
                    <a:pt x="79" y="77"/>
                    <a:pt x="79" y="77"/>
                    <a:pt x="79" y="77"/>
                  </a:cubicBezTo>
                  <a:cubicBezTo>
                    <a:pt x="67" y="78"/>
                    <a:pt x="67" y="78"/>
                    <a:pt x="67" y="78"/>
                  </a:cubicBezTo>
                  <a:cubicBezTo>
                    <a:pt x="59" y="81"/>
                    <a:pt x="59" y="81"/>
                    <a:pt x="59" y="81"/>
                  </a:cubicBezTo>
                  <a:cubicBezTo>
                    <a:pt x="57" y="92"/>
                    <a:pt x="57" y="92"/>
                    <a:pt x="57" y="92"/>
                  </a:cubicBezTo>
                  <a:cubicBezTo>
                    <a:pt x="78" y="118"/>
                    <a:pt x="78" y="118"/>
                    <a:pt x="78" y="118"/>
                  </a:cubicBezTo>
                  <a:cubicBezTo>
                    <a:pt x="93" y="132"/>
                    <a:pt x="93" y="132"/>
                    <a:pt x="93" y="132"/>
                  </a:cubicBezTo>
                  <a:cubicBezTo>
                    <a:pt x="83" y="133"/>
                    <a:pt x="83" y="133"/>
                    <a:pt x="83" y="133"/>
                  </a:cubicBezTo>
                  <a:cubicBezTo>
                    <a:pt x="72" y="125"/>
                    <a:pt x="72" y="125"/>
                    <a:pt x="72" y="125"/>
                  </a:cubicBezTo>
                  <a:cubicBezTo>
                    <a:pt x="68" y="128"/>
                    <a:pt x="68" y="128"/>
                    <a:pt x="68" y="128"/>
                  </a:cubicBezTo>
                  <a:cubicBezTo>
                    <a:pt x="61" y="128"/>
                    <a:pt x="61" y="128"/>
                    <a:pt x="61" y="128"/>
                  </a:cubicBezTo>
                  <a:cubicBezTo>
                    <a:pt x="47" y="112"/>
                    <a:pt x="47" y="112"/>
                    <a:pt x="47" y="112"/>
                  </a:cubicBezTo>
                  <a:cubicBezTo>
                    <a:pt x="35" y="111"/>
                    <a:pt x="35" y="111"/>
                    <a:pt x="35" y="111"/>
                  </a:cubicBezTo>
                  <a:cubicBezTo>
                    <a:pt x="24" y="106"/>
                    <a:pt x="24" y="106"/>
                    <a:pt x="24" y="106"/>
                  </a:cubicBezTo>
                  <a:cubicBezTo>
                    <a:pt x="9" y="102"/>
                    <a:pt x="9" y="102"/>
                    <a:pt x="9" y="102"/>
                  </a:cubicBezTo>
                  <a:cubicBezTo>
                    <a:pt x="1" y="111"/>
                    <a:pt x="1" y="111"/>
                    <a:pt x="1" y="111"/>
                  </a:cubicBezTo>
                  <a:cubicBezTo>
                    <a:pt x="0" y="131"/>
                    <a:pt x="0" y="131"/>
                    <a:pt x="0" y="131"/>
                  </a:cubicBezTo>
                  <a:cubicBezTo>
                    <a:pt x="16" y="139"/>
                    <a:pt x="16" y="139"/>
                    <a:pt x="16" y="139"/>
                  </a:cubicBezTo>
                  <a:cubicBezTo>
                    <a:pt x="33" y="147"/>
                    <a:pt x="33" y="147"/>
                    <a:pt x="33" y="147"/>
                  </a:cubicBezTo>
                  <a:cubicBezTo>
                    <a:pt x="33" y="164"/>
                    <a:pt x="33" y="164"/>
                    <a:pt x="33" y="164"/>
                  </a:cubicBezTo>
                  <a:cubicBezTo>
                    <a:pt x="37" y="175"/>
                    <a:pt x="37" y="175"/>
                    <a:pt x="37" y="175"/>
                  </a:cubicBezTo>
                  <a:cubicBezTo>
                    <a:pt x="41" y="186"/>
                    <a:pt x="41" y="186"/>
                    <a:pt x="41" y="186"/>
                  </a:cubicBezTo>
                  <a:cubicBezTo>
                    <a:pt x="42" y="203"/>
                    <a:pt x="42" y="203"/>
                    <a:pt x="42" y="203"/>
                  </a:cubicBezTo>
                  <a:cubicBezTo>
                    <a:pt x="50" y="218"/>
                    <a:pt x="50" y="218"/>
                    <a:pt x="50" y="218"/>
                  </a:cubicBezTo>
                  <a:cubicBezTo>
                    <a:pt x="51" y="240"/>
                    <a:pt x="51" y="240"/>
                    <a:pt x="51" y="240"/>
                  </a:cubicBezTo>
                  <a:cubicBezTo>
                    <a:pt x="47" y="247"/>
                    <a:pt x="47" y="247"/>
                    <a:pt x="47" y="247"/>
                  </a:cubicBezTo>
                  <a:cubicBezTo>
                    <a:pt x="42" y="257"/>
                    <a:pt x="42" y="257"/>
                    <a:pt x="42" y="257"/>
                  </a:cubicBezTo>
                  <a:cubicBezTo>
                    <a:pt x="72" y="259"/>
                    <a:pt x="72" y="259"/>
                    <a:pt x="72" y="259"/>
                  </a:cubicBezTo>
                  <a:cubicBezTo>
                    <a:pt x="76" y="273"/>
                    <a:pt x="76" y="273"/>
                    <a:pt x="76" y="273"/>
                  </a:cubicBezTo>
                  <a:cubicBezTo>
                    <a:pt x="80" y="291"/>
                    <a:pt x="80" y="291"/>
                    <a:pt x="80" y="291"/>
                  </a:cubicBezTo>
                  <a:cubicBezTo>
                    <a:pt x="99" y="293"/>
                    <a:pt x="99" y="293"/>
                    <a:pt x="99" y="293"/>
                  </a:cubicBezTo>
                  <a:cubicBezTo>
                    <a:pt x="106" y="298"/>
                    <a:pt x="106" y="298"/>
                    <a:pt x="106" y="298"/>
                  </a:cubicBezTo>
                  <a:cubicBezTo>
                    <a:pt x="119" y="299"/>
                    <a:pt x="119" y="299"/>
                    <a:pt x="119" y="299"/>
                  </a:cubicBezTo>
                  <a:cubicBezTo>
                    <a:pt x="121" y="304"/>
                    <a:pt x="121" y="304"/>
                    <a:pt x="121" y="304"/>
                  </a:cubicBezTo>
                  <a:cubicBezTo>
                    <a:pt x="129" y="310"/>
                    <a:pt x="129" y="310"/>
                    <a:pt x="129" y="310"/>
                  </a:cubicBezTo>
                  <a:cubicBezTo>
                    <a:pt x="133" y="319"/>
                    <a:pt x="133" y="319"/>
                    <a:pt x="133" y="319"/>
                  </a:cubicBezTo>
                  <a:cubicBezTo>
                    <a:pt x="131" y="333"/>
                    <a:pt x="131" y="333"/>
                    <a:pt x="131" y="333"/>
                  </a:cubicBezTo>
                  <a:cubicBezTo>
                    <a:pt x="123" y="343"/>
                    <a:pt x="123" y="343"/>
                    <a:pt x="123" y="343"/>
                  </a:cubicBezTo>
                  <a:cubicBezTo>
                    <a:pt x="114" y="356"/>
                    <a:pt x="114" y="356"/>
                    <a:pt x="114" y="356"/>
                  </a:cubicBezTo>
                  <a:cubicBezTo>
                    <a:pt x="102" y="368"/>
                    <a:pt x="102" y="368"/>
                    <a:pt x="102" y="368"/>
                  </a:cubicBezTo>
                  <a:cubicBezTo>
                    <a:pt x="106" y="386"/>
                    <a:pt x="106" y="386"/>
                    <a:pt x="106" y="386"/>
                  </a:cubicBezTo>
                  <a:cubicBezTo>
                    <a:pt x="104" y="393"/>
                    <a:pt x="104" y="393"/>
                    <a:pt x="104" y="393"/>
                  </a:cubicBezTo>
                  <a:cubicBezTo>
                    <a:pt x="96" y="402"/>
                    <a:pt x="96" y="402"/>
                    <a:pt x="96" y="402"/>
                  </a:cubicBezTo>
                  <a:cubicBezTo>
                    <a:pt x="102" y="406"/>
                    <a:pt x="102" y="406"/>
                    <a:pt x="102" y="406"/>
                  </a:cubicBezTo>
                  <a:cubicBezTo>
                    <a:pt x="102" y="406"/>
                    <a:pt x="102" y="406"/>
                    <a:pt x="102" y="406"/>
                  </a:cubicBezTo>
                  <a:cubicBezTo>
                    <a:pt x="108" y="401"/>
                    <a:pt x="108" y="401"/>
                    <a:pt x="108" y="401"/>
                  </a:cubicBezTo>
                  <a:cubicBezTo>
                    <a:pt x="116" y="398"/>
                    <a:pt x="116" y="398"/>
                    <a:pt x="116" y="398"/>
                  </a:cubicBezTo>
                  <a:cubicBezTo>
                    <a:pt x="128" y="387"/>
                    <a:pt x="128" y="387"/>
                    <a:pt x="128" y="387"/>
                  </a:cubicBezTo>
                  <a:cubicBezTo>
                    <a:pt x="153" y="374"/>
                    <a:pt x="153" y="374"/>
                    <a:pt x="153" y="374"/>
                  </a:cubicBezTo>
                  <a:cubicBezTo>
                    <a:pt x="172" y="371"/>
                    <a:pt x="172" y="371"/>
                    <a:pt x="172" y="371"/>
                  </a:cubicBezTo>
                  <a:cubicBezTo>
                    <a:pt x="230" y="372"/>
                    <a:pt x="230" y="372"/>
                    <a:pt x="230" y="372"/>
                  </a:cubicBezTo>
                  <a:cubicBezTo>
                    <a:pt x="277" y="415"/>
                    <a:pt x="277" y="415"/>
                    <a:pt x="277" y="415"/>
                  </a:cubicBezTo>
                  <a:cubicBezTo>
                    <a:pt x="276" y="432"/>
                    <a:pt x="276" y="432"/>
                    <a:pt x="276" y="432"/>
                  </a:cubicBezTo>
                  <a:cubicBezTo>
                    <a:pt x="292" y="463"/>
                    <a:pt x="292" y="463"/>
                    <a:pt x="292" y="463"/>
                  </a:cubicBezTo>
                  <a:cubicBezTo>
                    <a:pt x="305" y="489"/>
                    <a:pt x="305" y="489"/>
                    <a:pt x="305" y="489"/>
                  </a:cubicBezTo>
                  <a:cubicBezTo>
                    <a:pt x="343" y="489"/>
                    <a:pt x="343" y="489"/>
                    <a:pt x="343" y="489"/>
                  </a:cubicBezTo>
                  <a:cubicBezTo>
                    <a:pt x="390" y="144"/>
                    <a:pt x="390" y="144"/>
                    <a:pt x="390" y="144"/>
                  </a:cubicBezTo>
                  <a:cubicBezTo>
                    <a:pt x="445" y="133"/>
                    <a:pt x="445" y="133"/>
                    <a:pt x="445" y="133"/>
                  </a:cubicBezTo>
                  <a:cubicBezTo>
                    <a:pt x="443" y="133"/>
                    <a:pt x="443" y="133"/>
                    <a:pt x="443" y="133"/>
                  </a:cubicBezTo>
                  <a:cubicBezTo>
                    <a:pt x="439" y="87"/>
                    <a:pt x="439" y="87"/>
                    <a:pt x="439" y="8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743024">
                <a:defRPr/>
              </a:pPr>
              <a:endParaRPr lang="ru-RU" sz="1300" kern="0" dirty="0">
                <a:solidFill>
                  <a:sysClr val="windowText" lastClr="000000"/>
                </a:solidFill>
                <a:latin typeface="Arial" panose="020B0604020202020204" pitchFamily="34" charset="0"/>
                <a:cs typeface="Arial" panose="020B0604020202020204" pitchFamily="34" charset="0"/>
              </a:endParaRPr>
            </a:p>
          </p:txBody>
        </p:sp>
        <p:sp>
          <p:nvSpPr>
            <p:cNvPr id="81" name="Freeform 156">
              <a:extLst>
                <a:ext uri="{FF2B5EF4-FFF2-40B4-BE49-F238E27FC236}">
                  <a16:creationId xmlns:a16="http://schemas.microsoft.com/office/drawing/2014/main" id="{3A9A2122-3767-481C-A324-9250DFAE6702}"/>
                </a:ext>
              </a:extLst>
            </p:cNvPr>
            <p:cNvSpPr>
              <a:spLocks/>
            </p:cNvSpPr>
            <p:nvPr/>
          </p:nvSpPr>
          <p:spPr bwMode="auto">
            <a:xfrm>
              <a:off x="5897890" y="4420419"/>
              <a:ext cx="1183480" cy="889928"/>
            </a:xfrm>
            <a:custGeom>
              <a:avLst/>
              <a:gdLst>
                <a:gd name="T0" fmla="*/ 418 w 445"/>
                <a:gd name="T1" fmla="*/ 190 h 350"/>
                <a:gd name="T2" fmla="*/ 418 w 445"/>
                <a:gd name="T3" fmla="*/ 190 h 350"/>
                <a:gd name="T4" fmla="*/ 358 w 445"/>
                <a:gd name="T5" fmla="*/ 120 h 350"/>
                <a:gd name="T6" fmla="*/ 357 w 445"/>
                <a:gd name="T7" fmla="*/ 119 h 350"/>
                <a:gd name="T8" fmla="*/ 330 w 445"/>
                <a:gd name="T9" fmla="*/ 80 h 350"/>
                <a:gd name="T10" fmla="*/ 329 w 445"/>
                <a:gd name="T11" fmla="*/ 79 h 350"/>
                <a:gd name="T12" fmla="*/ 327 w 445"/>
                <a:gd name="T13" fmla="*/ 69 h 350"/>
                <a:gd name="T14" fmla="*/ 308 w 445"/>
                <a:gd name="T15" fmla="*/ 47 h 350"/>
                <a:gd name="T16" fmla="*/ 289 w 445"/>
                <a:gd name="T17" fmla="*/ 22 h 350"/>
                <a:gd name="T18" fmla="*/ 283 w 445"/>
                <a:gd name="T19" fmla="*/ 5 h 350"/>
                <a:gd name="T20" fmla="*/ 281 w 445"/>
                <a:gd name="T21" fmla="*/ 2 h 350"/>
                <a:gd name="T22" fmla="*/ 17 w 445"/>
                <a:gd name="T23" fmla="*/ 3 h 350"/>
                <a:gd name="T24" fmla="*/ 2 w 445"/>
                <a:gd name="T25" fmla="*/ 23 h 350"/>
                <a:gd name="T26" fmla="*/ 43 w 445"/>
                <a:gd name="T27" fmla="*/ 125 h 350"/>
                <a:gd name="T28" fmla="*/ 43 w 445"/>
                <a:gd name="T29" fmla="*/ 126 h 350"/>
                <a:gd name="T30" fmla="*/ 44 w 445"/>
                <a:gd name="T31" fmla="*/ 186 h 350"/>
                <a:gd name="T32" fmla="*/ 37 w 445"/>
                <a:gd name="T33" fmla="*/ 194 h 350"/>
                <a:gd name="T34" fmla="*/ 26 w 445"/>
                <a:gd name="T35" fmla="*/ 241 h 350"/>
                <a:gd name="T36" fmla="*/ 55 w 445"/>
                <a:gd name="T37" fmla="*/ 257 h 350"/>
                <a:gd name="T38" fmla="*/ 57 w 445"/>
                <a:gd name="T39" fmla="*/ 258 h 350"/>
                <a:gd name="T40" fmla="*/ 76 w 445"/>
                <a:gd name="T41" fmla="*/ 288 h 350"/>
                <a:gd name="T42" fmla="*/ 75 w 445"/>
                <a:gd name="T43" fmla="*/ 306 h 350"/>
                <a:gd name="T44" fmla="*/ 130 w 445"/>
                <a:gd name="T45" fmla="*/ 350 h 350"/>
                <a:gd name="T46" fmla="*/ 130 w 445"/>
                <a:gd name="T47" fmla="*/ 328 h 350"/>
                <a:gd name="T48" fmla="*/ 144 w 445"/>
                <a:gd name="T49" fmla="*/ 299 h 350"/>
                <a:gd name="T50" fmla="*/ 187 w 445"/>
                <a:gd name="T51" fmla="*/ 292 h 350"/>
                <a:gd name="T52" fmla="*/ 233 w 445"/>
                <a:gd name="T53" fmla="*/ 300 h 350"/>
                <a:gd name="T54" fmla="*/ 267 w 445"/>
                <a:gd name="T55" fmla="*/ 311 h 350"/>
                <a:gd name="T56" fmla="*/ 299 w 445"/>
                <a:gd name="T57" fmla="*/ 323 h 350"/>
                <a:gd name="T58" fmla="*/ 302 w 445"/>
                <a:gd name="T59" fmla="*/ 302 h 350"/>
                <a:gd name="T60" fmla="*/ 313 w 445"/>
                <a:gd name="T61" fmla="*/ 258 h 350"/>
                <a:gd name="T62" fmla="*/ 346 w 445"/>
                <a:gd name="T63" fmla="*/ 239 h 350"/>
                <a:gd name="T64" fmla="*/ 374 w 445"/>
                <a:gd name="T65" fmla="*/ 247 h 350"/>
                <a:gd name="T66" fmla="*/ 413 w 445"/>
                <a:gd name="T67" fmla="*/ 268 h 350"/>
                <a:gd name="T68" fmla="*/ 445 w 445"/>
                <a:gd name="T69" fmla="*/ 241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45" h="350">
                  <a:moveTo>
                    <a:pt x="438" y="230"/>
                  </a:moveTo>
                  <a:cubicBezTo>
                    <a:pt x="418" y="190"/>
                    <a:pt x="418" y="190"/>
                    <a:pt x="418" y="190"/>
                  </a:cubicBezTo>
                  <a:cubicBezTo>
                    <a:pt x="418" y="190"/>
                    <a:pt x="418" y="190"/>
                    <a:pt x="418" y="190"/>
                  </a:cubicBezTo>
                  <a:cubicBezTo>
                    <a:pt x="418" y="190"/>
                    <a:pt x="418" y="190"/>
                    <a:pt x="418" y="190"/>
                  </a:cubicBezTo>
                  <a:cubicBezTo>
                    <a:pt x="408" y="145"/>
                    <a:pt x="408" y="145"/>
                    <a:pt x="408" y="145"/>
                  </a:cubicBezTo>
                  <a:cubicBezTo>
                    <a:pt x="358" y="120"/>
                    <a:pt x="358" y="120"/>
                    <a:pt x="358" y="120"/>
                  </a:cubicBezTo>
                  <a:cubicBezTo>
                    <a:pt x="357" y="120"/>
                    <a:pt x="357" y="120"/>
                    <a:pt x="357" y="120"/>
                  </a:cubicBezTo>
                  <a:cubicBezTo>
                    <a:pt x="357" y="119"/>
                    <a:pt x="357" y="119"/>
                    <a:pt x="357" y="119"/>
                  </a:cubicBezTo>
                  <a:cubicBezTo>
                    <a:pt x="354" y="100"/>
                    <a:pt x="354" y="100"/>
                    <a:pt x="354" y="100"/>
                  </a:cubicBezTo>
                  <a:cubicBezTo>
                    <a:pt x="330" y="80"/>
                    <a:pt x="330" y="80"/>
                    <a:pt x="330" y="80"/>
                  </a:cubicBezTo>
                  <a:cubicBezTo>
                    <a:pt x="330" y="80"/>
                    <a:pt x="330" y="80"/>
                    <a:pt x="330" y="80"/>
                  </a:cubicBezTo>
                  <a:cubicBezTo>
                    <a:pt x="329" y="79"/>
                    <a:pt x="329" y="79"/>
                    <a:pt x="329" y="79"/>
                  </a:cubicBezTo>
                  <a:cubicBezTo>
                    <a:pt x="325" y="70"/>
                    <a:pt x="325" y="70"/>
                    <a:pt x="325" y="70"/>
                  </a:cubicBezTo>
                  <a:cubicBezTo>
                    <a:pt x="327" y="69"/>
                    <a:pt x="327" y="69"/>
                    <a:pt x="327" y="69"/>
                  </a:cubicBezTo>
                  <a:cubicBezTo>
                    <a:pt x="316" y="49"/>
                    <a:pt x="316" y="49"/>
                    <a:pt x="316" y="49"/>
                  </a:cubicBezTo>
                  <a:cubicBezTo>
                    <a:pt x="308" y="47"/>
                    <a:pt x="308" y="47"/>
                    <a:pt x="308" y="47"/>
                  </a:cubicBezTo>
                  <a:cubicBezTo>
                    <a:pt x="299" y="32"/>
                    <a:pt x="299" y="32"/>
                    <a:pt x="299" y="32"/>
                  </a:cubicBezTo>
                  <a:cubicBezTo>
                    <a:pt x="289" y="22"/>
                    <a:pt x="289" y="22"/>
                    <a:pt x="289" y="22"/>
                  </a:cubicBezTo>
                  <a:cubicBezTo>
                    <a:pt x="278" y="18"/>
                    <a:pt x="278" y="18"/>
                    <a:pt x="278" y="18"/>
                  </a:cubicBezTo>
                  <a:cubicBezTo>
                    <a:pt x="283" y="5"/>
                    <a:pt x="283" y="5"/>
                    <a:pt x="283" y="5"/>
                  </a:cubicBezTo>
                  <a:cubicBezTo>
                    <a:pt x="281" y="0"/>
                    <a:pt x="281" y="0"/>
                    <a:pt x="281" y="0"/>
                  </a:cubicBezTo>
                  <a:cubicBezTo>
                    <a:pt x="281" y="2"/>
                    <a:pt x="281" y="2"/>
                    <a:pt x="281" y="2"/>
                  </a:cubicBezTo>
                  <a:cubicBezTo>
                    <a:pt x="83" y="2"/>
                    <a:pt x="83" y="2"/>
                    <a:pt x="83" y="2"/>
                  </a:cubicBezTo>
                  <a:cubicBezTo>
                    <a:pt x="17" y="3"/>
                    <a:pt x="17" y="3"/>
                    <a:pt x="17" y="3"/>
                  </a:cubicBezTo>
                  <a:cubicBezTo>
                    <a:pt x="0" y="9"/>
                    <a:pt x="0" y="9"/>
                    <a:pt x="0" y="9"/>
                  </a:cubicBezTo>
                  <a:cubicBezTo>
                    <a:pt x="2" y="23"/>
                    <a:pt x="2" y="23"/>
                    <a:pt x="2" y="23"/>
                  </a:cubicBezTo>
                  <a:cubicBezTo>
                    <a:pt x="4" y="27"/>
                    <a:pt x="32" y="94"/>
                    <a:pt x="32" y="94"/>
                  </a:cubicBezTo>
                  <a:cubicBezTo>
                    <a:pt x="43" y="125"/>
                    <a:pt x="43" y="125"/>
                    <a:pt x="43" y="125"/>
                  </a:cubicBezTo>
                  <a:cubicBezTo>
                    <a:pt x="43" y="126"/>
                    <a:pt x="43" y="126"/>
                    <a:pt x="43" y="126"/>
                  </a:cubicBezTo>
                  <a:cubicBezTo>
                    <a:pt x="43" y="126"/>
                    <a:pt x="43" y="126"/>
                    <a:pt x="43" y="126"/>
                  </a:cubicBezTo>
                  <a:cubicBezTo>
                    <a:pt x="44" y="185"/>
                    <a:pt x="44" y="185"/>
                    <a:pt x="44" y="185"/>
                  </a:cubicBezTo>
                  <a:cubicBezTo>
                    <a:pt x="44" y="186"/>
                    <a:pt x="44" y="186"/>
                    <a:pt x="44" y="186"/>
                  </a:cubicBezTo>
                  <a:cubicBezTo>
                    <a:pt x="44" y="186"/>
                    <a:pt x="44" y="186"/>
                    <a:pt x="44" y="186"/>
                  </a:cubicBezTo>
                  <a:cubicBezTo>
                    <a:pt x="37" y="194"/>
                    <a:pt x="37" y="194"/>
                    <a:pt x="37" y="194"/>
                  </a:cubicBezTo>
                  <a:cubicBezTo>
                    <a:pt x="27" y="233"/>
                    <a:pt x="27" y="233"/>
                    <a:pt x="27" y="233"/>
                  </a:cubicBezTo>
                  <a:cubicBezTo>
                    <a:pt x="26" y="241"/>
                    <a:pt x="26" y="241"/>
                    <a:pt x="26" y="241"/>
                  </a:cubicBezTo>
                  <a:cubicBezTo>
                    <a:pt x="42" y="259"/>
                    <a:pt x="42" y="259"/>
                    <a:pt x="42" y="259"/>
                  </a:cubicBezTo>
                  <a:cubicBezTo>
                    <a:pt x="55" y="257"/>
                    <a:pt x="55" y="257"/>
                    <a:pt x="55" y="257"/>
                  </a:cubicBezTo>
                  <a:cubicBezTo>
                    <a:pt x="56" y="257"/>
                    <a:pt x="56" y="257"/>
                    <a:pt x="56" y="257"/>
                  </a:cubicBezTo>
                  <a:cubicBezTo>
                    <a:pt x="57" y="258"/>
                    <a:pt x="57" y="258"/>
                    <a:pt x="57" y="258"/>
                  </a:cubicBezTo>
                  <a:cubicBezTo>
                    <a:pt x="76" y="288"/>
                    <a:pt x="76" y="288"/>
                    <a:pt x="76" y="288"/>
                  </a:cubicBezTo>
                  <a:cubicBezTo>
                    <a:pt x="76" y="288"/>
                    <a:pt x="76" y="288"/>
                    <a:pt x="76" y="288"/>
                  </a:cubicBezTo>
                  <a:cubicBezTo>
                    <a:pt x="76" y="289"/>
                    <a:pt x="76" y="289"/>
                    <a:pt x="76" y="289"/>
                  </a:cubicBezTo>
                  <a:cubicBezTo>
                    <a:pt x="75" y="306"/>
                    <a:pt x="75" y="306"/>
                    <a:pt x="75" y="306"/>
                  </a:cubicBezTo>
                  <a:cubicBezTo>
                    <a:pt x="101" y="332"/>
                    <a:pt x="101" y="332"/>
                    <a:pt x="101" y="332"/>
                  </a:cubicBezTo>
                  <a:cubicBezTo>
                    <a:pt x="130" y="350"/>
                    <a:pt x="130" y="350"/>
                    <a:pt x="130" y="350"/>
                  </a:cubicBezTo>
                  <a:cubicBezTo>
                    <a:pt x="130" y="347"/>
                    <a:pt x="130" y="347"/>
                    <a:pt x="130" y="347"/>
                  </a:cubicBezTo>
                  <a:cubicBezTo>
                    <a:pt x="130" y="328"/>
                    <a:pt x="130" y="328"/>
                    <a:pt x="130" y="328"/>
                  </a:cubicBezTo>
                  <a:cubicBezTo>
                    <a:pt x="143" y="315"/>
                    <a:pt x="143" y="315"/>
                    <a:pt x="143" y="315"/>
                  </a:cubicBezTo>
                  <a:cubicBezTo>
                    <a:pt x="144" y="299"/>
                    <a:pt x="144" y="299"/>
                    <a:pt x="144" y="299"/>
                  </a:cubicBezTo>
                  <a:cubicBezTo>
                    <a:pt x="169" y="296"/>
                    <a:pt x="169" y="296"/>
                    <a:pt x="169" y="296"/>
                  </a:cubicBezTo>
                  <a:cubicBezTo>
                    <a:pt x="187" y="292"/>
                    <a:pt x="187" y="292"/>
                    <a:pt x="187" y="292"/>
                  </a:cubicBezTo>
                  <a:cubicBezTo>
                    <a:pt x="210" y="293"/>
                    <a:pt x="210" y="293"/>
                    <a:pt x="210" y="293"/>
                  </a:cubicBezTo>
                  <a:cubicBezTo>
                    <a:pt x="233" y="300"/>
                    <a:pt x="233" y="300"/>
                    <a:pt x="233" y="300"/>
                  </a:cubicBezTo>
                  <a:cubicBezTo>
                    <a:pt x="251" y="300"/>
                    <a:pt x="251" y="300"/>
                    <a:pt x="251" y="300"/>
                  </a:cubicBezTo>
                  <a:cubicBezTo>
                    <a:pt x="267" y="311"/>
                    <a:pt x="267" y="311"/>
                    <a:pt x="267" y="311"/>
                  </a:cubicBezTo>
                  <a:cubicBezTo>
                    <a:pt x="285" y="312"/>
                    <a:pt x="285" y="312"/>
                    <a:pt x="285" y="312"/>
                  </a:cubicBezTo>
                  <a:cubicBezTo>
                    <a:pt x="299" y="323"/>
                    <a:pt x="299" y="323"/>
                    <a:pt x="299" y="323"/>
                  </a:cubicBezTo>
                  <a:cubicBezTo>
                    <a:pt x="309" y="320"/>
                    <a:pt x="309" y="320"/>
                    <a:pt x="309" y="320"/>
                  </a:cubicBezTo>
                  <a:cubicBezTo>
                    <a:pt x="302" y="302"/>
                    <a:pt x="302" y="302"/>
                    <a:pt x="302" y="302"/>
                  </a:cubicBezTo>
                  <a:cubicBezTo>
                    <a:pt x="306" y="279"/>
                    <a:pt x="306" y="279"/>
                    <a:pt x="306" y="279"/>
                  </a:cubicBezTo>
                  <a:cubicBezTo>
                    <a:pt x="313" y="258"/>
                    <a:pt x="313" y="258"/>
                    <a:pt x="313" y="258"/>
                  </a:cubicBezTo>
                  <a:cubicBezTo>
                    <a:pt x="329" y="250"/>
                    <a:pt x="329" y="250"/>
                    <a:pt x="329" y="250"/>
                  </a:cubicBezTo>
                  <a:cubicBezTo>
                    <a:pt x="346" y="239"/>
                    <a:pt x="346" y="239"/>
                    <a:pt x="346" y="239"/>
                  </a:cubicBezTo>
                  <a:cubicBezTo>
                    <a:pt x="359" y="239"/>
                    <a:pt x="359" y="239"/>
                    <a:pt x="359" y="239"/>
                  </a:cubicBezTo>
                  <a:cubicBezTo>
                    <a:pt x="374" y="247"/>
                    <a:pt x="374" y="247"/>
                    <a:pt x="374" y="247"/>
                  </a:cubicBezTo>
                  <a:cubicBezTo>
                    <a:pt x="394" y="258"/>
                    <a:pt x="394" y="258"/>
                    <a:pt x="394" y="258"/>
                  </a:cubicBezTo>
                  <a:cubicBezTo>
                    <a:pt x="413" y="268"/>
                    <a:pt x="413" y="268"/>
                    <a:pt x="413" y="268"/>
                  </a:cubicBezTo>
                  <a:cubicBezTo>
                    <a:pt x="444" y="268"/>
                    <a:pt x="444" y="268"/>
                    <a:pt x="444" y="268"/>
                  </a:cubicBezTo>
                  <a:cubicBezTo>
                    <a:pt x="445" y="241"/>
                    <a:pt x="445" y="241"/>
                    <a:pt x="445" y="241"/>
                  </a:cubicBezTo>
                  <a:cubicBezTo>
                    <a:pt x="444" y="239"/>
                    <a:pt x="438" y="230"/>
                    <a:pt x="438" y="230"/>
                  </a:cubicBezTo>
                </a:path>
              </a:pathLst>
            </a:custGeom>
            <a:grp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743024">
                <a:defRPr/>
              </a:pPr>
              <a:endParaRPr lang="ru-RU" sz="1300" kern="0" dirty="0">
                <a:solidFill>
                  <a:sysClr val="windowText" lastClr="000000"/>
                </a:solidFill>
                <a:latin typeface="Arial" panose="020B0604020202020204" pitchFamily="34" charset="0"/>
                <a:cs typeface="Arial" panose="020B0604020202020204" pitchFamily="34" charset="0"/>
              </a:endParaRPr>
            </a:p>
          </p:txBody>
        </p:sp>
        <p:sp>
          <p:nvSpPr>
            <p:cNvPr id="82" name="Freeform 158">
              <a:extLst>
                <a:ext uri="{FF2B5EF4-FFF2-40B4-BE49-F238E27FC236}">
                  <a16:creationId xmlns:a16="http://schemas.microsoft.com/office/drawing/2014/main" id="{81C1EF9D-3AD2-41AC-ABB3-6DED69AAFE1B}"/>
                </a:ext>
              </a:extLst>
            </p:cNvPr>
            <p:cNvSpPr>
              <a:spLocks/>
            </p:cNvSpPr>
            <p:nvPr/>
          </p:nvSpPr>
          <p:spPr bwMode="auto">
            <a:xfrm>
              <a:off x="6758851" y="3981336"/>
              <a:ext cx="1510099" cy="1125151"/>
            </a:xfrm>
            <a:custGeom>
              <a:avLst/>
              <a:gdLst>
                <a:gd name="T0" fmla="*/ 543 w 568"/>
                <a:gd name="T1" fmla="*/ 106 h 443"/>
                <a:gd name="T2" fmla="*/ 526 w 568"/>
                <a:gd name="T3" fmla="*/ 103 h 443"/>
                <a:gd name="T4" fmla="*/ 488 w 568"/>
                <a:gd name="T5" fmla="*/ 63 h 443"/>
                <a:gd name="T6" fmla="*/ 471 w 568"/>
                <a:gd name="T7" fmla="*/ 18 h 443"/>
                <a:gd name="T8" fmla="*/ 451 w 568"/>
                <a:gd name="T9" fmla="*/ 23 h 443"/>
                <a:gd name="T10" fmla="*/ 394 w 568"/>
                <a:gd name="T11" fmla="*/ 24 h 443"/>
                <a:gd name="T12" fmla="*/ 365 w 568"/>
                <a:gd name="T13" fmla="*/ 5 h 443"/>
                <a:gd name="T14" fmla="*/ 355 w 568"/>
                <a:gd name="T15" fmla="*/ 16 h 443"/>
                <a:gd name="T16" fmla="*/ 340 w 568"/>
                <a:gd name="T17" fmla="*/ 24 h 443"/>
                <a:gd name="T18" fmla="*/ 321 w 568"/>
                <a:gd name="T19" fmla="*/ 24 h 443"/>
                <a:gd name="T20" fmla="*/ 297 w 568"/>
                <a:gd name="T21" fmla="*/ 12 h 443"/>
                <a:gd name="T22" fmla="*/ 284 w 568"/>
                <a:gd name="T23" fmla="*/ 14 h 443"/>
                <a:gd name="T24" fmla="*/ 270 w 568"/>
                <a:gd name="T25" fmla="*/ 6 h 443"/>
                <a:gd name="T26" fmla="*/ 233 w 568"/>
                <a:gd name="T27" fmla="*/ 6 h 443"/>
                <a:gd name="T28" fmla="*/ 214 w 568"/>
                <a:gd name="T29" fmla="*/ 16 h 443"/>
                <a:gd name="T30" fmla="*/ 206 w 568"/>
                <a:gd name="T31" fmla="*/ 32 h 443"/>
                <a:gd name="T32" fmla="*/ 207 w 568"/>
                <a:gd name="T33" fmla="*/ 57 h 443"/>
                <a:gd name="T34" fmla="*/ 247 w 568"/>
                <a:gd name="T35" fmla="*/ 60 h 443"/>
                <a:gd name="T36" fmla="*/ 272 w 568"/>
                <a:gd name="T37" fmla="*/ 49 h 443"/>
                <a:gd name="T38" fmla="*/ 294 w 568"/>
                <a:gd name="T39" fmla="*/ 36 h 443"/>
                <a:gd name="T40" fmla="*/ 326 w 568"/>
                <a:gd name="T41" fmla="*/ 47 h 443"/>
                <a:gd name="T42" fmla="*/ 304 w 568"/>
                <a:gd name="T43" fmla="*/ 76 h 443"/>
                <a:gd name="T44" fmla="*/ 256 w 568"/>
                <a:gd name="T45" fmla="*/ 86 h 443"/>
                <a:gd name="T46" fmla="*/ 215 w 568"/>
                <a:gd name="T47" fmla="*/ 82 h 443"/>
                <a:gd name="T48" fmla="*/ 180 w 568"/>
                <a:gd name="T49" fmla="*/ 85 h 443"/>
                <a:gd name="T50" fmla="*/ 116 w 568"/>
                <a:gd name="T51" fmla="*/ 87 h 443"/>
                <a:gd name="T52" fmla="*/ 84 w 568"/>
                <a:gd name="T53" fmla="*/ 87 h 443"/>
                <a:gd name="T54" fmla="*/ 53 w 568"/>
                <a:gd name="T55" fmla="*/ 103 h 443"/>
                <a:gd name="T56" fmla="*/ 28 w 568"/>
                <a:gd name="T57" fmla="*/ 145 h 443"/>
                <a:gd name="T58" fmla="*/ 5 w 568"/>
                <a:gd name="T59" fmla="*/ 156 h 443"/>
                <a:gd name="T60" fmla="*/ 0 w 568"/>
                <a:gd name="T61" fmla="*/ 196 h 443"/>
                <a:gd name="T62" fmla="*/ 5 w 568"/>
                <a:gd name="T63" fmla="*/ 242 h 443"/>
                <a:gd name="T64" fmla="*/ 33 w 568"/>
                <a:gd name="T65" fmla="*/ 271 h 443"/>
                <a:gd name="T66" fmla="*/ 87 w 568"/>
                <a:gd name="T67" fmla="*/ 315 h 443"/>
                <a:gd name="T68" fmla="*/ 98 w 568"/>
                <a:gd name="T69" fmla="*/ 362 h 443"/>
                <a:gd name="T70" fmla="*/ 125 w 568"/>
                <a:gd name="T71" fmla="*/ 413 h 443"/>
                <a:gd name="T72" fmla="*/ 132 w 568"/>
                <a:gd name="T73" fmla="*/ 440 h 443"/>
                <a:gd name="T74" fmla="*/ 207 w 568"/>
                <a:gd name="T75" fmla="*/ 418 h 443"/>
                <a:gd name="T76" fmla="*/ 255 w 568"/>
                <a:gd name="T77" fmla="*/ 418 h 443"/>
                <a:gd name="T78" fmla="*/ 338 w 568"/>
                <a:gd name="T79" fmla="*/ 415 h 443"/>
                <a:gd name="T80" fmla="*/ 393 w 568"/>
                <a:gd name="T81" fmla="*/ 433 h 443"/>
                <a:gd name="T82" fmla="*/ 441 w 568"/>
                <a:gd name="T83" fmla="*/ 439 h 443"/>
                <a:gd name="T84" fmla="*/ 461 w 568"/>
                <a:gd name="T85" fmla="*/ 440 h 443"/>
                <a:gd name="T86" fmla="*/ 448 w 568"/>
                <a:gd name="T87" fmla="*/ 399 h 443"/>
                <a:gd name="T88" fmla="*/ 463 w 568"/>
                <a:gd name="T89" fmla="*/ 381 h 443"/>
                <a:gd name="T90" fmla="*/ 484 w 568"/>
                <a:gd name="T91" fmla="*/ 365 h 443"/>
                <a:gd name="T92" fmla="*/ 477 w 568"/>
                <a:gd name="T93" fmla="*/ 332 h 443"/>
                <a:gd name="T94" fmla="*/ 436 w 568"/>
                <a:gd name="T95" fmla="*/ 211 h 443"/>
                <a:gd name="T96" fmla="*/ 395 w 568"/>
                <a:gd name="T97" fmla="*/ 205 h 443"/>
                <a:gd name="T98" fmla="*/ 506 w 568"/>
                <a:gd name="T99" fmla="*/ 140 h 443"/>
                <a:gd name="T100" fmla="*/ 543 w 568"/>
                <a:gd name="T101" fmla="*/ 142 h 443"/>
                <a:gd name="T102" fmla="*/ 540 w 568"/>
                <a:gd name="T103" fmla="*/ 121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68" h="443">
                  <a:moveTo>
                    <a:pt x="540" y="121"/>
                  </a:moveTo>
                  <a:cubicBezTo>
                    <a:pt x="543" y="111"/>
                    <a:pt x="543" y="111"/>
                    <a:pt x="543" y="111"/>
                  </a:cubicBezTo>
                  <a:cubicBezTo>
                    <a:pt x="543" y="106"/>
                    <a:pt x="543" y="106"/>
                    <a:pt x="543" y="106"/>
                  </a:cubicBezTo>
                  <a:cubicBezTo>
                    <a:pt x="528" y="104"/>
                    <a:pt x="528" y="104"/>
                    <a:pt x="528" y="104"/>
                  </a:cubicBezTo>
                  <a:cubicBezTo>
                    <a:pt x="526" y="104"/>
                    <a:pt x="526" y="104"/>
                    <a:pt x="526" y="104"/>
                  </a:cubicBezTo>
                  <a:cubicBezTo>
                    <a:pt x="526" y="103"/>
                    <a:pt x="526" y="103"/>
                    <a:pt x="526" y="103"/>
                  </a:cubicBezTo>
                  <a:cubicBezTo>
                    <a:pt x="520" y="87"/>
                    <a:pt x="520" y="87"/>
                    <a:pt x="520" y="87"/>
                  </a:cubicBezTo>
                  <a:cubicBezTo>
                    <a:pt x="488" y="63"/>
                    <a:pt x="488" y="63"/>
                    <a:pt x="488" y="63"/>
                  </a:cubicBezTo>
                  <a:cubicBezTo>
                    <a:pt x="488" y="63"/>
                    <a:pt x="488" y="63"/>
                    <a:pt x="488" y="63"/>
                  </a:cubicBezTo>
                  <a:cubicBezTo>
                    <a:pt x="487" y="62"/>
                    <a:pt x="487" y="62"/>
                    <a:pt x="487" y="62"/>
                  </a:cubicBezTo>
                  <a:cubicBezTo>
                    <a:pt x="487" y="62"/>
                    <a:pt x="484" y="53"/>
                    <a:pt x="484" y="52"/>
                  </a:cubicBezTo>
                  <a:cubicBezTo>
                    <a:pt x="471" y="18"/>
                    <a:pt x="471" y="18"/>
                    <a:pt x="471" y="18"/>
                  </a:cubicBezTo>
                  <a:cubicBezTo>
                    <a:pt x="462" y="17"/>
                    <a:pt x="462" y="17"/>
                    <a:pt x="462" y="17"/>
                  </a:cubicBezTo>
                  <a:cubicBezTo>
                    <a:pt x="451" y="23"/>
                    <a:pt x="451" y="23"/>
                    <a:pt x="451" y="23"/>
                  </a:cubicBezTo>
                  <a:cubicBezTo>
                    <a:pt x="451" y="23"/>
                    <a:pt x="451" y="23"/>
                    <a:pt x="451" y="23"/>
                  </a:cubicBezTo>
                  <a:cubicBezTo>
                    <a:pt x="450" y="23"/>
                    <a:pt x="450" y="23"/>
                    <a:pt x="450" y="23"/>
                  </a:cubicBezTo>
                  <a:cubicBezTo>
                    <a:pt x="395" y="24"/>
                    <a:pt x="395" y="24"/>
                    <a:pt x="395" y="24"/>
                  </a:cubicBezTo>
                  <a:cubicBezTo>
                    <a:pt x="394" y="24"/>
                    <a:pt x="394" y="24"/>
                    <a:pt x="394" y="24"/>
                  </a:cubicBezTo>
                  <a:cubicBezTo>
                    <a:pt x="393" y="24"/>
                    <a:pt x="393" y="24"/>
                    <a:pt x="393" y="24"/>
                  </a:cubicBezTo>
                  <a:cubicBezTo>
                    <a:pt x="377" y="6"/>
                    <a:pt x="377" y="6"/>
                    <a:pt x="377" y="6"/>
                  </a:cubicBezTo>
                  <a:cubicBezTo>
                    <a:pt x="365" y="5"/>
                    <a:pt x="365" y="5"/>
                    <a:pt x="365" y="5"/>
                  </a:cubicBezTo>
                  <a:cubicBezTo>
                    <a:pt x="356" y="15"/>
                    <a:pt x="356" y="15"/>
                    <a:pt x="356" y="15"/>
                  </a:cubicBezTo>
                  <a:cubicBezTo>
                    <a:pt x="356" y="16"/>
                    <a:pt x="356" y="16"/>
                    <a:pt x="356" y="16"/>
                  </a:cubicBezTo>
                  <a:cubicBezTo>
                    <a:pt x="355" y="16"/>
                    <a:pt x="355" y="16"/>
                    <a:pt x="355" y="16"/>
                  </a:cubicBezTo>
                  <a:cubicBezTo>
                    <a:pt x="347" y="18"/>
                    <a:pt x="347" y="18"/>
                    <a:pt x="347" y="18"/>
                  </a:cubicBezTo>
                  <a:cubicBezTo>
                    <a:pt x="341" y="23"/>
                    <a:pt x="341" y="23"/>
                    <a:pt x="341" y="23"/>
                  </a:cubicBezTo>
                  <a:cubicBezTo>
                    <a:pt x="340" y="24"/>
                    <a:pt x="340" y="24"/>
                    <a:pt x="340" y="24"/>
                  </a:cubicBezTo>
                  <a:cubicBezTo>
                    <a:pt x="339" y="24"/>
                    <a:pt x="339" y="24"/>
                    <a:pt x="339" y="24"/>
                  </a:cubicBezTo>
                  <a:cubicBezTo>
                    <a:pt x="323" y="24"/>
                    <a:pt x="323" y="24"/>
                    <a:pt x="323" y="24"/>
                  </a:cubicBezTo>
                  <a:cubicBezTo>
                    <a:pt x="321" y="24"/>
                    <a:pt x="321" y="24"/>
                    <a:pt x="321" y="24"/>
                  </a:cubicBezTo>
                  <a:cubicBezTo>
                    <a:pt x="321" y="23"/>
                    <a:pt x="321" y="23"/>
                    <a:pt x="321" y="23"/>
                  </a:cubicBezTo>
                  <a:cubicBezTo>
                    <a:pt x="304" y="7"/>
                    <a:pt x="304" y="7"/>
                    <a:pt x="304" y="7"/>
                  </a:cubicBezTo>
                  <a:cubicBezTo>
                    <a:pt x="297" y="12"/>
                    <a:pt x="297" y="12"/>
                    <a:pt x="297" y="12"/>
                  </a:cubicBezTo>
                  <a:cubicBezTo>
                    <a:pt x="296" y="12"/>
                    <a:pt x="296" y="12"/>
                    <a:pt x="296" y="12"/>
                  </a:cubicBezTo>
                  <a:cubicBezTo>
                    <a:pt x="296" y="12"/>
                    <a:pt x="296" y="12"/>
                    <a:pt x="296" y="12"/>
                  </a:cubicBezTo>
                  <a:cubicBezTo>
                    <a:pt x="284" y="14"/>
                    <a:pt x="284" y="14"/>
                    <a:pt x="284" y="14"/>
                  </a:cubicBezTo>
                  <a:cubicBezTo>
                    <a:pt x="283" y="14"/>
                    <a:pt x="283" y="14"/>
                    <a:pt x="283" y="14"/>
                  </a:cubicBezTo>
                  <a:cubicBezTo>
                    <a:pt x="283" y="13"/>
                    <a:pt x="283" y="13"/>
                    <a:pt x="283" y="13"/>
                  </a:cubicBezTo>
                  <a:cubicBezTo>
                    <a:pt x="270" y="6"/>
                    <a:pt x="270" y="6"/>
                    <a:pt x="270" y="6"/>
                  </a:cubicBezTo>
                  <a:cubicBezTo>
                    <a:pt x="256" y="0"/>
                    <a:pt x="256" y="0"/>
                    <a:pt x="256" y="0"/>
                  </a:cubicBezTo>
                  <a:cubicBezTo>
                    <a:pt x="249" y="0"/>
                    <a:pt x="249" y="0"/>
                    <a:pt x="249" y="0"/>
                  </a:cubicBezTo>
                  <a:cubicBezTo>
                    <a:pt x="233" y="6"/>
                    <a:pt x="233" y="6"/>
                    <a:pt x="233" y="6"/>
                  </a:cubicBezTo>
                  <a:cubicBezTo>
                    <a:pt x="215" y="16"/>
                    <a:pt x="215" y="16"/>
                    <a:pt x="215" y="16"/>
                  </a:cubicBezTo>
                  <a:cubicBezTo>
                    <a:pt x="215" y="16"/>
                    <a:pt x="215" y="16"/>
                    <a:pt x="215" y="16"/>
                  </a:cubicBezTo>
                  <a:cubicBezTo>
                    <a:pt x="214" y="16"/>
                    <a:pt x="214" y="16"/>
                    <a:pt x="214" y="16"/>
                  </a:cubicBezTo>
                  <a:cubicBezTo>
                    <a:pt x="207" y="18"/>
                    <a:pt x="207" y="18"/>
                    <a:pt x="207" y="18"/>
                  </a:cubicBezTo>
                  <a:cubicBezTo>
                    <a:pt x="203" y="29"/>
                    <a:pt x="203" y="29"/>
                    <a:pt x="203" y="29"/>
                  </a:cubicBezTo>
                  <a:cubicBezTo>
                    <a:pt x="206" y="32"/>
                    <a:pt x="206" y="32"/>
                    <a:pt x="206" y="32"/>
                  </a:cubicBezTo>
                  <a:cubicBezTo>
                    <a:pt x="206" y="32"/>
                    <a:pt x="206" y="32"/>
                    <a:pt x="206" y="32"/>
                  </a:cubicBezTo>
                  <a:cubicBezTo>
                    <a:pt x="206" y="33"/>
                    <a:pt x="206" y="33"/>
                    <a:pt x="206" y="33"/>
                  </a:cubicBezTo>
                  <a:cubicBezTo>
                    <a:pt x="207" y="57"/>
                    <a:pt x="207" y="57"/>
                    <a:pt x="207" y="57"/>
                  </a:cubicBezTo>
                  <a:cubicBezTo>
                    <a:pt x="208" y="66"/>
                    <a:pt x="208" y="66"/>
                    <a:pt x="208" y="66"/>
                  </a:cubicBezTo>
                  <a:cubicBezTo>
                    <a:pt x="224" y="60"/>
                    <a:pt x="224" y="60"/>
                    <a:pt x="224" y="60"/>
                  </a:cubicBezTo>
                  <a:cubicBezTo>
                    <a:pt x="247" y="60"/>
                    <a:pt x="247" y="60"/>
                    <a:pt x="247" y="60"/>
                  </a:cubicBezTo>
                  <a:cubicBezTo>
                    <a:pt x="257" y="64"/>
                    <a:pt x="257" y="64"/>
                    <a:pt x="257" y="64"/>
                  </a:cubicBezTo>
                  <a:cubicBezTo>
                    <a:pt x="267" y="67"/>
                    <a:pt x="267" y="67"/>
                    <a:pt x="267" y="67"/>
                  </a:cubicBezTo>
                  <a:cubicBezTo>
                    <a:pt x="272" y="49"/>
                    <a:pt x="272" y="49"/>
                    <a:pt x="272" y="49"/>
                  </a:cubicBezTo>
                  <a:cubicBezTo>
                    <a:pt x="288" y="43"/>
                    <a:pt x="288" y="43"/>
                    <a:pt x="288" y="43"/>
                  </a:cubicBezTo>
                  <a:cubicBezTo>
                    <a:pt x="299" y="45"/>
                    <a:pt x="299" y="45"/>
                    <a:pt x="299" y="45"/>
                  </a:cubicBezTo>
                  <a:cubicBezTo>
                    <a:pt x="294" y="36"/>
                    <a:pt x="294" y="36"/>
                    <a:pt x="294" y="36"/>
                  </a:cubicBezTo>
                  <a:cubicBezTo>
                    <a:pt x="309" y="35"/>
                    <a:pt x="309" y="35"/>
                    <a:pt x="309" y="35"/>
                  </a:cubicBezTo>
                  <a:cubicBezTo>
                    <a:pt x="318" y="35"/>
                    <a:pt x="318" y="35"/>
                    <a:pt x="318" y="35"/>
                  </a:cubicBezTo>
                  <a:cubicBezTo>
                    <a:pt x="326" y="47"/>
                    <a:pt x="326" y="47"/>
                    <a:pt x="326" y="47"/>
                  </a:cubicBezTo>
                  <a:cubicBezTo>
                    <a:pt x="315" y="49"/>
                    <a:pt x="315" y="49"/>
                    <a:pt x="315" y="49"/>
                  </a:cubicBezTo>
                  <a:cubicBezTo>
                    <a:pt x="313" y="68"/>
                    <a:pt x="313" y="68"/>
                    <a:pt x="313" y="68"/>
                  </a:cubicBezTo>
                  <a:cubicBezTo>
                    <a:pt x="304" y="76"/>
                    <a:pt x="304" y="76"/>
                    <a:pt x="304" y="76"/>
                  </a:cubicBezTo>
                  <a:cubicBezTo>
                    <a:pt x="283" y="77"/>
                    <a:pt x="283" y="77"/>
                    <a:pt x="283" y="77"/>
                  </a:cubicBezTo>
                  <a:cubicBezTo>
                    <a:pt x="274" y="77"/>
                    <a:pt x="274" y="77"/>
                    <a:pt x="274" y="77"/>
                  </a:cubicBezTo>
                  <a:cubicBezTo>
                    <a:pt x="256" y="86"/>
                    <a:pt x="256" y="86"/>
                    <a:pt x="256" y="86"/>
                  </a:cubicBezTo>
                  <a:cubicBezTo>
                    <a:pt x="244" y="86"/>
                    <a:pt x="244" y="86"/>
                    <a:pt x="244" y="86"/>
                  </a:cubicBezTo>
                  <a:cubicBezTo>
                    <a:pt x="240" y="82"/>
                    <a:pt x="240" y="82"/>
                    <a:pt x="240" y="82"/>
                  </a:cubicBezTo>
                  <a:cubicBezTo>
                    <a:pt x="215" y="82"/>
                    <a:pt x="215" y="82"/>
                    <a:pt x="215" y="82"/>
                  </a:cubicBezTo>
                  <a:cubicBezTo>
                    <a:pt x="207" y="78"/>
                    <a:pt x="207" y="78"/>
                    <a:pt x="207" y="78"/>
                  </a:cubicBezTo>
                  <a:cubicBezTo>
                    <a:pt x="192" y="81"/>
                    <a:pt x="192" y="81"/>
                    <a:pt x="192" y="81"/>
                  </a:cubicBezTo>
                  <a:cubicBezTo>
                    <a:pt x="180" y="85"/>
                    <a:pt x="180" y="85"/>
                    <a:pt x="180" y="85"/>
                  </a:cubicBezTo>
                  <a:cubicBezTo>
                    <a:pt x="169" y="82"/>
                    <a:pt x="169" y="82"/>
                    <a:pt x="169" y="82"/>
                  </a:cubicBezTo>
                  <a:cubicBezTo>
                    <a:pt x="129" y="82"/>
                    <a:pt x="129" y="82"/>
                    <a:pt x="129" y="82"/>
                  </a:cubicBezTo>
                  <a:cubicBezTo>
                    <a:pt x="116" y="87"/>
                    <a:pt x="116" y="87"/>
                    <a:pt x="116" y="87"/>
                  </a:cubicBezTo>
                  <a:cubicBezTo>
                    <a:pt x="102" y="87"/>
                    <a:pt x="102" y="87"/>
                    <a:pt x="102" y="87"/>
                  </a:cubicBezTo>
                  <a:cubicBezTo>
                    <a:pt x="90" y="89"/>
                    <a:pt x="90" y="89"/>
                    <a:pt x="90" y="89"/>
                  </a:cubicBezTo>
                  <a:cubicBezTo>
                    <a:pt x="86" y="86"/>
                    <a:pt x="80" y="80"/>
                    <a:pt x="84" y="87"/>
                  </a:cubicBezTo>
                  <a:cubicBezTo>
                    <a:pt x="73" y="90"/>
                    <a:pt x="73" y="90"/>
                    <a:pt x="73" y="90"/>
                  </a:cubicBezTo>
                  <a:cubicBezTo>
                    <a:pt x="67" y="95"/>
                    <a:pt x="67" y="95"/>
                    <a:pt x="67" y="95"/>
                  </a:cubicBezTo>
                  <a:cubicBezTo>
                    <a:pt x="53" y="103"/>
                    <a:pt x="53" y="103"/>
                    <a:pt x="53" y="103"/>
                  </a:cubicBezTo>
                  <a:cubicBezTo>
                    <a:pt x="42" y="104"/>
                    <a:pt x="42" y="104"/>
                    <a:pt x="42" y="104"/>
                  </a:cubicBezTo>
                  <a:cubicBezTo>
                    <a:pt x="38" y="131"/>
                    <a:pt x="38" y="131"/>
                    <a:pt x="38" y="131"/>
                  </a:cubicBezTo>
                  <a:cubicBezTo>
                    <a:pt x="28" y="145"/>
                    <a:pt x="28" y="145"/>
                    <a:pt x="28" y="145"/>
                  </a:cubicBezTo>
                  <a:cubicBezTo>
                    <a:pt x="15" y="143"/>
                    <a:pt x="15" y="143"/>
                    <a:pt x="15" y="143"/>
                  </a:cubicBezTo>
                  <a:cubicBezTo>
                    <a:pt x="5" y="148"/>
                    <a:pt x="5" y="148"/>
                    <a:pt x="5" y="148"/>
                  </a:cubicBezTo>
                  <a:cubicBezTo>
                    <a:pt x="5" y="156"/>
                    <a:pt x="5" y="156"/>
                    <a:pt x="5" y="156"/>
                  </a:cubicBezTo>
                  <a:cubicBezTo>
                    <a:pt x="11" y="172"/>
                    <a:pt x="11" y="172"/>
                    <a:pt x="11" y="172"/>
                  </a:cubicBezTo>
                  <a:cubicBezTo>
                    <a:pt x="7" y="184"/>
                    <a:pt x="7" y="184"/>
                    <a:pt x="7" y="184"/>
                  </a:cubicBezTo>
                  <a:cubicBezTo>
                    <a:pt x="0" y="196"/>
                    <a:pt x="0" y="196"/>
                    <a:pt x="0" y="196"/>
                  </a:cubicBezTo>
                  <a:cubicBezTo>
                    <a:pt x="1" y="214"/>
                    <a:pt x="1" y="214"/>
                    <a:pt x="1" y="214"/>
                  </a:cubicBezTo>
                  <a:cubicBezTo>
                    <a:pt x="3" y="242"/>
                    <a:pt x="3" y="242"/>
                    <a:pt x="3" y="242"/>
                  </a:cubicBezTo>
                  <a:cubicBezTo>
                    <a:pt x="5" y="242"/>
                    <a:pt x="5" y="242"/>
                    <a:pt x="5" y="242"/>
                  </a:cubicBezTo>
                  <a:cubicBezTo>
                    <a:pt x="9" y="250"/>
                    <a:pt x="9" y="250"/>
                    <a:pt x="9" y="250"/>
                  </a:cubicBezTo>
                  <a:cubicBezTo>
                    <a:pt x="33" y="270"/>
                    <a:pt x="33" y="270"/>
                    <a:pt x="33" y="270"/>
                  </a:cubicBezTo>
                  <a:cubicBezTo>
                    <a:pt x="33" y="271"/>
                    <a:pt x="33" y="271"/>
                    <a:pt x="33" y="271"/>
                  </a:cubicBezTo>
                  <a:cubicBezTo>
                    <a:pt x="33" y="271"/>
                    <a:pt x="33" y="271"/>
                    <a:pt x="33" y="271"/>
                  </a:cubicBezTo>
                  <a:cubicBezTo>
                    <a:pt x="37" y="290"/>
                    <a:pt x="37" y="290"/>
                    <a:pt x="37" y="290"/>
                  </a:cubicBezTo>
                  <a:cubicBezTo>
                    <a:pt x="87" y="315"/>
                    <a:pt x="87" y="315"/>
                    <a:pt x="87" y="315"/>
                  </a:cubicBezTo>
                  <a:cubicBezTo>
                    <a:pt x="88" y="315"/>
                    <a:pt x="88" y="315"/>
                    <a:pt x="88" y="315"/>
                  </a:cubicBezTo>
                  <a:cubicBezTo>
                    <a:pt x="88" y="316"/>
                    <a:pt x="88" y="316"/>
                    <a:pt x="88" y="316"/>
                  </a:cubicBezTo>
                  <a:cubicBezTo>
                    <a:pt x="98" y="362"/>
                    <a:pt x="98" y="362"/>
                    <a:pt x="98" y="362"/>
                  </a:cubicBezTo>
                  <a:cubicBezTo>
                    <a:pt x="99" y="365"/>
                    <a:pt x="118" y="401"/>
                    <a:pt x="118" y="401"/>
                  </a:cubicBezTo>
                  <a:cubicBezTo>
                    <a:pt x="125" y="413"/>
                    <a:pt x="125" y="413"/>
                    <a:pt x="125" y="413"/>
                  </a:cubicBezTo>
                  <a:cubicBezTo>
                    <a:pt x="125" y="413"/>
                    <a:pt x="125" y="413"/>
                    <a:pt x="125" y="413"/>
                  </a:cubicBezTo>
                  <a:cubicBezTo>
                    <a:pt x="125" y="414"/>
                    <a:pt x="125" y="414"/>
                    <a:pt x="125" y="414"/>
                  </a:cubicBezTo>
                  <a:cubicBezTo>
                    <a:pt x="124" y="440"/>
                    <a:pt x="124" y="440"/>
                    <a:pt x="124" y="440"/>
                  </a:cubicBezTo>
                  <a:cubicBezTo>
                    <a:pt x="132" y="440"/>
                    <a:pt x="132" y="440"/>
                    <a:pt x="132" y="440"/>
                  </a:cubicBezTo>
                  <a:cubicBezTo>
                    <a:pt x="138" y="428"/>
                    <a:pt x="138" y="428"/>
                    <a:pt x="138" y="428"/>
                  </a:cubicBezTo>
                  <a:cubicBezTo>
                    <a:pt x="191" y="428"/>
                    <a:pt x="191" y="428"/>
                    <a:pt x="191" y="428"/>
                  </a:cubicBezTo>
                  <a:cubicBezTo>
                    <a:pt x="207" y="418"/>
                    <a:pt x="207" y="418"/>
                    <a:pt x="207" y="418"/>
                  </a:cubicBezTo>
                  <a:cubicBezTo>
                    <a:pt x="225" y="414"/>
                    <a:pt x="225" y="414"/>
                    <a:pt x="225" y="414"/>
                  </a:cubicBezTo>
                  <a:cubicBezTo>
                    <a:pt x="243" y="421"/>
                    <a:pt x="243" y="421"/>
                    <a:pt x="243" y="421"/>
                  </a:cubicBezTo>
                  <a:cubicBezTo>
                    <a:pt x="255" y="418"/>
                    <a:pt x="255" y="418"/>
                    <a:pt x="255" y="418"/>
                  </a:cubicBezTo>
                  <a:cubicBezTo>
                    <a:pt x="309" y="415"/>
                    <a:pt x="309" y="415"/>
                    <a:pt x="309" y="415"/>
                  </a:cubicBezTo>
                  <a:cubicBezTo>
                    <a:pt x="329" y="408"/>
                    <a:pt x="329" y="408"/>
                    <a:pt x="329" y="408"/>
                  </a:cubicBezTo>
                  <a:cubicBezTo>
                    <a:pt x="338" y="415"/>
                    <a:pt x="338" y="415"/>
                    <a:pt x="338" y="415"/>
                  </a:cubicBezTo>
                  <a:cubicBezTo>
                    <a:pt x="375" y="413"/>
                    <a:pt x="375" y="413"/>
                    <a:pt x="375" y="413"/>
                  </a:cubicBezTo>
                  <a:cubicBezTo>
                    <a:pt x="383" y="424"/>
                    <a:pt x="383" y="424"/>
                    <a:pt x="383" y="424"/>
                  </a:cubicBezTo>
                  <a:cubicBezTo>
                    <a:pt x="393" y="433"/>
                    <a:pt x="393" y="433"/>
                    <a:pt x="393" y="433"/>
                  </a:cubicBezTo>
                  <a:cubicBezTo>
                    <a:pt x="425" y="431"/>
                    <a:pt x="425" y="431"/>
                    <a:pt x="425" y="431"/>
                  </a:cubicBezTo>
                  <a:cubicBezTo>
                    <a:pt x="435" y="437"/>
                    <a:pt x="435" y="437"/>
                    <a:pt x="435" y="437"/>
                  </a:cubicBezTo>
                  <a:cubicBezTo>
                    <a:pt x="441" y="439"/>
                    <a:pt x="441" y="439"/>
                    <a:pt x="441" y="439"/>
                  </a:cubicBezTo>
                  <a:cubicBezTo>
                    <a:pt x="445" y="442"/>
                    <a:pt x="445" y="442"/>
                    <a:pt x="445" y="442"/>
                  </a:cubicBezTo>
                  <a:cubicBezTo>
                    <a:pt x="451" y="443"/>
                    <a:pt x="451" y="443"/>
                    <a:pt x="451" y="443"/>
                  </a:cubicBezTo>
                  <a:cubicBezTo>
                    <a:pt x="461" y="440"/>
                    <a:pt x="461" y="440"/>
                    <a:pt x="461" y="440"/>
                  </a:cubicBezTo>
                  <a:cubicBezTo>
                    <a:pt x="458" y="426"/>
                    <a:pt x="458" y="426"/>
                    <a:pt x="458" y="426"/>
                  </a:cubicBezTo>
                  <a:cubicBezTo>
                    <a:pt x="448" y="416"/>
                    <a:pt x="448" y="416"/>
                    <a:pt x="448" y="416"/>
                  </a:cubicBezTo>
                  <a:cubicBezTo>
                    <a:pt x="448" y="416"/>
                    <a:pt x="448" y="405"/>
                    <a:pt x="448" y="399"/>
                  </a:cubicBezTo>
                  <a:cubicBezTo>
                    <a:pt x="448" y="393"/>
                    <a:pt x="458" y="393"/>
                    <a:pt x="458" y="393"/>
                  </a:cubicBezTo>
                  <a:cubicBezTo>
                    <a:pt x="470" y="385"/>
                    <a:pt x="470" y="385"/>
                    <a:pt x="470" y="385"/>
                  </a:cubicBezTo>
                  <a:cubicBezTo>
                    <a:pt x="463" y="381"/>
                    <a:pt x="463" y="381"/>
                    <a:pt x="463" y="381"/>
                  </a:cubicBezTo>
                  <a:cubicBezTo>
                    <a:pt x="458" y="375"/>
                    <a:pt x="458" y="375"/>
                    <a:pt x="458" y="375"/>
                  </a:cubicBezTo>
                  <a:cubicBezTo>
                    <a:pt x="466" y="365"/>
                    <a:pt x="466" y="365"/>
                    <a:pt x="466" y="365"/>
                  </a:cubicBezTo>
                  <a:cubicBezTo>
                    <a:pt x="484" y="365"/>
                    <a:pt x="484" y="365"/>
                    <a:pt x="484" y="365"/>
                  </a:cubicBezTo>
                  <a:cubicBezTo>
                    <a:pt x="484" y="352"/>
                    <a:pt x="484" y="352"/>
                    <a:pt x="484" y="352"/>
                  </a:cubicBezTo>
                  <a:cubicBezTo>
                    <a:pt x="472" y="347"/>
                    <a:pt x="472" y="347"/>
                    <a:pt x="472" y="347"/>
                  </a:cubicBezTo>
                  <a:cubicBezTo>
                    <a:pt x="477" y="332"/>
                    <a:pt x="477" y="332"/>
                    <a:pt x="477" y="332"/>
                  </a:cubicBezTo>
                  <a:cubicBezTo>
                    <a:pt x="436" y="273"/>
                    <a:pt x="436" y="273"/>
                    <a:pt x="436" y="273"/>
                  </a:cubicBezTo>
                  <a:cubicBezTo>
                    <a:pt x="427" y="241"/>
                    <a:pt x="427" y="241"/>
                    <a:pt x="427" y="241"/>
                  </a:cubicBezTo>
                  <a:cubicBezTo>
                    <a:pt x="436" y="211"/>
                    <a:pt x="436" y="211"/>
                    <a:pt x="436" y="211"/>
                  </a:cubicBezTo>
                  <a:cubicBezTo>
                    <a:pt x="398" y="215"/>
                    <a:pt x="398" y="215"/>
                    <a:pt x="398" y="215"/>
                  </a:cubicBezTo>
                  <a:cubicBezTo>
                    <a:pt x="396" y="213"/>
                    <a:pt x="396" y="213"/>
                    <a:pt x="396" y="213"/>
                  </a:cubicBezTo>
                  <a:cubicBezTo>
                    <a:pt x="395" y="205"/>
                    <a:pt x="395" y="205"/>
                    <a:pt x="395" y="205"/>
                  </a:cubicBezTo>
                  <a:cubicBezTo>
                    <a:pt x="403" y="189"/>
                    <a:pt x="403" y="189"/>
                    <a:pt x="403" y="189"/>
                  </a:cubicBezTo>
                  <a:cubicBezTo>
                    <a:pt x="481" y="148"/>
                    <a:pt x="481" y="148"/>
                    <a:pt x="481" y="148"/>
                  </a:cubicBezTo>
                  <a:cubicBezTo>
                    <a:pt x="506" y="140"/>
                    <a:pt x="506" y="140"/>
                    <a:pt x="506" y="140"/>
                  </a:cubicBezTo>
                  <a:cubicBezTo>
                    <a:pt x="517" y="152"/>
                    <a:pt x="517" y="152"/>
                    <a:pt x="517" y="152"/>
                  </a:cubicBezTo>
                  <a:cubicBezTo>
                    <a:pt x="529" y="152"/>
                    <a:pt x="529" y="152"/>
                    <a:pt x="529" y="152"/>
                  </a:cubicBezTo>
                  <a:cubicBezTo>
                    <a:pt x="543" y="142"/>
                    <a:pt x="543" y="142"/>
                    <a:pt x="543" y="142"/>
                  </a:cubicBezTo>
                  <a:cubicBezTo>
                    <a:pt x="566" y="153"/>
                    <a:pt x="566" y="153"/>
                    <a:pt x="566" y="153"/>
                  </a:cubicBezTo>
                  <a:cubicBezTo>
                    <a:pt x="568" y="121"/>
                    <a:pt x="568" y="121"/>
                    <a:pt x="568" y="121"/>
                  </a:cubicBezTo>
                  <a:cubicBezTo>
                    <a:pt x="540" y="121"/>
                    <a:pt x="540" y="121"/>
                    <a:pt x="540" y="121"/>
                  </a:cubicBezTo>
                  <a:close/>
                </a:path>
              </a:pathLst>
            </a:custGeom>
            <a:grp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743024">
                <a:defRPr/>
              </a:pPr>
              <a:endParaRPr lang="ru-RU" sz="1300" kern="0" dirty="0">
                <a:solidFill>
                  <a:sysClr val="windowText" lastClr="000000"/>
                </a:solidFill>
                <a:latin typeface="Arial" panose="020B0604020202020204" pitchFamily="34" charset="0"/>
                <a:cs typeface="Arial" panose="020B0604020202020204" pitchFamily="34" charset="0"/>
              </a:endParaRPr>
            </a:p>
          </p:txBody>
        </p:sp>
        <p:sp>
          <p:nvSpPr>
            <p:cNvPr id="83" name="Freeform 161">
              <a:extLst>
                <a:ext uri="{FF2B5EF4-FFF2-40B4-BE49-F238E27FC236}">
                  <a16:creationId xmlns:a16="http://schemas.microsoft.com/office/drawing/2014/main" id="{E9AC648D-9568-45EC-B723-19FDB27E5FBF}"/>
                </a:ext>
              </a:extLst>
            </p:cNvPr>
            <p:cNvSpPr>
              <a:spLocks/>
            </p:cNvSpPr>
            <p:nvPr/>
          </p:nvSpPr>
          <p:spPr bwMode="auto">
            <a:xfrm>
              <a:off x="4436988" y="2325625"/>
              <a:ext cx="1229945" cy="1551167"/>
            </a:xfrm>
            <a:custGeom>
              <a:avLst/>
              <a:gdLst>
                <a:gd name="T0" fmla="*/ 106 w 463"/>
                <a:gd name="T1" fmla="*/ 333 h 611"/>
                <a:gd name="T2" fmla="*/ 123 w 463"/>
                <a:gd name="T3" fmla="*/ 331 h 611"/>
                <a:gd name="T4" fmla="*/ 134 w 463"/>
                <a:gd name="T5" fmla="*/ 349 h 611"/>
                <a:gd name="T6" fmla="*/ 127 w 463"/>
                <a:gd name="T7" fmla="*/ 370 h 611"/>
                <a:gd name="T8" fmla="*/ 144 w 463"/>
                <a:gd name="T9" fmla="*/ 390 h 611"/>
                <a:gd name="T10" fmla="*/ 149 w 463"/>
                <a:gd name="T11" fmla="*/ 416 h 611"/>
                <a:gd name="T12" fmla="*/ 158 w 463"/>
                <a:gd name="T13" fmla="*/ 445 h 611"/>
                <a:gd name="T14" fmla="*/ 151 w 463"/>
                <a:gd name="T15" fmla="*/ 452 h 611"/>
                <a:gd name="T16" fmla="*/ 123 w 463"/>
                <a:gd name="T17" fmla="*/ 480 h 611"/>
                <a:gd name="T18" fmla="*/ 122 w 463"/>
                <a:gd name="T19" fmla="*/ 494 h 611"/>
                <a:gd name="T20" fmla="*/ 122 w 463"/>
                <a:gd name="T21" fmla="*/ 507 h 611"/>
                <a:gd name="T22" fmla="*/ 145 w 463"/>
                <a:gd name="T23" fmla="*/ 540 h 611"/>
                <a:gd name="T24" fmla="*/ 152 w 463"/>
                <a:gd name="T25" fmla="*/ 538 h 611"/>
                <a:gd name="T26" fmla="*/ 161 w 463"/>
                <a:gd name="T27" fmla="*/ 547 h 611"/>
                <a:gd name="T28" fmla="*/ 203 w 463"/>
                <a:gd name="T29" fmla="*/ 583 h 611"/>
                <a:gd name="T30" fmla="*/ 219 w 463"/>
                <a:gd name="T31" fmla="*/ 611 h 611"/>
                <a:gd name="T32" fmla="*/ 232 w 463"/>
                <a:gd name="T33" fmla="*/ 591 h 611"/>
                <a:gd name="T34" fmla="*/ 248 w 463"/>
                <a:gd name="T35" fmla="*/ 573 h 611"/>
                <a:gd name="T36" fmla="*/ 257 w 463"/>
                <a:gd name="T37" fmla="*/ 556 h 611"/>
                <a:gd name="T38" fmla="*/ 264 w 463"/>
                <a:gd name="T39" fmla="*/ 544 h 611"/>
                <a:gd name="T40" fmla="*/ 281 w 463"/>
                <a:gd name="T41" fmla="*/ 552 h 611"/>
                <a:gd name="T42" fmla="*/ 331 w 463"/>
                <a:gd name="T43" fmla="*/ 546 h 611"/>
                <a:gd name="T44" fmla="*/ 352 w 463"/>
                <a:gd name="T45" fmla="*/ 530 h 611"/>
                <a:gd name="T46" fmla="*/ 370 w 463"/>
                <a:gd name="T47" fmla="*/ 497 h 611"/>
                <a:gd name="T48" fmla="*/ 431 w 463"/>
                <a:gd name="T49" fmla="*/ 424 h 611"/>
                <a:gd name="T50" fmla="*/ 463 w 463"/>
                <a:gd name="T51" fmla="*/ 388 h 611"/>
                <a:gd name="T52" fmla="*/ 398 w 463"/>
                <a:gd name="T53" fmla="*/ 374 h 611"/>
                <a:gd name="T54" fmla="*/ 364 w 463"/>
                <a:gd name="T55" fmla="*/ 361 h 611"/>
                <a:gd name="T56" fmla="*/ 317 w 463"/>
                <a:gd name="T57" fmla="*/ 340 h 611"/>
                <a:gd name="T58" fmla="*/ 303 w 463"/>
                <a:gd name="T59" fmla="*/ 279 h 611"/>
                <a:gd name="T60" fmla="*/ 347 w 463"/>
                <a:gd name="T61" fmla="*/ 212 h 611"/>
                <a:gd name="T62" fmla="*/ 354 w 463"/>
                <a:gd name="T63" fmla="*/ 142 h 611"/>
                <a:gd name="T64" fmla="*/ 366 w 463"/>
                <a:gd name="T65" fmla="*/ 137 h 611"/>
                <a:gd name="T66" fmla="*/ 361 w 463"/>
                <a:gd name="T67" fmla="*/ 122 h 611"/>
                <a:gd name="T68" fmla="*/ 360 w 463"/>
                <a:gd name="T69" fmla="*/ 111 h 611"/>
                <a:gd name="T70" fmla="*/ 359 w 463"/>
                <a:gd name="T71" fmla="*/ 100 h 611"/>
                <a:gd name="T72" fmla="*/ 366 w 463"/>
                <a:gd name="T73" fmla="*/ 85 h 611"/>
                <a:gd name="T74" fmla="*/ 351 w 463"/>
                <a:gd name="T75" fmla="*/ 72 h 611"/>
                <a:gd name="T76" fmla="*/ 371 w 463"/>
                <a:gd name="T77" fmla="*/ 51 h 611"/>
                <a:gd name="T78" fmla="*/ 356 w 463"/>
                <a:gd name="T79" fmla="*/ 39 h 611"/>
                <a:gd name="T80" fmla="*/ 362 w 463"/>
                <a:gd name="T81" fmla="*/ 27 h 611"/>
                <a:gd name="T82" fmla="*/ 359 w 463"/>
                <a:gd name="T83" fmla="*/ 3 h 611"/>
                <a:gd name="T84" fmla="*/ 303 w 463"/>
                <a:gd name="T85" fmla="*/ 32 h 611"/>
                <a:gd name="T86" fmla="*/ 198 w 463"/>
                <a:gd name="T87" fmla="*/ 45 h 611"/>
                <a:gd name="T88" fmla="*/ 115 w 463"/>
                <a:gd name="T89" fmla="*/ 55 h 611"/>
                <a:gd name="T90" fmla="*/ 64 w 463"/>
                <a:gd name="T91" fmla="*/ 60 h 611"/>
                <a:gd name="T92" fmla="*/ 74 w 463"/>
                <a:gd name="T93" fmla="*/ 92 h 611"/>
                <a:gd name="T94" fmla="*/ 67 w 463"/>
                <a:gd name="T95" fmla="*/ 110 h 611"/>
                <a:gd name="T96" fmla="*/ 123 w 463"/>
                <a:gd name="T97" fmla="*/ 138 h 611"/>
                <a:gd name="T98" fmla="*/ 76 w 463"/>
                <a:gd name="T99" fmla="*/ 149 h 611"/>
                <a:gd name="T100" fmla="*/ 52 w 463"/>
                <a:gd name="T101" fmla="*/ 192 h 611"/>
                <a:gd name="T102" fmla="*/ 0 w 463"/>
                <a:gd name="T103" fmla="*/ 242 h 611"/>
                <a:gd name="T104" fmla="*/ 16 w 463"/>
                <a:gd name="T105" fmla="*/ 279 h 611"/>
                <a:gd name="T106" fmla="*/ 79 w 463"/>
                <a:gd name="T107" fmla="*/ 305 h 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63" h="611">
                  <a:moveTo>
                    <a:pt x="106" y="310"/>
                  </a:moveTo>
                  <a:cubicBezTo>
                    <a:pt x="106" y="313"/>
                    <a:pt x="106" y="313"/>
                    <a:pt x="106" y="313"/>
                  </a:cubicBezTo>
                  <a:cubicBezTo>
                    <a:pt x="103" y="328"/>
                    <a:pt x="103" y="328"/>
                    <a:pt x="103" y="328"/>
                  </a:cubicBezTo>
                  <a:cubicBezTo>
                    <a:pt x="106" y="333"/>
                    <a:pt x="106" y="333"/>
                    <a:pt x="106" y="333"/>
                  </a:cubicBezTo>
                  <a:cubicBezTo>
                    <a:pt x="114" y="325"/>
                    <a:pt x="114" y="325"/>
                    <a:pt x="114" y="325"/>
                  </a:cubicBezTo>
                  <a:cubicBezTo>
                    <a:pt x="115" y="324"/>
                    <a:pt x="115" y="324"/>
                    <a:pt x="115" y="324"/>
                  </a:cubicBezTo>
                  <a:cubicBezTo>
                    <a:pt x="117" y="325"/>
                    <a:pt x="117" y="325"/>
                    <a:pt x="117" y="325"/>
                  </a:cubicBezTo>
                  <a:cubicBezTo>
                    <a:pt x="123" y="331"/>
                    <a:pt x="123" y="331"/>
                    <a:pt x="123" y="331"/>
                  </a:cubicBezTo>
                  <a:cubicBezTo>
                    <a:pt x="124" y="331"/>
                    <a:pt x="124" y="331"/>
                    <a:pt x="124" y="331"/>
                  </a:cubicBezTo>
                  <a:cubicBezTo>
                    <a:pt x="124" y="332"/>
                    <a:pt x="124" y="332"/>
                    <a:pt x="124" y="332"/>
                  </a:cubicBezTo>
                  <a:cubicBezTo>
                    <a:pt x="126" y="341"/>
                    <a:pt x="126" y="341"/>
                    <a:pt x="126" y="341"/>
                  </a:cubicBezTo>
                  <a:cubicBezTo>
                    <a:pt x="134" y="349"/>
                    <a:pt x="134" y="349"/>
                    <a:pt x="134" y="349"/>
                  </a:cubicBezTo>
                  <a:cubicBezTo>
                    <a:pt x="135" y="350"/>
                    <a:pt x="135" y="350"/>
                    <a:pt x="135" y="350"/>
                  </a:cubicBezTo>
                  <a:cubicBezTo>
                    <a:pt x="134" y="352"/>
                    <a:pt x="134" y="352"/>
                    <a:pt x="134" y="352"/>
                  </a:cubicBezTo>
                  <a:cubicBezTo>
                    <a:pt x="127" y="358"/>
                    <a:pt x="127" y="358"/>
                    <a:pt x="127" y="358"/>
                  </a:cubicBezTo>
                  <a:cubicBezTo>
                    <a:pt x="127" y="370"/>
                    <a:pt x="127" y="370"/>
                    <a:pt x="127" y="370"/>
                  </a:cubicBezTo>
                  <a:cubicBezTo>
                    <a:pt x="129" y="372"/>
                    <a:pt x="135" y="379"/>
                    <a:pt x="135" y="380"/>
                  </a:cubicBezTo>
                  <a:cubicBezTo>
                    <a:pt x="144" y="390"/>
                    <a:pt x="144" y="390"/>
                    <a:pt x="144" y="390"/>
                  </a:cubicBezTo>
                  <a:cubicBezTo>
                    <a:pt x="144" y="390"/>
                    <a:pt x="144" y="390"/>
                    <a:pt x="144" y="390"/>
                  </a:cubicBezTo>
                  <a:cubicBezTo>
                    <a:pt x="144" y="390"/>
                    <a:pt x="144" y="390"/>
                    <a:pt x="144" y="390"/>
                  </a:cubicBezTo>
                  <a:cubicBezTo>
                    <a:pt x="149" y="408"/>
                    <a:pt x="149" y="408"/>
                    <a:pt x="149" y="408"/>
                  </a:cubicBezTo>
                  <a:cubicBezTo>
                    <a:pt x="149" y="408"/>
                    <a:pt x="149" y="408"/>
                    <a:pt x="149" y="408"/>
                  </a:cubicBezTo>
                  <a:cubicBezTo>
                    <a:pt x="149" y="408"/>
                    <a:pt x="149" y="408"/>
                    <a:pt x="149" y="408"/>
                  </a:cubicBezTo>
                  <a:cubicBezTo>
                    <a:pt x="149" y="416"/>
                    <a:pt x="149" y="416"/>
                    <a:pt x="149" y="416"/>
                  </a:cubicBezTo>
                  <a:cubicBezTo>
                    <a:pt x="154" y="420"/>
                    <a:pt x="154" y="420"/>
                    <a:pt x="154" y="420"/>
                  </a:cubicBezTo>
                  <a:cubicBezTo>
                    <a:pt x="155" y="421"/>
                    <a:pt x="155" y="421"/>
                    <a:pt x="155" y="421"/>
                  </a:cubicBezTo>
                  <a:cubicBezTo>
                    <a:pt x="155" y="421"/>
                    <a:pt x="155" y="421"/>
                    <a:pt x="155" y="421"/>
                  </a:cubicBezTo>
                  <a:cubicBezTo>
                    <a:pt x="158" y="445"/>
                    <a:pt x="158" y="445"/>
                    <a:pt x="158" y="445"/>
                  </a:cubicBezTo>
                  <a:cubicBezTo>
                    <a:pt x="158" y="446"/>
                    <a:pt x="158" y="446"/>
                    <a:pt x="158" y="446"/>
                  </a:cubicBezTo>
                  <a:cubicBezTo>
                    <a:pt x="157" y="447"/>
                    <a:pt x="157" y="447"/>
                    <a:pt x="157" y="447"/>
                  </a:cubicBezTo>
                  <a:cubicBezTo>
                    <a:pt x="151" y="452"/>
                    <a:pt x="151" y="452"/>
                    <a:pt x="151" y="452"/>
                  </a:cubicBezTo>
                  <a:cubicBezTo>
                    <a:pt x="151" y="452"/>
                    <a:pt x="151" y="452"/>
                    <a:pt x="151" y="452"/>
                  </a:cubicBezTo>
                  <a:cubicBezTo>
                    <a:pt x="151" y="452"/>
                    <a:pt x="151" y="452"/>
                    <a:pt x="151" y="452"/>
                  </a:cubicBezTo>
                  <a:cubicBezTo>
                    <a:pt x="135" y="461"/>
                    <a:pt x="135" y="461"/>
                    <a:pt x="135" y="461"/>
                  </a:cubicBezTo>
                  <a:cubicBezTo>
                    <a:pt x="123" y="480"/>
                    <a:pt x="123" y="480"/>
                    <a:pt x="123" y="480"/>
                  </a:cubicBezTo>
                  <a:cubicBezTo>
                    <a:pt x="123" y="480"/>
                    <a:pt x="123" y="480"/>
                    <a:pt x="123" y="480"/>
                  </a:cubicBezTo>
                  <a:cubicBezTo>
                    <a:pt x="122" y="481"/>
                    <a:pt x="122" y="481"/>
                    <a:pt x="122" y="481"/>
                  </a:cubicBezTo>
                  <a:cubicBezTo>
                    <a:pt x="116" y="486"/>
                    <a:pt x="116" y="486"/>
                    <a:pt x="116" y="486"/>
                  </a:cubicBezTo>
                  <a:cubicBezTo>
                    <a:pt x="122" y="494"/>
                    <a:pt x="122" y="494"/>
                    <a:pt x="122" y="494"/>
                  </a:cubicBezTo>
                  <a:cubicBezTo>
                    <a:pt x="122" y="494"/>
                    <a:pt x="122" y="494"/>
                    <a:pt x="122" y="494"/>
                  </a:cubicBezTo>
                  <a:cubicBezTo>
                    <a:pt x="122" y="495"/>
                    <a:pt x="122" y="495"/>
                    <a:pt x="122" y="495"/>
                  </a:cubicBezTo>
                  <a:cubicBezTo>
                    <a:pt x="122" y="506"/>
                    <a:pt x="122" y="506"/>
                    <a:pt x="122" y="506"/>
                  </a:cubicBezTo>
                  <a:cubicBezTo>
                    <a:pt x="122" y="507"/>
                    <a:pt x="122" y="507"/>
                    <a:pt x="122" y="507"/>
                  </a:cubicBezTo>
                  <a:cubicBezTo>
                    <a:pt x="122" y="507"/>
                    <a:pt x="122" y="507"/>
                    <a:pt x="122" y="507"/>
                  </a:cubicBezTo>
                  <a:cubicBezTo>
                    <a:pt x="116" y="522"/>
                    <a:pt x="116" y="522"/>
                    <a:pt x="116" y="522"/>
                  </a:cubicBezTo>
                  <a:cubicBezTo>
                    <a:pt x="136" y="544"/>
                    <a:pt x="136" y="544"/>
                    <a:pt x="136" y="544"/>
                  </a:cubicBezTo>
                  <a:cubicBezTo>
                    <a:pt x="142" y="546"/>
                    <a:pt x="142" y="546"/>
                    <a:pt x="142" y="546"/>
                  </a:cubicBezTo>
                  <a:cubicBezTo>
                    <a:pt x="145" y="540"/>
                    <a:pt x="145" y="540"/>
                    <a:pt x="145" y="540"/>
                  </a:cubicBezTo>
                  <a:cubicBezTo>
                    <a:pt x="145" y="539"/>
                    <a:pt x="145" y="539"/>
                    <a:pt x="145" y="539"/>
                  </a:cubicBezTo>
                  <a:cubicBezTo>
                    <a:pt x="146" y="539"/>
                    <a:pt x="146" y="539"/>
                    <a:pt x="146" y="539"/>
                  </a:cubicBezTo>
                  <a:cubicBezTo>
                    <a:pt x="152" y="538"/>
                    <a:pt x="152" y="538"/>
                    <a:pt x="152" y="538"/>
                  </a:cubicBezTo>
                  <a:cubicBezTo>
                    <a:pt x="152" y="538"/>
                    <a:pt x="152" y="538"/>
                    <a:pt x="152" y="538"/>
                  </a:cubicBezTo>
                  <a:cubicBezTo>
                    <a:pt x="153" y="539"/>
                    <a:pt x="153" y="539"/>
                    <a:pt x="153" y="539"/>
                  </a:cubicBezTo>
                  <a:cubicBezTo>
                    <a:pt x="160" y="544"/>
                    <a:pt x="160" y="544"/>
                    <a:pt x="160" y="544"/>
                  </a:cubicBezTo>
                  <a:cubicBezTo>
                    <a:pt x="161" y="544"/>
                    <a:pt x="161" y="544"/>
                    <a:pt x="161" y="544"/>
                  </a:cubicBezTo>
                  <a:cubicBezTo>
                    <a:pt x="161" y="547"/>
                    <a:pt x="161" y="547"/>
                    <a:pt x="161" y="547"/>
                  </a:cubicBezTo>
                  <a:cubicBezTo>
                    <a:pt x="156" y="557"/>
                    <a:pt x="156" y="557"/>
                    <a:pt x="156" y="557"/>
                  </a:cubicBezTo>
                  <a:cubicBezTo>
                    <a:pt x="159" y="560"/>
                    <a:pt x="169" y="567"/>
                    <a:pt x="169" y="567"/>
                  </a:cubicBezTo>
                  <a:cubicBezTo>
                    <a:pt x="183" y="576"/>
                    <a:pt x="183" y="576"/>
                    <a:pt x="183" y="576"/>
                  </a:cubicBezTo>
                  <a:cubicBezTo>
                    <a:pt x="203" y="583"/>
                    <a:pt x="203" y="583"/>
                    <a:pt x="203" y="583"/>
                  </a:cubicBezTo>
                  <a:cubicBezTo>
                    <a:pt x="203" y="584"/>
                    <a:pt x="203" y="584"/>
                    <a:pt x="203" y="584"/>
                  </a:cubicBezTo>
                  <a:cubicBezTo>
                    <a:pt x="203" y="584"/>
                    <a:pt x="203" y="584"/>
                    <a:pt x="203" y="584"/>
                  </a:cubicBezTo>
                  <a:cubicBezTo>
                    <a:pt x="219" y="611"/>
                    <a:pt x="219" y="611"/>
                    <a:pt x="219" y="611"/>
                  </a:cubicBezTo>
                  <a:cubicBezTo>
                    <a:pt x="219" y="611"/>
                    <a:pt x="219" y="611"/>
                    <a:pt x="219" y="611"/>
                  </a:cubicBezTo>
                  <a:cubicBezTo>
                    <a:pt x="228" y="610"/>
                    <a:pt x="228" y="610"/>
                    <a:pt x="228" y="610"/>
                  </a:cubicBezTo>
                  <a:cubicBezTo>
                    <a:pt x="228" y="607"/>
                    <a:pt x="229" y="603"/>
                    <a:pt x="229" y="603"/>
                  </a:cubicBezTo>
                  <a:cubicBezTo>
                    <a:pt x="232" y="592"/>
                    <a:pt x="232" y="592"/>
                    <a:pt x="232" y="592"/>
                  </a:cubicBezTo>
                  <a:cubicBezTo>
                    <a:pt x="232" y="591"/>
                    <a:pt x="232" y="591"/>
                    <a:pt x="232" y="591"/>
                  </a:cubicBezTo>
                  <a:cubicBezTo>
                    <a:pt x="233" y="590"/>
                    <a:pt x="233" y="590"/>
                    <a:pt x="233" y="590"/>
                  </a:cubicBezTo>
                  <a:cubicBezTo>
                    <a:pt x="243" y="585"/>
                    <a:pt x="243" y="585"/>
                    <a:pt x="243" y="585"/>
                  </a:cubicBezTo>
                  <a:cubicBezTo>
                    <a:pt x="248" y="574"/>
                    <a:pt x="248" y="574"/>
                    <a:pt x="248" y="574"/>
                  </a:cubicBezTo>
                  <a:cubicBezTo>
                    <a:pt x="248" y="573"/>
                    <a:pt x="248" y="573"/>
                    <a:pt x="248" y="573"/>
                  </a:cubicBezTo>
                  <a:cubicBezTo>
                    <a:pt x="249" y="573"/>
                    <a:pt x="249" y="573"/>
                    <a:pt x="249" y="573"/>
                  </a:cubicBezTo>
                  <a:cubicBezTo>
                    <a:pt x="256" y="568"/>
                    <a:pt x="256" y="568"/>
                    <a:pt x="256" y="568"/>
                  </a:cubicBezTo>
                  <a:cubicBezTo>
                    <a:pt x="257" y="556"/>
                    <a:pt x="257" y="556"/>
                    <a:pt x="257" y="556"/>
                  </a:cubicBezTo>
                  <a:cubicBezTo>
                    <a:pt x="257" y="556"/>
                    <a:pt x="257" y="556"/>
                    <a:pt x="257" y="556"/>
                  </a:cubicBezTo>
                  <a:cubicBezTo>
                    <a:pt x="257" y="556"/>
                    <a:pt x="257" y="556"/>
                    <a:pt x="257" y="556"/>
                  </a:cubicBezTo>
                  <a:cubicBezTo>
                    <a:pt x="262" y="546"/>
                    <a:pt x="262" y="546"/>
                    <a:pt x="262" y="546"/>
                  </a:cubicBezTo>
                  <a:cubicBezTo>
                    <a:pt x="263" y="544"/>
                    <a:pt x="263" y="544"/>
                    <a:pt x="263" y="544"/>
                  </a:cubicBezTo>
                  <a:cubicBezTo>
                    <a:pt x="264" y="544"/>
                    <a:pt x="264" y="544"/>
                    <a:pt x="264" y="544"/>
                  </a:cubicBezTo>
                  <a:cubicBezTo>
                    <a:pt x="274" y="544"/>
                    <a:pt x="274" y="544"/>
                    <a:pt x="274" y="544"/>
                  </a:cubicBezTo>
                  <a:cubicBezTo>
                    <a:pt x="275" y="544"/>
                    <a:pt x="275" y="544"/>
                    <a:pt x="275" y="544"/>
                  </a:cubicBezTo>
                  <a:cubicBezTo>
                    <a:pt x="276" y="546"/>
                    <a:pt x="276" y="546"/>
                    <a:pt x="276" y="546"/>
                  </a:cubicBezTo>
                  <a:cubicBezTo>
                    <a:pt x="281" y="552"/>
                    <a:pt x="281" y="552"/>
                    <a:pt x="281" y="552"/>
                  </a:cubicBezTo>
                  <a:cubicBezTo>
                    <a:pt x="317" y="558"/>
                    <a:pt x="317" y="558"/>
                    <a:pt x="317" y="558"/>
                  </a:cubicBezTo>
                  <a:cubicBezTo>
                    <a:pt x="330" y="546"/>
                    <a:pt x="330" y="546"/>
                    <a:pt x="330" y="546"/>
                  </a:cubicBezTo>
                  <a:cubicBezTo>
                    <a:pt x="331" y="546"/>
                    <a:pt x="331" y="546"/>
                    <a:pt x="331" y="546"/>
                  </a:cubicBezTo>
                  <a:cubicBezTo>
                    <a:pt x="331" y="546"/>
                    <a:pt x="331" y="546"/>
                    <a:pt x="331" y="546"/>
                  </a:cubicBezTo>
                  <a:cubicBezTo>
                    <a:pt x="343" y="547"/>
                    <a:pt x="343" y="547"/>
                    <a:pt x="343" y="547"/>
                  </a:cubicBezTo>
                  <a:cubicBezTo>
                    <a:pt x="352" y="530"/>
                    <a:pt x="352" y="530"/>
                    <a:pt x="352" y="530"/>
                  </a:cubicBezTo>
                  <a:cubicBezTo>
                    <a:pt x="352" y="530"/>
                    <a:pt x="352" y="530"/>
                    <a:pt x="352" y="530"/>
                  </a:cubicBezTo>
                  <a:cubicBezTo>
                    <a:pt x="352" y="530"/>
                    <a:pt x="352" y="530"/>
                    <a:pt x="352" y="530"/>
                  </a:cubicBezTo>
                  <a:cubicBezTo>
                    <a:pt x="368" y="517"/>
                    <a:pt x="368" y="517"/>
                    <a:pt x="368" y="517"/>
                  </a:cubicBezTo>
                  <a:cubicBezTo>
                    <a:pt x="369" y="498"/>
                    <a:pt x="369" y="498"/>
                    <a:pt x="369" y="498"/>
                  </a:cubicBezTo>
                  <a:cubicBezTo>
                    <a:pt x="370" y="497"/>
                    <a:pt x="370" y="497"/>
                    <a:pt x="370" y="497"/>
                  </a:cubicBezTo>
                  <a:cubicBezTo>
                    <a:pt x="370" y="497"/>
                    <a:pt x="370" y="497"/>
                    <a:pt x="370" y="497"/>
                  </a:cubicBezTo>
                  <a:cubicBezTo>
                    <a:pt x="392" y="478"/>
                    <a:pt x="392" y="478"/>
                    <a:pt x="392" y="478"/>
                  </a:cubicBezTo>
                  <a:cubicBezTo>
                    <a:pt x="413" y="459"/>
                    <a:pt x="413" y="459"/>
                    <a:pt x="413" y="459"/>
                  </a:cubicBezTo>
                  <a:cubicBezTo>
                    <a:pt x="431" y="425"/>
                    <a:pt x="431" y="425"/>
                    <a:pt x="431" y="425"/>
                  </a:cubicBezTo>
                  <a:cubicBezTo>
                    <a:pt x="431" y="424"/>
                    <a:pt x="431" y="424"/>
                    <a:pt x="431" y="424"/>
                  </a:cubicBezTo>
                  <a:cubicBezTo>
                    <a:pt x="432" y="424"/>
                    <a:pt x="432" y="424"/>
                    <a:pt x="432" y="424"/>
                  </a:cubicBezTo>
                  <a:cubicBezTo>
                    <a:pt x="454" y="407"/>
                    <a:pt x="454" y="407"/>
                    <a:pt x="454" y="407"/>
                  </a:cubicBezTo>
                  <a:cubicBezTo>
                    <a:pt x="463" y="401"/>
                    <a:pt x="463" y="401"/>
                    <a:pt x="463" y="401"/>
                  </a:cubicBezTo>
                  <a:cubicBezTo>
                    <a:pt x="463" y="388"/>
                    <a:pt x="463" y="388"/>
                    <a:pt x="463" y="388"/>
                  </a:cubicBezTo>
                  <a:cubicBezTo>
                    <a:pt x="423" y="390"/>
                    <a:pt x="423" y="390"/>
                    <a:pt x="423" y="390"/>
                  </a:cubicBezTo>
                  <a:cubicBezTo>
                    <a:pt x="422" y="390"/>
                    <a:pt x="422" y="390"/>
                    <a:pt x="422" y="390"/>
                  </a:cubicBezTo>
                  <a:cubicBezTo>
                    <a:pt x="422" y="390"/>
                    <a:pt x="422" y="390"/>
                    <a:pt x="422" y="390"/>
                  </a:cubicBezTo>
                  <a:cubicBezTo>
                    <a:pt x="398" y="374"/>
                    <a:pt x="398" y="374"/>
                    <a:pt x="398" y="374"/>
                  </a:cubicBezTo>
                  <a:cubicBezTo>
                    <a:pt x="396" y="374"/>
                    <a:pt x="396" y="374"/>
                    <a:pt x="396" y="374"/>
                  </a:cubicBezTo>
                  <a:cubicBezTo>
                    <a:pt x="396" y="373"/>
                    <a:pt x="396" y="373"/>
                    <a:pt x="396" y="373"/>
                  </a:cubicBezTo>
                  <a:cubicBezTo>
                    <a:pt x="392" y="361"/>
                    <a:pt x="392" y="361"/>
                    <a:pt x="392" y="361"/>
                  </a:cubicBezTo>
                  <a:cubicBezTo>
                    <a:pt x="364" y="361"/>
                    <a:pt x="364" y="361"/>
                    <a:pt x="364" y="361"/>
                  </a:cubicBezTo>
                  <a:cubicBezTo>
                    <a:pt x="363" y="361"/>
                    <a:pt x="363" y="361"/>
                    <a:pt x="363" y="361"/>
                  </a:cubicBezTo>
                  <a:cubicBezTo>
                    <a:pt x="362" y="360"/>
                    <a:pt x="362" y="360"/>
                    <a:pt x="362" y="360"/>
                  </a:cubicBezTo>
                  <a:cubicBezTo>
                    <a:pt x="347" y="340"/>
                    <a:pt x="347" y="340"/>
                    <a:pt x="347" y="340"/>
                  </a:cubicBezTo>
                  <a:cubicBezTo>
                    <a:pt x="317" y="340"/>
                    <a:pt x="317" y="340"/>
                    <a:pt x="317" y="340"/>
                  </a:cubicBezTo>
                  <a:cubicBezTo>
                    <a:pt x="315" y="340"/>
                    <a:pt x="315" y="340"/>
                    <a:pt x="315" y="340"/>
                  </a:cubicBezTo>
                  <a:cubicBezTo>
                    <a:pt x="315" y="338"/>
                    <a:pt x="315" y="338"/>
                    <a:pt x="315" y="338"/>
                  </a:cubicBezTo>
                  <a:cubicBezTo>
                    <a:pt x="315" y="291"/>
                    <a:pt x="315" y="291"/>
                    <a:pt x="315" y="291"/>
                  </a:cubicBezTo>
                  <a:cubicBezTo>
                    <a:pt x="303" y="279"/>
                    <a:pt x="303" y="279"/>
                    <a:pt x="303" y="279"/>
                  </a:cubicBezTo>
                  <a:cubicBezTo>
                    <a:pt x="302" y="277"/>
                    <a:pt x="302" y="277"/>
                    <a:pt x="302" y="277"/>
                  </a:cubicBezTo>
                  <a:cubicBezTo>
                    <a:pt x="303" y="276"/>
                    <a:pt x="303" y="276"/>
                    <a:pt x="303" y="276"/>
                  </a:cubicBezTo>
                  <a:cubicBezTo>
                    <a:pt x="332" y="242"/>
                    <a:pt x="332" y="242"/>
                    <a:pt x="332" y="242"/>
                  </a:cubicBezTo>
                  <a:cubicBezTo>
                    <a:pt x="347" y="212"/>
                    <a:pt x="347" y="212"/>
                    <a:pt x="347" y="212"/>
                  </a:cubicBezTo>
                  <a:cubicBezTo>
                    <a:pt x="348" y="152"/>
                    <a:pt x="348" y="152"/>
                    <a:pt x="348" y="152"/>
                  </a:cubicBezTo>
                  <a:cubicBezTo>
                    <a:pt x="348" y="152"/>
                    <a:pt x="348" y="152"/>
                    <a:pt x="348" y="152"/>
                  </a:cubicBezTo>
                  <a:cubicBezTo>
                    <a:pt x="349" y="151"/>
                    <a:pt x="349" y="151"/>
                    <a:pt x="349" y="151"/>
                  </a:cubicBezTo>
                  <a:cubicBezTo>
                    <a:pt x="354" y="142"/>
                    <a:pt x="354" y="142"/>
                    <a:pt x="354" y="142"/>
                  </a:cubicBezTo>
                  <a:cubicBezTo>
                    <a:pt x="354" y="141"/>
                    <a:pt x="354" y="141"/>
                    <a:pt x="354" y="141"/>
                  </a:cubicBezTo>
                  <a:cubicBezTo>
                    <a:pt x="355" y="141"/>
                    <a:pt x="355" y="141"/>
                    <a:pt x="355" y="141"/>
                  </a:cubicBezTo>
                  <a:cubicBezTo>
                    <a:pt x="365" y="139"/>
                    <a:pt x="365" y="139"/>
                    <a:pt x="365" y="139"/>
                  </a:cubicBezTo>
                  <a:cubicBezTo>
                    <a:pt x="366" y="137"/>
                    <a:pt x="366" y="137"/>
                    <a:pt x="366" y="137"/>
                  </a:cubicBezTo>
                  <a:cubicBezTo>
                    <a:pt x="359" y="131"/>
                    <a:pt x="359" y="131"/>
                    <a:pt x="359" y="131"/>
                  </a:cubicBezTo>
                  <a:cubicBezTo>
                    <a:pt x="358" y="130"/>
                    <a:pt x="358" y="130"/>
                    <a:pt x="358" y="130"/>
                  </a:cubicBezTo>
                  <a:cubicBezTo>
                    <a:pt x="359" y="129"/>
                    <a:pt x="359" y="129"/>
                    <a:pt x="359" y="129"/>
                  </a:cubicBezTo>
                  <a:cubicBezTo>
                    <a:pt x="361" y="122"/>
                    <a:pt x="361" y="122"/>
                    <a:pt x="361" y="122"/>
                  </a:cubicBezTo>
                  <a:cubicBezTo>
                    <a:pt x="361" y="121"/>
                    <a:pt x="361" y="121"/>
                    <a:pt x="361" y="121"/>
                  </a:cubicBezTo>
                  <a:cubicBezTo>
                    <a:pt x="362" y="121"/>
                    <a:pt x="362" y="121"/>
                    <a:pt x="362" y="121"/>
                  </a:cubicBezTo>
                  <a:cubicBezTo>
                    <a:pt x="367" y="117"/>
                    <a:pt x="367" y="117"/>
                    <a:pt x="367" y="117"/>
                  </a:cubicBezTo>
                  <a:cubicBezTo>
                    <a:pt x="360" y="111"/>
                    <a:pt x="360" y="111"/>
                    <a:pt x="360" y="111"/>
                  </a:cubicBezTo>
                  <a:cubicBezTo>
                    <a:pt x="359" y="111"/>
                    <a:pt x="359" y="111"/>
                    <a:pt x="359" y="111"/>
                  </a:cubicBezTo>
                  <a:cubicBezTo>
                    <a:pt x="359" y="110"/>
                    <a:pt x="359" y="110"/>
                    <a:pt x="359" y="110"/>
                  </a:cubicBezTo>
                  <a:cubicBezTo>
                    <a:pt x="359" y="102"/>
                    <a:pt x="359" y="102"/>
                    <a:pt x="359" y="102"/>
                  </a:cubicBezTo>
                  <a:cubicBezTo>
                    <a:pt x="359" y="100"/>
                    <a:pt x="359" y="100"/>
                    <a:pt x="359" y="100"/>
                  </a:cubicBezTo>
                  <a:cubicBezTo>
                    <a:pt x="360" y="100"/>
                    <a:pt x="360" y="100"/>
                    <a:pt x="360" y="100"/>
                  </a:cubicBezTo>
                  <a:cubicBezTo>
                    <a:pt x="367" y="96"/>
                    <a:pt x="367" y="96"/>
                    <a:pt x="367" y="96"/>
                  </a:cubicBezTo>
                  <a:cubicBezTo>
                    <a:pt x="370" y="90"/>
                    <a:pt x="370" y="90"/>
                    <a:pt x="370" y="90"/>
                  </a:cubicBezTo>
                  <a:cubicBezTo>
                    <a:pt x="366" y="85"/>
                    <a:pt x="366" y="85"/>
                    <a:pt x="366" y="85"/>
                  </a:cubicBezTo>
                  <a:cubicBezTo>
                    <a:pt x="355" y="77"/>
                    <a:pt x="355" y="77"/>
                    <a:pt x="355" y="77"/>
                  </a:cubicBezTo>
                  <a:cubicBezTo>
                    <a:pt x="355" y="77"/>
                    <a:pt x="355" y="77"/>
                    <a:pt x="355" y="77"/>
                  </a:cubicBezTo>
                  <a:cubicBezTo>
                    <a:pt x="355" y="77"/>
                    <a:pt x="355" y="77"/>
                    <a:pt x="355" y="77"/>
                  </a:cubicBezTo>
                  <a:cubicBezTo>
                    <a:pt x="351" y="72"/>
                    <a:pt x="351" y="72"/>
                    <a:pt x="351" y="72"/>
                  </a:cubicBezTo>
                  <a:cubicBezTo>
                    <a:pt x="350" y="71"/>
                    <a:pt x="350" y="71"/>
                    <a:pt x="350" y="71"/>
                  </a:cubicBezTo>
                  <a:cubicBezTo>
                    <a:pt x="352" y="69"/>
                    <a:pt x="352" y="69"/>
                    <a:pt x="352" y="69"/>
                  </a:cubicBezTo>
                  <a:cubicBezTo>
                    <a:pt x="371" y="55"/>
                    <a:pt x="371" y="55"/>
                    <a:pt x="371" y="55"/>
                  </a:cubicBezTo>
                  <a:cubicBezTo>
                    <a:pt x="371" y="51"/>
                    <a:pt x="371" y="51"/>
                    <a:pt x="371" y="51"/>
                  </a:cubicBezTo>
                  <a:cubicBezTo>
                    <a:pt x="357" y="47"/>
                    <a:pt x="357" y="47"/>
                    <a:pt x="357" y="47"/>
                  </a:cubicBezTo>
                  <a:cubicBezTo>
                    <a:pt x="356" y="46"/>
                    <a:pt x="356" y="46"/>
                    <a:pt x="356" y="46"/>
                  </a:cubicBezTo>
                  <a:cubicBezTo>
                    <a:pt x="356" y="45"/>
                    <a:pt x="356" y="45"/>
                    <a:pt x="356" y="45"/>
                  </a:cubicBezTo>
                  <a:cubicBezTo>
                    <a:pt x="356" y="39"/>
                    <a:pt x="356" y="39"/>
                    <a:pt x="356" y="39"/>
                  </a:cubicBezTo>
                  <a:cubicBezTo>
                    <a:pt x="356" y="38"/>
                    <a:pt x="356" y="38"/>
                    <a:pt x="356" y="38"/>
                  </a:cubicBezTo>
                  <a:cubicBezTo>
                    <a:pt x="357" y="37"/>
                    <a:pt x="357" y="37"/>
                    <a:pt x="357" y="37"/>
                  </a:cubicBezTo>
                  <a:cubicBezTo>
                    <a:pt x="365" y="31"/>
                    <a:pt x="365" y="31"/>
                    <a:pt x="365" y="31"/>
                  </a:cubicBezTo>
                  <a:cubicBezTo>
                    <a:pt x="362" y="27"/>
                    <a:pt x="362" y="27"/>
                    <a:pt x="362" y="27"/>
                  </a:cubicBezTo>
                  <a:cubicBezTo>
                    <a:pt x="362" y="27"/>
                    <a:pt x="362" y="27"/>
                    <a:pt x="362" y="27"/>
                  </a:cubicBezTo>
                  <a:cubicBezTo>
                    <a:pt x="362" y="26"/>
                    <a:pt x="362" y="26"/>
                    <a:pt x="362" y="26"/>
                  </a:cubicBezTo>
                  <a:cubicBezTo>
                    <a:pt x="357" y="4"/>
                    <a:pt x="357" y="4"/>
                    <a:pt x="357" y="4"/>
                  </a:cubicBezTo>
                  <a:cubicBezTo>
                    <a:pt x="359" y="3"/>
                    <a:pt x="359" y="3"/>
                    <a:pt x="359" y="3"/>
                  </a:cubicBezTo>
                  <a:cubicBezTo>
                    <a:pt x="344" y="0"/>
                    <a:pt x="344" y="0"/>
                    <a:pt x="344" y="0"/>
                  </a:cubicBezTo>
                  <a:cubicBezTo>
                    <a:pt x="322" y="7"/>
                    <a:pt x="322" y="7"/>
                    <a:pt x="322" y="7"/>
                  </a:cubicBezTo>
                  <a:cubicBezTo>
                    <a:pt x="303" y="16"/>
                    <a:pt x="303" y="16"/>
                    <a:pt x="303" y="16"/>
                  </a:cubicBezTo>
                  <a:cubicBezTo>
                    <a:pt x="303" y="32"/>
                    <a:pt x="303" y="32"/>
                    <a:pt x="303" y="32"/>
                  </a:cubicBezTo>
                  <a:cubicBezTo>
                    <a:pt x="296" y="36"/>
                    <a:pt x="296" y="36"/>
                    <a:pt x="296" y="36"/>
                  </a:cubicBezTo>
                  <a:cubicBezTo>
                    <a:pt x="244" y="31"/>
                    <a:pt x="244" y="31"/>
                    <a:pt x="244" y="31"/>
                  </a:cubicBezTo>
                  <a:cubicBezTo>
                    <a:pt x="228" y="40"/>
                    <a:pt x="228" y="40"/>
                    <a:pt x="228" y="40"/>
                  </a:cubicBezTo>
                  <a:cubicBezTo>
                    <a:pt x="198" y="45"/>
                    <a:pt x="198" y="45"/>
                    <a:pt x="198" y="45"/>
                  </a:cubicBezTo>
                  <a:cubicBezTo>
                    <a:pt x="184" y="52"/>
                    <a:pt x="184" y="52"/>
                    <a:pt x="184" y="52"/>
                  </a:cubicBezTo>
                  <a:cubicBezTo>
                    <a:pt x="146" y="55"/>
                    <a:pt x="146" y="55"/>
                    <a:pt x="146" y="55"/>
                  </a:cubicBezTo>
                  <a:cubicBezTo>
                    <a:pt x="139" y="55"/>
                    <a:pt x="139" y="55"/>
                    <a:pt x="139" y="55"/>
                  </a:cubicBezTo>
                  <a:cubicBezTo>
                    <a:pt x="115" y="55"/>
                    <a:pt x="115" y="55"/>
                    <a:pt x="115" y="55"/>
                  </a:cubicBezTo>
                  <a:cubicBezTo>
                    <a:pt x="98" y="54"/>
                    <a:pt x="98" y="54"/>
                    <a:pt x="98" y="54"/>
                  </a:cubicBezTo>
                  <a:cubicBezTo>
                    <a:pt x="89" y="47"/>
                    <a:pt x="89" y="47"/>
                    <a:pt x="89" y="47"/>
                  </a:cubicBezTo>
                  <a:cubicBezTo>
                    <a:pt x="74" y="48"/>
                    <a:pt x="74" y="48"/>
                    <a:pt x="74" y="48"/>
                  </a:cubicBezTo>
                  <a:cubicBezTo>
                    <a:pt x="64" y="60"/>
                    <a:pt x="64" y="60"/>
                    <a:pt x="64" y="60"/>
                  </a:cubicBezTo>
                  <a:cubicBezTo>
                    <a:pt x="75" y="67"/>
                    <a:pt x="75" y="67"/>
                    <a:pt x="75" y="67"/>
                  </a:cubicBezTo>
                  <a:cubicBezTo>
                    <a:pt x="70" y="76"/>
                    <a:pt x="70" y="76"/>
                    <a:pt x="70" y="76"/>
                  </a:cubicBezTo>
                  <a:cubicBezTo>
                    <a:pt x="60" y="87"/>
                    <a:pt x="60" y="87"/>
                    <a:pt x="60" y="87"/>
                  </a:cubicBezTo>
                  <a:cubicBezTo>
                    <a:pt x="74" y="92"/>
                    <a:pt x="74" y="92"/>
                    <a:pt x="74" y="92"/>
                  </a:cubicBezTo>
                  <a:cubicBezTo>
                    <a:pt x="91" y="92"/>
                    <a:pt x="91" y="92"/>
                    <a:pt x="91" y="92"/>
                  </a:cubicBezTo>
                  <a:cubicBezTo>
                    <a:pt x="98" y="98"/>
                    <a:pt x="98" y="98"/>
                    <a:pt x="98" y="98"/>
                  </a:cubicBezTo>
                  <a:cubicBezTo>
                    <a:pt x="79" y="107"/>
                    <a:pt x="79" y="107"/>
                    <a:pt x="79" y="107"/>
                  </a:cubicBezTo>
                  <a:cubicBezTo>
                    <a:pt x="67" y="110"/>
                    <a:pt x="67" y="110"/>
                    <a:pt x="67" y="110"/>
                  </a:cubicBezTo>
                  <a:cubicBezTo>
                    <a:pt x="67" y="121"/>
                    <a:pt x="67" y="121"/>
                    <a:pt x="67" y="121"/>
                  </a:cubicBezTo>
                  <a:cubicBezTo>
                    <a:pt x="89" y="123"/>
                    <a:pt x="89" y="123"/>
                    <a:pt x="89" y="123"/>
                  </a:cubicBezTo>
                  <a:cubicBezTo>
                    <a:pt x="109" y="131"/>
                    <a:pt x="109" y="131"/>
                    <a:pt x="109" y="131"/>
                  </a:cubicBezTo>
                  <a:cubicBezTo>
                    <a:pt x="123" y="138"/>
                    <a:pt x="123" y="138"/>
                    <a:pt x="123" y="138"/>
                  </a:cubicBezTo>
                  <a:cubicBezTo>
                    <a:pt x="122" y="148"/>
                    <a:pt x="122" y="148"/>
                    <a:pt x="122" y="148"/>
                  </a:cubicBezTo>
                  <a:cubicBezTo>
                    <a:pt x="113" y="154"/>
                    <a:pt x="113" y="154"/>
                    <a:pt x="113" y="154"/>
                  </a:cubicBezTo>
                  <a:cubicBezTo>
                    <a:pt x="93" y="154"/>
                    <a:pt x="93" y="154"/>
                    <a:pt x="93" y="154"/>
                  </a:cubicBezTo>
                  <a:cubicBezTo>
                    <a:pt x="76" y="149"/>
                    <a:pt x="76" y="149"/>
                    <a:pt x="76" y="149"/>
                  </a:cubicBezTo>
                  <a:cubicBezTo>
                    <a:pt x="64" y="149"/>
                    <a:pt x="64" y="149"/>
                    <a:pt x="64" y="149"/>
                  </a:cubicBezTo>
                  <a:cubicBezTo>
                    <a:pt x="52" y="160"/>
                    <a:pt x="52" y="160"/>
                    <a:pt x="52" y="160"/>
                  </a:cubicBezTo>
                  <a:cubicBezTo>
                    <a:pt x="38" y="174"/>
                    <a:pt x="38" y="174"/>
                    <a:pt x="38" y="174"/>
                  </a:cubicBezTo>
                  <a:cubicBezTo>
                    <a:pt x="52" y="192"/>
                    <a:pt x="52" y="192"/>
                    <a:pt x="52" y="192"/>
                  </a:cubicBezTo>
                  <a:cubicBezTo>
                    <a:pt x="55" y="210"/>
                    <a:pt x="55" y="210"/>
                    <a:pt x="55" y="210"/>
                  </a:cubicBezTo>
                  <a:cubicBezTo>
                    <a:pt x="40" y="224"/>
                    <a:pt x="40" y="224"/>
                    <a:pt x="40" y="224"/>
                  </a:cubicBezTo>
                  <a:cubicBezTo>
                    <a:pt x="16" y="231"/>
                    <a:pt x="16" y="231"/>
                    <a:pt x="16" y="231"/>
                  </a:cubicBezTo>
                  <a:cubicBezTo>
                    <a:pt x="0" y="242"/>
                    <a:pt x="0" y="242"/>
                    <a:pt x="0" y="242"/>
                  </a:cubicBezTo>
                  <a:cubicBezTo>
                    <a:pt x="0" y="249"/>
                    <a:pt x="0" y="249"/>
                    <a:pt x="0" y="249"/>
                  </a:cubicBezTo>
                  <a:cubicBezTo>
                    <a:pt x="18" y="262"/>
                    <a:pt x="18" y="262"/>
                    <a:pt x="18" y="262"/>
                  </a:cubicBezTo>
                  <a:cubicBezTo>
                    <a:pt x="14" y="270"/>
                    <a:pt x="14" y="270"/>
                    <a:pt x="14" y="270"/>
                  </a:cubicBezTo>
                  <a:cubicBezTo>
                    <a:pt x="16" y="279"/>
                    <a:pt x="16" y="279"/>
                    <a:pt x="16" y="279"/>
                  </a:cubicBezTo>
                  <a:cubicBezTo>
                    <a:pt x="42" y="279"/>
                    <a:pt x="42" y="279"/>
                    <a:pt x="42" y="279"/>
                  </a:cubicBezTo>
                  <a:cubicBezTo>
                    <a:pt x="46" y="292"/>
                    <a:pt x="46" y="292"/>
                    <a:pt x="46" y="292"/>
                  </a:cubicBezTo>
                  <a:cubicBezTo>
                    <a:pt x="64" y="292"/>
                    <a:pt x="64" y="292"/>
                    <a:pt x="64" y="292"/>
                  </a:cubicBezTo>
                  <a:cubicBezTo>
                    <a:pt x="79" y="305"/>
                    <a:pt x="79" y="305"/>
                    <a:pt x="79" y="305"/>
                  </a:cubicBezTo>
                  <a:cubicBezTo>
                    <a:pt x="79" y="310"/>
                    <a:pt x="79" y="310"/>
                    <a:pt x="79" y="310"/>
                  </a:cubicBezTo>
                  <a:cubicBezTo>
                    <a:pt x="104" y="310"/>
                    <a:pt x="104" y="310"/>
                    <a:pt x="104" y="310"/>
                  </a:cubicBezTo>
                  <a:cubicBezTo>
                    <a:pt x="106" y="310"/>
                    <a:pt x="106" y="310"/>
                    <a:pt x="106" y="310"/>
                  </a:cubicBezTo>
                  <a:close/>
                </a:path>
              </a:pathLst>
            </a:custGeom>
            <a:grp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743024">
                <a:defRPr/>
              </a:pPr>
              <a:endParaRPr lang="ru-RU" sz="1300" kern="0" dirty="0">
                <a:solidFill>
                  <a:sysClr val="windowText" lastClr="000000"/>
                </a:solidFill>
                <a:latin typeface="Arial" panose="020B0604020202020204" pitchFamily="34" charset="0"/>
                <a:cs typeface="Arial" panose="020B0604020202020204" pitchFamily="34" charset="0"/>
              </a:endParaRPr>
            </a:p>
          </p:txBody>
        </p:sp>
        <p:sp>
          <p:nvSpPr>
            <p:cNvPr id="84" name="Freeform 163">
              <a:extLst>
                <a:ext uri="{FF2B5EF4-FFF2-40B4-BE49-F238E27FC236}">
                  <a16:creationId xmlns:a16="http://schemas.microsoft.com/office/drawing/2014/main" id="{9B34A513-ACB5-415F-89E2-5E25C90A8462}"/>
                </a:ext>
              </a:extLst>
            </p:cNvPr>
            <p:cNvSpPr>
              <a:spLocks/>
            </p:cNvSpPr>
            <p:nvPr/>
          </p:nvSpPr>
          <p:spPr bwMode="auto">
            <a:xfrm>
              <a:off x="6459564" y="2296876"/>
              <a:ext cx="932025" cy="1075493"/>
            </a:xfrm>
            <a:custGeom>
              <a:avLst/>
              <a:gdLst>
                <a:gd name="T0" fmla="*/ 14 w 351"/>
                <a:gd name="T1" fmla="*/ 118 h 423"/>
                <a:gd name="T2" fmla="*/ 21 w 351"/>
                <a:gd name="T3" fmla="*/ 126 h 423"/>
                <a:gd name="T4" fmla="*/ 13 w 351"/>
                <a:gd name="T5" fmla="*/ 135 h 423"/>
                <a:gd name="T6" fmla="*/ 17 w 351"/>
                <a:gd name="T7" fmla="*/ 148 h 423"/>
                <a:gd name="T8" fmla="*/ 26 w 351"/>
                <a:gd name="T9" fmla="*/ 147 h 423"/>
                <a:gd name="T10" fmla="*/ 34 w 351"/>
                <a:gd name="T11" fmla="*/ 153 h 423"/>
                <a:gd name="T12" fmla="*/ 32 w 351"/>
                <a:gd name="T13" fmla="*/ 164 h 423"/>
                <a:gd name="T14" fmla="*/ 29 w 351"/>
                <a:gd name="T15" fmla="*/ 172 h 423"/>
                <a:gd name="T16" fmla="*/ 32 w 351"/>
                <a:gd name="T17" fmla="*/ 178 h 423"/>
                <a:gd name="T18" fmla="*/ 45 w 351"/>
                <a:gd name="T19" fmla="*/ 210 h 423"/>
                <a:gd name="T20" fmla="*/ 45 w 351"/>
                <a:gd name="T21" fmla="*/ 244 h 423"/>
                <a:gd name="T22" fmla="*/ 37 w 351"/>
                <a:gd name="T23" fmla="*/ 257 h 423"/>
                <a:gd name="T24" fmla="*/ 51 w 351"/>
                <a:gd name="T25" fmla="*/ 281 h 423"/>
                <a:gd name="T26" fmla="*/ 29 w 351"/>
                <a:gd name="T27" fmla="*/ 308 h 423"/>
                <a:gd name="T28" fmla="*/ 38 w 351"/>
                <a:gd name="T29" fmla="*/ 311 h 423"/>
                <a:gd name="T30" fmla="*/ 60 w 351"/>
                <a:gd name="T31" fmla="*/ 341 h 423"/>
                <a:gd name="T32" fmla="*/ 50 w 351"/>
                <a:gd name="T33" fmla="*/ 351 h 423"/>
                <a:gd name="T34" fmla="*/ 90 w 351"/>
                <a:gd name="T35" fmla="*/ 370 h 423"/>
                <a:gd name="T36" fmla="*/ 99 w 351"/>
                <a:gd name="T37" fmla="*/ 380 h 423"/>
                <a:gd name="T38" fmla="*/ 110 w 351"/>
                <a:gd name="T39" fmla="*/ 380 h 423"/>
                <a:gd name="T40" fmla="*/ 126 w 351"/>
                <a:gd name="T41" fmla="*/ 391 h 423"/>
                <a:gd name="T42" fmla="*/ 128 w 351"/>
                <a:gd name="T43" fmla="*/ 410 h 423"/>
                <a:gd name="T44" fmla="*/ 145 w 351"/>
                <a:gd name="T45" fmla="*/ 405 h 423"/>
                <a:gd name="T46" fmla="*/ 160 w 351"/>
                <a:gd name="T47" fmla="*/ 401 h 423"/>
                <a:gd name="T48" fmla="*/ 175 w 351"/>
                <a:gd name="T49" fmla="*/ 394 h 423"/>
                <a:gd name="T50" fmla="*/ 231 w 351"/>
                <a:gd name="T51" fmla="*/ 349 h 423"/>
                <a:gd name="T52" fmla="*/ 248 w 351"/>
                <a:gd name="T53" fmla="*/ 348 h 423"/>
                <a:gd name="T54" fmla="*/ 254 w 351"/>
                <a:gd name="T55" fmla="*/ 353 h 423"/>
                <a:gd name="T56" fmla="*/ 274 w 351"/>
                <a:gd name="T57" fmla="*/ 355 h 423"/>
                <a:gd name="T58" fmla="*/ 284 w 351"/>
                <a:gd name="T59" fmla="*/ 362 h 423"/>
                <a:gd name="T60" fmla="*/ 290 w 351"/>
                <a:gd name="T61" fmla="*/ 392 h 423"/>
                <a:gd name="T62" fmla="*/ 340 w 351"/>
                <a:gd name="T63" fmla="*/ 373 h 423"/>
                <a:gd name="T64" fmla="*/ 343 w 351"/>
                <a:gd name="T65" fmla="*/ 368 h 423"/>
                <a:gd name="T66" fmla="*/ 338 w 351"/>
                <a:gd name="T67" fmla="*/ 352 h 423"/>
                <a:gd name="T68" fmla="*/ 305 w 351"/>
                <a:gd name="T69" fmla="*/ 308 h 423"/>
                <a:gd name="T70" fmla="*/ 305 w 351"/>
                <a:gd name="T71" fmla="*/ 289 h 423"/>
                <a:gd name="T72" fmla="*/ 328 w 351"/>
                <a:gd name="T73" fmla="*/ 268 h 423"/>
                <a:gd name="T74" fmla="*/ 351 w 351"/>
                <a:gd name="T75" fmla="*/ 222 h 423"/>
                <a:gd name="T76" fmla="*/ 229 w 351"/>
                <a:gd name="T77" fmla="*/ 78 h 423"/>
                <a:gd name="T78" fmla="*/ 172 w 351"/>
                <a:gd name="T79" fmla="*/ 30 h 423"/>
                <a:gd name="T80" fmla="*/ 189 w 351"/>
                <a:gd name="T81" fmla="*/ 0 h 423"/>
                <a:gd name="T82" fmla="*/ 151 w 351"/>
                <a:gd name="T83" fmla="*/ 15 h 423"/>
                <a:gd name="T84" fmla="*/ 115 w 351"/>
                <a:gd name="T85" fmla="*/ 42 h 423"/>
                <a:gd name="T86" fmla="*/ 65 w 351"/>
                <a:gd name="T87" fmla="*/ 85 h 423"/>
                <a:gd name="T88" fmla="*/ 35 w 351"/>
                <a:gd name="T89" fmla="*/ 93 h 423"/>
                <a:gd name="T90" fmla="*/ 0 w 351"/>
                <a:gd name="T91" fmla="*/ 108 h 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51" h="423">
                  <a:moveTo>
                    <a:pt x="2" y="121"/>
                  </a:moveTo>
                  <a:cubicBezTo>
                    <a:pt x="3" y="121"/>
                    <a:pt x="3" y="121"/>
                    <a:pt x="3" y="121"/>
                  </a:cubicBezTo>
                  <a:cubicBezTo>
                    <a:pt x="14" y="118"/>
                    <a:pt x="14" y="118"/>
                    <a:pt x="14" y="118"/>
                  </a:cubicBezTo>
                  <a:cubicBezTo>
                    <a:pt x="15" y="118"/>
                    <a:pt x="15" y="118"/>
                    <a:pt x="15" y="118"/>
                  </a:cubicBezTo>
                  <a:cubicBezTo>
                    <a:pt x="16" y="120"/>
                    <a:pt x="16" y="120"/>
                    <a:pt x="16" y="120"/>
                  </a:cubicBezTo>
                  <a:cubicBezTo>
                    <a:pt x="21" y="126"/>
                    <a:pt x="21" y="126"/>
                    <a:pt x="21" y="126"/>
                  </a:cubicBezTo>
                  <a:cubicBezTo>
                    <a:pt x="22" y="127"/>
                    <a:pt x="22" y="127"/>
                    <a:pt x="22" y="127"/>
                  </a:cubicBezTo>
                  <a:cubicBezTo>
                    <a:pt x="20" y="128"/>
                    <a:pt x="20" y="128"/>
                    <a:pt x="20" y="128"/>
                  </a:cubicBezTo>
                  <a:cubicBezTo>
                    <a:pt x="13" y="135"/>
                    <a:pt x="13" y="135"/>
                    <a:pt x="13" y="135"/>
                  </a:cubicBezTo>
                  <a:cubicBezTo>
                    <a:pt x="9" y="140"/>
                    <a:pt x="9" y="140"/>
                    <a:pt x="9" y="140"/>
                  </a:cubicBezTo>
                  <a:cubicBezTo>
                    <a:pt x="10" y="142"/>
                    <a:pt x="10" y="142"/>
                    <a:pt x="10" y="142"/>
                  </a:cubicBezTo>
                  <a:cubicBezTo>
                    <a:pt x="17" y="148"/>
                    <a:pt x="17" y="148"/>
                    <a:pt x="17" y="148"/>
                  </a:cubicBezTo>
                  <a:cubicBezTo>
                    <a:pt x="25" y="147"/>
                    <a:pt x="25" y="147"/>
                    <a:pt x="25" y="147"/>
                  </a:cubicBezTo>
                  <a:cubicBezTo>
                    <a:pt x="26" y="147"/>
                    <a:pt x="26" y="147"/>
                    <a:pt x="26" y="147"/>
                  </a:cubicBezTo>
                  <a:cubicBezTo>
                    <a:pt x="26" y="147"/>
                    <a:pt x="26" y="147"/>
                    <a:pt x="26" y="147"/>
                  </a:cubicBezTo>
                  <a:cubicBezTo>
                    <a:pt x="33" y="151"/>
                    <a:pt x="33" y="151"/>
                    <a:pt x="33" y="151"/>
                  </a:cubicBezTo>
                  <a:cubicBezTo>
                    <a:pt x="35" y="152"/>
                    <a:pt x="35" y="152"/>
                    <a:pt x="35" y="152"/>
                  </a:cubicBezTo>
                  <a:cubicBezTo>
                    <a:pt x="34" y="153"/>
                    <a:pt x="34" y="153"/>
                    <a:pt x="34" y="153"/>
                  </a:cubicBezTo>
                  <a:cubicBezTo>
                    <a:pt x="34" y="162"/>
                    <a:pt x="34" y="162"/>
                    <a:pt x="34" y="162"/>
                  </a:cubicBezTo>
                  <a:cubicBezTo>
                    <a:pt x="34" y="164"/>
                    <a:pt x="34" y="164"/>
                    <a:pt x="34" y="164"/>
                  </a:cubicBezTo>
                  <a:cubicBezTo>
                    <a:pt x="32" y="164"/>
                    <a:pt x="32" y="164"/>
                    <a:pt x="32" y="164"/>
                  </a:cubicBezTo>
                  <a:cubicBezTo>
                    <a:pt x="25" y="165"/>
                    <a:pt x="25" y="165"/>
                    <a:pt x="25" y="165"/>
                  </a:cubicBezTo>
                  <a:cubicBezTo>
                    <a:pt x="29" y="172"/>
                    <a:pt x="29" y="172"/>
                    <a:pt x="29" y="172"/>
                  </a:cubicBezTo>
                  <a:cubicBezTo>
                    <a:pt x="29" y="172"/>
                    <a:pt x="29" y="172"/>
                    <a:pt x="29" y="172"/>
                  </a:cubicBezTo>
                  <a:cubicBezTo>
                    <a:pt x="29" y="172"/>
                    <a:pt x="29" y="172"/>
                    <a:pt x="29" y="172"/>
                  </a:cubicBezTo>
                  <a:cubicBezTo>
                    <a:pt x="29" y="172"/>
                    <a:pt x="31" y="175"/>
                    <a:pt x="32" y="178"/>
                  </a:cubicBezTo>
                  <a:cubicBezTo>
                    <a:pt x="32" y="178"/>
                    <a:pt x="32" y="178"/>
                    <a:pt x="32" y="178"/>
                  </a:cubicBezTo>
                  <a:cubicBezTo>
                    <a:pt x="32" y="178"/>
                    <a:pt x="32" y="178"/>
                    <a:pt x="32" y="178"/>
                  </a:cubicBezTo>
                  <a:cubicBezTo>
                    <a:pt x="33" y="182"/>
                    <a:pt x="35" y="185"/>
                    <a:pt x="35" y="185"/>
                  </a:cubicBezTo>
                  <a:cubicBezTo>
                    <a:pt x="45" y="210"/>
                    <a:pt x="45" y="210"/>
                    <a:pt x="45" y="210"/>
                  </a:cubicBezTo>
                  <a:cubicBezTo>
                    <a:pt x="45" y="210"/>
                    <a:pt x="45" y="210"/>
                    <a:pt x="45" y="210"/>
                  </a:cubicBezTo>
                  <a:cubicBezTo>
                    <a:pt x="45" y="210"/>
                    <a:pt x="45" y="210"/>
                    <a:pt x="45" y="210"/>
                  </a:cubicBezTo>
                  <a:cubicBezTo>
                    <a:pt x="45" y="244"/>
                    <a:pt x="45" y="244"/>
                    <a:pt x="45" y="244"/>
                  </a:cubicBezTo>
                  <a:cubicBezTo>
                    <a:pt x="45" y="244"/>
                    <a:pt x="45" y="244"/>
                    <a:pt x="45" y="244"/>
                  </a:cubicBezTo>
                  <a:cubicBezTo>
                    <a:pt x="44" y="245"/>
                    <a:pt x="44" y="245"/>
                    <a:pt x="44" y="245"/>
                  </a:cubicBezTo>
                  <a:cubicBezTo>
                    <a:pt x="37" y="257"/>
                    <a:pt x="37" y="257"/>
                    <a:pt x="37" y="257"/>
                  </a:cubicBezTo>
                  <a:cubicBezTo>
                    <a:pt x="38" y="266"/>
                    <a:pt x="38" y="266"/>
                    <a:pt x="38" y="266"/>
                  </a:cubicBezTo>
                  <a:cubicBezTo>
                    <a:pt x="49" y="279"/>
                    <a:pt x="49" y="279"/>
                    <a:pt x="49" y="279"/>
                  </a:cubicBezTo>
                  <a:cubicBezTo>
                    <a:pt x="51" y="281"/>
                    <a:pt x="51" y="281"/>
                    <a:pt x="51" y="281"/>
                  </a:cubicBezTo>
                  <a:cubicBezTo>
                    <a:pt x="49" y="282"/>
                    <a:pt x="49" y="282"/>
                    <a:pt x="49" y="282"/>
                  </a:cubicBezTo>
                  <a:cubicBezTo>
                    <a:pt x="42" y="286"/>
                    <a:pt x="42" y="286"/>
                    <a:pt x="42" y="286"/>
                  </a:cubicBezTo>
                  <a:cubicBezTo>
                    <a:pt x="29" y="308"/>
                    <a:pt x="29" y="308"/>
                    <a:pt x="29" y="308"/>
                  </a:cubicBezTo>
                  <a:cubicBezTo>
                    <a:pt x="36" y="309"/>
                    <a:pt x="36" y="309"/>
                    <a:pt x="36" y="309"/>
                  </a:cubicBezTo>
                  <a:cubicBezTo>
                    <a:pt x="37" y="309"/>
                    <a:pt x="37" y="309"/>
                    <a:pt x="37" y="309"/>
                  </a:cubicBezTo>
                  <a:cubicBezTo>
                    <a:pt x="38" y="311"/>
                    <a:pt x="38" y="311"/>
                    <a:pt x="38" y="311"/>
                  </a:cubicBezTo>
                  <a:cubicBezTo>
                    <a:pt x="40" y="319"/>
                    <a:pt x="40" y="319"/>
                    <a:pt x="40" y="319"/>
                  </a:cubicBezTo>
                  <a:cubicBezTo>
                    <a:pt x="42" y="321"/>
                    <a:pt x="51" y="330"/>
                    <a:pt x="51" y="330"/>
                  </a:cubicBezTo>
                  <a:cubicBezTo>
                    <a:pt x="60" y="341"/>
                    <a:pt x="60" y="341"/>
                    <a:pt x="60" y="341"/>
                  </a:cubicBezTo>
                  <a:cubicBezTo>
                    <a:pt x="62" y="343"/>
                    <a:pt x="62" y="343"/>
                    <a:pt x="62" y="343"/>
                  </a:cubicBezTo>
                  <a:cubicBezTo>
                    <a:pt x="60" y="344"/>
                    <a:pt x="60" y="344"/>
                    <a:pt x="60" y="344"/>
                  </a:cubicBezTo>
                  <a:cubicBezTo>
                    <a:pt x="50" y="351"/>
                    <a:pt x="50" y="351"/>
                    <a:pt x="50" y="351"/>
                  </a:cubicBezTo>
                  <a:cubicBezTo>
                    <a:pt x="50" y="357"/>
                    <a:pt x="50" y="357"/>
                    <a:pt x="50" y="357"/>
                  </a:cubicBezTo>
                  <a:cubicBezTo>
                    <a:pt x="57" y="368"/>
                    <a:pt x="57" y="368"/>
                    <a:pt x="57" y="368"/>
                  </a:cubicBezTo>
                  <a:cubicBezTo>
                    <a:pt x="90" y="370"/>
                    <a:pt x="90" y="370"/>
                    <a:pt x="90" y="370"/>
                  </a:cubicBezTo>
                  <a:cubicBezTo>
                    <a:pt x="91" y="370"/>
                    <a:pt x="91" y="370"/>
                    <a:pt x="91" y="370"/>
                  </a:cubicBezTo>
                  <a:cubicBezTo>
                    <a:pt x="91" y="371"/>
                    <a:pt x="91" y="371"/>
                    <a:pt x="91" y="371"/>
                  </a:cubicBezTo>
                  <a:cubicBezTo>
                    <a:pt x="99" y="380"/>
                    <a:pt x="99" y="380"/>
                    <a:pt x="99" y="380"/>
                  </a:cubicBezTo>
                  <a:cubicBezTo>
                    <a:pt x="109" y="380"/>
                    <a:pt x="109" y="380"/>
                    <a:pt x="109" y="380"/>
                  </a:cubicBezTo>
                  <a:cubicBezTo>
                    <a:pt x="109" y="380"/>
                    <a:pt x="109" y="380"/>
                    <a:pt x="109" y="380"/>
                  </a:cubicBezTo>
                  <a:cubicBezTo>
                    <a:pt x="110" y="380"/>
                    <a:pt x="110" y="380"/>
                    <a:pt x="110" y="380"/>
                  </a:cubicBezTo>
                  <a:cubicBezTo>
                    <a:pt x="125" y="389"/>
                    <a:pt x="125" y="389"/>
                    <a:pt x="125" y="389"/>
                  </a:cubicBezTo>
                  <a:cubicBezTo>
                    <a:pt x="126" y="390"/>
                    <a:pt x="126" y="390"/>
                    <a:pt x="126" y="390"/>
                  </a:cubicBezTo>
                  <a:cubicBezTo>
                    <a:pt x="126" y="391"/>
                    <a:pt x="126" y="391"/>
                    <a:pt x="126" y="391"/>
                  </a:cubicBezTo>
                  <a:cubicBezTo>
                    <a:pt x="129" y="409"/>
                    <a:pt x="129" y="409"/>
                    <a:pt x="129" y="409"/>
                  </a:cubicBezTo>
                  <a:cubicBezTo>
                    <a:pt x="129" y="409"/>
                    <a:pt x="129" y="409"/>
                    <a:pt x="129" y="409"/>
                  </a:cubicBezTo>
                  <a:cubicBezTo>
                    <a:pt x="128" y="410"/>
                    <a:pt x="128" y="410"/>
                    <a:pt x="128" y="410"/>
                  </a:cubicBezTo>
                  <a:cubicBezTo>
                    <a:pt x="122" y="421"/>
                    <a:pt x="122" y="421"/>
                    <a:pt x="122" y="421"/>
                  </a:cubicBezTo>
                  <a:cubicBezTo>
                    <a:pt x="130" y="423"/>
                    <a:pt x="130" y="423"/>
                    <a:pt x="130" y="423"/>
                  </a:cubicBezTo>
                  <a:cubicBezTo>
                    <a:pt x="145" y="405"/>
                    <a:pt x="145" y="405"/>
                    <a:pt x="145" y="405"/>
                  </a:cubicBezTo>
                  <a:cubicBezTo>
                    <a:pt x="145" y="405"/>
                    <a:pt x="145" y="405"/>
                    <a:pt x="145" y="405"/>
                  </a:cubicBezTo>
                  <a:cubicBezTo>
                    <a:pt x="146" y="405"/>
                    <a:pt x="146" y="405"/>
                    <a:pt x="146" y="405"/>
                  </a:cubicBezTo>
                  <a:cubicBezTo>
                    <a:pt x="160" y="401"/>
                    <a:pt x="160" y="401"/>
                    <a:pt x="160" y="401"/>
                  </a:cubicBezTo>
                  <a:cubicBezTo>
                    <a:pt x="173" y="394"/>
                    <a:pt x="173" y="394"/>
                    <a:pt x="173" y="394"/>
                  </a:cubicBezTo>
                  <a:cubicBezTo>
                    <a:pt x="174" y="394"/>
                    <a:pt x="174" y="394"/>
                    <a:pt x="174" y="394"/>
                  </a:cubicBezTo>
                  <a:cubicBezTo>
                    <a:pt x="175" y="394"/>
                    <a:pt x="175" y="394"/>
                    <a:pt x="175" y="394"/>
                  </a:cubicBezTo>
                  <a:cubicBezTo>
                    <a:pt x="191" y="395"/>
                    <a:pt x="191" y="395"/>
                    <a:pt x="191" y="395"/>
                  </a:cubicBezTo>
                  <a:cubicBezTo>
                    <a:pt x="216" y="381"/>
                    <a:pt x="216" y="381"/>
                    <a:pt x="216" y="381"/>
                  </a:cubicBezTo>
                  <a:cubicBezTo>
                    <a:pt x="231" y="349"/>
                    <a:pt x="231" y="349"/>
                    <a:pt x="231" y="349"/>
                  </a:cubicBezTo>
                  <a:cubicBezTo>
                    <a:pt x="231" y="348"/>
                    <a:pt x="231" y="348"/>
                    <a:pt x="231" y="348"/>
                  </a:cubicBezTo>
                  <a:cubicBezTo>
                    <a:pt x="232" y="348"/>
                    <a:pt x="232" y="348"/>
                    <a:pt x="232" y="348"/>
                  </a:cubicBezTo>
                  <a:cubicBezTo>
                    <a:pt x="248" y="348"/>
                    <a:pt x="248" y="348"/>
                    <a:pt x="248" y="348"/>
                  </a:cubicBezTo>
                  <a:cubicBezTo>
                    <a:pt x="248" y="348"/>
                    <a:pt x="248" y="348"/>
                    <a:pt x="248" y="348"/>
                  </a:cubicBezTo>
                  <a:cubicBezTo>
                    <a:pt x="249" y="349"/>
                    <a:pt x="249" y="349"/>
                    <a:pt x="249" y="349"/>
                  </a:cubicBezTo>
                  <a:cubicBezTo>
                    <a:pt x="254" y="353"/>
                    <a:pt x="254" y="353"/>
                    <a:pt x="254" y="353"/>
                  </a:cubicBezTo>
                  <a:cubicBezTo>
                    <a:pt x="273" y="354"/>
                    <a:pt x="273" y="354"/>
                    <a:pt x="273" y="354"/>
                  </a:cubicBezTo>
                  <a:cubicBezTo>
                    <a:pt x="274" y="354"/>
                    <a:pt x="274" y="354"/>
                    <a:pt x="274" y="354"/>
                  </a:cubicBezTo>
                  <a:cubicBezTo>
                    <a:pt x="274" y="355"/>
                    <a:pt x="274" y="355"/>
                    <a:pt x="274" y="355"/>
                  </a:cubicBezTo>
                  <a:cubicBezTo>
                    <a:pt x="283" y="360"/>
                    <a:pt x="283" y="360"/>
                    <a:pt x="283" y="360"/>
                  </a:cubicBezTo>
                  <a:cubicBezTo>
                    <a:pt x="284" y="360"/>
                    <a:pt x="284" y="360"/>
                    <a:pt x="284" y="360"/>
                  </a:cubicBezTo>
                  <a:cubicBezTo>
                    <a:pt x="284" y="362"/>
                    <a:pt x="284" y="362"/>
                    <a:pt x="284" y="362"/>
                  </a:cubicBezTo>
                  <a:cubicBezTo>
                    <a:pt x="281" y="377"/>
                    <a:pt x="281" y="377"/>
                    <a:pt x="281" y="377"/>
                  </a:cubicBezTo>
                  <a:cubicBezTo>
                    <a:pt x="291" y="391"/>
                    <a:pt x="291" y="391"/>
                    <a:pt x="291" y="391"/>
                  </a:cubicBezTo>
                  <a:cubicBezTo>
                    <a:pt x="290" y="392"/>
                    <a:pt x="290" y="392"/>
                    <a:pt x="290" y="392"/>
                  </a:cubicBezTo>
                  <a:cubicBezTo>
                    <a:pt x="298" y="397"/>
                    <a:pt x="298" y="397"/>
                    <a:pt x="298" y="397"/>
                  </a:cubicBezTo>
                  <a:cubicBezTo>
                    <a:pt x="329" y="394"/>
                    <a:pt x="329" y="394"/>
                    <a:pt x="329" y="394"/>
                  </a:cubicBezTo>
                  <a:cubicBezTo>
                    <a:pt x="340" y="373"/>
                    <a:pt x="340" y="373"/>
                    <a:pt x="340" y="373"/>
                  </a:cubicBezTo>
                  <a:cubicBezTo>
                    <a:pt x="340" y="371"/>
                    <a:pt x="340" y="371"/>
                    <a:pt x="340" y="371"/>
                  </a:cubicBezTo>
                  <a:cubicBezTo>
                    <a:pt x="340" y="371"/>
                    <a:pt x="340" y="371"/>
                    <a:pt x="340" y="371"/>
                  </a:cubicBezTo>
                  <a:cubicBezTo>
                    <a:pt x="343" y="368"/>
                    <a:pt x="343" y="368"/>
                    <a:pt x="343" y="368"/>
                  </a:cubicBezTo>
                  <a:cubicBezTo>
                    <a:pt x="342" y="357"/>
                    <a:pt x="342" y="357"/>
                    <a:pt x="342" y="357"/>
                  </a:cubicBezTo>
                  <a:cubicBezTo>
                    <a:pt x="338" y="353"/>
                    <a:pt x="338" y="353"/>
                    <a:pt x="338" y="353"/>
                  </a:cubicBezTo>
                  <a:cubicBezTo>
                    <a:pt x="338" y="352"/>
                    <a:pt x="338" y="352"/>
                    <a:pt x="338" y="352"/>
                  </a:cubicBezTo>
                  <a:cubicBezTo>
                    <a:pt x="338" y="351"/>
                    <a:pt x="338" y="351"/>
                    <a:pt x="338" y="351"/>
                  </a:cubicBezTo>
                  <a:cubicBezTo>
                    <a:pt x="338" y="341"/>
                    <a:pt x="338" y="341"/>
                    <a:pt x="338" y="341"/>
                  </a:cubicBezTo>
                  <a:cubicBezTo>
                    <a:pt x="305" y="308"/>
                    <a:pt x="305" y="308"/>
                    <a:pt x="305" y="308"/>
                  </a:cubicBezTo>
                  <a:cubicBezTo>
                    <a:pt x="305" y="308"/>
                    <a:pt x="305" y="308"/>
                    <a:pt x="305" y="308"/>
                  </a:cubicBezTo>
                  <a:cubicBezTo>
                    <a:pt x="305" y="307"/>
                    <a:pt x="305" y="307"/>
                    <a:pt x="305" y="307"/>
                  </a:cubicBezTo>
                  <a:cubicBezTo>
                    <a:pt x="305" y="289"/>
                    <a:pt x="305" y="289"/>
                    <a:pt x="305" y="289"/>
                  </a:cubicBezTo>
                  <a:cubicBezTo>
                    <a:pt x="305" y="289"/>
                    <a:pt x="305" y="289"/>
                    <a:pt x="305" y="289"/>
                  </a:cubicBezTo>
                  <a:cubicBezTo>
                    <a:pt x="305" y="288"/>
                    <a:pt x="305" y="288"/>
                    <a:pt x="305" y="288"/>
                  </a:cubicBezTo>
                  <a:cubicBezTo>
                    <a:pt x="328" y="268"/>
                    <a:pt x="328" y="268"/>
                    <a:pt x="328" y="268"/>
                  </a:cubicBezTo>
                  <a:cubicBezTo>
                    <a:pt x="344" y="248"/>
                    <a:pt x="344" y="248"/>
                    <a:pt x="344" y="248"/>
                  </a:cubicBezTo>
                  <a:cubicBezTo>
                    <a:pt x="350" y="222"/>
                    <a:pt x="350" y="222"/>
                    <a:pt x="350" y="222"/>
                  </a:cubicBezTo>
                  <a:cubicBezTo>
                    <a:pt x="351" y="222"/>
                    <a:pt x="351" y="222"/>
                    <a:pt x="351" y="222"/>
                  </a:cubicBezTo>
                  <a:cubicBezTo>
                    <a:pt x="278" y="126"/>
                    <a:pt x="278" y="126"/>
                    <a:pt x="278" y="126"/>
                  </a:cubicBezTo>
                  <a:cubicBezTo>
                    <a:pt x="252" y="95"/>
                    <a:pt x="252" y="95"/>
                    <a:pt x="252" y="95"/>
                  </a:cubicBezTo>
                  <a:cubicBezTo>
                    <a:pt x="229" y="78"/>
                    <a:pt x="229" y="78"/>
                    <a:pt x="229" y="78"/>
                  </a:cubicBezTo>
                  <a:cubicBezTo>
                    <a:pt x="176" y="49"/>
                    <a:pt x="176" y="49"/>
                    <a:pt x="176" y="49"/>
                  </a:cubicBezTo>
                  <a:cubicBezTo>
                    <a:pt x="164" y="30"/>
                    <a:pt x="164" y="30"/>
                    <a:pt x="164" y="30"/>
                  </a:cubicBezTo>
                  <a:cubicBezTo>
                    <a:pt x="172" y="30"/>
                    <a:pt x="172" y="30"/>
                    <a:pt x="172" y="30"/>
                  </a:cubicBezTo>
                  <a:cubicBezTo>
                    <a:pt x="184" y="30"/>
                    <a:pt x="184" y="30"/>
                    <a:pt x="184" y="30"/>
                  </a:cubicBezTo>
                  <a:cubicBezTo>
                    <a:pt x="191" y="15"/>
                    <a:pt x="191" y="15"/>
                    <a:pt x="191" y="15"/>
                  </a:cubicBezTo>
                  <a:cubicBezTo>
                    <a:pt x="189" y="0"/>
                    <a:pt x="189" y="0"/>
                    <a:pt x="189" y="0"/>
                  </a:cubicBezTo>
                  <a:cubicBezTo>
                    <a:pt x="180" y="4"/>
                    <a:pt x="180" y="4"/>
                    <a:pt x="180" y="4"/>
                  </a:cubicBezTo>
                  <a:cubicBezTo>
                    <a:pt x="165" y="15"/>
                    <a:pt x="165" y="15"/>
                    <a:pt x="165" y="15"/>
                  </a:cubicBezTo>
                  <a:cubicBezTo>
                    <a:pt x="151" y="15"/>
                    <a:pt x="151" y="15"/>
                    <a:pt x="151" y="15"/>
                  </a:cubicBezTo>
                  <a:cubicBezTo>
                    <a:pt x="150" y="24"/>
                    <a:pt x="150" y="24"/>
                    <a:pt x="150" y="24"/>
                  </a:cubicBezTo>
                  <a:cubicBezTo>
                    <a:pt x="131" y="39"/>
                    <a:pt x="131" y="39"/>
                    <a:pt x="131" y="39"/>
                  </a:cubicBezTo>
                  <a:cubicBezTo>
                    <a:pt x="115" y="42"/>
                    <a:pt x="115" y="42"/>
                    <a:pt x="115" y="42"/>
                  </a:cubicBezTo>
                  <a:cubicBezTo>
                    <a:pt x="102" y="65"/>
                    <a:pt x="102" y="65"/>
                    <a:pt x="102" y="65"/>
                  </a:cubicBezTo>
                  <a:cubicBezTo>
                    <a:pt x="83" y="73"/>
                    <a:pt x="83" y="73"/>
                    <a:pt x="83" y="73"/>
                  </a:cubicBezTo>
                  <a:cubicBezTo>
                    <a:pt x="65" y="85"/>
                    <a:pt x="65" y="85"/>
                    <a:pt x="65" y="85"/>
                  </a:cubicBezTo>
                  <a:cubicBezTo>
                    <a:pt x="60" y="104"/>
                    <a:pt x="60" y="104"/>
                    <a:pt x="60" y="104"/>
                  </a:cubicBezTo>
                  <a:cubicBezTo>
                    <a:pt x="50" y="102"/>
                    <a:pt x="50" y="102"/>
                    <a:pt x="50" y="102"/>
                  </a:cubicBezTo>
                  <a:cubicBezTo>
                    <a:pt x="35" y="93"/>
                    <a:pt x="35" y="93"/>
                    <a:pt x="35" y="93"/>
                  </a:cubicBezTo>
                  <a:cubicBezTo>
                    <a:pt x="20" y="102"/>
                    <a:pt x="20" y="102"/>
                    <a:pt x="20" y="102"/>
                  </a:cubicBezTo>
                  <a:cubicBezTo>
                    <a:pt x="7" y="110"/>
                    <a:pt x="7" y="110"/>
                    <a:pt x="7" y="110"/>
                  </a:cubicBezTo>
                  <a:cubicBezTo>
                    <a:pt x="0" y="108"/>
                    <a:pt x="0" y="108"/>
                    <a:pt x="0" y="108"/>
                  </a:cubicBezTo>
                  <a:cubicBezTo>
                    <a:pt x="2" y="121"/>
                    <a:pt x="2" y="121"/>
                    <a:pt x="2" y="121"/>
                  </a:cubicBezTo>
                </a:path>
              </a:pathLst>
            </a:custGeom>
            <a:grp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743024">
                <a:defRPr/>
              </a:pPr>
              <a:endParaRPr lang="ru-RU" sz="1300" kern="0" dirty="0">
                <a:solidFill>
                  <a:sysClr val="windowText" lastClr="000000"/>
                </a:solidFill>
                <a:latin typeface="Arial" panose="020B0604020202020204" pitchFamily="34" charset="0"/>
                <a:cs typeface="Arial" panose="020B0604020202020204" pitchFamily="34" charset="0"/>
              </a:endParaRPr>
            </a:p>
          </p:txBody>
        </p:sp>
        <p:sp>
          <p:nvSpPr>
            <p:cNvPr id="85" name="Freeform 165">
              <a:extLst>
                <a:ext uri="{FF2B5EF4-FFF2-40B4-BE49-F238E27FC236}">
                  <a16:creationId xmlns:a16="http://schemas.microsoft.com/office/drawing/2014/main" id="{F100433B-EFD3-407D-A590-976BBBBBDC38}"/>
                </a:ext>
              </a:extLst>
            </p:cNvPr>
            <p:cNvSpPr>
              <a:spLocks noEditPoints="1"/>
            </p:cNvSpPr>
            <p:nvPr/>
          </p:nvSpPr>
          <p:spPr bwMode="auto">
            <a:xfrm>
              <a:off x="7149700" y="2871866"/>
              <a:ext cx="1674092" cy="1368215"/>
            </a:xfrm>
            <a:custGeom>
              <a:avLst/>
              <a:gdLst>
                <a:gd name="T0" fmla="*/ 587 w 630"/>
                <a:gd name="T1" fmla="*/ 120 h 539"/>
                <a:gd name="T2" fmla="*/ 566 w 630"/>
                <a:gd name="T3" fmla="*/ 116 h 539"/>
                <a:gd name="T4" fmla="*/ 495 w 630"/>
                <a:gd name="T5" fmla="*/ 131 h 539"/>
                <a:gd name="T6" fmla="*/ 425 w 630"/>
                <a:gd name="T7" fmla="*/ 90 h 539"/>
                <a:gd name="T8" fmla="*/ 366 w 630"/>
                <a:gd name="T9" fmla="*/ 32 h 539"/>
                <a:gd name="T10" fmla="*/ 319 w 630"/>
                <a:gd name="T11" fmla="*/ 47 h 539"/>
                <a:gd name="T12" fmla="*/ 266 w 630"/>
                <a:gd name="T13" fmla="*/ 77 h 539"/>
                <a:gd name="T14" fmla="*/ 224 w 630"/>
                <a:gd name="T15" fmla="*/ 60 h 539"/>
                <a:gd name="T16" fmla="*/ 194 w 630"/>
                <a:gd name="T17" fmla="*/ 35 h 539"/>
                <a:gd name="T18" fmla="*/ 184 w 630"/>
                <a:gd name="T19" fmla="*/ 67 h 539"/>
                <a:gd name="T20" fmla="*/ 93 w 630"/>
                <a:gd name="T21" fmla="*/ 0 h 539"/>
                <a:gd name="T22" fmla="*/ 88 w 630"/>
                <a:gd name="T23" fmla="*/ 24 h 539"/>
                <a:gd name="T24" fmla="*/ 70 w 630"/>
                <a:gd name="T25" fmla="*/ 45 h 539"/>
                <a:gd name="T26" fmla="*/ 81 w 630"/>
                <a:gd name="T27" fmla="*/ 113 h 539"/>
                <a:gd name="T28" fmla="*/ 82 w 630"/>
                <a:gd name="T29" fmla="*/ 124 h 539"/>
                <a:gd name="T30" fmla="*/ 86 w 630"/>
                <a:gd name="T31" fmla="*/ 129 h 539"/>
                <a:gd name="T32" fmla="*/ 87 w 630"/>
                <a:gd name="T33" fmla="*/ 144 h 539"/>
                <a:gd name="T34" fmla="*/ 72 w 630"/>
                <a:gd name="T35" fmla="*/ 172 h 539"/>
                <a:gd name="T36" fmla="*/ 37 w 630"/>
                <a:gd name="T37" fmla="*/ 175 h 539"/>
                <a:gd name="T38" fmla="*/ 1 w 630"/>
                <a:gd name="T39" fmla="*/ 196 h 539"/>
                <a:gd name="T40" fmla="*/ 19 w 630"/>
                <a:gd name="T41" fmla="*/ 249 h 539"/>
                <a:gd name="T42" fmla="*/ 8 w 630"/>
                <a:gd name="T43" fmla="*/ 266 h 539"/>
                <a:gd name="T44" fmla="*/ 28 w 630"/>
                <a:gd name="T45" fmla="*/ 306 h 539"/>
                <a:gd name="T46" fmla="*/ 22 w 630"/>
                <a:gd name="T47" fmla="*/ 321 h 539"/>
                <a:gd name="T48" fmla="*/ 14 w 630"/>
                <a:gd name="T49" fmla="*/ 329 h 539"/>
                <a:gd name="T50" fmla="*/ 5 w 630"/>
                <a:gd name="T51" fmla="*/ 332 h 539"/>
                <a:gd name="T52" fmla="*/ 35 w 630"/>
                <a:gd name="T53" fmla="*/ 371 h 539"/>
                <a:gd name="T54" fmla="*/ 29 w 630"/>
                <a:gd name="T55" fmla="*/ 381 h 539"/>
                <a:gd name="T56" fmla="*/ 21 w 630"/>
                <a:gd name="T57" fmla="*/ 435 h 539"/>
                <a:gd name="T58" fmla="*/ 11 w 630"/>
                <a:gd name="T59" fmla="*/ 452 h 539"/>
                <a:gd name="T60" fmla="*/ 35 w 630"/>
                <a:gd name="T61" fmla="*/ 455 h 539"/>
                <a:gd name="T62" fmla="*/ 44 w 630"/>
                <a:gd name="T63" fmla="*/ 452 h 539"/>
                <a:gd name="T64" fmla="*/ 55 w 630"/>
                <a:gd name="T65" fmla="*/ 444 h 539"/>
                <a:gd name="T66" fmla="*/ 66 w 630"/>
                <a:gd name="T67" fmla="*/ 449 h 539"/>
                <a:gd name="T68" fmla="*/ 84 w 630"/>
                <a:gd name="T69" fmla="*/ 439 h 539"/>
                <a:gd name="T70" fmla="*/ 102 w 630"/>
                <a:gd name="T71" fmla="*/ 433 h 539"/>
                <a:gd name="T72" fmla="*/ 111 w 630"/>
                <a:gd name="T73" fmla="*/ 433 h 539"/>
                <a:gd name="T74" fmla="*/ 148 w 630"/>
                <a:gd name="T75" fmla="*/ 445 h 539"/>
                <a:gd name="T76" fmla="*/ 159 w 630"/>
                <a:gd name="T77" fmla="*/ 439 h 539"/>
                <a:gd name="T78" fmla="*/ 197 w 630"/>
                <a:gd name="T79" fmla="*/ 452 h 539"/>
                <a:gd name="T80" fmla="*/ 207 w 630"/>
                <a:gd name="T81" fmla="*/ 449 h 539"/>
                <a:gd name="T82" fmla="*/ 217 w 630"/>
                <a:gd name="T83" fmla="*/ 438 h 539"/>
                <a:gd name="T84" fmla="*/ 232 w 630"/>
                <a:gd name="T85" fmla="*/ 440 h 539"/>
                <a:gd name="T86" fmla="*/ 314 w 630"/>
                <a:gd name="T87" fmla="*/ 450 h 539"/>
                <a:gd name="T88" fmla="*/ 325 w 630"/>
                <a:gd name="T89" fmla="*/ 451 h 539"/>
                <a:gd name="T90" fmla="*/ 340 w 630"/>
                <a:gd name="T91" fmla="*/ 488 h 539"/>
                <a:gd name="T92" fmla="*/ 376 w 630"/>
                <a:gd name="T93" fmla="*/ 521 h 539"/>
                <a:gd name="T94" fmla="*/ 396 w 630"/>
                <a:gd name="T95" fmla="*/ 539 h 539"/>
                <a:gd name="T96" fmla="*/ 442 w 630"/>
                <a:gd name="T97" fmla="*/ 394 h 539"/>
                <a:gd name="T98" fmla="*/ 511 w 630"/>
                <a:gd name="T99" fmla="*/ 383 h 539"/>
                <a:gd name="T100" fmla="*/ 540 w 630"/>
                <a:gd name="T101" fmla="*/ 385 h 539"/>
                <a:gd name="T102" fmla="*/ 570 w 630"/>
                <a:gd name="T103" fmla="*/ 359 h 539"/>
                <a:gd name="T104" fmla="*/ 550 w 630"/>
                <a:gd name="T105" fmla="*/ 278 h 539"/>
                <a:gd name="T106" fmla="*/ 582 w 630"/>
                <a:gd name="T107" fmla="*/ 225 h 539"/>
                <a:gd name="T108" fmla="*/ 607 w 630"/>
                <a:gd name="T109" fmla="*/ 184 h 539"/>
                <a:gd name="T110" fmla="*/ 613 w 630"/>
                <a:gd name="T111" fmla="*/ 152 h 539"/>
                <a:gd name="T112" fmla="*/ 609 w 630"/>
                <a:gd name="T113" fmla="*/ 138 h 539"/>
                <a:gd name="T114" fmla="*/ 446 w 630"/>
                <a:gd name="T115" fmla="*/ 311 h 539"/>
                <a:gd name="T116" fmla="*/ 393 w 630"/>
                <a:gd name="T117" fmla="*/ 297 h 539"/>
                <a:gd name="T118" fmla="*/ 398 w 630"/>
                <a:gd name="T119" fmla="*/ 284 h 539"/>
                <a:gd name="T120" fmla="*/ 456 w 630"/>
                <a:gd name="T121" fmla="*/ 291 h 539"/>
                <a:gd name="T122" fmla="*/ 477 w 630"/>
                <a:gd name="T123" fmla="*/ 316 h 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30" h="539">
                  <a:moveTo>
                    <a:pt x="609" y="138"/>
                  </a:moveTo>
                  <a:cubicBezTo>
                    <a:pt x="605" y="129"/>
                    <a:pt x="605" y="129"/>
                    <a:pt x="605" y="129"/>
                  </a:cubicBezTo>
                  <a:cubicBezTo>
                    <a:pt x="587" y="120"/>
                    <a:pt x="587" y="120"/>
                    <a:pt x="587" y="120"/>
                  </a:cubicBezTo>
                  <a:cubicBezTo>
                    <a:pt x="585" y="105"/>
                    <a:pt x="585" y="105"/>
                    <a:pt x="585" y="105"/>
                  </a:cubicBezTo>
                  <a:cubicBezTo>
                    <a:pt x="577" y="106"/>
                    <a:pt x="577" y="106"/>
                    <a:pt x="577" y="106"/>
                  </a:cubicBezTo>
                  <a:cubicBezTo>
                    <a:pt x="566" y="116"/>
                    <a:pt x="566" y="116"/>
                    <a:pt x="566" y="116"/>
                  </a:cubicBezTo>
                  <a:cubicBezTo>
                    <a:pt x="554" y="132"/>
                    <a:pt x="554" y="132"/>
                    <a:pt x="554" y="132"/>
                  </a:cubicBezTo>
                  <a:cubicBezTo>
                    <a:pt x="514" y="132"/>
                    <a:pt x="514" y="132"/>
                    <a:pt x="514" y="132"/>
                  </a:cubicBezTo>
                  <a:cubicBezTo>
                    <a:pt x="495" y="131"/>
                    <a:pt x="495" y="131"/>
                    <a:pt x="495" y="131"/>
                  </a:cubicBezTo>
                  <a:cubicBezTo>
                    <a:pt x="478" y="117"/>
                    <a:pt x="478" y="117"/>
                    <a:pt x="478" y="117"/>
                  </a:cubicBezTo>
                  <a:cubicBezTo>
                    <a:pt x="464" y="95"/>
                    <a:pt x="464" y="95"/>
                    <a:pt x="464" y="95"/>
                  </a:cubicBezTo>
                  <a:cubicBezTo>
                    <a:pt x="425" y="90"/>
                    <a:pt x="425" y="90"/>
                    <a:pt x="425" y="90"/>
                  </a:cubicBezTo>
                  <a:cubicBezTo>
                    <a:pt x="398" y="48"/>
                    <a:pt x="398" y="48"/>
                    <a:pt x="398" y="48"/>
                  </a:cubicBezTo>
                  <a:cubicBezTo>
                    <a:pt x="390" y="41"/>
                    <a:pt x="390" y="41"/>
                    <a:pt x="390" y="41"/>
                  </a:cubicBezTo>
                  <a:cubicBezTo>
                    <a:pt x="366" y="32"/>
                    <a:pt x="366" y="32"/>
                    <a:pt x="366" y="32"/>
                  </a:cubicBezTo>
                  <a:cubicBezTo>
                    <a:pt x="346" y="32"/>
                    <a:pt x="346" y="32"/>
                    <a:pt x="346" y="32"/>
                  </a:cubicBezTo>
                  <a:cubicBezTo>
                    <a:pt x="336" y="47"/>
                    <a:pt x="336" y="47"/>
                    <a:pt x="336" y="47"/>
                  </a:cubicBezTo>
                  <a:cubicBezTo>
                    <a:pt x="319" y="47"/>
                    <a:pt x="319" y="47"/>
                    <a:pt x="319" y="47"/>
                  </a:cubicBezTo>
                  <a:cubicBezTo>
                    <a:pt x="302" y="67"/>
                    <a:pt x="302" y="67"/>
                    <a:pt x="302" y="67"/>
                  </a:cubicBezTo>
                  <a:cubicBezTo>
                    <a:pt x="280" y="65"/>
                    <a:pt x="280" y="65"/>
                    <a:pt x="280" y="65"/>
                  </a:cubicBezTo>
                  <a:cubicBezTo>
                    <a:pt x="266" y="77"/>
                    <a:pt x="266" y="77"/>
                    <a:pt x="266" y="77"/>
                  </a:cubicBezTo>
                  <a:cubicBezTo>
                    <a:pt x="246" y="77"/>
                    <a:pt x="246" y="77"/>
                    <a:pt x="246" y="77"/>
                  </a:cubicBezTo>
                  <a:cubicBezTo>
                    <a:pt x="240" y="63"/>
                    <a:pt x="240" y="63"/>
                    <a:pt x="240" y="63"/>
                  </a:cubicBezTo>
                  <a:cubicBezTo>
                    <a:pt x="224" y="60"/>
                    <a:pt x="224" y="60"/>
                    <a:pt x="224" y="60"/>
                  </a:cubicBezTo>
                  <a:cubicBezTo>
                    <a:pt x="220" y="48"/>
                    <a:pt x="220" y="48"/>
                    <a:pt x="220" y="48"/>
                  </a:cubicBezTo>
                  <a:cubicBezTo>
                    <a:pt x="216" y="39"/>
                    <a:pt x="216" y="39"/>
                    <a:pt x="216" y="39"/>
                  </a:cubicBezTo>
                  <a:cubicBezTo>
                    <a:pt x="194" y="35"/>
                    <a:pt x="194" y="35"/>
                    <a:pt x="194" y="35"/>
                  </a:cubicBezTo>
                  <a:cubicBezTo>
                    <a:pt x="182" y="43"/>
                    <a:pt x="182" y="43"/>
                    <a:pt x="182" y="43"/>
                  </a:cubicBezTo>
                  <a:cubicBezTo>
                    <a:pt x="181" y="53"/>
                    <a:pt x="181" y="53"/>
                    <a:pt x="181" y="53"/>
                  </a:cubicBezTo>
                  <a:cubicBezTo>
                    <a:pt x="184" y="67"/>
                    <a:pt x="184" y="67"/>
                    <a:pt x="184" y="67"/>
                  </a:cubicBezTo>
                  <a:cubicBezTo>
                    <a:pt x="174" y="78"/>
                    <a:pt x="174" y="78"/>
                    <a:pt x="174" y="78"/>
                  </a:cubicBezTo>
                  <a:cubicBezTo>
                    <a:pt x="161" y="91"/>
                    <a:pt x="161" y="91"/>
                    <a:pt x="161" y="91"/>
                  </a:cubicBezTo>
                  <a:cubicBezTo>
                    <a:pt x="93" y="0"/>
                    <a:pt x="93" y="0"/>
                    <a:pt x="93" y="0"/>
                  </a:cubicBezTo>
                  <a:cubicBezTo>
                    <a:pt x="88" y="23"/>
                    <a:pt x="88" y="23"/>
                    <a:pt x="88" y="23"/>
                  </a:cubicBezTo>
                  <a:cubicBezTo>
                    <a:pt x="88" y="24"/>
                    <a:pt x="88" y="24"/>
                    <a:pt x="88" y="24"/>
                  </a:cubicBezTo>
                  <a:cubicBezTo>
                    <a:pt x="88" y="24"/>
                    <a:pt x="88" y="24"/>
                    <a:pt x="88" y="24"/>
                  </a:cubicBezTo>
                  <a:cubicBezTo>
                    <a:pt x="71" y="44"/>
                    <a:pt x="71" y="44"/>
                    <a:pt x="71" y="44"/>
                  </a:cubicBezTo>
                  <a:cubicBezTo>
                    <a:pt x="70" y="44"/>
                    <a:pt x="70" y="44"/>
                    <a:pt x="70" y="44"/>
                  </a:cubicBezTo>
                  <a:cubicBezTo>
                    <a:pt x="70" y="45"/>
                    <a:pt x="70" y="45"/>
                    <a:pt x="70" y="45"/>
                  </a:cubicBezTo>
                  <a:cubicBezTo>
                    <a:pt x="49" y="64"/>
                    <a:pt x="49" y="64"/>
                    <a:pt x="49" y="64"/>
                  </a:cubicBezTo>
                  <a:cubicBezTo>
                    <a:pt x="49" y="80"/>
                    <a:pt x="49" y="80"/>
                    <a:pt x="49" y="80"/>
                  </a:cubicBezTo>
                  <a:cubicBezTo>
                    <a:pt x="81" y="113"/>
                    <a:pt x="81" y="113"/>
                    <a:pt x="81" y="113"/>
                  </a:cubicBezTo>
                  <a:cubicBezTo>
                    <a:pt x="82" y="114"/>
                    <a:pt x="82" y="114"/>
                    <a:pt x="82" y="114"/>
                  </a:cubicBezTo>
                  <a:cubicBezTo>
                    <a:pt x="82" y="115"/>
                    <a:pt x="82" y="115"/>
                    <a:pt x="82" y="115"/>
                  </a:cubicBezTo>
                  <a:cubicBezTo>
                    <a:pt x="82" y="124"/>
                    <a:pt x="82" y="124"/>
                    <a:pt x="82" y="124"/>
                  </a:cubicBezTo>
                  <a:cubicBezTo>
                    <a:pt x="86" y="129"/>
                    <a:pt x="86" y="129"/>
                    <a:pt x="86" y="129"/>
                  </a:cubicBezTo>
                  <a:cubicBezTo>
                    <a:pt x="86" y="129"/>
                    <a:pt x="86" y="129"/>
                    <a:pt x="86" y="129"/>
                  </a:cubicBezTo>
                  <a:cubicBezTo>
                    <a:pt x="86" y="129"/>
                    <a:pt x="86" y="129"/>
                    <a:pt x="86" y="129"/>
                  </a:cubicBezTo>
                  <a:cubicBezTo>
                    <a:pt x="88" y="143"/>
                    <a:pt x="88" y="143"/>
                    <a:pt x="88" y="143"/>
                  </a:cubicBezTo>
                  <a:cubicBezTo>
                    <a:pt x="88" y="144"/>
                    <a:pt x="88" y="144"/>
                    <a:pt x="88" y="144"/>
                  </a:cubicBezTo>
                  <a:cubicBezTo>
                    <a:pt x="87" y="144"/>
                    <a:pt x="87" y="144"/>
                    <a:pt x="87" y="144"/>
                  </a:cubicBezTo>
                  <a:cubicBezTo>
                    <a:pt x="83" y="148"/>
                    <a:pt x="83" y="148"/>
                    <a:pt x="83" y="148"/>
                  </a:cubicBezTo>
                  <a:cubicBezTo>
                    <a:pt x="72" y="171"/>
                    <a:pt x="72" y="171"/>
                    <a:pt x="72" y="171"/>
                  </a:cubicBezTo>
                  <a:cubicBezTo>
                    <a:pt x="72" y="172"/>
                    <a:pt x="72" y="172"/>
                    <a:pt x="72" y="172"/>
                  </a:cubicBezTo>
                  <a:cubicBezTo>
                    <a:pt x="70" y="172"/>
                    <a:pt x="70" y="172"/>
                    <a:pt x="70" y="172"/>
                  </a:cubicBezTo>
                  <a:cubicBezTo>
                    <a:pt x="38" y="175"/>
                    <a:pt x="38" y="175"/>
                    <a:pt x="38" y="175"/>
                  </a:cubicBezTo>
                  <a:cubicBezTo>
                    <a:pt x="37" y="175"/>
                    <a:pt x="37" y="175"/>
                    <a:pt x="37" y="175"/>
                  </a:cubicBezTo>
                  <a:cubicBezTo>
                    <a:pt x="37" y="174"/>
                    <a:pt x="37" y="174"/>
                    <a:pt x="37" y="174"/>
                  </a:cubicBezTo>
                  <a:cubicBezTo>
                    <a:pt x="29" y="170"/>
                    <a:pt x="29" y="170"/>
                    <a:pt x="29" y="170"/>
                  </a:cubicBezTo>
                  <a:cubicBezTo>
                    <a:pt x="1" y="196"/>
                    <a:pt x="1" y="196"/>
                    <a:pt x="1" y="196"/>
                  </a:cubicBezTo>
                  <a:cubicBezTo>
                    <a:pt x="0" y="216"/>
                    <a:pt x="0" y="216"/>
                    <a:pt x="0" y="216"/>
                  </a:cubicBezTo>
                  <a:cubicBezTo>
                    <a:pt x="4" y="233"/>
                    <a:pt x="4" y="233"/>
                    <a:pt x="4" y="233"/>
                  </a:cubicBezTo>
                  <a:cubicBezTo>
                    <a:pt x="19" y="249"/>
                    <a:pt x="19" y="249"/>
                    <a:pt x="19" y="249"/>
                  </a:cubicBezTo>
                  <a:cubicBezTo>
                    <a:pt x="20" y="250"/>
                    <a:pt x="20" y="250"/>
                    <a:pt x="20" y="250"/>
                  </a:cubicBezTo>
                  <a:cubicBezTo>
                    <a:pt x="19" y="251"/>
                    <a:pt x="19" y="251"/>
                    <a:pt x="19" y="251"/>
                  </a:cubicBezTo>
                  <a:cubicBezTo>
                    <a:pt x="8" y="266"/>
                    <a:pt x="8" y="266"/>
                    <a:pt x="8" y="266"/>
                  </a:cubicBezTo>
                  <a:cubicBezTo>
                    <a:pt x="9" y="281"/>
                    <a:pt x="9" y="281"/>
                    <a:pt x="9" y="281"/>
                  </a:cubicBezTo>
                  <a:cubicBezTo>
                    <a:pt x="14" y="292"/>
                    <a:pt x="14" y="292"/>
                    <a:pt x="14" y="292"/>
                  </a:cubicBezTo>
                  <a:cubicBezTo>
                    <a:pt x="28" y="306"/>
                    <a:pt x="28" y="306"/>
                    <a:pt x="28" y="306"/>
                  </a:cubicBezTo>
                  <a:cubicBezTo>
                    <a:pt x="29" y="307"/>
                    <a:pt x="29" y="307"/>
                    <a:pt x="29" y="307"/>
                  </a:cubicBezTo>
                  <a:cubicBezTo>
                    <a:pt x="28" y="308"/>
                    <a:pt x="28" y="308"/>
                    <a:pt x="28" y="308"/>
                  </a:cubicBezTo>
                  <a:cubicBezTo>
                    <a:pt x="22" y="321"/>
                    <a:pt x="22" y="321"/>
                    <a:pt x="22" y="321"/>
                  </a:cubicBezTo>
                  <a:cubicBezTo>
                    <a:pt x="22" y="323"/>
                    <a:pt x="22" y="323"/>
                    <a:pt x="22" y="323"/>
                  </a:cubicBezTo>
                  <a:cubicBezTo>
                    <a:pt x="21" y="323"/>
                    <a:pt x="21" y="323"/>
                    <a:pt x="21" y="323"/>
                  </a:cubicBezTo>
                  <a:cubicBezTo>
                    <a:pt x="14" y="329"/>
                    <a:pt x="14" y="329"/>
                    <a:pt x="14" y="329"/>
                  </a:cubicBezTo>
                  <a:cubicBezTo>
                    <a:pt x="13" y="329"/>
                    <a:pt x="13" y="329"/>
                    <a:pt x="13" y="329"/>
                  </a:cubicBezTo>
                  <a:cubicBezTo>
                    <a:pt x="13" y="329"/>
                    <a:pt x="13" y="329"/>
                    <a:pt x="13" y="329"/>
                  </a:cubicBezTo>
                  <a:cubicBezTo>
                    <a:pt x="5" y="332"/>
                    <a:pt x="5" y="332"/>
                    <a:pt x="5" y="332"/>
                  </a:cubicBezTo>
                  <a:cubicBezTo>
                    <a:pt x="6" y="341"/>
                    <a:pt x="6" y="341"/>
                    <a:pt x="6" y="341"/>
                  </a:cubicBezTo>
                  <a:cubicBezTo>
                    <a:pt x="19" y="358"/>
                    <a:pt x="19" y="358"/>
                    <a:pt x="19" y="358"/>
                  </a:cubicBezTo>
                  <a:cubicBezTo>
                    <a:pt x="35" y="371"/>
                    <a:pt x="35" y="371"/>
                    <a:pt x="35" y="371"/>
                  </a:cubicBezTo>
                  <a:cubicBezTo>
                    <a:pt x="37" y="373"/>
                    <a:pt x="37" y="373"/>
                    <a:pt x="37" y="373"/>
                  </a:cubicBezTo>
                  <a:cubicBezTo>
                    <a:pt x="35" y="374"/>
                    <a:pt x="35" y="374"/>
                    <a:pt x="35" y="374"/>
                  </a:cubicBezTo>
                  <a:cubicBezTo>
                    <a:pt x="29" y="381"/>
                    <a:pt x="29" y="381"/>
                    <a:pt x="29" y="381"/>
                  </a:cubicBezTo>
                  <a:cubicBezTo>
                    <a:pt x="22" y="389"/>
                    <a:pt x="22" y="389"/>
                    <a:pt x="22" y="389"/>
                  </a:cubicBezTo>
                  <a:cubicBezTo>
                    <a:pt x="21" y="434"/>
                    <a:pt x="21" y="434"/>
                    <a:pt x="21" y="434"/>
                  </a:cubicBezTo>
                  <a:cubicBezTo>
                    <a:pt x="21" y="435"/>
                    <a:pt x="21" y="435"/>
                    <a:pt x="21" y="435"/>
                  </a:cubicBezTo>
                  <a:cubicBezTo>
                    <a:pt x="20" y="436"/>
                    <a:pt x="20" y="436"/>
                    <a:pt x="20" y="436"/>
                  </a:cubicBezTo>
                  <a:cubicBezTo>
                    <a:pt x="11" y="440"/>
                    <a:pt x="11" y="440"/>
                    <a:pt x="11" y="440"/>
                  </a:cubicBezTo>
                  <a:cubicBezTo>
                    <a:pt x="11" y="452"/>
                    <a:pt x="11" y="452"/>
                    <a:pt x="11" y="452"/>
                  </a:cubicBezTo>
                  <a:cubicBezTo>
                    <a:pt x="24" y="463"/>
                    <a:pt x="24" y="463"/>
                    <a:pt x="24" y="463"/>
                  </a:cubicBezTo>
                  <a:cubicBezTo>
                    <a:pt x="26" y="463"/>
                    <a:pt x="26" y="463"/>
                    <a:pt x="26" y="463"/>
                  </a:cubicBezTo>
                  <a:cubicBezTo>
                    <a:pt x="35" y="455"/>
                    <a:pt x="35" y="455"/>
                    <a:pt x="35" y="455"/>
                  </a:cubicBezTo>
                  <a:cubicBezTo>
                    <a:pt x="35" y="454"/>
                    <a:pt x="35" y="454"/>
                    <a:pt x="35" y="454"/>
                  </a:cubicBezTo>
                  <a:cubicBezTo>
                    <a:pt x="36" y="454"/>
                    <a:pt x="36" y="454"/>
                    <a:pt x="36" y="454"/>
                  </a:cubicBezTo>
                  <a:cubicBezTo>
                    <a:pt x="44" y="452"/>
                    <a:pt x="44" y="452"/>
                    <a:pt x="44" y="452"/>
                  </a:cubicBezTo>
                  <a:cubicBezTo>
                    <a:pt x="52" y="445"/>
                    <a:pt x="52" y="445"/>
                    <a:pt x="52" y="445"/>
                  </a:cubicBezTo>
                  <a:cubicBezTo>
                    <a:pt x="53" y="443"/>
                    <a:pt x="53" y="443"/>
                    <a:pt x="53" y="443"/>
                  </a:cubicBezTo>
                  <a:cubicBezTo>
                    <a:pt x="55" y="444"/>
                    <a:pt x="55" y="444"/>
                    <a:pt x="55" y="444"/>
                  </a:cubicBezTo>
                  <a:cubicBezTo>
                    <a:pt x="62" y="450"/>
                    <a:pt x="62" y="450"/>
                    <a:pt x="62" y="450"/>
                  </a:cubicBezTo>
                  <a:cubicBezTo>
                    <a:pt x="61" y="450"/>
                    <a:pt x="61" y="450"/>
                    <a:pt x="61" y="450"/>
                  </a:cubicBezTo>
                  <a:cubicBezTo>
                    <a:pt x="66" y="449"/>
                    <a:pt x="66" y="449"/>
                    <a:pt x="66" y="449"/>
                  </a:cubicBezTo>
                  <a:cubicBezTo>
                    <a:pt x="84" y="439"/>
                    <a:pt x="84" y="439"/>
                    <a:pt x="84" y="439"/>
                  </a:cubicBezTo>
                  <a:cubicBezTo>
                    <a:pt x="84" y="439"/>
                    <a:pt x="84" y="439"/>
                    <a:pt x="84" y="439"/>
                  </a:cubicBezTo>
                  <a:cubicBezTo>
                    <a:pt x="84" y="439"/>
                    <a:pt x="84" y="439"/>
                    <a:pt x="84" y="439"/>
                  </a:cubicBezTo>
                  <a:cubicBezTo>
                    <a:pt x="101" y="433"/>
                    <a:pt x="101" y="433"/>
                    <a:pt x="101" y="433"/>
                  </a:cubicBezTo>
                  <a:cubicBezTo>
                    <a:pt x="101" y="433"/>
                    <a:pt x="101" y="433"/>
                    <a:pt x="101" y="433"/>
                  </a:cubicBezTo>
                  <a:cubicBezTo>
                    <a:pt x="102" y="433"/>
                    <a:pt x="102" y="433"/>
                    <a:pt x="102" y="433"/>
                  </a:cubicBezTo>
                  <a:cubicBezTo>
                    <a:pt x="110" y="433"/>
                    <a:pt x="110" y="433"/>
                    <a:pt x="110" y="433"/>
                  </a:cubicBezTo>
                  <a:cubicBezTo>
                    <a:pt x="110" y="433"/>
                    <a:pt x="110" y="433"/>
                    <a:pt x="110" y="433"/>
                  </a:cubicBezTo>
                  <a:cubicBezTo>
                    <a:pt x="111" y="433"/>
                    <a:pt x="111" y="433"/>
                    <a:pt x="111" y="433"/>
                  </a:cubicBezTo>
                  <a:cubicBezTo>
                    <a:pt x="125" y="440"/>
                    <a:pt x="125" y="440"/>
                    <a:pt x="125" y="440"/>
                  </a:cubicBezTo>
                  <a:cubicBezTo>
                    <a:pt x="137" y="447"/>
                    <a:pt x="137" y="447"/>
                    <a:pt x="137" y="447"/>
                  </a:cubicBezTo>
                  <a:cubicBezTo>
                    <a:pt x="148" y="445"/>
                    <a:pt x="148" y="445"/>
                    <a:pt x="148" y="445"/>
                  </a:cubicBezTo>
                  <a:cubicBezTo>
                    <a:pt x="156" y="439"/>
                    <a:pt x="156" y="439"/>
                    <a:pt x="156" y="439"/>
                  </a:cubicBezTo>
                  <a:cubicBezTo>
                    <a:pt x="158" y="438"/>
                    <a:pt x="158" y="438"/>
                    <a:pt x="158" y="438"/>
                  </a:cubicBezTo>
                  <a:cubicBezTo>
                    <a:pt x="159" y="439"/>
                    <a:pt x="159" y="439"/>
                    <a:pt x="159" y="439"/>
                  </a:cubicBezTo>
                  <a:cubicBezTo>
                    <a:pt x="176" y="457"/>
                    <a:pt x="176" y="457"/>
                    <a:pt x="176" y="457"/>
                  </a:cubicBezTo>
                  <a:cubicBezTo>
                    <a:pt x="192" y="457"/>
                    <a:pt x="192" y="457"/>
                    <a:pt x="192" y="457"/>
                  </a:cubicBezTo>
                  <a:cubicBezTo>
                    <a:pt x="197" y="452"/>
                    <a:pt x="197" y="452"/>
                    <a:pt x="197" y="452"/>
                  </a:cubicBezTo>
                  <a:cubicBezTo>
                    <a:pt x="198" y="451"/>
                    <a:pt x="198" y="451"/>
                    <a:pt x="198" y="451"/>
                  </a:cubicBezTo>
                  <a:cubicBezTo>
                    <a:pt x="198" y="451"/>
                    <a:pt x="198" y="451"/>
                    <a:pt x="198" y="451"/>
                  </a:cubicBezTo>
                  <a:cubicBezTo>
                    <a:pt x="207" y="449"/>
                    <a:pt x="207" y="449"/>
                    <a:pt x="207" y="449"/>
                  </a:cubicBezTo>
                  <a:cubicBezTo>
                    <a:pt x="216" y="438"/>
                    <a:pt x="216" y="438"/>
                    <a:pt x="216" y="438"/>
                  </a:cubicBezTo>
                  <a:cubicBezTo>
                    <a:pt x="216" y="438"/>
                    <a:pt x="216" y="438"/>
                    <a:pt x="216" y="438"/>
                  </a:cubicBezTo>
                  <a:cubicBezTo>
                    <a:pt x="217" y="438"/>
                    <a:pt x="217" y="438"/>
                    <a:pt x="217" y="438"/>
                  </a:cubicBezTo>
                  <a:cubicBezTo>
                    <a:pt x="231" y="440"/>
                    <a:pt x="231" y="440"/>
                    <a:pt x="231" y="440"/>
                  </a:cubicBezTo>
                  <a:cubicBezTo>
                    <a:pt x="232" y="440"/>
                    <a:pt x="232" y="440"/>
                    <a:pt x="232" y="440"/>
                  </a:cubicBezTo>
                  <a:cubicBezTo>
                    <a:pt x="232" y="440"/>
                    <a:pt x="232" y="440"/>
                    <a:pt x="232" y="440"/>
                  </a:cubicBezTo>
                  <a:cubicBezTo>
                    <a:pt x="249" y="457"/>
                    <a:pt x="249" y="457"/>
                    <a:pt x="249" y="457"/>
                  </a:cubicBezTo>
                  <a:cubicBezTo>
                    <a:pt x="303" y="456"/>
                    <a:pt x="303" y="456"/>
                    <a:pt x="303" y="456"/>
                  </a:cubicBezTo>
                  <a:cubicBezTo>
                    <a:pt x="314" y="450"/>
                    <a:pt x="314" y="450"/>
                    <a:pt x="314" y="450"/>
                  </a:cubicBezTo>
                  <a:cubicBezTo>
                    <a:pt x="314" y="450"/>
                    <a:pt x="314" y="450"/>
                    <a:pt x="314" y="450"/>
                  </a:cubicBezTo>
                  <a:cubicBezTo>
                    <a:pt x="315" y="450"/>
                    <a:pt x="315" y="450"/>
                    <a:pt x="315" y="450"/>
                  </a:cubicBezTo>
                  <a:cubicBezTo>
                    <a:pt x="325" y="451"/>
                    <a:pt x="325" y="451"/>
                    <a:pt x="325" y="451"/>
                  </a:cubicBezTo>
                  <a:cubicBezTo>
                    <a:pt x="326" y="451"/>
                    <a:pt x="326" y="451"/>
                    <a:pt x="326" y="451"/>
                  </a:cubicBezTo>
                  <a:cubicBezTo>
                    <a:pt x="327" y="452"/>
                    <a:pt x="327" y="452"/>
                    <a:pt x="327" y="452"/>
                  </a:cubicBezTo>
                  <a:cubicBezTo>
                    <a:pt x="340" y="488"/>
                    <a:pt x="340" y="488"/>
                    <a:pt x="340" y="488"/>
                  </a:cubicBezTo>
                  <a:cubicBezTo>
                    <a:pt x="344" y="497"/>
                    <a:pt x="344" y="497"/>
                    <a:pt x="344" y="497"/>
                  </a:cubicBezTo>
                  <a:cubicBezTo>
                    <a:pt x="376" y="521"/>
                    <a:pt x="376" y="521"/>
                    <a:pt x="376" y="521"/>
                  </a:cubicBezTo>
                  <a:cubicBezTo>
                    <a:pt x="376" y="521"/>
                    <a:pt x="376" y="521"/>
                    <a:pt x="376" y="521"/>
                  </a:cubicBezTo>
                  <a:cubicBezTo>
                    <a:pt x="377" y="522"/>
                    <a:pt x="377" y="522"/>
                    <a:pt x="377" y="522"/>
                  </a:cubicBezTo>
                  <a:cubicBezTo>
                    <a:pt x="382" y="538"/>
                    <a:pt x="382" y="538"/>
                    <a:pt x="382" y="538"/>
                  </a:cubicBezTo>
                  <a:cubicBezTo>
                    <a:pt x="396" y="539"/>
                    <a:pt x="396" y="539"/>
                    <a:pt x="396" y="539"/>
                  </a:cubicBezTo>
                  <a:cubicBezTo>
                    <a:pt x="410" y="385"/>
                    <a:pt x="410" y="385"/>
                    <a:pt x="410" y="385"/>
                  </a:cubicBezTo>
                  <a:cubicBezTo>
                    <a:pt x="421" y="385"/>
                    <a:pt x="421" y="385"/>
                    <a:pt x="421" y="385"/>
                  </a:cubicBezTo>
                  <a:cubicBezTo>
                    <a:pt x="442" y="394"/>
                    <a:pt x="442" y="394"/>
                    <a:pt x="442" y="394"/>
                  </a:cubicBezTo>
                  <a:cubicBezTo>
                    <a:pt x="469" y="397"/>
                    <a:pt x="469" y="397"/>
                    <a:pt x="469" y="397"/>
                  </a:cubicBezTo>
                  <a:cubicBezTo>
                    <a:pt x="488" y="390"/>
                    <a:pt x="488" y="390"/>
                    <a:pt x="488" y="390"/>
                  </a:cubicBezTo>
                  <a:cubicBezTo>
                    <a:pt x="511" y="383"/>
                    <a:pt x="511" y="383"/>
                    <a:pt x="511" y="383"/>
                  </a:cubicBezTo>
                  <a:cubicBezTo>
                    <a:pt x="520" y="397"/>
                    <a:pt x="520" y="397"/>
                    <a:pt x="520" y="397"/>
                  </a:cubicBezTo>
                  <a:cubicBezTo>
                    <a:pt x="532" y="397"/>
                    <a:pt x="532" y="397"/>
                    <a:pt x="532" y="397"/>
                  </a:cubicBezTo>
                  <a:cubicBezTo>
                    <a:pt x="540" y="385"/>
                    <a:pt x="540" y="385"/>
                    <a:pt x="540" y="385"/>
                  </a:cubicBezTo>
                  <a:cubicBezTo>
                    <a:pt x="548" y="374"/>
                    <a:pt x="548" y="374"/>
                    <a:pt x="548" y="374"/>
                  </a:cubicBezTo>
                  <a:cubicBezTo>
                    <a:pt x="570" y="369"/>
                    <a:pt x="570" y="369"/>
                    <a:pt x="570" y="369"/>
                  </a:cubicBezTo>
                  <a:cubicBezTo>
                    <a:pt x="570" y="359"/>
                    <a:pt x="570" y="359"/>
                    <a:pt x="570" y="359"/>
                  </a:cubicBezTo>
                  <a:cubicBezTo>
                    <a:pt x="576" y="341"/>
                    <a:pt x="576" y="341"/>
                    <a:pt x="576" y="341"/>
                  </a:cubicBezTo>
                  <a:cubicBezTo>
                    <a:pt x="559" y="310"/>
                    <a:pt x="559" y="310"/>
                    <a:pt x="559" y="310"/>
                  </a:cubicBezTo>
                  <a:cubicBezTo>
                    <a:pt x="550" y="278"/>
                    <a:pt x="550" y="278"/>
                    <a:pt x="550" y="278"/>
                  </a:cubicBezTo>
                  <a:cubicBezTo>
                    <a:pt x="552" y="240"/>
                    <a:pt x="552" y="240"/>
                    <a:pt x="552" y="240"/>
                  </a:cubicBezTo>
                  <a:cubicBezTo>
                    <a:pt x="564" y="234"/>
                    <a:pt x="564" y="234"/>
                    <a:pt x="564" y="234"/>
                  </a:cubicBezTo>
                  <a:cubicBezTo>
                    <a:pt x="582" y="225"/>
                    <a:pt x="582" y="225"/>
                    <a:pt x="582" y="225"/>
                  </a:cubicBezTo>
                  <a:cubicBezTo>
                    <a:pt x="595" y="215"/>
                    <a:pt x="595" y="215"/>
                    <a:pt x="595" y="215"/>
                  </a:cubicBezTo>
                  <a:cubicBezTo>
                    <a:pt x="608" y="205"/>
                    <a:pt x="608" y="205"/>
                    <a:pt x="608" y="205"/>
                  </a:cubicBezTo>
                  <a:cubicBezTo>
                    <a:pt x="607" y="184"/>
                    <a:pt x="607" y="184"/>
                    <a:pt x="607" y="184"/>
                  </a:cubicBezTo>
                  <a:cubicBezTo>
                    <a:pt x="595" y="167"/>
                    <a:pt x="595" y="167"/>
                    <a:pt x="595" y="167"/>
                  </a:cubicBezTo>
                  <a:cubicBezTo>
                    <a:pt x="602" y="159"/>
                    <a:pt x="602" y="159"/>
                    <a:pt x="602" y="159"/>
                  </a:cubicBezTo>
                  <a:cubicBezTo>
                    <a:pt x="613" y="152"/>
                    <a:pt x="613" y="152"/>
                    <a:pt x="613" y="152"/>
                  </a:cubicBezTo>
                  <a:cubicBezTo>
                    <a:pt x="629" y="150"/>
                    <a:pt x="629" y="150"/>
                    <a:pt x="629" y="150"/>
                  </a:cubicBezTo>
                  <a:cubicBezTo>
                    <a:pt x="630" y="139"/>
                    <a:pt x="630" y="139"/>
                    <a:pt x="630" y="139"/>
                  </a:cubicBezTo>
                  <a:cubicBezTo>
                    <a:pt x="609" y="138"/>
                    <a:pt x="609" y="138"/>
                    <a:pt x="609" y="138"/>
                  </a:cubicBezTo>
                  <a:close/>
                  <a:moveTo>
                    <a:pt x="477" y="316"/>
                  </a:moveTo>
                  <a:cubicBezTo>
                    <a:pt x="460" y="312"/>
                    <a:pt x="460" y="312"/>
                    <a:pt x="460" y="312"/>
                  </a:cubicBezTo>
                  <a:cubicBezTo>
                    <a:pt x="446" y="311"/>
                    <a:pt x="446" y="311"/>
                    <a:pt x="446" y="311"/>
                  </a:cubicBezTo>
                  <a:cubicBezTo>
                    <a:pt x="433" y="300"/>
                    <a:pt x="433" y="300"/>
                    <a:pt x="433" y="300"/>
                  </a:cubicBezTo>
                  <a:cubicBezTo>
                    <a:pt x="403" y="302"/>
                    <a:pt x="403" y="302"/>
                    <a:pt x="403" y="302"/>
                  </a:cubicBezTo>
                  <a:cubicBezTo>
                    <a:pt x="393" y="297"/>
                    <a:pt x="393" y="297"/>
                    <a:pt x="393" y="297"/>
                  </a:cubicBezTo>
                  <a:cubicBezTo>
                    <a:pt x="387" y="291"/>
                    <a:pt x="387" y="291"/>
                    <a:pt x="387" y="291"/>
                  </a:cubicBezTo>
                  <a:cubicBezTo>
                    <a:pt x="393" y="288"/>
                    <a:pt x="393" y="288"/>
                    <a:pt x="393" y="288"/>
                  </a:cubicBezTo>
                  <a:cubicBezTo>
                    <a:pt x="398" y="284"/>
                    <a:pt x="398" y="284"/>
                    <a:pt x="398" y="284"/>
                  </a:cubicBezTo>
                  <a:cubicBezTo>
                    <a:pt x="438" y="283"/>
                    <a:pt x="438" y="283"/>
                    <a:pt x="438" y="283"/>
                  </a:cubicBezTo>
                  <a:cubicBezTo>
                    <a:pt x="445" y="288"/>
                    <a:pt x="445" y="288"/>
                    <a:pt x="445" y="288"/>
                  </a:cubicBezTo>
                  <a:cubicBezTo>
                    <a:pt x="456" y="291"/>
                    <a:pt x="456" y="291"/>
                    <a:pt x="456" y="291"/>
                  </a:cubicBezTo>
                  <a:cubicBezTo>
                    <a:pt x="478" y="291"/>
                    <a:pt x="478" y="291"/>
                    <a:pt x="478" y="291"/>
                  </a:cubicBezTo>
                  <a:cubicBezTo>
                    <a:pt x="485" y="298"/>
                    <a:pt x="485" y="298"/>
                    <a:pt x="485" y="298"/>
                  </a:cubicBezTo>
                  <a:cubicBezTo>
                    <a:pt x="477" y="316"/>
                    <a:pt x="477" y="316"/>
                    <a:pt x="477" y="316"/>
                  </a:cubicBezTo>
                  <a:close/>
                </a:path>
              </a:pathLst>
            </a:custGeom>
            <a:grp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743024">
                <a:defRPr/>
              </a:pPr>
              <a:endParaRPr lang="ru-RU" sz="1300" kern="0" dirty="0">
                <a:solidFill>
                  <a:sysClr val="windowText" lastClr="000000"/>
                </a:solidFill>
                <a:latin typeface="Arial" panose="020B0604020202020204" pitchFamily="34" charset="0"/>
                <a:cs typeface="Arial" panose="020B0604020202020204" pitchFamily="34" charset="0"/>
              </a:endParaRPr>
            </a:p>
          </p:txBody>
        </p:sp>
        <p:sp>
          <p:nvSpPr>
            <p:cNvPr id="86" name="Freeform 167">
              <a:extLst>
                <a:ext uri="{FF2B5EF4-FFF2-40B4-BE49-F238E27FC236}">
                  <a16:creationId xmlns:a16="http://schemas.microsoft.com/office/drawing/2014/main" id="{EF3FC8D6-04FB-43F9-945E-059ADF4AC39B}"/>
                </a:ext>
              </a:extLst>
            </p:cNvPr>
            <p:cNvSpPr>
              <a:spLocks/>
            </p:cNvSpPr>
            <p:nvPr/>
          </p:nvSpPr>
          <p:spPr bwMode="auto">
            <a:xfrm>
              <a:off x="5370380" y="2140060"/>
              <a:ext cx="1168448" cy="734420"/>
            </a:xfrm>
            <a:custGeom>
              <a:avLst/>
              <a:gdLst>
                <a:gd name="T0" fmla="*/ 18 w 440"/>
                <a:gd name="T1" fmla="*/ 106 h 289"/>
                <a:gd name="T2" fmla="*/ 22 w 440"/>
                <a:gd name="T3" fmla="*/ 120 h 289"/>
                <a:gd name="T4" fmla="*/ 24 w 440"/>
                <a:gd name="T5" fmla="*/ 129 h 289"/>
                <a:gd name="T6" fmla="*/ 5 w 440"/>
                <a:gd name="T7" fmla="*/ 144 h 289"/>
                <a:gd name="T8" fmla="*/ 17 w 440"/>
                <a:gd name="T9" fmla="*/ 154 h 289"/>
                <a:gd name="T10" fmla="*/ 24 w 440"/>
                <a:gd name="T11" fmla="*/ 162 h 289"/>
                <a:gd name="T12" fmla="*/ 19 w 440"/>
                <a:gd name="T13" fmla="*/ 171 h 289"/>
                <a:gd name="T14" fmla="*/ 12 w 440"/>
                <a:gd name="T15" fmla="*/ 181 h 289"/>
                <a:gd name="T16" fmla="*/ 21 w 440"/>
                <a:gd name="T17" fmla="*/ 190 h 289"/>
                <a:gd name="T18" fmla="*/ 19 w 440"/>
                <a:gd name="T19" fmla="*/ 208 h 289"/>
                <a:gd name="T20" fmla="*/ 16 w 440"/>
                <a:gd name="T21" fmla="*/ 214 h 289"/>
                <a:gd name="T22" fmla="*/ 6 w 440"/>
                <a:gd name="T23" fmla="*/ 217 h 289"/>
                <a:gd name="T24" fmla="*/ 32 w 440"/>
                <a:gd name="T25" fmla="*/ 285 h 289"/>
                <a:gd name="T26" fmla="*/ 54 w 440"/>
                <a:gd name="T27" fmla="*/ 289 h 289"/>
                <a:gd name="T28" fmla="*/ 71 w 440"/>
                <a:gd name="T29" fmla="*/ 269 h 289"/>
                <a:gd name="T30" fmla="*/ 147 w 440"/>
                <a:gd name="T31" fmla="*/ 239 h 289"/>
                <a:gd name="T32" fmla="*/ 130 w 440"/>
                <a:gd name="T33" fmla="*/ 189 h 289"/>
                <a:gd name="T34" fmla="*/ 148 w 440"/>
                <a:gd name="T35" fmla="*/ 169 h 289"/>
                <a:gd name="T36" fmla="*/ 168 w 440"/>
                <a:gd name="T37" fmla="*/ 164 h 289"/>
                <a:gd name="T38" fmla="*/ 194 w 440"/>
                <a:gd name="T39" fmla="*/ 159 h 289"/>
                <a:gd name="T40" fmla="*/ 213 w 440"/>
                <a:gd name="T41" fmla="*/ 162 h 289"/>
                <a:gd name="T42" fmla="*/ 216 w 440"/>
                <a:gd name="T43" fmla="*/ 176 h 289"/>
                <a:gd name="T44" fmla="*/ 228 w 440"/>
                <a:gd name="T45" fmla="*/ 181 h 289"/>
                <a:gd name="T46" fmla="*/ 251 w 440"/>
                <a:gd name="T47" fmla="*/ 185 h 289"/>
                <a:gd name="T48" fmla="*/ 303 w 440"/>
                <a:gd name="T49" fmla="*/ 190 h 289"/>
                <a:gd name="T50" fmla="*/ 319 w 440"/>
                <a:gd name="T51" fmla="*/ 206 h 289"/>
                <a:gd name="T52" fmla="*/ 331 w 440"/>
                <a:gd name="T53" fmla="*/ 223 h 289"/>
                <a:gd name="T54" fmla="*/ 379 w 440"/>
                <a:gd name="T55" fmla="*/ 213 h 289"/>
                <a:gd name="T56" fmla="*/ 395 w 440"/>
                <a:gd name="T57" fmla="*/ 233 h 289"/>
                <a:gd name="T58" fmla="*/ 414 w 440"/>
                <a:gd name="T59" fmla="*/ 238 h 289"/>
                <a:gd name="T60" fmla="*/ 430 w 440"/>
                <a:gd name="T61" fmla="*/ 227 h 289"/>
                <a:gd name="T62" fmla="*/ 440 w 440"/>
                <a:gd name="T63" fmla="*/ 222 h 289"/>
                <a:gd name="T64" fmla="*/ 427 w 440"/>
                <a:gd name="T65" fmla="*/ 214 h 289"/>
                <a:gd name="T66" fmla="*/ 417 w 440"/>
                <a:gd name="T67" fmla="*/ 207 h 289"/>
                <a:gd name="T68" fmla="*/ 415 w 440"/>
                <a:gd name="T69" fmla="*/ 202 h 289"/>
                <a:gd name="T70" fmla="*/ 420 w 440"/>
                <a:gd name="T71" fmla="*/ 194 h 289"/>
                <a:gd name="T72" fmla="*/ 426 w 440"/>
                <a:gd name="T73" fmla="*/ 189 h 289"/>
                <a:gd name="T74" fmla="*/ 412 w 440"/>
                <a:gd name="T75" fmla="*/ 189 h 289"/>
                <a:gd name="T76" fmla="*/ 406 w 440"/>
                <a:gd name="T77" fmla="*/ 169 h 289"/>
                <a:gd name="T78" fmla="*/ 410 w 440"/>
                <a:gd name="T79" fmla="*/ 151 h 289"/>
                <a:gd name="T80" fmla="*/ 437 w 440"/>
                <a:gd name="T81" fmla="*/ 127 h 289"/>
                <a:gd name="T82" fmla="*/ 396 w 440"/>
                <a:gd name="T83" fmla="*/ 125 h 289"/>
                <a:gd name="T84" fmla="*/ 369 w 440"/>
                <a:gd name="T85" fmla="*/ 123 h 289"/>
                <a:gd name="T86" fmla="*/ 355 w 440"/>
                <a:gd name="T87" fmla="*/ 113 h 289"/>
                <a:gd name="T88" fmla="*/ 306 w 440"/>
                <a:gd name="T89" fmla="*/ 121 h 289"/>
                <a:gd name="T90" fmla="*/ 272 w 440"/>
                <a:gd name="T91" fmla="*/ 105 h 289"/>
                <a:gd name="T92" fmla="*/ 286 w 440"/>
                <a:gd name="T93" fmla="*/ 68 h 289"/>
                <a:gd name="T94" fmla="*/ 258 w 440"/>
                <a:gd name="T95" fmla="*/ 6 h 289"/>
                <a:gd name="T96" fmla="*/ 190 w 440"/>
                <a:gd name="T97" fmla="*/ 7 h 289"/>
                <a:gd name="T98" fmla="*/ 136 w 440"/>
                <a:gd name="T99" fmla="*/ 17 h 289"/>
                <a:gd name="T100" fmla="*/ 99 w 440"/>
                <a:gd name="T101" fmla="*/ 44 h 289"/>
                <a:gd name="T102" fmla="*/ 15 w 440"/>
                <a:gd name="T103"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40" h="289">
                  <a:moveTo>
                    <a:pt x="19" y="103"/>
                  </a:moveTo>
                  <a:cubicBezTo>
                    <a:pt x="20" y="105"/>
                    <a:pt x="20" y="105"/>
                    <a:pt x="20" y="105"/>
                  </a:cubicBezTo>
                  <a:cubicBezTo>
                    <a:pt x="18" y="106"/>
                    <a:pt x="18" y="106"/>
                    <a:pt x="18" y="106"/>
                  </a:cubicBezTo>
                  <a:cubicBezTo>
                    <a:pt x="9" y="113"/>
                    <a:pt x="9" y="113"/>
                    <a:pt x="9" y="113"/>
                  </a:cubicBezTo>
                  <a:cubicBezTo>
                    <a:pt x="9" y="116"/>
                    <a:pt x="9" y="116"/>
                    <a:pt x="9" y="116"/>
                  </a:cubicBezTo>
                  <a:cubicBezTo>
                    <a:pt x="22" y="120"/>
                    <a:pt x="22" y="120"/>
                    <a:pt x="22" y="120"/>
                  </a:cubicBezTo>
                  <a:cubicBezTo>
                    <a:pt x="24" y="121"/>
                    <a:pt x="24" y="121"/>
                    <a:pt x="24" y="121"/>
                  </a:cubicBezTo>
                  <a:cubicBezTo>
                    <a:pt x="24" y="122"/>
                    <a:pt x="24" y="122"/>
                    <a:pt x="24" y="122"/>
                  </a:cubicBezTo>
                  <a:cubicBezTo>
                    <a:pt x="24" y="129"/>
                    <a:pt x="24" y="129"/>
                    <a:pt x="24" y="129"/>
                  </a:cubicBezTo>
                  <a:cubicBezTo>
                    <a:pt x="24" y="130"/>
                    <a:pt x="24" y="130"/>
                    <a:pt x="24" y="130"/>
                  </a:cubicBezTo>
                  <a:cubicBezTo>
                    <a:pt x="23" y="131"/>
                    <a:pt x="23" y="131"/>
                    <a:pt x="23" y="131"/>
                  </a:cubicBezTo>
                  <a:cubicBezTo>
                    <a:pt x="5" y="144"/>
                    <a:pt x="5" y="144"/>
                    <a:pt x="5" y="144"/>
                  </a:cubicBezTo>
                  <a:cubicBezTo>
                    <a:pt x="7" y="147"/>
                    <a:pt x="7" y="147"/>
                    <a:pt x="7" y="147"/>
                  </a:cubicBezTo>
                  <a:cubicBezTo>
                    <a:pt x="17" y="154"/>
                    <a:pt x="17" y="154"/>
                    <a:pt x="17" y="154"/>
                  </a:cubicBezTo>
                  <a:cubicBezTo>
                    <a:pt x="17" y="154"/>
                    <a:pt x="17" y="154"/>
                    <a:pt x="17" y="154"/>
                  </a:cubicBezTo>
                  <a:cubicBezTo>
                    <a:pt x="17" y="154"/>
                    <a:pt x="17" y="154"/>
                    <a:pt x="17" y="154"/>
                  </a:cubicBezTo>
                  <a:cubicBezTo>
                    <a:pt x="23" y="162"/>
                    <a:pt x="23" y="162"/>
                    <a:pt x="23" y="162"/>
                  </a:cubicBezTo>
                  <a:cubicBezTo>
                    <a:pt x="24" y="162"/>
                    <a:pt x="24" y="162"/>
                    <a:pt x="24" y="162"/>
                  </a:cubicBezTo>
                  <a:cubicBezTo>
                    <a:pt x="23" y="163"/>
                    <a:pt x="23" y="163"/>
                    <a:pt x="23" y="163"/>
                  </a:cubicBezTo>
                  <a:cubicBezTo>
                    <a:pt x="19" y="170"/>
                    <a:pt x="19" y="170"/>
                    <a:pt x="19" y="170"/>
                  </a:cubicBezTo>
                  <a:cubicBezTo>
                    <a:pt x="19" y="171"/>
                    <a:pt x="19" y="171"/>
                    <a:pt x="19" y="171"/>
                  </a:cubicBezTo>
                  <a:cubicBezTo>
                    <a:pt x="18" y="171"/>
                    <a:pt x="18" y="171"/>
                    <a:pt x="18" y="171"/>
                  </a:cubicBezTo>
                  <a:cubicBezTo>
                    <a:pt x="12" y="175"/>
                    <a:pt x="12" y="175"/>
                    <a:pt x="12" y="175"/>
                  </a:cubicBezTo>
                  <a:cubicBezTo>
                    <a:pt x="12" y="181"/>
                    <a:pt x="12" y="181"/>
                    <a:pt x="12" y="181"/>
                  </a:cubicBezTo>
                  <a:cubicBezTo>
                    <a:pt x="21" y="187"/>
                    <a:pt x="21" y="187"/>
                    <a:pt x="21" y="187"/>
                  </a:cubicBezTo>
                  <a:cubicBezTo>
                    <a:pt x="23" y="189"/>
                    <a:pt x="23" y="189"/>
                    <a:pt x="23" y="189"/>
                  </a:cubicBezTo>
                  <a:cubicBezTo>
                    <a:pt x="21" y="190"/>
                    <a:pt x="21" y="190"/>
                    <a:pt x="21" y="190"/>
                  </a:cubicBezTo>
                  <a:cubicBezTo>
                    <a:pt x="14" y="196"/>
                    <a:pt x="14" y="196"/>
                    <a:pt x="14" y="196"/>
                  </a:cubicBezTo>
                  <a:cubicBezTo>
                    <a:pt x="12" y="201"/>
                    <a:pt x="12" y="201"/>
                    <a:pt x="12" y="201"/>
                  </a:cubicBezTo>
                  <a:cubicBezTo>
                    <a:pt x="19" y="208"/>
                    <a:pt x="19" y="208"/>
                    <a:pt x="19" y="208"/>
                  </a:cubicBezTo>
                  <a:cubicBezTo>
                    <a:pt x="20" y="209"/>
                    <a:pt x="20" y="209"/>
                    <a:pt x="20" y="209"/>
                  </a:cubicBezTo>
                  <a:cubicBezTo>
                    <a:pt x="19" y="211"/>
                    <a:pt x="19" y="211"/>
                    <a:pt x="19" y="211"/>
                  </a:cubicBezTo>
                  <a:cubicBezTo>
                    <a:pt x="16" y="214"/>
                    <a:pt x="16" y="214"/>
                    <a:pt x="16" y="214"/>
                  </a:cubicBezTo>
                  <a:cubicBezTo>
                    <a:pt x="16" y="214"/>
                    <a:pt x="16" y="214"/>
                    <a:pt x="16" y="214"/>
                  </a:cubicBezTo>
                  <a:cubicBezTo>
                    <a:pt x="15" y="214"/>
                    <a:pt x="15" y="214"/>
                    <a:pt x="15" y="214"/>
                  </a:cubicBezTo>
                  <a:cubicBezTo>
                    <a:pt x="6" y="217"/>
                    <a:pt x="6" y="217"/>
                    <a:pt x="6" y="217"/>
                  </a:cubicBezTo>
                  <a:cubicBezTo>
                    <a:pt x="1" y="226"/>
                    <a:pt x="1" y="226"/>
                    <a:pt x="1" y="226"/>
                  </a:cubicBezTo>
                  <a:cubicBezTo>
                    <a:pt x="0" y="284"/>
                    <a:pt x="0" y="284"/>
                    <a:pt x="0" y="284"/>
                  </a:cubicBezTo>
                  <a:cubicBezTo>
                    <a:pt x="32" y="285"/>
                    <a:pt x="32" y="285"/>
                    <a:pt x="32" y="285"/>
                  </a:cubicBezTo>
                  <a:cubicBezTo>
                    <a:pt x="32" y="285"/>
                    <a:pt x="32" y="285"/>
                    <a:pt x="32" y="285"/>
                  </a:cubicBezTo>
                  <a:cubicBezTo>
                    <a:pt x="32" y="285"/>
                    <a:pt x="32" y="285"/>
                    <a:pt x="32" y="285"/>
                  </a:cubicBezTo>
                  <a:cubicBezTo>
                    <a:pt x="54" y="289"/>
                    <a:pt x="54" y="289"/>
                    <a:pt x="54" y="289"/>
                  </a:cubicBezTo>
                  <a:cubicBezTo>
                    <a:pt x="61" y="286"/>
                    <a:pt x="61" y="286"/>
                    <a:pt x="61" y="286"/>
                  </a:cubicBezTo>
                  <a:cubicBezTo>
                    <a:pt x="70" y="271"/>
                    <a:pt x="70" y="271"/>
                    <a:pt x="70" y="271"/>
                  </a:cubicBezTo>
                  <a:cubicBezTo>
                    <a:pt x="71" y="269"/>
                    <a:pt x="71" y="269"/>
                    <a:pt x="71" y="269"/>
                  </a:cubicBezTo>
                  <a:cubicBezTo>
                    <a:pt x="73" y="270"/>
                    <a:pt x="73" y="270"/>
                    <a:pt x="73" y="270"/>
                  </a:cubicBezTo>
                  <a:cubicBezTo>
                    <a:pt x="92" y="283"/>
                    <a:pt x="92" y="283"/>
                    <a:pt x="92" y="283"/>
                  </a:cubicBezTo>
                  <a:cubicBezTo>
                    <a:pt x="147" y="239"/>
                    <a:pt x="147" y="239"/>
                    <a:pt x="147" y="239"/>
                  </a:cubicBezTo>
                  <a:cubicBezTo>
                    <a:pt x="147" y="222"/>
                    <a:pt x="147" y="222"/>
                    <a:pt x="147" y="222"/>
                  </a:cubicBezTo>
                  <a:cubicBezTo>
                    <a:pt x="131" y="190"/>
                    <a:pt x="131" y="190"/>
                    <a:pt x="131" y="190"/>
                  </a:cubicBezTo>
                  <a:cubicBezTo>
                    <a:pt x="130" y="189"/>
                    <a:pt x="130" y="189"/>
                    <a:pt x="130" y="189"/>
                  </a:cubicBezTo>
                  <a:cubicBezTo>
                    <a:pt x="131" y="188"/>
                    <a:pt x="131" y="188"/>
                    <a:pt x="131" y="188"/>
                  </a:cubicBezTo>
                  <a:cubicBezTo>
                    <a:pt x="147" y="170"/>
                    <a:pt x="147" y="170"/>
                    <a:pt x="147" y="170"/>
                  </a:cubicBezTo>
                  <a:cubicBezTo>
                    <a:pt x="148" y="169"/>
                    <a:pt x="148" y="169"/>
                    <a:pt x="148" y="169"/>
                  </a:cubicBezTo>
                  <a:cubicBezTo>
                    <a:pt x="148" y="169"/>
                    <a:pt x="148" y="169"/>
                    <a:pt x="148" y="169"/>
                  </a:cubicBezTo>
                  <a:cubicBezTo>
                    <a:pt x="168" y="164"/>
                    <a:pt x="168" y="164"/>
                    <a:pt x="168" y="164"/>
                  </a:cubicBezTo>
                  <a:cubicBezTo>
                    <a:pt x="168" y="164"/>
                    <a:pt x="168" y="164"/>
                    <a:pt x="168" y="164"/>
                  </a:cubicBezTo>
                  <a:cubicBezTo>
                    <a:pt x="169" y="164"/>
                    <a:pt x="169" y="164"/>
                    <a:pt x="169" y="164"/>
                  </a:cubicBezTo>
                  <a:cubicBezTo>
                    <a:pt x="182" y="168"/>
                    <a:pt x="182" y="168"/>
                    <a:pt x="182" y="168"/>
                  </a:cubicBezTo>
                  <a:cubicBezTo>
                    <a:pt x="194" y="159"/>
                    <a:pt x="194" y="159"/>
                    <a:pt x="194" y="159"/>
                  </a:cubicBezTo>
                  <a:cubicBezTo>
                    <a:pt x="194" y="159"/>
                    <a:pt x="194" y="159"/>
                    <a:pt x="194" y="159"/>
                  </a:cubicBezTo>
                  <a:cubicBezTo>
                    <a:pt x="195" y="159"/>
                    <a:pt x="195" y="159"/>
                    <a:pt x="195" y="159"/>
                  </a:cubicBezTo>
                  <a:cubicBezTo>
                    <a:pt x="213" y="162"/>
                    <a:pt x="213" y="162"/>
                    <a:pt x="213" y="162"/>
                  </a:cubicBezTo>
                  <a:cubicBezTo>
                    <a:pt x="215" y="162"/>
                    <a:pt x="215" y="162"/>
                    <a:pt x="215" y="162"/>
                  </a:cubicBezTo>
                  <a:cubicBezTo>
                    <a:pt x="215" y="164"/>
                    <a:pt x="215" y="164"/>
                    <a:pt x="215" y="164"/>
                  </a:cubicBezTo>
                  <a:cubicBezTo>
                    <a:pt x="216" y="176"/>
                    <a:pt x="216" y="176"/>
                    <a:pt x="216" y="176"/>
                  </a:cubicBezTo>
                  <a:cubicBezTo>
                    <a:pt x="228" y="181"/>
                    <a:pt x="228" y="181"/>
                    <a:pt x="228" y="181"/>
                  </a:cubicBezTo>
                  <a:cubicBezTo>
                    <a:pt x="228" y="181"/>
                    <a:pt x="228" y="181"/>
                    <a:pt x="228" y="181"/>
                  </a:cubicBezTo>
                  <a:cubicBezTo>
                    <a:pt x="228" y="181"/>
                    <a:pt x="228" y="181"/>
                    <a:pt x="228" y="181"/>
                  </a:cubicBezTo>
                  <a:cubicBezTo>
                    <a:pt x="240" y="197"/>
                    <a:pt x="240" y="197"/>
                    <a:pt x="240" y="197"/>
                  </a:cubicBezTo>
                  <a:cubicBezTo>
                    <a:pt x="249" y="186"/>
                    <a:pt x="249" y="186"/>
                    <a:pt x="249" y="186"/>
                  </a:cubicBezTo>
                  <a:cubicBezTo>
                    <a:pt x="251" y="185"/>
                    <a:pt x="251" y="185"/>
                    <a:pt x="251" y="185"/>
                  </a:cubicBezTo>
                  <a:cubicBezTo>
                    <a:pt x="251" y="185"/>
                    <a:pt x="251" y="185"/>
                    <a:pt x="251" y="185"/>
                  </a:cubicBezTo>
                  <a:cubicBezTo>
                    <a:pt x="255" y="185"/>
                    <a:pt x="278" y="184"/>
                    <a:pt x="282" y="192"/>
                  </a:cubicBezTo>
                  <a:cubicBezTo>
                    <a:pt x="284" y="193"/>
                    <a:pt x="294" y="192"/>
                    <a:pt x="303" y="190"/>
                  </a:cubicBezTo>
                  <a:cubicBezTo>
                    <a:pt x="304" y="190"/>
                    <a:pt x="304" y="190"/>
                    <a:pt x="304" y="190"/>
                  </a:cubicBezTo>
                  <a:cubicBezTo>
                    <a:pt x="305" y="191"/>
                    <a:pt x="305" y="191"/>
                    <a:pt x="305" y="191"/>
                  </a:cubicBezTo>
                  <a:cubicBezTo>
                    <a:pt x="319" y="206"/>
                    <a:pt x="319" y="206"/>
                    <a:pt x="319" y="206"/>
                  </a:cubicBezTo>
                  <a:cubicBezTo>
                    <a:pt x="319" y="206"/>
                    <a:pt x="319" y="206"/>
                    <a:pt x="319" y="206"/>
                  </a:cubicBezTo>
                  <a:cubicBezTo>
                    <a:pt x="319" y="206"/>
                    <a:pt x="319" y="206"/>
                    <a:pt x="319" y="206"/>
                  </a:cubicBezTo>
                  <a:cubicBezTo>
                    <a:pt x="331" y="223"/>
                    <a:pt x="331" y="223"/>
                    <a:pt x="331" y="223"/>
                  </a:cubicBezTo>
                  <a:cubicBezTo>
                    <a:pt x="336" y="222"/>
                    <a:pt x="355" y="218"/>
                    <a:pt x="355" y="218"/>
                  </a:cubicBezTo>
                  <a:cubicBezTo>
                    <a:pt x="377" y="213"/>
                    <a:pt x="377" y="213"/>
                    <a:pt x="377" y="213"/>
                  </a:cubicBezTo>
                  <a:cubicBezTo>
                    <a:pt x="379" y="213"/>
                    <a:pt x="379" y="213"/>
                    <a:pt x="379" y="213"/>
                  </a:cubicBezTo>
                  <a:cubicBezTo>
                    <a:pt x="379" y="214"/>
                    <a:pt x="379" y="214"/>
                    <a:pt x="379" y="214"/>
                  </a:cubicBezTo>
                  <a:cubicBezTo>
                    <a:pt x="388" y="232"/>
                    <a:pt x="388" y="232"/>
                    <a:pt x="388" y="232"/>
                  </a:cubicBezTo>
                  <a:cubicBezTo>
                    <a:pt x="395" y="233"/>
                    <a:pt x="395" y="233"/>
                    <a:pt x="395" y="233"/>
                  </a:cubicBezTo>
                  <a:cubicBezTo>
                    <a:pt x="396" y="233"/>
                    <a:pt x="396" y="233"/>
                    <a:pt x="396" y="233"/>
                  </a:cubicBezTo>
                  <a:cubicBezTo>
                    <a:pt x="396" y="233"/>
                    <a:pt x="396" y="233"/>
                    <a:pt x="396" y="233"/>
                  </a:cubicBezTo>
                  <a:cubicBezTo>
                    <a:pt x="414" y="238"/>
                    <a:pt x="414" y="238"/>
                    <a:pt x="414" y="238"/>
                  </a:cubicBezTo>
                  <a:cubicBezTo>
                    <a:pt x="414" y="238"/>
                    <a:pt x="418" y="238"/>
                    <a:pt x="437" y="240"/>
                  </a:cubicBezTo>
                  <a:cubicBezTo>
                    <a:pt x="436" y="236"/>
                    <a:pt x="436" y="236"/>
                    <a:pt x="436" y="236"/>
                  </a:cubicBezTo>
                  <a:cubicBezTo>
                    <a:pt x="430" y="227"/>
                    <a:pt x="430" y="227"/>
                    <a:pt x="430" y="227"/>
                  </a:cubicBezTo>
                  <a:cubicBezTo>
                    <a:pt x="428" y="224"/>
                    <a:pt x="428" y="224"/>
                    <a:pt x="428" y="224"/>
                  </a:cubicBezTo>
                  <a:cubicBezTo>
                    <a:pt x="431" y="224"/>
                    <a:pt x="431" y="224"/>
                    <a:pt x="431" y="224"/>
                  </a:cubicBezTo>
                  <a:cubicBezTo>
                    <a:pt x="440" y="222"/>
                    <a:pt x="440" y="222"/>
                    <a:pt x="440" y="222"/>
                  </a:cubicBezTo>
                  <a:cubicBezTo>
                    <a:pt x="440" y="216"/>
                    <a:pt x="440" y="216"/>
                    <a:pt x="440" y="216"/>
                  </a:cubicBezTo>
                  <a:cubicBezTo>
                    <a:pt x="435" y="213"/>
                    <a:pt x="435" y="213"/>
                    <a:pt x="435" y="213"/>
                  </a:cubicBezTo>
                  <a:cubicBezTo>
                    <a:pt x="427" y="214"/>
                    <a:pt x="427" y="214"/>
                    <a:pt x="427" y="214"/>
                  </a:cubicBezTo>
                  <a:cubicBezTo>
                    <a:pt x="426" y="214"/>
                    <a:pt x="426" y="214"/>
                    <a:pt x="426" y="214"/>
                  </a:cubicBezTo>
                  <a:cubicBezTo>
                    <a:pt x="425" y="213"/>
                    <a:pt x="425" y="213"/>
                    <a:pt x="425" y="213"/>
                  </a:cubicBezTo>
                  <a:cubicBezTo>
                    <a:pt x="417" y="207"/>
                    <a:pt x="417" y="207"/>
                    <a:pt x="417" y="207"/>
                  </a:cubicBezTo>
                  <a:cubicBezTo>
                    <a:pt x="417" y="207"/>
                    <a:pt x="417" y="207"/>
                    <a:pt x="417" y="207"/>
                  </a:cubicBezTo>
                  <a:cubicBezTo>
                    <a:pt x="416" y="206"/>
                    <a:pt x="416" y="206"/>
                    <a:pt x="416" y="206"/>
                  </a:cubicBezTo>
                  <a:cubicBezTo>
                    <a:pt x="415" y="202"/>
                    <a:pt x="415" y="202"/>
                    <a:pt x="415" y="202"/>
                  </a:cubicBezTo>
                  <a:cubicBezTo>
                    <a:pt x="414" y="201"/>
                    <a:pt x="414" y="201"/>
                    <a:pt x="414" y="201"/>
                  </a:cubicBezTo>
                  <a:cubicBezTo>
                    <a:pt x="415" y="200"/>
                    <a:pt x="415" y="200"/>
                    <a:pt x="415" y="200"/>
                  </a:cubicBezTo>
                  <a:cubicBezTo>
                    <a:pt x="420" y="194"/>
                    <a:pt x="420" y="194"/>
                    <a:pt x="420" y="194"/>
                  </a:cubicBezTo>
                  <a:cubicBezTo>
                    <a:pt x="420" y="194"/>
                    <a:pt x="420" y="194"/>
                    <a:pt x="420" y="194"/>
                  </a:cubicBezTo>
                  <a:cubicBezTo>
                    <a:pt x="420" y="194"/>
                    <a:pt x="420" y="194"/>
                    <a:pt x="420" y="194"/>
                  </a:cubicBezTo>
                  <a:cubicBezTo>
                    <a:pt x="426" y="189"/>
                    <a:pt x="426" y="189"/>
                    <a:pt x="426" y="189"/>
                  </a:cubicBezTo>
                  <a:cubicBezTo>
                    <a:pt x="423" y="185"/>
                    <a:pt x="423" y="185"/>
                    <a:pt x="423" y="185"/>
                  </a:cubicBezTo>
                  <a:cubicBezTo>
                    <a:pt x="414" y="186"/>
                    <a:pt x="414" y="186"/>
                    <a:pt x="414" y="186"/>
                  </a:cubicBezTo>
                  <a:cubicBezTo>
                    <a:pt x="412" y="189"/>
                    <a:pt x="412" y="189"/>
                    <a:pt x="412" y="189"/>
                  </a:cubicBezTo>
                  <a:cubicBezTo>
                    <a:pt x="409" y="193"/>
                    <a:pt x="409" y="193"/>
                    <a:pt x="409" y="193"/>
                  </a:cubicBezTo>
                  <a:cubicBezTo>
                    <a:pt x="409" y="188"/>
                    <a:pt x="409" y="188"/>
                    <a:pt x="409" y="188"/>
                  </a:cubicBezTo>
                  <a:cubicBezTo>
                    <a:pt x="406" y="169"/>
                    <a:pt x="406" y="169"/>
                    <a:pt x="406" y="169"/>
                  </a:cubicBezTo>
                  <a:cubicBezTo>
                    <a:pt x="408" y="168"/>
                    <a:pt x="408" y="168"/>
                    <a:pt x="408" y="168"/>
                  </a:cubicBezTo>
                  <a:cubicBezTo>
                    <a:pt x="404" y="167"/>
                    <a:pt x="404" y="167"/>
                    <a:pt x="404" y="167"/>
                  </a:cubicBezTo>
                  <a:cubicBezTo>
                    <a:pt x="410" y="151"/>
                    <a:pt x="410" y="151"/>
                    <a:pt x="410" y="151"/>
                  </a:cubicBezTo>
                  <a:cubicBezTo>
                    <a:pt x="421" y="138"/>
                    <a:pt x="421" y="138"/>
                    <a:pt x="421" y="138"/>
                  </a:cubicBezTo>
                  <a:cubicBezTo>
                    <a:pt x="433" y="138"/>
                    <a:pt x="433" y="138"/>
                    <a:pt x="433" y="138"/>
                  </a:cubicBezTo>
                  <a:cubicBezTo>
                    <a:pt x="437" y="127"/>
                    <a:pt x="437" y="127"/>
                    <a:pt x="437" y="127"/>
                  </a:cubicBezTo>
                  <a:cubicBezTo>
                    <a:pt x="424" y="116"/>
                    <a:pt x="424" y="116"/>
                    <a:pt x="424" y="116"/>
                  </a:cubicBezTo>
                  <a:cubicBezTo>
                    <a:pt x="414" y="127"/>
                    <a:pt x="414" y="127"/>
                    <a:pt x="414" y="127"/>
                  </a:cubicBezTo>
                  <a:cubicBezTo>
                    <a:pt x="396" y="125"/>
                    <a:pt x="396" y="125"/>
                    <a:pt x="396" y="125"/>
                  </a:cubicBezTo>
                  <a:cubicBezTo>
                    <a:pt x="386" y="111"/>
                    <a:pt x="386" y="111"/>
                    <a:pt x="386" y="111"/>
                  </a:cubicBezTo>
                  <a:cubicBezTo>
                    <a:pt x="371" y="111"/>
                    <a:pt x="371" y="111"/>
                    <a:pt x="371" y="111"/>
                  </a:cubicBezTo>
                  <a:cubicBezTo>
                    <a:pt x="369" y="123"/>
                    <a:pt x="369" y="123"/>
                    <a:pt x="369" y="123"/>
                  </a:cubicBezTo>
                  <a:cubicBezTo>
                    <a:pt x="365" y="132"/>
                    <a:pt x="365" y="132"/>
                    <a:pt x="365" y="132"/>
                  </a:cubicBezTo>
                  <a:cubicBezTo>
                    <a:pt x="355" y="134"/>
                    <a:pt x="355" y="134"/>
                    <a:pt x="355" y="134"/>
                  </a:cubicBezTo>
                  <a:cubicBezTo>
                    <a:pt x="355" y="113"/>
                    <a:pt x="355" y="113"/>
                    <a:pt x="355" y="113"/>
                  </a:cubicBezTo>
                  <a:cubicBezTo>
                    <a:pt x="339" y="96"/>
                    <a:pt x="339" y="96"/>
                    <a:pt x="339" y="96"/>
                  </a:cubicBezTo>
                  <a:cubicBezTo>
                    <a:pt x="320" y="108"/>
                    <a:pt x="320" y="108"/>
                    <a:pt x="320" y="108"/>
                  </a:cubicBezTo>
                  <a:cubicBezTo>
                    <a:pt x="306" y="121"/>
                    <a:pt x="306" y="121"/>
                    <a:pt x="306" y="121"/>
                  </a:cubicBezTo>
                  <a:cubicBezTo>
                    <a:pt x="300" y="111"/>
                    <a:pt x="300" y="111"/>
                    <a:pt x="300" y="111"/>
                  </a:cubicBezTo>
                  <a:cubicBezTo>
                    <a:pt x="287" y="124"/>
                    <a:pt x="287" y="124"/>
                    <a:pt x="287" y="124"/>
                  </a:cubicBezTo>
                  <a:cubicBezTo>
                    <a:pt x="272" y="105"/>
                    <a:pt x="272" y="105"/>
                    <a:pt x="272" y="105"/>
                  </a:cubicBezTo>
                  <a:cubicBezTo>
                    <a:pt x="282" y="97"/>
                    <a:pt x="282" y="97"/>
                    <a:pt x="282" y="97"/>
                  </a:cubicBezTo>
                  <a:cubicBezTo>
                    <a:pt x="282" y="86"/>
                    <a:pt x="282" y="86"/>
                    <a:pt x="282" y="86"/>
                  </a:cubicBezTo>
                  <a:cubicBezTo>
                    <a:pt x="286" y="68"/>
                    <a:pt x="286" y="68"/>
                    <a:pt x="286" y="68"/>
                  </a:cubicBezTo>
                  <a:cubicBezTo>
                    <a:pt x="272" y="53"/>
                    <a:pt x="272" y="53"/>
                    <a:pt x="272" y="53"/>
                  </a:cubicBezTo>
                  <a:cubicBezTo>
                    <a:pt x="270" y="28"/>
                    <a:pt x="270" y="28"/>
                    <a:pt x="270" y="28"/>
                  </a:cubicBezTo>
                  <a:cubicBezTo>
                    <a:pt x="258" y="6"/>
                    <a:pt x="258" y="6"/>
                    <a:pt x="258" y="6"/>
                  </a:cubicBezTo>
                  <a:cubicBezTo>
                    <a:pt x="240" y="10"/>
                    <a:pt x="240" y="10"/>
                    <a:pt x="240" y="10"/>
                  </a:cubicBezTo>
                  <a:cubicBezTo>
                    <a:pt x="228" y="25"/>
                    <a:pt x="228" y="25"/>
                    <a:pt x="228" y="25"/>
                  </a:cubicBezTo>
                  <a:cubicBezTo>
                    <a:pt x="190" y="7"/>
                    <a:pt x="190" y="7"/>
                    <a:pt x="190" y="7"/>
                  </a:cubicBezTo>
                  <a:cubicBezTo>
                    <a:pt x="164" y="0"/>
                    <a:pt x="164" y="0"/>
                    <a:pt x="164" y="0"/>
                  </a:cubicBezTo>
                  <a:cubicBezTo>
                    <a:pt x="154" y="5"/>
                    <a:pt x="154" y="5"/>
                    <a:pt x="154" y="5"/>
                  </a:cubicBezTo>
                  <a:cubicBezTo>
                    <a:pt x="136" y="17"/>
                    <a:pt x="136" y="17"/>
                    <a:pt x="136" y="17"/>
                  </a:cubicBezTo>
                  <a:cubicBezTo>
                    <a:pt x="120" y="32"/>
                    <a:pt x="120" y="32"/>
                    <a:pt x="120" y="32"/>
                  </a:cubicBezTo>
                  <a:cubicBezTo>
                    <a:pt x="117" y="44"/>
                    <a:pt x="117" y="44"/>
                    <a:pt x="117" y="44"/>
                  </a:cubicBezTo>
                  <a:cubicBezTo>
                    <a:pt x="99" y="44"/>
                    <a:pt x="99" y="44"/>
                    <a:pt x="99" y="44"/>
                  </a:cubicBezTo>
                  <a:cubicBezTo>
                    <a:pt x="50" y="64"/>
                    <a:pt x="50" y="64"/>
                    <a:pt x="50" y="64"/>
                  </a:cubicBezTo>
                  <a:cubicBezTo>
                    <a:pt x="10" y="76"/>
                    <a:pt x="10" y="76"/>
                    <a:pt x="10" y="76"/>
                  </a:cubicBezTo>
                  <a:cubicBezTo>
                    <a:pt x="15" y="98"/>
                    <a:pt x="15" y="98"/>
                    <a:pt x="15" y="98"/>
                  </a:cubicBezTo>
                  <a:cubicBezTo>
                    <a:pt x="19" y="103"/>
                    <a:pt x="19" y="103"/>
                    <a:pt x="19" y="103"/>
                  </a:cubicBezTo>
                  <a:close/>
                </a:path>
              </a:pathLst>
            </a:custGeom>
            <a:grp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743024">
                <a:defRPr/>
              </a:pPr>
              <a:endParaRPr lang="ru-RU" sz="1300" kern="0" dirty="0">
                <a:solidFill>
                  <a:sysClr val="windowText" lastClr="000000"/>
                </a:solidFill>
                <a:latin typeface="Arial" panose="020B0604020202020204" pitchFamily="34" charset="0"/>
                <a:cs typeface="Arial" panose="020B0604020202020204" pitchFamily="34" charset="0"/>
              </a:endParaRPr>
            </a:p>
          </p:txBody>
        </p:sp>
        <p:sp>
          <p:nvSpPr>
            <p:cNvPr id="87" name="Freeform 169">
              <a:extLst>
                <a:ext uri="{FF2B5EF4-FFF2-40B4-BE49-F238E27FC236}">
                  <a16:creationId xmlns:a16="http://schemas.microsoft.com/office/drawing/2014/main" id="{42F5324D-1AD6-4251-978D-5874DFEC3FC2}"/>
                </a:ext>
              </a:extLst>
            </p:cNvPr>
            <p:cNvSpPr>
              <a:spLocks/>
            </p:cNvSpPr>
            <p:nvPr/>
          </p:nvSpPr>
          <p:spPr bwMode="auto">
            <a:xfrm>
              <a:off x="5252852" y="2554314"/>
              <a:ext cx="1322874" cy="837656"/>
            </a:xfrm>
            <a:custGeom>
              <a:avLst/>
              <a:gdLst>
                <a:gd name="T0" fmla="*/ 179 w 498"/>
                <a:gd name="T1" fmla="*/ 273 h 330"/>
                <a:gd name="T2" fmla="*/ 198 w 498"/>
                <a:gd name="T3" fmla="*/ 272 h 330"/>
                <a:gd name="T4" fmla="*/ 218 w 498"/>
                <a:gd name="T5" fmla="*/ 299 h 330"/>
                <a:gd name="T6" fmla="*/ 248 w 498"/>
                <a:gd name="T7" fmla="*/ 304 h 330"/>
                <a:gd name="T8" fmla="*/ 260 w 498"/>
                <a:gd name="T9" fmla="*/ 321 h 330"/>
                <a:gd name="T10" fmla="*/ 275 w 498"/>
                <a:gd name="T11" fmla="*/ 322 h 330"/>
                <a:gd name="T12" fmla="*/ 286 w 498"/>
                <a:gd name="T13" fmla="*/ 330 h 330"/>
                <a:gd name="T14" fmla="*/ 314 w 498"/>
                <a:gd name="T15" fmla="*/ 305 h 330"/>
                <a:gd name="T16" fmla="*/ 335 w 498"/>
                <a:gd name="T17" fmla="*/ 286 h 330"/>
                <a:gd name="T18" fmla="*/ 364 w 498"/>
                <a:gd name="T19" fmla="*/ 266 h 330"/>
                <a:gd name="T20" fmla="*/ 378 w 498"/>
                <a:gd name="T21" fmla="*/ 271 h 330"/>
                <a:gd name="T22" fmla="*/ 407 w 498"/>
                <a:gd name="T23" fmla="*/ 280 h 330"/>
                <a:gd name="T24" fmla="*/ 425 w 498"/>
                <a:gd name="T25" fmla="*/ 269 h 330"/>
                <a:gd name="T26" fmla="*/ 432 w 498"/>
                <a:gd name="T27" fmla="*/ 251 h 330"/>
                <a:gd name="T28" fmla="*/ 457 w 498"/>
                <a:gd name="T29" fmla="*/ 236 h 330"/>
                <a:gd name="T30" fmla="*/ 471 w 498"/>
                <a:gd name="T31" fmla="*/ 228 h 330"/>
                <a:gd name="T32" fmla="*/ 491 w 498"/>
                <a:gd name="T33" fmla="*/ 222 h 330"/>
                <a:gd name="T34" fmla="*/ 489 w 498"/>
                <a:gd name="T35" fmla="*/ 220 h 330"/>
                <a:gd name="T36" fmla="*/ 475 w 498"/>
                <a:gd name="T37" fmla="*/ 210 h 330"/>
                <a:gd name="T38" fmla="*/ 492 w 498"/>
                <a:gd name="T39" fmla="*/ 183 h 330"/>
                <a:gd name="T40" fmla="*/ 488 w 498"/>
                <a:gd name="T41" fmla="*/ 167 h 330"/>
                <a:gd name="T42" fmla="*/ 486 w 498"/>
                <a:gd name="T43" fmla="*/ 156 h 330"/>
                <a:gd name="T44" fmla="*/ 494 w 498"/>
                <a:gd name="T45" fmla="*/ 142 h 330"/>
                <a:gd name="T46" fmla="*/ 482 w 498"/>
                <a:gd name="T47" fmla="*/ 81 h 330"/>
                <a:gd name="T48" fmla="*/ 457 w 498"/>
                <a:gd name="T49" fmla="*/ 79 h 330"/>
                <a:gd name="T50" fmla="*/ 457 w 498"/>
                <a:gd name="T51" fmla="*/ 79 h 330"/>
                <a:gd name="T52" fmla="*/ 429 w 498"/>
                <a:gd name="T53" fmla="*/ 73 h 330"/>
                <a:gd name="T54" fmla="*/ 400 w 498"/>
                <a:gd name="T55" fmla="*/ 59 h 330"/>
                <a:gd name="T56" fmla="*/ 372 w 498"/>
                <a:gd name="T57" fmla="*/ 64 h 330"/>
                <a:gd name="T58" fmla="*/ 322 w 498"/>
                <a:gd name="T59" fmla="*/ 31 h 330"/>
                <a:gd name="T60" fmla="*/ 284 w 498"/>
                <a:gd name="T61" fmla="*/ 40 h 330"/>
                <a:gd name="T62" fmla="*/ 258 w 498"/>
                <a:gd name="T63" fmla="*/ 17 h 330"/>
                <a:gd name="T64" fmla="*/ 255 w 498"/>
                <a:gd name="T65" fmla="*/ 4 h 330"/>
                <a:gd name="T66" fmla="*/ 227 w 498"/>
                <a:gd name="T67" fmla="*/ 11 h 330"/>
                <a:gd name="T68" fmla="*/ 194 w 498"/>
                <a:gd name="T69" fmla="*/ 11 h 330"/>
                <a:gd name="T70" fmla="*/ 195 w 498"/>
                <a:gd name="T71" fmla="*/ 59 h 330"/>
                <a:gd name="T72" fmla="*/ 195 w 498"/>
                <a:gd name="T73" fmla="*/ 78 h 330"/>
                <a:gd name="T74" fmla="*/ 136 w 498"/>
                <a:gd name="T75" fmla="*/ 125 h 330"/>
                <a:gd name="T76" fmla="*/ 109 w 498"/>
                <a:gd name="T77" fmla="*/ 126 h 330"/>
                <a:gd name="T78" fmla="*/ 99 w 498"/>
                <a:gd name="T79" fmla="*/ 130 h 330"/>
                <a:gd name="T80" fmla="*/ 76 w 498"/>
                <a:gd name="T81" fmla="*/ 126 h 330"/>
                <a:gd name="T82" fmla="*/ 28 w 498"/>
                <a:gd name="T83" fmla="*/ 155 h 330"/>
                <a:gd name="T84" fmla="*/ 12 w 498"/>
                <a:gd name="T85" fmla="*/ 199 h 330"/>
                <a:gd name="T86" fmla="*/ 12 w 498"/>
                <a:gd name="T87" fmla="*/ 245 h 330"/>
                <a:gd name="T88" fmla="*/ 43 w 498"/>
                <a:gd name="T89" fmla="*/ 246 h 330"/>
                <a:gd name="T90" fmla="*/ 86 w 498"/>
                <a:gd name="T91" fmla="*/ 267 h 330"/>
                <a:gd name="T92" fmla="*/ 116 w 498"/>
                <a:gd name="T93" fmla="*/ 296 h 330"/>
                <a:gd name="T94" fmla="*/ 167 w 498"/>
                <a:gd name="T95" fmla="*/ 29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98" h="330">
                  <a:moveTo>
                    <a:pt x="167" y="290"/>
                  </a:moveTo>
                  <a:cubicBezTo>
                    <a:pt x="176" y="280"/>
                    <a:pt x="176" y="280"/>
                    <a:pt x="176" y="280"/>
                  </a:cubicBezTo>
                  <a:cubicBezTo>
                    <a:pt x="179" y="273"/>
                    <a:pt x="179" y="273"/>
                    <a:pt x="179" y="273"/>
                  </a:cubicBezTo>
                  <a:cubicBezTo>
                    <a:pt x="179" y="272"/>
                    <a:pt x="179" y="272"/>
                    <a:pt x="179" y="272"/>
                  </a:cubicBezTo>
                  <a:cubicBezTo>
                    <a:pt x="181" y="272"/>
                    <a:pt x="181" y="272"/>
                    <a:pt x="181" y="272"/>
                  </a:cubicBezTo>
                  <a:cubicBezTo>
                    <a:pt x="198" y="272"/>
                    <a:pt x="198" y="272"/>
                    <a:pt x="198" y="272"/>
                  </a:cubicBezTo>
                  <a:cubicBezTo>
                    <a:pt x="199" y="272"/>
                    <a:pt x="199" y="272"/>
                    <a:pt x="199" y="272"/>
                  </a:cubicBezTo>
                  <a:cubicBezTo>
                    <a:pt x="200" y="273"/>
                    <a:pt x="200" y="273"/>
                    <a:pt x="200" y="273"/>
                  </a:cubicBezTo>
                  <a:cubicBezTo>
                    <a:pt x="218" y="299"/>
                    <a:pt x="218" y="299"/>
                    <a:pt x="218" y="299"/>
                  </a:cubicBezTo>
                  <a:cubicBezTo>
                    <a:pt x="246" y="303"/>
                    <a:pt x="246" y="303"/>
                    <a:pt x="246" y="303"/>
                  </a:cubicBezTo>
                  <a:cubicBezTo>
                    <a:pt x="247" y="303"/>
                    <a:pt x="247" y="303"/>
                    <a:pt x="247" y="303"/>
                  </a:cubicBezTo>
                  <a:cubicBezTo>
                    <a:pt x="248" y="304"/>
                    <a:pt x="248" y="304"/>
                    <a:pt x="248" y="304"/>
                  </a:cubicBezTo>
                  <a:cubicBezTo>
                    <a:pt x="252" y="324"/>
                    <a:pt x="252" y="324"/>
                    <a:pt x="252" y="324"/>
                  </a:cubicBezTo>
                  <a:cubicBezTo>
                    <a:pt x="260" y="324"/>
                    <a:pt x="260" y="324"/>
                    <a:pt x="260" y="324"/>
                  </a:cubicBezTo>
                  <a:cubicBezTo>
                    <a:pt x="260" y="321"/>
                    <a:pt x="260" y="321"/>
                    <a:pt x="260" y="321"/>
                  </a:cubicBezTo>
                  <a:cubicBezTo>
                    <a:pt x="261" y="318"/>
                    <a:pt x="261" y="318"/>
                    <a:pt x="261" y="318"/>
                  </a:cubicBezTo>
                  <a:cubicBezTo>
                    <a:pt x="263" y="319"/>
                    <a:pt x="263" y="319"/>
                    <a:pt x="263" y="319"/>
                  </a:cubicBezTo>
                  <a:cubicBezTo>
                    <a:pt x="275" y="322"/>
                    <a:pt x="275" y="322"/>
                    <a:pt x="275" y="322"/>
                  </a:cubicBezTo>
                  <a:cubicBezTo>
                    <a:pt x="276" y="322"/>
                    <a:pt x="276" y="322"/>
                    <a:pt x="276" y="322"/>
                  </a:cubicBezTo>
                  <a:cubicBezTo>
                    <a:pt x="276" y="322"/>
                    <a:pt x="276" y="322"/>
                    <a:pt x="276" y="322"/>
                  </a:cubicBezTo>
                  <a:cubicBezTo>
                    <a:pt x="286" y="330"/>
                    <a:pt x="286" y="330"/>
                    <a:pt x="286" y="330"/>
                  </a:cubicBezTo>
                  <a:cubicBezTo>
                    <a:pt x="303" y="330"/>
                    <a:pt x="303" y="330"/>
                    <a:pt x="303" y="330"/>
                  </a:cubicBezTo>
                  <a:cubicBezTo>
                    <a:pt x="314" y="322"/>
                    <a:pt x="314" y="322"/>
                    <a:pt x="314" y="322"/>
                  </a:cubicBezTo>
                  <a:cubicBezTo>
                    <a:pt x="314" y="305"/>
                    <a:pt x="314" y="305"/>
                    <a:pt x="314" y="305"/>
                  </a:cubicBezTo>
                  <a:cubicBezTo>
                    <a:pt x="314" y="305"/>
                    <a:pt x="314" y="305"/>
                    <a:pt x="314" y="305"/>
                  </a:cubicBezTo>
                  <a:cubicBezTo>
                    <a:pt x="315" y="304"/>
                    <a:pt x="315" y="304"/>
                    <a:pt x="315" y="304"/>
                  </a:cubicBezTo>
                  <a:cubicBezTo>
                    <a:pt x="335" y="286"/>
                    <a:pt x="335" y="286"/>
                    <a:pt x="335" y="286"/>
                  </a:cubicBezTo>
                  <a:cubicBezTo>
                    <a:pt x="362" y="266"/>
                    <a:pt x="362" y="266"/>
                    <a:pt x="362" y="266"/>
                  </a:cubicBezTo>
                  <a:cubicBezTo>
                    <a:pt x="363" y="266"/>
                    <a:pt x="363" y="266"/>
                    <a:pt x="363" y="266"/>
                  </a:cubicBezTo>
                  <a:cubicBezTo>
                    <a:pt x="364" y="266"/>
                    <a:pt x="364" y="266"/>
                    <a:pt x="364" y="266"/>
                  </a:cubicBezTo>
                  <a:cubicBezTo>
                    <a:pt x="376" y="269"/>
                    <a:pt x="376" y="269"/>
                    <a:pt x="376" y="269"/>
                  </a:cubicBezTo>
                  <a:cubicBezTo>
                    <a:pt x="377" y="269"/>
                    <a:pt x="377" y="269"/>
                    <a:pt x="377" y="269"/>
                  </a:cubicBezTo>
                  <a:cubicBezTo>
                    <a:pt x="378" y="271"/>
                    <a:pt x="378" y="271"/>
                    <a:pt x="378" y="271"/>
                  </a:cubicBezTo>
                  <a:cubicBezTo>
                    <a:pt x="380" y="295"/>
                    <a:pt x="380" y="295"/>
                    <a:pt x="380" y="295"/>
                  </a:cubicBezTo>
                  <a:cubicBezTo>
                    <a:pt x="395" y="296"/>
                    <a:pt x="395" y="296"/>
                    <a:pt x="395" y="296"/>
                  </a:cubicBezTo>
                  <a:cubicBezTo>
                    <a:pt x="407" y="280"/>
                    <a:pt x="407" y="280"/>
                    <a:pt x="407" y="280"/>
                  </a:cubicBezTo>
                  <a:cubicBezTo>
                    <a:pt x="407" y="280"/>
                    <a:pt x="407" y="280"/>
                    <a:pt x="407" y="280"/>
                  </a:cubicBezTo>
                  <a:cubicBezTo>
                    <a:pt x="408" y="280"/>
                    <a:pt x="408" y="280"/>
                    <a:pt x="408" y="280"/>
                  </a:cubicBezTo>
                  <a:cubicBezTo>
                    <a:pt x="425" y="269"/>
                    <a:pt x="425" y="269"/>
                    <a:pt x="425" y="269"/>
                  </a:cubicBezTo>
                  <a:cubicBezTo>
                    <a:pt x="430" y="253"/>
                    <a:pt x="430" y="253"/>
                    <a:pt x="430" y="253"/>
                  </a:cubicBezTo>
                  <a:cubicBezTo>
                    <a:pt x="431" y="251"/>
                    <a:pt x="431" y="251"/>
                    <a:pt x="431" y="251"/>
                  </a:cubicBezTo>
                  <a:cubicBezTo>
                    <a:pt x="432" y="251"/>
                    <a:pt x="432" y="251"/>
                    <a:pt x="432" y="251"/>
                  </a:cubicBezTo>
                  <a:cubicBezTo>
                    <a:pt x="450" y="249"/>
                    <a:pt x="450" y="249"/>
                    <a:pt x="450" y="249"/>
                  </a:cubicBezTo>
                  <a:cubicBezTo>
                    <a:pt x="457" y="237"/>
                    <a:pt x="457" y="237"/>
                    <a:pt x="457" y="237"/>
                  </a:cubicBezTo>
                  <a:cubicBezTo>
                    <a:pt x="457" y="236"/>
                    <a:pt x="457" y="236"/>
                    <a:pt x="457" y="236"/>
                  </a:cubicBezTo>
                  <a:cubicBezTo>
                    <a:pt x="457" y="236"/>
                    <a:pt x="457" y="236"/>
                    <a:pt x="457" y="236"/>
                  </a:cubicBezTo>
                  <a:cubicBezTo>
                    <a:pt x="471" y="228"/>
                    <a:pt x="471" y="228"/>
                    <a:pt x="471" y="228"/>
                  </a:cubicBezTo>
                  <a:cubicBezTo>
                    <a:pt x="471" y="228"/>
                    <a:pt x="471" y="228"/>
                    <a:pt x="471" y="228"/>
                  </a:cubicBezTo>
                  <a:cubicBezTo>
                    <a:pt x="471" y="228"/>
                    <a:pt x="471" y="228"/>
                    <a:pt x="471" y="228"/>
                  </a:cubicBezTo>
                  <a:cubicBezTo>
                    <a:pt x="483" y="226"/>
                    <a:pt x="483" y="226"/>
                    <a:pt x="483" y="226"/>
                  </a:cubicBezTo>
                  <a:cubicBezTo>
                    <a:pt x="491" y="222"/>
                    <a:pt x="491" y="222"/>
                    <a:pt x="491" y="222"/>
                  </a:cubicBezTo>
                  <a:cubicBezTo>
                    <a:pt x="490" y="220"/>
                    <a:pt x="490" y="220"/>
                    <a:pt x="490" y="220"/>
                  </a:cubicBezTo>
                  <a:cubicBezTo>
                    <a:pt x="489" y="220"/>
                    <a:pt x="489" y="220"/>
                    <a:pt x="489" y="220"/>
                  </a:cubicBezTo>
                  <a:cubicBezTo>
                    <a:pt x="489" y="220"/>
                    <a:pt x="489" y="220"/>
                    <a:pt x="489" y="220"/>
                  </a:cubicBezTo>
                  <a:cubicBezTo>
                    <a:pt x="487" y="212"/>
                    <a:pt x="487" y="212"/>
                    <a:pt x="487" y="212"/>
                  </a:cubicBezTo>
                  <a:cubicBezTo>
                    <a:pt x="478" y="211"/>
                    <a:pt x="478" y="211"/>
                    <a:pt x="478" y="211"/>
                  </a:cubicBezTo>
                  <a:cubicBezTo>
                    <a:pt x="475" y="210"/>
                    <a:pt x="475" y="210"/>
                    <a:pt x="475" y="210"/>
                  </a:cubicBezTo>
                  <a:cubicBezTo>
                    <a:pt x="477" y="208"/>
                    <a:pt x="477" y="208"/>
                    <a:pt x="477" y="208"/>
                  </a:cubicBezTo>
                  <a:cubicBezTo>
                    <a:pt x="491" y="183"/>
                    <a:pt x="491" y="183"/>
                    <a:pt x="491" y="183"/>
                  </a:cubicBezTo>
                  <a:cubicBezTo>
                    <a:pt x="492" y="183"/>
                    <a:pt x="492" y="183"/>
                    <a:pt x="492" y="183"/>
                  </a:cubicBezTo>
                  <a:cubicBezTo>
                    <a:pt x="492" y="182"/>
                    <a:pt x="492" y="182"/>
                    <a:pt x="492" y="182"/>
                  </a:cubicBezTo>
                  <a:cubicBezTo>
                    <a:pt x="498" y="179"/>
                    <a:pt x="498" y="179"/>
                    <a:pt x="498" y="179"/>
                  </a:cubicBezTo>
                  <a:cubicBezTo>
                    <a:pt x="488" y="167"/>
                    <a:pt x="488" y="167"/>
                    <a:pt x="488" y="167"/>
                  </a:cubicBezTo>
                  <a:cubicBezTo>
                    <a:pt x="487" y="166"/>
                    <a:pt x="487" y="166"/>
                    <a:pt x="487" y="166"/>
                  </a:cubicBezTo>
                  <a:cubicBezTo>
                    <a:pt x="487" y="166"/>
                    <a:pt x="487" y="166"/>
                    <a:pt x="487" y="166"/>
                  </a:cubicBezTo>
                  <a:cubicBezTo>
                    <a:pt x="486" y="156"/>
                    <a:pt x="486" y="156"/>
                    <a:pt x="486" y="156"/>
                  </a:cubicBezTo>
                  <a:cubicBezTo>
                    <a:pt x="486" y="156"/>
                    <a:pt x="486" y="156"/>
                    <a:pt x="486" y="156"/>
                  </a:cubicBezTo>
                  <a:cubicBezTo>
                    <a:pt x="486" y="155"/>
                    <a:pt x="486" y="155"/>
                    <a:pt x="486" y="155"/>
                  </a:cubicBezTo>
                  <a:cubicBezTo>
                    <a:pt x="494" y="142"/>
                    <a:pt x="494" y="142"/>
                    <a:pt x="494" y="142"/>
                  </a:cubicBezTo>
                  <a:cubicBezTo>
                    <a:pt x="494" y="110"/>
                    <a:pt x="494" y="110"/>
                    <a:pt x="494" y="110"/>
                  </a:cubicBezTo>
                  <a:cubicBezTo>
                    <a:pt x="493" y="107"/>
                    <a:pt x="484" y="86"/>
                    <a:pt x="484" y="86"/>
                  </a:cubicBezTo>
                  <a:cubicBezTo>
                    <a:pt x="482" y="81"/>
                    <a:pt x="482" y="81"/>
                    <a:pt x="482" y="81"/>
                  </a:cubicBezTo>
                  <a:cubicBezTo>
                    <a:pt x="461" y="79"/>
                    <a:pt x="461" y="79"/>
                    <a:pt x="461" y="79"/>
                  </a:cubicBezTo>
                  <a:cubicBezTo>
                    <a:pt x="458" y="79"/>
                    <a:pt x="458" y="79"/>
                    <a:pt x="457" y="79"/>
                  </a:cubicBezTo>
                  <a:cubicBezTo>
                    <a:pt x="457" y="79"/>
                    <a:pt x="457" y="79"/>
                    <a:pt x="457" y="79"/>
                  </a:cubicBezTo>
                  <a:cubicBezTo>
                    <a:pt x="457" y="79"/>
                    <a:pt x="457" y="79"/>
                    <a:pt x="457" y="79"/>
                  </a:cubicBezTo>
                  <a:cubicBezTo>
                    <a:pt x="457" y="79"/>
                    <a:pt x="457" y="79"/>
                    <a:pt x="457" y="79"/>
                  </a:cubicBezTo>
                  <a:cubicBezTo>
                    <a:pt x="457" y="79"/>
                    <a:pt x="457" y="79"/>
                    <a:pt x="457" y="79"/>
                  </a:cubicBezTo>
                  <a:cubicBezTo>
                    <a:pt x="439" y="74"/>
                    <a:pt x="439" y="74"/>
                    <a:pt x="439" y="74"/>
                  </a:cubicBezTo>
                  <a:cubicBezTo>
                    <a:pt x="430" y="73"/>
                    <a:pt x="430" y="73"/>
                    <a:pt x="430" y="73"/>
                  </a:cubicBezTo>
                  <a:cubicBezTo>
                    <a:pt x="429" y="73"/>
                    <a:pt x="429" y="73"/>
                    <a:pt x="429" y="73"/>
                  </a:cubicBezTo>
                  <a:cubicBezTo>
                    <a:pt x="429" y="72"/>
                    <a:pt x="429" y="72"/>
                    <a:pt x="429" y="72"/>
                  </a:cubicBezTo>
                  <a:cubicBezTo>
                    <a:pt x="420" y="55"/>
                    <a:pt x="420" y="55"/>
                    <a:pt x="420" y="55"/>
                  </a:cubicBezTo>
                  <a:cubicBezTo>
                    <a:pt x="415" y="56"/>
                    <a:pt x="400" y="59"/>
                    <a:pt x="400" y="59"/>
                  </a:cubicBezTo>
                  <a:cubicBezTo>
                    <a:pt x="374" y="65"/>
                    <a:pt x="374" y="65"/>
                    <a:pt x="374" y="65"/>
                  </a:cubicBezTo>
                  <a:cubicBezTo>
                    <a:pt x="373" y="65"/>
                    <a:pt x="373" y="65"/>
                    <a:pt x="373" y="65"/>
                  </a:cubicBezTo>
                  <a:cubicBezTo>
                    <a:pt x="372" y="64"/>
                    <a:pt x="372" y="64"/>
                    <a:pt x="372" y="64"/>
                  </a:cubicBezTo>
                  <a:cubicBezTo>
                    <a:pt x="360" y="45"/>
                    <a:pt x="360" y="45"/>
                    <a:pt x="360" y="45"/>
                  </a:cubicBezTo>
                  <a:cubicBezTo>
                    <a:pt x="346" y="33"/>
                    <a:pt x="346" y="33"/>
                    <a:pt x="346" y="33"/>
                  </a:cubicBezTo>
                  <a:cubicBezTo>
                    <a:pt x="324" y="35"/>
                    <a:pt x="323" y="33"/>
                    <a:pt x="322" y="31"/>
                  </a:cubicBezTo>
                  <a:cubicBezTo>
                    <a:pt x="321" y="27"/>
                    <a:pt x="306" y="27"/>
                    <a:pt x="296" y="27"/>
                  </a:cubicBezTo>
                  <a:cubicBezTo>
                    <a:pt x="286" y="39"/>
                    <a:pt x="286" y="39"/>
                    <a:pt x="286" y="39"/>
                  </a:cubicBezTo>
                  <a:cubicBezTo>
                    <a:pt x="284" y="40"/>
                    <a:pt x="284" y="40"/>
                    <a:pt x="284" y="40"/>
                  </a:cubicBezTo>
                  <a:cubicBezTo>
                    <a:pt x="283" y="38"/>
                    <a:pt x="283" y="38"/>
                    <a:pt x="283" y="38"/>
                  </a:cubicBezTo>
                  <a:cubicBezTo>
                    <a:pt x="269" y="22"/>
                    <a:pt x="269" y="22"/>
                    <a:pt x="269" y="22"/>
                  </a:cubicBezTo>
                  <a:cubicBezTo>
                    <a:pt x="258" y="17"/>
                    <a:pt x="258" y="17"/>
                    <a:pt x="258" y="17"/>
                  </a:cubicBezTo>
                  <a:cubicBezTo>
                    <a:pt x="257" y="17"/>
                    <a:pt x="257" y="17"/>
                    <a:pt x="257" y="17"/>
                  </a:cubicBezTo>
                  <a:cubicBezTo>
                    <a:pt x="257" y="16"/>
                    <a:pt x="257" y="16"/>
                    <a:pt x="257" y="16"/>
                  </a:cubicBezTo>
                  <a:cubicBezTo>
                    <a:pt x="255" y="4"/>
                    <a:pt x="255" y="4"/>
                    <a:pt x="255" y="4"/>
                  </a:cubicBezTo>
                  <a:cubicBezTo>
                    <a:pt x="240" y="0"/>
                    <a:pt x="240" y="0"/>
                    <a:pt x="240" y="0"/>
                  </a:cubicBezTo>
                  <a:cubicBezTo>
                    <a:pt x="228" y="10"/>
                    <a:pt x="228" y="10"/>
                    <a:pt x="228" y="10"/>
                  </a:cubicBezTo>
                  <a:cubicBezTo>
                    <a:pt x="227" y="11"/>
                    <a:pt x="227" y="11"/>
                    <a:pt x="227" y="11"/>
                  </a:cubicBezTo>
                  <a:cubicBezTo>
                    <a:pt x="226" y="11"/>
                    <a:pt x="226" y="11"/>
                    <a:pt x="226" y="11"/>
                  </a:cubicBezTo>
                  <a:cubicBezTo>
                    <a:pt x="212" y="6"/>
                    <a:pt x="212" y="6"/>
                    <a:pt x="212" y="6"/>
                  </a:cubicBezTo>
                  <a:cubicBezTo>
                    <a:pt x="194" y="11"/>
                    <a:pt x="194" y="11"/>
                    <a:pt x="194" y="11"/>
                  </a:cubicBezTo>
                  <a:cubicBezTo>
                    <a:pt x="179" y="27"/>
                    <a:pt x="179" y="27"/>
                    <a:pt x="179" y="27"/>
                  </a:cubicBezTo>
                  <a:cubicBezTo>
                    <a:pt x="195" y="58"/>
                    <a:pt x="195" y="58"/>
                    <a:pt x="195" y="58"/>
                  </a:cubicBezTo>
                  <a:cubicBezTo>
                    <a:pt x="195" y="59"/>
                    <a:pt x="195" y="59"/>
                    <a:pt x="195" y="59"/>
                  </a:cubicBezTo>
                  <a:cubicBezTo>
                    <a:pt x="195" y="59"/>
                    <a:pt x="195" y="59"/>
                    <a:pt x="195" y="59"/>
                  </a:cubicBezTo>
                  <a:cubicBezTo>
                    <a:pt x="195" y="77"/>
                    <a:pt x="195" y="77"/>
                    <a:pt x="195" y="77"/>
                  </a:cubicBezTo>
                  <a:cubicBezTo>
                    <a:pt x="195" y="78"/>
                    <a:pt x="195" y="78"/>
                    <a:pt x="195" y="78"/>
                  </a:cubicBezTo>
                  <a:cubicBezTo>
                    <a:pt x="194" y="78"/>
                    <a:pt x="194" y="78"/>
                    <a:pt x="194" y="78"/>
                  </a:cubicBezTo>
                  <a:cubicBezTo>
                    <a:pt x="137" y="124"/>
                    <a:pt x="137" y="124"/>
                    <a:pt x="137" y="124"/>
                  </a:cubicBezTo>
                  <a:cubicBezTo>
                    <a:pt x="136" y="125"/>
                    <a:pt x="136" y="125"/>
                    <a:pt x="136" y="125"/>
                  </a:cubicBezTo>
                  <a:cubicBezTo>
                    <a:pt x="135" y="124"/>
                    <a:pt x="135" y="124"/>
                    <a:pt x="135" y="124"/>
                  </a:cubicBezTo>
                  <a:cubicBezTo>
                    <a:pt x="116" y="112"/>
                    <a:pt x="116" y="112"/>
                    <a:pt x="116" y="112"/>
                  </a:cubicBezTo>
                  <a:cubicBezTo>
                    <a:pt x="109" y="126"/>
                    <a:pt x="109" y="126"/>
                    <a:pt x="109" y="126"/>
                  </a:cubicBezTo>
                  <a:cubicBezTo>
                    <a:pt x="108" y="126"/>
                    <a:pt x="108" y="126"/>
                    <a:pt x="108" y="126"/>
                  </a:cubicBezTo>
                  <a:cubicBezTo>
                    <a:pt x="107" y="127"/>
                    <a:pt x="107" y="127"/>
                    <a:pt x="107" y="127"/>
                  </a:cubicBezTo>
                  <a:cubicBezTo>
                    <a:pt x="99" y="130"/>
                    <a:pt x="99" y="130"/>
                    <a:pt x="99" y="130"/>
                  </a:cubicBezTo>
                  <a:cubicBezTo>
                    <a:pt x="98" y="130"/>
                    <a:pt x="98" y="130"/>
                    <a:pt x="98" y="130"/>
                  </a:cubicBezTo>
                  <a:cubicBezTo>
                    <a:pt x="98" y="130"/>
                    <a:pt x="98" y="130"/>
                    <a:pt x="98" y="130"/>
                  </a:cubicBezTo>
                  <a:cubicBezTo>
                    <a:pt x="76" y="126"/>
                    <a:pt x="76" y="126"/>
                    <a:pt x="76" y="126"/>
                  </a:cubicBezTo>
                  <a:cubicBezTo>
                    <a:pt x="43" y="125"/>
                    <a:pt x="43" y="125"/>
                    <a:pt x="43" y="125"/>
                  </a:cubicBezTo>
                  <a:cubicBezTo>
                    <a:pt x="29" y="154"/>
                    <a:pt x="29" y="154"/>
                    <a:pt x="29" y="154"/>
                  </a:cubicBezTo>
                  <a:cubicBezTo>
                    <a:pt x="28" y="155"/>
                    <a:pt x="28" y="155"/>
                    <a:pt x="28" y="155"/>
                  </a:cubicBezTo>
                  <a:cubicBezTo>
                    <a:pt x="28" y="155"/>
                    <a:pt x="28" y="155"/>
                    <a:pt x="28" y="155"/>
                  </a:cubicBezTo>
                  <a:cubicBezTo>
                    <a:pt x="0" y="187"/>
                    <a:pt x="0" y="187"/>
                    <a:pt x="0" y="187"/>
                  </a:cubicBezTo>
                  <a:cubicBezTo>
                    <a:pt x="12" y="199"/>
                    <a:pt x="12" y="199"/>
                    <a:pt x="12" y="199"/>
                  </a:cubicBezTo>
                  <a:cubicBezTo>
                    <a:pt x="12" y="200"/>
                    <a:pt x="12" y="200"/>
                    <a:pt x="12" y="200"/>
                  </a:cubicBezTo>
                  <a:cubicBezTo>
                    <a:pt x="12" y="201"/>
                    <a:pt x="12" y="201"/>
                    <a:pt x="12" y="201"/>
                  </a:cubicBezTo>
                  <a:cubicBezTo>
                    <a:pt x="12" y="245"/>
                    <a:pt x="12" y="245"/>
                    <a:pt x="12" y="245"/>
                  </a:cubicBezTo>
                  <a:cubicBezTo>
                    <a:pt x="41" y="245"/>
                    <a:pt x="41" y="245"/>
                    <a:pt x="41" y="245"/>
                  </a:cubicBezTo>
                  <a:cubicBezTo>
                    <a:pt x="43" y="245"/>
                    <a:pt x="43" y="245"/>
                    <a:pt x="43" y="245"/>
                  </a:cubicBezTo>
                  <a:cubicBezTo>
                    <a:pt x="43" y="246"/>
                    <a:pt x="43" y="246"/>
                    <a:pt x="43" y="246"/>
                  </a:cubicBezTo>
                  <a:cubicBezTo>
                    <a:pt x="58" y="267"/>
                    <a:pt x="58" y="267"/>
                    <a:pt x="58" y="267"/>
                  </a:cubicBezTo>
                  <a:cubicBezTo>
                    <a:pt x="85" y="267"/>
                    <a:pt x="85" y="267"/>
                    <a:pt x="85" y="267"/>
                  </a:cubicBezTo>
                  <a:cubicBezTo>
                    <a:pt x="86" y="267"/>
                    <a:pt x="86" y="267"/>
                    <a:pt x="86" y="267"/>
                  </a:cubicBezTo>
                  <a:cubicBezTo>
                    <a:pt x="87" y="268"/>
                    <a:pt x="87" y="268"/>
                    <a:pt x="87" y="268"/>
                  </a:cubicBezTo>
                  <a:cubicBezTo>
                    <a:pt x="92" y="281"/>
                    <a:pt x="92" y="281"/>
                    <a:pt x="92" y="281"/>
                  </a:cubicBezTo>
                  <a:cubicBezTo>
                    <a:pt x="116" y="296"/>
                    <a:pt x="116" y="296"/>
                    <a:pt x="116" y="296"/>
                  </a:cubicBezTo>
                  <a:cubicBezTo>
                    <a:pt x="156" y="294"/>
                    <a:pt x="156" y="294"/>
                    <a:pt x="156" y="294"/>
                  </a:cubicBezTo>
                  <a:cubicBezTo>
                    <a:pt x="156" y="294"/>
                    <a:pt x="156" y="294"/>
                    <a:pt x="156" y="294"/>
                  </a:cubicBezTo>
                  <a:cubicBezTo>
                    <a:pt x="167" y="290"/>
                    <a:pt x="167" y="290"/>
                    <a:pt x="167" y="290"/>
                  </a:cubicBezTo>
                  <a:close/>
                </a:path>
              </a:pathLst>
            </a:custGeom>
            <a:grp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743024">
                <a:defRPr/>
              </a:pPr>
              <a:endParaRPr lang="ru-RU" sz="1300" kern="0" dirty="0">
                <a:solidFill>
                  <a:sysClr val="windowText" lastClr="000000"/>
                </a:solidFill>
                <a:latin typeface="Arial" panose="020B0604020202020204" pitchFamily="34" charset="0"/>
                <a:cs typeface="Arial" panose="020B0604020202020204" pitchFamily="34" charset="0"/>
              </a:endParaRPr>
            </a:p>
          </p:txBody>
        </p:sp>
        <p:sp>
          <p:nvSpPr>
            <p:cNvPr id="88" name="Freeform 171">
              <a:extLst>
                <a:ext uri="{FF2B5EF4-FFF2-40B4-BE49-F238E27FC236}">
                  <a16:creationId xmlns:a16="http://schemas.microsoft.com/office/drawing/2014/main" id="{DE536B57-EC89-4D4B-9A95-B12B825C2D53}"/>
                </a:ext>
              </a:extLst>
            </p:cNvPr>
            <p:cNvSpPr>
              <a:spLocks/>
            </p:cNvSpPr>
            <p:nvPr/>
          </p:nvSpPr>
          <p:spPr bwMode="auto">
            <a:xfrm>
              <a:off x="5322548" y="4441328"/>
              <a:ext cx="921092" cy="1281967"/>
            </a:xfrm>
            <a:custGeom>
              <a:avLst/>
              <a:gdLst>
                <a:gd name="T0" fmla="*/ 316 w 347"/>
                <a:gd name="T1" fmla="*/ 328 h 505"/>
                <a:gd name="T2" fmla="*/ 290 w 347"/>
                <a:gd name="T3" fmla="*/ 301 h 505"/>
                <a:gd name="T4" fmla="*/ 289 w 347"/>
                <a:gd name="T5" fmla="*/ 299 h 505"/>
                <a:gd name="T6" fmla="*/ 272 w 347"/>
                <a:gd name="T7" fmla="*/ 254 h 505"/>
                <a:gd name="T8" fmla="*/ 258 w 347"/>
                <a:gd name="T9" fmla="*/ 255 h 505"/>
                <a:gd name="T10" fmla="*/ 241 w 347"/>
                <a:gd name="T11" fmla="*/ 235 h 505"/>
                <a:gd name="T12" fmla="*/ 240 w 347"/>
                <a:gd name="T13" fmla="*/ 233 h 505"/>
                <a:gd name="T14" fmla="*/ 241 w 347"/>
                <a:gd name="T15" fmla="*/ 224 h 505"/>
                <a:gd name="T16" fmla="*/ 251 w 347"/>
                <a:gd name="T17" fmla="*/ 185 h 505"/>
                <a:gd name="T18" fmla="*/ 251 w 347"/>
                <a:gd name="T19" fmla="*/ 184 h 505"/>
                <a:gd name="T20" fmla="*/ 257 w 347"/>
                <a:gd name="T21" fmla="*/ 119 h 505"/>
                <a:gd name="T22" fmla="*/ 215 w 347"/>
                <a:gd name="T23" fmla="*/ 17 h 505"/>
                <a:gd name="T24" fmla="*/ 215 w 347"/>
                <a:gd name="T25" fmla="*/ 16 h 505"/>
                <a:gd name="T26" fmla="*/ 96 w 347"/>
                <a:gd name="T27" fmla="*/ 2 h 505"/>
                <a:gd name="T28" fmla="*/ 91 w 347"/>
                <a:gd name="T29" fmla="*/ 46 h 505"/>
                <a:gd name="T30" fmla="*/ 86 w 347"/>
                <a:gd name="T31" fmla="*/ 56 h 505"/>
                <a:gd name="T32" fmla="*/ 106 w 347"/>
                <a:gd name="T33" fmla="*/ 84 h 505"/>
                <a:gd name="T34" fmla="*/ 108 w 347"/>
                <a:gd name="T35" fmla="*/ 150 h 505"/>
                <a:gd name="T36" fmla="*/ 140 w 347"/>
                <a:gd name="T37" fmla="*/ 177 h 505"/>
                <a:gd name="T38" fmla="*/ 134 w 347"/>
                <a:gd name="T39" fmla="*/ 196 h 505"/>
                <a:gd name="T40" fmla="*/ 135 w 347"/>
                <a:gd name="T41" fmla="*/ 218 h 505"/>
                <a:gd name="T42" fmla="*/ 115 w 347"/>
                <a:gd name="T43" fmla="*/ 240 h 505"/>
                <a:gd name="T44" fmla="*/ 127 w 347"/>
                <a:gd name="T45" fmla="*/ 261 h 505"/>
                <a:gd name="T46" fmla="*/ 105 w 347"/>
                <a:gd name="T47" fmla="*/ 276 h 505"/>
                <a:gd name="T48" fmla="*/ 89 w 347"/>
                <a:gd name="T49" fmla="*/ 289 h 505"/>
                <a:gd name="T50" fmla="*/ 70 w 347"/>
                <a:gd name="T51" fmla="*/ 296 h 505"/>
                <a:gd name="T52" fmla="*/ 28 w 347"/>
                <a:gd name="T53" fmla="*/ 326 h 505"/>
                <a:gd name="T54" fmla="*/ 19 w 347"/>
                <a:gd name="T55" fmla="*/ 334 h 505"/>
                <a:gd name="T56" fmla="*/ 4 w 347"/>
                <a:gd name="T57" fmla="*/ 345 h 505"/>
                <a:gd name="T58" fmla="*/ 0 w 347"/>
                <a:gd name="T59" fmla="*/ 372 h 505"/>
                <a:gd name="T60" fmla="*/ 50 w 347"/>
                <a:gd name="T61" fmla="*/ 455 h 505"/>
                <a:gd name="T62" fmla="*/ 129 w 347"/>
                <a:gd name="T63" fmla="*/ 449 h 505"/>
                <a:gd name="T64" fmla="*/ 144 w 347"/>
                <a:gd name="T65" fmla="*/ 485 h 505"/>
                <a:gd name="T66" fmla="*/ 186 w 347"/>
                <a:gd name="T67" fmla="*/ 505 h 505"/>
                <a:gd name="T68" fmla="*/ 203 w 347"/>
                <a:gd name="T69" fmla="*/ 458 h 505"/>
                <a:gd name="T70" fmla="*/ 225 w 347"/>
                <a:gd name="T71" fmla="*/ 429 h 505"/>
                <a:gd name="T72" fmla="*/ 253 w 347"/>
                <a:gd name="T73" fmla="*/ 406 h 505"/>
                <a:gd name="T74" fmla="*/ 299 w 347"/>
                <a:gd name="T75" fmla="*/ 375 h 505"/>
                <a:gd name="T76" fmla="*/ 326 w 347"/>
                <a:gd name="T77" fmla="*/ 372 h 505"/>
                <a:gd name="T78" fmla="*/ 346 w 347"/>
                <a:gd name="T79" fmla="*/ 351 h 505"/>
                <a:gd name="T80" fmla="*/ 346 w 347"/>
                <a:gd name="T81" fmla="*/ 346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7" h="505">
                  <a:moveTo>
                    <a:pt x="316" y="328"/>
                  </a:moveTo>
                  <a:cubicBezTo>
                    <a:pt x="316" y="328"/>
                    <a:pt x="316" y="328"/>
                    <a:pt x="316" y="328"/>
                  </a:cubicBezTo>
                  <a:cubicBezTo>
                    <a:pt x="316" y="328"/>
                    <a:pt x="316" y="328"/>
                    <a:pt x="316" y="328"/>
                  </a:cubicBezTo>
                  <a:cubicBezTo>
                    <a:pt x="290" y="301"/>
                    <a:pt x="290" y="301"/>
                    <a:pt x="290" y="301"/>
                  </a:cubicBezTo>
                  <a:cubicBezTo>
                    <a:pt x="289" y="300"/>
                    <a:pt x="289" y="300"/>
                    <a:pt x="289" y="300"/>
                  </a:cubicBezTo>
                  <a:cubicBezTo>
                    <a:pt x="289" y="299"/>
                    <a:pt x="289" y="299"/>
                    <a:pt x="289" y="299"/>
                  </a:cubicBezTo>
                  <a:cubicBezTo>
                    <a:pt x="290" y="281"/>
                    <a:pt x="290" y="281"/>
                    <a:pt x="290" y="281"/>
                  </a:cubicBezTo>
                  <a:cubicBezTo>
                    <a:pt x="272" y="254"/>
                    <a:pt x="272" y="254"/>
                    <a:pt x="272" y="254"/>
                  </a:cubicBezTo>
                  <a:cubicBezTo>
                    <a:pt x="259" y="255"/>
                    <a:pt x="259" y="255"/>
                    <a:pt x="259" y="255"/>
                  </a:cubicBezTo>
                  <a:cubicBezTo>
                    <a:pt x="258" y="255"/>
                    <a:pt x="258" y="255"/>
                    <a:pt x="258" y="255"/>
                  </a:cubicBezTo>
                  <a:cubicBezTo>
                    <a:pt x="257" y="254"/>
                    <a:pt x="257" y="254"/>
                    <a:pt x="257" y="254"/>
                  </a:cubicBezTo>
                  <a:cubicBezTo>
                    <a:pt x="241" y="235"/>
                    <a:pt x="241" y="235"/>
                    <a:pt x="241" y="235"/>
                  </a:cubicBezTo>
                  <a:cubicBezTo>
                    <a:pt x="240" y="234"/>
                    <a:pt x="240" y="234"/>
                    <a:pt x="240" y="234"/>
                  </a:cubicBezTo>
                  <a:cubicBezTo>
                    <a:pt x="240" y="233"/>
                    <a:pt x="240" y="233"/>
                    <a:pt x="240" y="233"/>
                  </a:cubicBezTo>
                  <a:cubicBezTo>
                    <a:pt x="241" y="224"/>
                    <a:pt x="241" y="224"/>
                    <a:pt x="241" y="224"/>
                  </a:cubicBezTo>
                  <a:cubicBezTo>
                    <a:pt x="241" y="224"/>
                    <a:pt x="241" y="224"/>
                    <a:pt x="241" y="224"/>
                  </a:cubicBezTo>
                  <a:cubicBezTo>
                    <a:pt x="241" y="224"/>
                    <a:pt x="241" y="224"/>
                    <a:pt x="241" y="224"/>
                  </a:cubicBezTo>
                  <a:cubicBezTo>
                    <a:pt x="251" y="185"/>
                    <a:pt x="251" y="185"/>
                    <a:pt x="251" y="185"/>
                  </a:cubicBezTo>
                  <a:cubicBezTo>
                    <a:pt x="251" y="184"/>
                    <a:pt x="251" y="184"/>
                    <a:pt x="251" y="184"/>
                  </a:cubicBezTo>
                  <a:cubicBezTo>
                    <a:pt x="251" y="184"/>
                    <a:pt x="251" y="184"/>
                    <a:pt x="251" y="184"/>
                  </a:cubicBezTo>
                  <a:cubicBezTo>
                    <a:pt x="258" y="176"/>
                    <a:pt x="258" y="176"/>
                    <a:pt x="258" y="176"/>
                  </a:cubicBezTo>
                  <a:cubicBezTo>
                    <a:pt x="257" y="119"/>
                    <a:pt x="257" y="119"/>
                    <a:pt x="257" y="119"/>
                  </a:cubicBezTo>
                  <a:cubicBezTo>
                    <a:pt x="256" y="116"/>
                    <a:pt x="247" y="89"/>
                    <a:pt x="247" y="89"/>
                  </a:cubicBezTo>
                  <a:cubicBezTo>
                    <a:pt x="215" y="17"/>
                    <a:pt x="215" y="17"/>
                    <a:pt x="215" y="17"/>
                  </a:cubicBezTo>
                  <a:cubicBezTo>
                    <a:pt x="215" y="16"/>
                    <a:pt x="215" y="16"/>
                    <a:pt x="215" y="16"/>
                  </a:cubicBezTo>
                  <a:cubicBezTo>
                    <a:pt x="215" y="16"/>
                    <a:pt x="215" y="16"/>
                    <a:pt x="215" y="16"/>
                  </a:cubicBezTo>
                  <a:cubicBezTo>
                    <a:pt x="212" y="0"/>
                    <a:pt x="212" y="0"/>
                    <a:pt x="212" y="0"/>
                  </a:cubicBezTo>
                  <a:cubicBezTo>
                    <a:pt x="96" y="2"/>
                    <a:pt x="96" y="2"/>
                    <a:pt x="96" y="2"/>
                  </a:cubicBezTo>
                  <a:cubicBezTo>
                    <a:pt x="91" y="45"/>
                    <a:pt x="91" y="45"/>
                    <a:pt x="91" y="45"/>
                  </a:cubicBezTo>
                  <a:cubicBezTo>
                    <a:pt x="91" y="46"/>
                    <a:pt x="91" y="46"/>
                    <a:pt x="91" y="46"/>
                  </a:cubicBezTo>
                  <a:cubicBezTo>
                    <a:pt x="91" y="46"/>
                    <a:pt x="91" y="46"/>
                    <a:pt x="91" y="46"/>
                  </a:cubicBezTo>
                  <a:cubicBezTo>
                    <a:pt x="86" y="56"/>
                    <a:pt x="86" y="56"/>
                    <a:pt x="86" y="56"/>
                  </a:cubicBezTo>
                  <a:cubicBezTo>
                    <a:pt x="105" y="84"/>
                    <a:pt x="105" y="84"/>
                    <a:pt x="105" y="84"/>
                  </a:cubicBezTo>
                  <a:cubicBezTo>
                    <a:pt x="106" y="84"/>
                    <a:pt x="106" y="84"/>
                    <a:pt x="106" y="84"/>
                  </a:cubicBezTo>
                  <a:cubicBezTo>
                    <a:pt x="106" y="85"/>
                    <a:pt x="106" y="85"/>
                    <a:pt x="106" y="85"/>
                  </a:cubicBezTo>
                  <a:cubicBezTo>
                    <a:pt x="108" y="150"/>
                    <a:pt x="108" y="150"/>
                    <a:pt x="108" y="150"/>
                  </a:cubicBezTo>
                  <a:cubicBezTo>
                    <a:pt x="139" y="177"/>
                    <a:pt x="139" y="177"/>
                    <a:pt x="139" y="177"/>
                  </a:cubicBezTo>
                  <a:cubicBezTo>
                    <a:pt x="140" y="177"/>
                    <a:pt x="140" y="177"/>
                    <a:pt x="140" y="177"/>
                  </a:cubicBezTo>
                  <a:cubicBezTo>
                    <a:pt x="139" y="179"/>
                    <a:pt x="139" y="179"/>
                    <a:pt x="139" y="179"/>
                  </a:cubicBezTo>
                  <a:cubicBezTo>
                    <a:pt x="134" y="196"/>
                    <a:pt x="134" y="196"/>
                    <a:pt x="134" y="196"/>
                  </a:cubicBezTo>
                  <a:cubicBezTo>
                    <a:pt x="135" y="217"/>
                    <a:pt x="135" y="217"/>
                    <a:pt x="135" y="217"/>
                  </a:cubicBezTo>
                  <a:cubicBezTo>
                    <a:pt x="135" y="218"/>
                    <a:pt x="135" y="218"/>
                    <a:pt x="135" y="218"/>
                  </a:cubicBezTo>
                  <a:cubicBezTo>
                    <a:pt x="135" y="218"/>
                    <a:pt x="135" y="218"/>
                    <a:pt x="135" y="218"/>
                  </a:cubicBezTo>
                  <a:cubicBezTo>
                    <a:pt x="115" y="240"/>
                    <a:pt x="115" y="240"/>
                    <a:pt x="115" y="240"/>
                  </a:cubicBezTo>
                  <a:cubicBezTo>
                    <a:pt x="127" y="259"/>
                    <a:pt x="127" y="259"/>
                    <a:pt x="127" y="259"/>
                  </a:cubicBezTo>
                  <a:cubicBezTo>
                    <a:pt x="127" y="261"/>
                    <a:pt x="127" y="261"/>
                    <a:pt x="127" y="261"/>
                  </a:cubicBezTo>
                  <a:cubicBezTo>
                    <a:pt x="126" y="262"/>
                    <a:pt x="126" y="262"/>
                    <a:pt x="126" y="262"/>
                  </a:cubicBezTo>
                  <a:cubicBezTo>
                    <a:pt x="105" y="276"/>
                    <a:pt x="105" y="276"/>
                    <a:pt x="105" y="276"/>
                  </a:cubicBezTo>
                  <a:cubicBezTo>
                    <a:pt x="89" y="289"/>
                    <a:pt x="89" y="289"/>
                    <a:pt x="89" y="289"/>
                  </a:cubicBezTo>
                  <a:cubicBezTo>
                    <a:pt x="89" y="289"/>
                    <a:pt x="89" y="289"/>
                    <a:pt x="89" y="289"/>
                  </a:cubicBezTo>
                  <a:cubicBezTo>
                    <a:pt x="89" y="289"/>
                    <a:pt x="89" y="289"/>
                    <a:pt x="89" y="289"/>
                  </a:cubicBezTo>
                  <a:cubicBezTo>
                    <a:pt x="70" y="296"/>
                    <a:pt x="70" y="296"/>
                    <a:pt x="70" y="296"/>
                  </a:cubicBezTo>
                  <a:cubicBezTo>
                    <a:pt x="68" y="297"/>
                    <a:pt x="51" y="309"/>
                    <a:pt x="51" y="308"/>
                  </a:cubicBezTo>
                  <a:cubicBezTo>
                    <a:pt x="28" y="326"/>
                    <a:pt x="28" y="326"/>
                    <a:pt x="28" y="326"/>
                  </a:cubicBezTo>
                  <a:cubicBezTo>
                    <a:pt x="19" y="334"/>
                    <a:pt x="19" y="334"/>
                    <a:pt x="19" y="334"/>
                  </a:cubicBezTo>
                  <a:cubicBezTo>
                    <a:pt x="19" y="334"/>
                    <a:pt x="19" y="334"/>
                    <a:pt x="19" y="334"/>
                  </a:cubicBezTo>
                  <a:cubicBezTo>
                    <a:pt x="19" y="334"/>
                    <a:pt x="19" y="334"/>
                    <a:pt x="19" y="334"/>
                  </a:cubicBezTo>
                  <a:cubicBezTo>
                    <a:pt x="4" y="345"/>
                    <a:pt x="4" y="345"/>
                    <a:pt x="4" y="345"/>
                  </a:cubicBezTo>
                  <a:cubicBezTo>
                    <a:pt x="2" y="342"/>
                    <a:pt x="2" y="342"/>
                    <a:pt x="2" y="342"/>
                  </a:cubicBezTo>
                  <a:cubicBezTo>
                    <a:pt x="0" y="372"/>
                    <a:pt x="0" y="372"/>
                    <a:pt x="0" y="372"/>
                  </a:cubicBezTo>
                  <a:cubicBezTo>
                    <a:pt x="34" y="374"/>
                    <a:pt x="34" y="374"/>
                    <a:pt x="34" y="374"/>
                  </a:cubicBezTo>
                  <a:cubicBezTo>
                    <a:pt x="50" y="455"/>
                    <a:pt x="50" y="455"/>
                    <a:pt x="50" y="455"/>
                  </a:cubicBezTo>
                  <a:cubicBezTo>
                    <a:pt x="109" y="452"/>
                    <a:pt x="109" y="452"/>
                    <a:pt x="109" y="452"/>
                  </a:cubicBezTo>
                  <a:cubicBezTo>
                    <a:pt x="129" y="449"/>
                    <a:pt x="129" y="449"/>
                    <a:pt x="129" y="449"/>
                  </a:cubicBezTo>
                  <a:cubicBezTo>
                    <a:pt x="153" y="468"/>
                    <a:pt x="153" y="468"/>
                    <a:pt x="153" y="468"/>
                  </a:cubicBezTo>
                  <a:cubicBezTo>
                    <a:pt x="144" y="485"/>
                    <a:pt x="144" y="485"/>
                    <a:pt x="144" y="485"/>
                  </a:cubicBezTo>
                  <a:cubicBezTo>
                    <a:pt x="166" y="505"/>
                    <a:pt x="166" y="505"/>
                    <a:pt x="166" y="505"/>
                  </a:cubicBezTo>
                  <a:cubicBezTo>
                    <a:pt x="186" y="505"/>
                    <a:pt x="186" y="505"/>
                    <a:pt x="186" y="505"/>
                  </a:cubicBezTo>
                  <a:cubicBezTo>
                    <a:pt x="186" y="477"/>
                    <a:pt x="186" y="477"/>
                    <a:pt x="186" y="477"/>
                  </a:cubicBezTo>
                  <a:cubicBezTo>
                    <a:pt x="203" y="458"/>
                    <a:pt x="203" y="458"/>
                    <a:pt x="203" y="458"/>
                  </a:cubicBezTo>
                  <a:cubicBezTo>
                    <a:pt x="214" y="444"/>
                    <a:pt x="214" y="444"/>
                    <a:pt x="214" y="444"/>
                  </a:cubicBezTo>
                  <a:cubicBezTo>
                    <a:pt x="225" y="429"/>
                    <a:pt x="225" y="429"/>
                    <a:pt x="225" y="429"/>
                  </a:cubicBezTo>
                  <a:cubicBezTo>
                    <a:pt x="238" y="422"/>
                    <a:pt x="238" y="422"/>
                    <a:pt x="238" y="422"/>
                  </a:cubicBezTo>
                  <a:cubicBezTo>
                    <a:pt x="253" y="406"/>
                    <a:pt x="253" y="406"/>
                    <a:pt x="253" y="406"/>
                  </a:cubicBezTo>
                  <a:cubicBezTo>
                    <a:pt x="282" y="398"/>
                    <a:pt x="282" y="398"/>
                    <a:pt x="282" y="398"/>
                  </a:cubicBezTo>
                  <a:cubicBezTo>
                    <a:pt x="299" y="375"/>
                    <a:pt x="299" y="375"/>
                    <a:pt x="299" y="375"/>
                  </a:cubicBezTo>
                  <a:cubicBezTo>
                    <a:pt x="310" y="362"/>
                    <a:pt x="310" y="362"/>
                    <a:pt x="310" y="362"/>
                  </a:cubicBezTo>
                  <a:cubicBezTo>
                    <a:pt x="326" y="372"/>
                    <a:pt x="326" y="372"/>
                    <a:pt x="326" y="372"/>
                  </a:cubicBezTo>
                  <a:cubicBezTo>
                    <a:pt x="331" y="354"/>
                    <a:pt x="331" y="354"/>
                    <a:pt x="331" y="354"/>
                  </a:cubicBezTo>
                  <a:cubicBezTo>
                    <a:pt x="346" y="351"/>
                    <a:pt x="346" y="351"/>
                    <a:pt x="346" y="351"/>
                  </a:cubicBezTo>
                  <a:cubicBezTo>
                    <a:pt x="347" y="344"/>
                    <a:pt x="347" y="344"/>
                    <a:pt x="347" y="344"/>
                  </a:cubicBezTo>
                  <a:cubicBezTo>
                    <a:pt x="346" y="346"/>
                    <a:pt x="346" y="346"/>
                    <a:pt x="346" y="346"/>
                  </a:cubicBezTo>
                  <a:cubicBezTo>
                    <a:pt x="316" y="328"/>
                    <a:pt x="316" y="328"/>
                    <a:pt x="316" y="328"/>
                  </a:cubicBezTo>
                  <a:close/>
                </a:path>
              </a:pathLst>
            </a:custGeom>
            <a:grp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743024">
                <a:defRPr/>
              </a:pPr>
              <a:endParaRPr lang="ru-RU" sz="1300" kern="0" dirty="0">
                <a:solidFill>
                  <a:sysClr val="windowText" lastClr="000000"/>
                </a:solidFill>
                <a:latin typeface="Arial" panose="020B0604020202020204" pitchFamily="34" charset="0"/>
                <a:cs typeface="Arial" panose="020B0604020202020204" pitchFamily="34" charset="0"/>
              </a:endParaRPr>
            </a:p>
          </p:txBody>
        </p:sp>
        <p:sp>
          <p:nvSpPr>
            <p:cNvPr id="89" name="Freeform 225">
              <a:extLst>
                <a:ext uri="{FF2B5EF4-FFF2-40B4-BE49-F238E27FC236}">
                  <a16:creationId xmlns:a16="http://schemas.microsoft.com/office/drawing/2014/main" id="{127C4994-C8C0-4B78-87FA-4140B4B6D7FF}"/>
                </a:ext>
              </a:extLst>
            </p:cNvPr>
            <p:cNvSpPr>
              <a:spLocks/>
            </p:cNvSpPr>
            <p:nvPr/>
          </p:nvSpPr>
          <p:spPr bwMode="auto">
            <a:xfrm>
              <a:off x="3336871" y="3052204"/>
              <a:ext cx="1708257" cy="1449237"/>
            </a:xfrm>
            <a:custGeom>
              <a:avLst/>
              <a:gdLst>
                <a:gd name="T0" fmla="*/ 263 w 643"/>
                <a:gd name="T1" fmla="*/ 542 h 571"/>
                <a:gd name="T2" fmla="*/ 130 w 643"/>
                <a:gd name="T3" fmla="*/ 571 h 571"/>
                <a:gd name="T4" fmla="*/ 121 w 643"/>
                <a:gd name="T5" fmla="*/ 487 h 571"/>
                <a:gd name="T6" fmla="*/ 121 w 643"/>
                <a:gd name="T7" fmla="*/ 484 h 571"/>
                <a:gd name="T8" fmla="*/ 115 w 643"/>
                <a:gd name="T9" fmla="*/ 437 h 571"/>
                <a:gd name="T10" fmla="*/ 71 w 643"/>
                <a:gd name="T11" fmla="*/ 416 h 571"/>
                <a:gd name="T12" fmla="*/ 55 w 643"/>
                <a:gd name="T13" fmla="*/ 375 h 571"/>
                <a:gd name="T14" fmla="*/ 50 w 643"/>
                <a:gd name="T15" fmla="*/ 344 h 571"/>
                <a:gd name="T16" fmla="*/ 70 w 643"/>
                <a:gd name="T17" fmla="*/ 303 h 571"/>
                <a:gd name="T18" fmla="*/ 61 w 643"/>
                <a:gd name="T19" fmla="*/ 288 h 571"/>
                <a:gd name="T20" fmla="*/ 68 w 643"/>
                <a:gd name="T21" fmla="*/ 222 h 571"/>
                <a:gd name="T22" fmla="*/ 46 w 643"/>
                <a:gd name="T23" fmla="*/ 210 h 571"/>
                <a:gd name="T24" fmla="*/ 15 w 643"/>
                <a:gd name="T25" fmla="*/ 208 h 571"/>
                <a:gd name="T26" fmla="*/ 23 w 643"/>
                <a:gd name="T27" fmla="*/ 179 h 571"/>
                <a:gd name="T28" fmla="*/ 23 w 643"/>
                <a:gd name="T29" fmla="*/ 172 h 571"/>
                <a:gd name="T30" fmla="*/ 10 w 643"/>
                <a:gd name="T31" fmla="*/ 131 h 571"/>
                <a:gd name="T32" fmla="*/ 50 w 643"/>
                <a:gd name="T33" fmla="*/ 129 h 571"/>
                <a:gd name="T34" fmla="*/ 73 w 643"/>
                <a:gd name="T35" fmla="*/ 98 h 571"/>
                <a:gd name="T36" fmla="*/ 70 w 643"/>
                <a:gd name="T37" fmla="*/ 75 h 571"/>
                <a:gd name="T38" fmla="*/ 73 w 643"/>
                <a:gd name="T39" fmla="*/ 46 h 571"/>
                <a:gd name="T40" fmla="*/ 66 w 643"/>
                <a:gd name="T41" fmla="*/ 14 h 571"/>
                <a:gd name="T42" fmla="*/ 102 w 643"/>
                <a:gd name="T43" fmla="*/ 21 h 571"/>
                <a:gd name="T44" fmla="*/ 167 w 643"/>
                <a:gd name="T45" fmla="*/ 30 h 571"/>
                <a:gd name="T46" fmla="*/ 229 w 643"/>
                <a:gd name="T47" fmla="*/ 20 h 571"/>
                <a:gd name="T48" fmla="*/ 268 w 643"/>
                <a:gd name="T49" fmla="*/ 22 h 571"/>
                <a:gd name="T50" fmla="*/ 312 w 643"/>
                <a:gd name="T51" fmla="*/ 53 h 571"/>
                <a:gd name="T52" fmla="*/ 368 w 643"/>
                <a:gd name="T53" fmla="*/ 84 h 571"/>
                <a:gd name="T54" fmla="*/ 394 w 643"/>
                <a:gd name="T55" fmla="*/ 64 h 571"/>
                <a:gd name="T56" fmla="*/ 436 w 643"/>
                <a:gd name="T57" fmla="*/ 78 h 571"/>
                <a:gd name="T58" fmla="*/ 492 w 643"/>
                <a:gd name="T59" fmla="*/ 30 h 571"/>
                <a:gd name="T60" fmla="*/ 513 w 643"/>
                <a:gd name="T61" fmla="*/ 41 h 571"/>
                <a:gd name="T62" fmla="*/ 518 w 643"/>
                <a:gd name="T63" fmla="*/ 50 h 571"/>
                <a:gd name="T64" fmla="*/ 530 w 643"/>
                <a:gd name="T65" fmla="*/ 42 h 571"/>
                <a:gd name="T66" fmla="*/ 537 w 643"/>
                <a:gd name="T67" fmla="*/ 56 h 571"/>
                <a:gd name="T68" fmla="*/ 538 w 643"/>
                <a:gd name="T69" fmla="*/ 70 h 571"/>
                <a:gd name="T70" fmla="*/ 537 w 643"/>
                <a:gd name="T71" fmla="*/ 85 h 571"/>
                <a:gd name="T72" fmla="*/ 546 w 643"/>
                <a:gd name="T73" fmla="*/ 96 h 571"/>
                <a:gd name="T74" fmla="*/ 559 w 643"/>
                <a:gd name="T75" fmla="*/ 130 h 571"/>
                <a:gd name="T76" fmla="*/ 565 w 643"/>
                <a:gd name="T77" fmla="*/ 137 h 571"/>
                <a:gd name="T78" fmla="*/ 547 w 643"/>
                <a:gd name="T79" fmla="*/ 171 h 571"/>
                <a:gd name="T80" fmla="*/ 534 w 643"/>
                <a:gd name="T81" fmla="*/ 192 h 571"/>
                <a:gd name="T82" fmla="*/ 525 w 643"/>
                <a:gd name="T83" fmla="*/ 201 h 571"/>
                <a:gd name="T84" fmla="*/ 526 w 643"/>
                <a:gd name="T85" fmla="*/ 235 h 571"/>
                <a:gd name="T86" fmla="*/ 548 w 643"/>
                <a:gd name="T87" fmla="*/ 260 h 571"/>
                <a:gd name="T88" fmla="*/ 556 w 643"/>
                <a:gd name="T89" fmla="*/ 264 h 571"/>
                <a:gd name="T90" fmla="*/ 562 w 643"/>
                <a:gd name="T91" fmla="*/ 256 h 571"/>
                <a:gd name="T92" fmla="*/ 566 w 643"/>
                <a:gd name="T93" fmla="*/ 271 h 571"/>
                <a:gd name="T94" fmla="*/ 580 w 643"/>
                <a:gd name="T95" fmla="*/ 284 h 571"/>
                <a:gd name="T96" fmla="*/ 595 w 643"/>
                <a:gd name="T97" fmla="*/ 293 h 571"/>
                <a:gd name="T98" fmla="*/ 631 w 643"/>
                <a:gd name="T99" fmla="*/ 342 h 571"/>
                <a:gd name="T100" fmla="*/ 642 w 643"/>
                <a:gd name="T101" fmla="*/ 356 h 571"/>
                <a:gd name="T102" fmla="*/ 601 w 643"/>
                <a:gd name="T103" fmla="*/ 394 h 571"/>
                <a:gd name="T104" fmla="*/ 569 w 643"/>
                <a:gd name="T105" fmla="*/ 413 h 571"/>
                <a:gd name="T106" fmla="*/ 546 w 643"/>
                <a:gd name="T107" fmla="*/ 422 h 571"/>
                <a:gd name="T108" fmla="*/ 533 w 643"/>
                <a:gd name="T109" fmla="*/ 413 h 571"/>
                <a:gd name="T110" fmla="*/ 530 w 643"/>
                <a:gd name="T111" fmla="*/ 401 h 571"/>
                <a:gd name="T112" fmla="*/ 486 w 643"/>
                <a:gd name="T113" fmla="*/ 355 h 571"/>
                <a:gd name="T114" fmla="*/ 450 w 643"/>
                <a:gd name="T115" fmla="*/ 355 h 571"/>
                <a:gd name="T116" fmla="*/ 380 w 643"/>
                <a:gd name="T117" fmla="*/ 413 h 571"/>
                <a:gd name="T118" fmla="*/ 367 w 643"/>
                <a:gd name="T119" fmla="*/ 432 h 571"/>
                <a:gd name="T120" fmla="*/ 300 w 643"/>
                <a:gd name="T121" fmla="*/ 494 h 571"/>
                <a:gd name="T122" fmla="*/ 294 w 643"/>
                <a:gd name="T123" fmla="*/ 505 h 571"/>
                <a:gd name="T124" fmla="*/ 271 w 643"/>
                <a:gd name="T125" fmla="*/ 508 h 5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43" h="571">
                  <a:moveTo>
                    <a:pt x="272" y="519"/>
                  </a:moveTo>
                  <a:cubicBezTo>
                    <a:pt x="263" y="530"/>
                    <a:pt x="263" y="530"/>
                    <a:pt x="263" y="530"/>
                  </a:cubicBezTo>
                  <a:cubicBezTo>
                    <a:pt x="263" y="542"/>
                    <a:pt x="263" y="542"/>
                    <a:pt x="263" y="542"/>
                  </a:cubicBezTo>
                  <a:cubicBezTo>
                    <a:pt x="256" y="549"/>
                    <a:pt x="256" y="549"/>
                    <a:pt x="256" y="549"/>
                  </a:cubicBezTo>
                  <a:cubicBezTo>
                    <a:pt x="253" y="547"/>
                    <a:pt x="253" y="547"/>
                    <a:pt x="253" y="547"/>
                  </a:cubicBezTo>
                  <a:cubicBezTo>
                    <a:pt x="130" y="571"/>
                    <a:pt x="130" y="571"/>
                    <a:pt x="130" y="571"/>
                  </a:cubicBezTo>
                  <a:cubicBezTo>
                    <a:pt x="126" y="526"/>
                    <a:pt x="126" y="526"/>
                    <a:pt x="126" y="526"/>
                  </a:cubicBezTo>
                  <a:cubicBezTo>
                    <a:pt x="121" y="487"/>
                    <a:pt x="121" y="487"/>
                    <a:pt x="121" y="487"/>
                  </a:cubicBezTo>
                  <a:cubicBezTo>
                    <a:pt x="121" y="487"/>
                    <a:pt x="121" y="487"/>
                    <a:pt x="121" y="487"/>
                  </a:cubicBezTo>
                  <a:cubicBezTo>
                    <a:pt x="121" y="487"/>
                    <a:pt x="121" y="487"/>
                    <a:pt x="121" y="487"/>
                  </a:cubicBezTo>
                  <a:cubicBezTo>
                    <a:pt x="121" y="487"/>
                    <a:pt x="121" y="487"/>
                    <a:pt x="121" y="487"/>
                  </a:cubicBezTo>
                  <a:cubicBezTo>
                    <a:pt x="121" y="484"/>
                    <a:pt x="121" y="484"/>
                    <a:pt x="121" y="484"/>
                  </a:cubicBezTo>
                  <a:cubicBezTo>
                    <a:pt x="121" y="485"/>
                    <a:pt x="121" y="485"/>
                    <a:pt x="121" y="485"/>
                  </a:cubicBezTo>
                  <a:cubicBezTo>
                    <a:pt x="115" y="438"/>
                    <a:pt x="115" y="438"/>
                    <a:pt x="115" y="438"/>
                  </a:cubicBezTo>
                  <a:cubicBezTo>
                    <a:pt x="115" y="437"/>
                    <a:pt x="115" y="437"/>
                    <a:pt x="115" y="437"/>
                  </a:cubicBezTo>
                  <a:cubicBezTo>
                    <a:pt x="114" y="435"/>
                    <a:pt x="114" y="435"/>
                    <a:pt x="114" y="435"/>
                  </a:cubicBezTo>
                  <a:cubicBezTo>
                    <a:pt x="97" y="428"/>
                    <a:pt x="97" y="428"/>
                    <a:pt x="97" y="428"/>
                  </a:cubicBezTo>
                  <a:cubicBezTo>
                    <a:pt x="97" y="428"/>
                    <a:pt x="74" y="417"/>
                    <a:pt x="71" y="416"/>
                  </a:cubicBezTo>
                  <a:cubicBezTo>
                    <a:pt x="55" y="400"/>
                    <a:pt x="55" y="400"/>
                    <a:pt x="55" y="400"/>
                  </a:cubicBezTo>
                  <a:cubicBezTo>
                    <a:pt x="55" y="376"/>
                    <a:pt x="55" y="376"/>
                    <a:pt x="55" y="376"/>
                  </a:cubicBezTo>
                  <a:cubicBezTo>
                    <a:pt x="55" y="375"/>
                    <a:pt x="55" y="375"/>
                    <a:pt x="55" y="375"/>
                  </a:cubicBezTo>
                  <a:cubicBezTo>
                    <a:pt x="55" y="375"/>
                    <a:pt x="55" y="375"/>
                    <a:pt x="55" y="375"/>
                  </a:cubicBezTo>
                  <a:cubicBezTo>
                    <a:pt x="47" y="361"/>
                    <a:pt x="47" y="361"/>
                    <a:pt x="47" y="361"/>
                  </a:cubicBezTo>
                  <a:cubicBezTo>
                    <a:pt x="50" y="344"/>
                    <a:pt x="50" y="344"/>
                    <a:pt x="50" y="344"/>
                  </a:cubicBezTo>
                  <a:cubicBezTo>
                    <a:pt x="58" y="328"/>
                    <a:pt x="58" y="328"/>
                    <a:pt x="58" y="328"/>
                  </a:cubicBezTo>
                  <a:cubicBezTo>
                    <a:pt x="63" y="315"/>
                    <a:pt x="63" y="315"/>
                    <a:pt x="63" y="315"/>
                  </a:cubicBezTo>
                  <a:cubicBezTo>
                    <a:pt x="70" y="303"/>
                    <a:pt x="70" y="303"/>
                    <a:pt x="70" y="303"/>
                  </a:cubicBezTo>
                  <a:cubicBezTo>
                    <a:pt x="70" y="302"/>
                    <a:pt x="70" y="302"/>
                    <a:pt x="70" y="302"/>
                  </a:cubicBezTo>
                  <a:cubicBezTo>
                    <a:pt x="69" y="301"/>
                    <a:pt x="69" y="301"/>
                    <a:pt x="69" y="301"/>
                  </a:cubicBezTo>
                  <a:cubicBezTo>
                    <a:pt x="61" y="288"/>
                    <a:pt x="61" y="288"/>
                    <a:pt x="61" y="288"/>
                  </a:cubicBezTo>
                  <a:cubicBezTo>
                    <a:pt x="61" y="240"/>
                    <a:pt x="61" y="240"/>
                    <a:pt x="61" y="240"/>
                  </a:cubicBezTo>
                  <a:cubicBezTo>
                    <a:pt x="68" y="224"/>
                    <a:pt x="68" y="224"/>
                    <a:pt x="68" y="224"/>
                  </a:cubicBezTo>
                  <a:cubicBezTo>
                    <a:pt x="68" y="222"/>
                    <a:pt x="68" y="222"/>
                    <a:pt x="68" y="222"/>
                  </a:cubicBezTo>
                  <a:cubicBezTo>
                    <a:pt x="67" y="221"/>
                    <a:pt x="67" y="221"/>
                    <a:pt x="67" y="221"/>
                  </a:cubicBezTo>
                  <a:cubicBezTo>
                    <a:pt x="47" y="210"/>
                    <a:pt x="47" y="210"/>
                    <a:pt x="47" y="210"/>
                  </a:cubicBezTo>
                  <a:cubicBezTo>
                    <a:pt x="46" y="210"/>
                    <a:pt x="46" y="210"/>
                    <a:pt x="46" y="210"/>
                  </a:cubicBezTo>
                  <a:cubicBezTo>
                    <a:pt x="45" y="210"/>
                    <a:pt x="45" y="210"/>
                    <a:pt x="45" y="210"/>
                  </a:cubicBezTo>
                  <a:cubicBezTo>
                    <a:pt x="36" y="216"/>
                    <a:pt x="36" y="216"/>
                    <a:pt x="36" y="216"/>
                  </a:cubicBezTo>
                  <a:cubicBezTo>
                    <a:pt x="15" y="208"/>
                    <a:pt x="15" y="208"/>
                    <a:pt x="15" y="208"/>
                  </a:cubicBezTo>
                  <a:cubicBezTo>
                    <a:pt x="15" y="186"/>
                    <a:pt x="15" y="186"/>
                    <a:pt x="15" y="186"/>
                  </a:cubicBezTo>
                  <a:cubicBezTo>
                    <a:pt x="22" y="180"/>
                    <a:pt x="22" y="180"/>
                    <a:pt x="22" y="180"/>
                  </a:cubicBezTo>
                  <a:cubicBezTo>
                    <a:pt x="23" y="179"/>
                    <a:pt x="23" y="179"/>
                    <a:pt x="23" y="179"/>
                  </a:cubicBezTo>
                  <a:cubicBezTo>
                    <a:pt x="23" y="178"/>
                    <a:pt x="23" y="178"/>
                    <a:pt x="23" y="178"/>
                  </a:cubicBezTo>
                  <a:cubicBezTo>
                    <a:pt x="23" y="173"/>
                    <a:pt x="23" y="173"/>
                    <a:pt x="23" y="173"/>
                  </a:cubicBezTo>
                  <a:cubicBezTo>
                    <a:pt x="23" y="172"/>
                    <a:pt x="23" y="172"/>
                    <a:pt x="23" y="172"/>
                  </a:cubicBezTo>
                  <a:cubicBezTo>
                    <a:pt x="22" y="172"/>
                    <a:pt x="22" y="172"/>
                    <a:pt x="22" y="172"/>
                  </a:cubicBezTo>
                  <a:cubicBezTo>
                    <a:pt x="0" y="157"/>
                    <a:pt x="0" y="157"/>
                    <a:pt x="0" y="157"/>
                  </a:cubicBezTo>
                  <a:cubicBezTo>
                    <a:pt x="10" y="131"/>
                    <a:pt x="10" y="131"/>
                    <a:pt x="10" y="131"/>
                  </a:cubicBezTo>
                  <a:cubicBezTo>
                    <a:pt x="48" y="130"/>
                    <a:pt x="48" y="130"/>
                    <a:pt x="48" y="130"/>
                  </a:cubicBezTo>
                  <a:cubicBezTo>
                    <a:pt x="49" y="130"/>
                    <a:pt x="49" y="130"/>
                    <a:pt x="49" y="130"/>
                  </a:cubicBezTo>
                  <a:cubicBezTo>
                    <a:pt x="50" y="129"/>
                    <a:pt x="50" y="129"/>
                    <a:pt x="50" y="129"/>
                  </a:cubicBezTo>
                  <a:cubicBezTo>
                    <a:pt x="73" y="99"/>
                    <a:pt x="73" y="99"/>
                    <a:pt x="73" y="99"/>
                  </a:cubicBezTo>
                  <a:cubicBezTo>
                    <a:pt x="73" y="99"/>
                    <a:pt x="73" y="99"/>
                    <a:pt x="73" y="99"/>
                  </a:cubicBezTo>
                  <a:cubicBezTo>
                    <a:pt x="73" y="98"/>
                    <a:pt x="73" y="98"/>
                    <a:pt x="73" y="98"/>
                  </a:cubicBezTo>
                  <a:cubicBezTo>
                    <a:pt x="70" y="75"/>
                    <a:pt x="70" y="75"/>
                    <a:pt x="70" y="75"/>
                  </a:cubicBezTo>
                  <a:cubicBezTo>
                    <a:pt x="70" y="75"/>
                    <a:pt x="70" y="75"/>
                    <a:pt x="70" y="75"/>
                  </a:cubicBezTo>
                  <a:cubicBezTo>
                    <a:pt x="70" y="75"/>
                    <a:pt x="70" y="75"/>
                    <a:pt x="70" y="75"/>
                  </a:cubicBezTo>
                  <a:cubicBezTo>
                    <a:pt x="66" y="61"/>
                    <a:pt x="66" y="61"/>
                    <a:pt x="66" y="61"/>
                  </a:cubicBezTo>
                  <a:cubicBezTo>
                    <a:pt x="74" y="47"/>
                    <a:pt x="74" y="47"/>
                    <a:pt x="74" y="47"/>
                  </a:cubicBezTo>
                  <a:cubicBezTo>
                    <a:pt x="73" y="46"/>
                    <a:pt x="73" y="46"/>
                    <a:pt x="73" y="46"/>
                  </a:cubicBezTo>
                  <a:cubicBezTo>
                    <a:pt x="76" y="37"/>
                    <a:pt x="76" y="37"/>
                    <a:pt x="76" y="37"/>
                  </a:cubicBezTo>
                  <a:cubicBezTo>
                    <a:pt x="76" y="24"/>
                    <a:pt x="76" y="24"/>
                    <a:pt x="76" y="24"/>
                  </a:cubicBezTo>
                  <a:cubicBezTo>
                    <a:pt x="66" y="14"/>
                    <a:pt x="66" y="14"/>
                    <a:pt x="66" y="14"/>
                  </a:cubicBezTo>
                  <a:cubicBezTo>
                    <a:pt x="77" y="0"/>
                    <a:pt x="77" y="0"/>
                    <a:pt x="77" y="0"/>
                  </a:cubicBezTo>
                  <a:cubicBezTo>
                    <a:pt x="87" y="8"/>
                    <a:pt x="87" y="8"/>
                    <a:pt x="87" y="8"/>
                  </a:cubicBezTo>
                  <a:cubicBezTo>
                    <a:pt x="102" y="21"/>
                    <a:pt x="102" y="21"/>
                    <a:pt x="102" y="21"/>
                  </a:cubicBezTo>
                  <a:cubicBezTo>
                    <a:pt x="131" y="57"/>
                    <a:pt x="131" y="57"/>
                    <a:pt x="131" y="57"/>
                  </a:cubicBezTo>
                  <a:cubicBezTo>
                    <a:pt x="161" y="44"/>
                    <a:pt x="161" y="44"/>
                    <a:pt x="161" y="44"/>
                  </a:cubicBezTo>
                  <a:cubicBezTo>
                    <a:pt x="167" y="30"/>
                    <a:pt x="167" y="30"/>
                    <a:pt x="167" y="30"/>
                  </a:cubicBezTo>
                  <a:cubicBezTo>
                    <a:pt x="183" y="28"/>
                    <a:pt x="183" y="28"/>
                    <a:pt x="183" y="28"/>
                  </a:cubicBezTo>
                  <a:cubicBezTo>
                    <a:pt x="192" y="16"/>
                    <a:pt x="192" y="16"/>
                    <a:pt x="192" y="16"/>
                  </a:cubicBezTo>
                  <a:cubicBezTo>
                    <a:pt x="229" y="20"/>
                    <a:pt x="229" y="20"/>
                    <a:pt x="229" y="20"/>
                  </a:cubicBezTo>
                  <a:cubicBezTo>
                    <a:pt x="239" y="38"/>
                    <a:pt x="239" y="38"/>
                    <a:pt x="239" y="38"/>
                  </a:cubicBezTo>
                  <a:cubicBezTo>
                    <a:pt x="257" y="38"/>
                    <a:pt x="257" y="38"/>
                    <a:pt x="257" y="38"/>
                  </a:cubicBezTo>
                  <a:cubicBezTo>
                    <a:pt x="268" y="22"/>
                    <a:pt x="268" y="22"/>
                    <a:pt x="268" y="22"/>
                  </a:cubicBezTo>
                  <a:cubicBezTo>
                    <a:pt x="291" y="24"/>
                    <a:pt x="291" y="24"/>
                    <a:pt x="291" y="24"/>
                  </a:cubicBezTo>
                  <a:cubicBezTo>
                    <a:pt x="311" y="30"/>
                    <a:pt x="311" y="30"/>
                    <a:pt x="311" y="30"/>
                  </a:cubicBezTo>
                  <a:cubicBezTo>
                    <a:pt x="312" y="53"/>
                    <a:pt x="312" y="53"/>
                    <a:pt x="312" y="53"/>
                  </a:cubicBezTo>
                  <a:cubicBezTo>
                    <a:pt x="333" y="75"/>
                    <a:pt x="333" y="75"/>
                    <a:pt x="333" y="75"/>
                  </a:cubicBezTo>
                  <a:cubicBezTo>
                    <a:pt x="355" y="74"/>
                    <a:pt x="355" y="74"/>
                    <a:pt x="355" y="74"/>
                  </a:cubicBezTo>
                  <a:cubicBezTo>
                    <a:pt x="368" y="84"/>
                    <a:pt x="368" y="84"/>
                    <a:pt x="368" y="84"/>
                  </a:cubicBezTo>
                  <a:cubicBezTo>
                    <a:pt x="380" y="91"/>
                    <a:pt x="380" y="91"/>
                    <a:pt x="380" y="91"/>
                  </a:cubicBezTo>
                  <a:cubicBezTo>
                    <a:pt x="391" y="79"/>
                    <a:pt x="391" y="79"/>
                    <a:pt x="391" y="79"/>
                  </a:cubicBezTo>
                  <a:cubicBezTo>
                    <a:pt x="394" y="64"/>
                    <a:pt x="394" y="64"/>
                    <a:pt x="394" y="64"/>
                  </a:cubicBezTo>
                  <a:cubicBezTo>
                    <a:pt x="407" y="61"/>
                    <a:pt x="407" y="61"/>
                    <a:pt x="407" y="61"/>
                  </a:cubicBezTo>
                  <a:cubicBezTo>
                    <a:pt x="411" y="75"/>
                    <a:pt x="411" y="75"/>
                    <a:pt x="411" y="75"/>
                  </a:cubicBezTo>
                  <a:cubicBezTo>
                    <a:pt x="436" y="78"/>
                    <a:pt x="436" y="78"/>
                    <a:pt x="436" y="78"/>
                  </a:cubicBezTo>
                  <a:cubicBezTo>
                    <a:pt x="467" y="74"/>
                    <a:pt x="467" y="74"/>
                    <a:pt x="467" y="74"/>
                  </a:cubicBezTo>
                  <a:cubicBezTo>
                    <a:pt x="483" y="65"/>
                    <a:pt x="483" y="65"/>
                    <a:pt x="483" y="65"/>
                  </a:cubicBezTo>
                  <a:cubicBezTo>
                    <a:pt x="492" y="30"/>
                    <a:pt x="492" y="30"/>
                    <a:pt x="492" y="30"/>
                  </a:cubicBezTo>
                  <a:cubicBezTo>
                    <a:pt x="493" y="27"/>
                    <a:pt x="493" y="27"/>
                    <a:pt x="493" y="27"/>
                  </a:cubicBezTo>
                  <a:cubicBezTo>
                    <a:pt x="516" y="27"/>
                    <a:pt x="516" y="27"/>
                    <a:pt x="516" y="27"/>
                  </a:cubicBezTo>
                  <a:cubicBezTo>
                    <a:pt x="513" y="41"/>
                    <a:pt x="513" y="41"/>
                    <a:pt x="513" y="41"/>
                  </a:cubicBezTo>
                  <a:cubicBezTo>
                    <a:pt x="513" y="42"/>
                    <a:pt x="513" y="42"/>
                    <a:pt x="513" y="42"/>
                  </a:cubicBezTo>
                  <a:cubicBezTo>
                    <a:pt x="514" y="42"/>
                    <a:pt x="514" y="42"/>
                    <a:pt x="514" y="42"/>
                  </a:cubicBezTo>
                  <a:cubicBezTo>
                    <a:pt x="518" y="50"/>
                    <a:pt x="518" y="50"/>
                    <a:pt x="518" y="50"/>
                  </a:cubicBezTo>
                  <a:cubicBezTo>
                    <a:pt x="519" y="53"/>
                    <a:pt x="519" y="53"/>
                    <a:pt x="519" y="53"/>
                  </a:cubicBezTo>
                  <a:cubicBezTo>
                    <a:pt x="521" y="51"/>
                    <a:pt x="521" y="51"/>
                    <a:pt x="521" y="51"/>
                  </a:cubicBezTo>
                  <a:cubicBezTo>
                    <a:pt x="530" y="42"/>
                    <a:pt x="530" y="42"/>
                    <a:pt x="530" y="42"/>
                  </a:cubicBezTo>
                  <a:cubicBezTo>
                    <a:pt x="534" y="46"/>
                    <a:pt x="534" y="46"/>
                    <a:pt x="534" y="46"/>
                  </a:cubicBezTo>
                  <a:cubicBezTo>
                    <a:pt x="536" y="55"/>
                    <a:pt x="536" y="55"/>
                    <a:pt x="536" y="55"/>
                  </a:cubicBezTo>
                  <a:cubicBezTo>
                    <a:pt x="537" y="56"/>
                    <a:pt x="537" y="56"/>
                    <a:pt x="537" y="56"/>
                  </a:cubicBezTo>
                  <a:cubicBezTo>
                    <a:pt x="537" y="56"/>
                    <a:pt x="537" y="56"/>
                    <a:pt x="537" y="56"/>
                  </a:cubicBezTo>
                  <a:cubicBezTo>
                    <a:pt x="544" y="64"/>
                    <a:pt x="544" y="64"/>
                    <a:pt x="544" y="64"/>
                  </a:cubicBezTo>
                  <a:cubicBezTo>
                    <a:pt x="538" y="70"/>
                    <a:pt x="538" y="70"/>
                    <a:pt x="538" y="70"/>
                  </a:cubicBezTo>
                  <a:cubicBezTo>
                    <a:pt x="537" y="70"/>
                    <a:pt x="537" y="70"/>
                    <a:pt x="537" y="70"/>
                  </a:cubicBezTo>
                  <a:cubicBezTo>
                    <a:pt x="537" y="71"/>
                    <a:pt x="537" y="71"/>
                    <a:pt x="537" y="71"/>
                  </a:cubicBezTo>
                  <a:cubicBezTo>
                    <a:pt x="537" y="85"/>
                    <a:pt x="537" y="85"/>
                    <a:pt x="537" y="85"/>
                  </a:cubicBezTo>
                  <a:cubicBezTo>
                    <a:pt x="537" y="85"/>
                    <a:pt x="537" y="85"/>
                    <a:pt x="537" y="85"/>
                  </a:cubicBezTo>
                  <a:cubicBezTo>
                    <a:pt x="537" y="86"/>
                    <a:pt x="537" y="86"/>
                    <a:pt x="537" y="86"/>
                  </a:cubicBezTo>
                  <a:cubicBezTo>
                    <a:pt x="546" y="96"/>
                    <a:pt x="546" y="96"/>
                    <a:pt x="546" y="96"/>
                  </a:cubicBezTo>
                  <a:cubicBezTo>
                    <a:pt x="546" y="96"/>
                    <a:pt x="553" y="104"/>
                    <a:pt x="554" y="106"/>
                  </a:cubicBezTo>
                  <a:cubicBezTo>
                    <a:pt x="559" y="122"/>
                    <a:pt x="559" y="122"/>
                    <a:pt x="559" y="122"/>
                  </a:cubicBezTo>
                  <a:cubicBezTo>
                    <a:pt x="559" y="130"/>
                    <a:pt x="559" y="130"/>
                    <a:pt x="559" y="130"/>
                  </a:cubicBezTo>
                  <a:cubicBezTo>
                    <a:pt x="559" y="131"/>
                    <a:pt x="559" y="131"/>
                    <a:pt x="559" y="131"/>
                  </a:cubicBezTo>
                  <a:cubicBezTo>
                    <a:pt x="559" y="132"/>
                    <a:pt x="559" y="132"/>
                    <a:pt x="559" y="132"/>
                  </a:cubicBezTo>
                  <a:cubicBezTo>
                    <a:pt x="565" y="137"/>
                    <a:pt x="565" y="137"/>
                    <a:pt x="565" y="137"/>
                  </a:cubicBezTo>
                  <a:cubicBezTo>
                    <a:pt x="567" y="158"/>
                    <a:pt x="567" y="158"/>
                    <a:pt x="567" y="158"/>
                  </a:cubicBezTo>
                  <a:cubicBezTo>
                    <a:pt x="563" y="163"/>
                    <a:pt x="563" y="163"/>
                    <a:pt x="563" y="163"/>
                  </a:cubicBezTo>
                  <a:cubicBezTo>
                    <a:pt x="547" y="171"/>
                    <a:pt x="547" y="171"/>
                    <a:pt x="547" y="171"/>
                  </a:cubicBezTo>
                  <a:cubicBezTo>
                    <a:pt x="546" y="172"/>
                    <a:pt x="546" y="172"/>
                    <a:pt x="546" y="172"/>
                  </a:cubicBezTo>
                  <a:cubicBezTo>
                    <a:pt x="546" y="172"/>
                    <a:pt x="546" y="172"/>
                    <a:pt x="546" y="172"/>
                  </a:cubicBezTo>
                  <a:cubicBezTo>
                    <a:pt x="534" y="192"/>
                    <a:pt x="534" y="192"/>
                    <a:pt x="534" y="192"/>
                  </a:cubicBezTo>
                  <a:cubicBezTo>
                    <a:pt x="526" y="198"/>
                    <a:pt x="526" y="198"/>
                    <a:pt x="526" y="198"/>
                  </a:cubicBezTo>
                  <a:cubicBezTo>
                    <a:pt x="524" y="199"/>
                    <a:pt x="524" y="199"/>
                    <a:pt x="524" y="199"/>
                  </a:cubicBezTo>
                  <a:cubicBezTo>
                    <a:pt x="525" y="201"/>
                    <a:pt x="525" y="201"/>
                    <a:pt x="525" y="201"/>
                  </a:cubicBezTo>
                  <a:cubicBezTo>
                    <a:pt x="532" y="210"/>
                    <a:pt x="532" y="210"/>
                    <a:pt x="532" y="210"/>
                  </a:cubicBezTo>
                  <a:cubicBezTo>
                    <a:pt x="532" y="219"/>
                    <a:pt x="532" y="219"/>
                    <a:pt x="532" y="219"/>
                  </a:cubicBezTo>
                  <a:cubicBezTo>
                    <a:pt x="526" y="235"/>
                    <a:pt x="526" y="235"/>
                    <a:pt x="526" y="235"/>
                  </a:cubicBezTo>
                  <a:cubicBezTo>
                    <a:pt x="526" y="236"/>
                    <a:pt x="526" y="236"/>
                    <a:pt x="526" y="236"/>
                  </a:cubicBezTo>
                  <a:cubicBezTo>
                    <a:pt x="527" y="237"/>
                    <a:pt x="527" y="237"/>
                    <a:pt x="527" y="237"/>
                  </a:cubicBezTo>
                  <a:cubicBezTo>
                    <a:pt x="548" y="260"/>
                    <a:pt x="548" y="260"/>
                    <a:pt x="548" y="260"/>
                  </a:cubicBezTo>
                  <a:cubicBezTo>
                    <a:pt x="548" y="260"/>
                    <a:pt x="548" y="260"/>
                    <a:pt x="548" y="260"/>
                  </a:cubicBezTo>
                  <a:cubicBezTo>
                    <a:pt x="548" y="260"/>
                    <a:pt x="548" y="260"/>
                    <a:pt x="548" y="260"/>
                  </a:cubicBezTo>
                  <a:cubicBezTo>
                    <a:pt x="556" y="264"/>
                    <a:pt x="556" y="264"/>
                    <a:pt x="556" y="264"/>
                  </a:cubicBezTo>
                  <a:cubicBezTo>
                    <a:pt x="558" y="265"/>
                    <a:pt x="558" y="265"/>
                    <a:pt x="558" y="265"/>
                  </a:cubicBezTo>
                  <a:cubicBezTo>
                    <a:pt x="559" y="263"/>
                    <a:pt x="559" y="263"/>
                    <a:pt x="559" y="263"/>
                  </a:cubicBezTo>
                  <a:cubicBezTo>
                    <a:pt x="562" y="256"/>
                    <a:pt x="562" y="256"/>
                    <a:pt x="562" y="256"/>
                  </a:cubicBezTo>
                  <a:cubicBezTo>
                    <a:pt x="565" y="255"/>
                    <a:pt x="565" y="255"/>
                    <a:pt x="565" y="255"/>
                  </a:cubicBezTo>
                  <a:cubicBezTo>
                    <a:pt x="570" y="260"/>
                    <a:pt x="570" y="260"/>
                    <a:pt x="570" y="260"/>
                  </a:cubicBezTo>
                  <a:cubicBezTo>
                    <a:pt x="566" y="271"/>
                    <a:pt x="566" y="271"/>
                    <a:pt x="566" y="271"/>
                  </a:cubicBezTo>
                  <a:cubicBezTo>
                    <a:pt x="565" y="272"/>
                    <a:pt x="565" y="272"/>
                    <a:pt x="565" y="272"/>
                  </a:cubicBezTo>
                  <a:cubicBezTo>
                    <a:pt x="566" y="273"/>
                    <a:pt x="566" y="273"/>
                    <a:pt x="566" y="273"/>
                  </a:cubicBezTo>
                  <a:cubicBezTo>
                    <a:pt x="580" y="284"/>
                    <a:pt x="580" y="284"/>
                    <a:pt x="580" y="284"/>
                  </a:cubicBezTo>
                  <a:cubicBezTo>
                    <a:pt x="581" y="284"/>
                    <a:pt x="595" y="293"/>
                    <a:pt x="595" y="293"/>
                  </a:cubicBezTo>
                  <a:cubicBezTo>
                    <a:pt x="595" y="293"/>
                    <a:pt x="595" y="293"/>
                    <a:pt x="595" y="293"/>
                  </a:cubicBezTo>
                  <a:cubicBezTo>
                    <a:pt x="595" y="293"/>
                    <a:pt x="595" y="293"/>
                    <a:pt x="595" y="293"/>
                  </a:cubicBezTo>
                  <a:cubicBezTo>
                    <a:pt x="615" y="301"/>
                    <a:pt x="615" y="301"/>
                    <a:pt x="615" y="301"/>
                  </a:cubicBezTo>
                  <a:cubicBezTo>
                    <a:pt x="631" y="326"/>
                    <a:pt x="631" y="326"/>
                    <a:pt x="631" y="326"/>
                  </a:cubicBezTo>
                  <a:cubicBezTo>
                    <a:pt x="631" y="342"/>
                    <a:pt x="631" y="342"/>
                    <a:pt x="631" y="342"/>
                  </a:cubicBezTo>
                  <a:cubicBezTo>
                    <a:pt x="631" y="343"/>
                    <a:pt x="631" y="343"/>
                    <a:pt x="631" y="343"/>
                  </a:cubicBezTo>
                  <a:cubicBezTo>
                    <a:pt x="631" y="343"/>
                    <a:pt x="631" y="343"/>
                    <a:pt x="631" y="343"/>
                  </a:cubicBezTo>
                  <a:cubicBezTo>
                    <a:pt x="642" y="356"/>
                    <a:pt x="642" y="356"/>
                    <a:pt x="642" y="356"/>
                  </a:cubicBezTo>
                  <a:cubicBezTo>
                    <a:pt x="643" y="365"/>
                    <a:pt x="643" y="365"/>
                    <a:pt x="643" y="365"/>
                  </a:cubicBezTo>
                  <a:cubicBezTo>
                    <a:pt x="611" y="388"/>
                    <a:pt x="611" y="388"/>
                    <a:pt x="611" y="388"/>
                  </a:cubicBezTo>
                  <a:cubicBezTo>
                    <a:pt x="601" y="394"/>
                    <a:pt x="601" y="394"/>
                    <a:pt x="601" y="394"/>
                  </a:cubicBezTo>
                  <a:cubicBezTo>
                    <a:pt x="601" y="394"/>
                    <a:pt x="585" y="406"/>
                    <a:pt x="583" y="407"/>
                  </a:cubicBezTo>
                  <a:cubicBezTo>
                    <a:pt x="569" y="413"/>
                    <a:pt x="569" y="413"/>
                    <a:pt x="569" y="413"/>
                  </a:cubicBezTo>
                  <a:cubicBezTo>
                    <a:pt x="569" y="413"/>
                    <a:pt x="569" y="413"/>
                    <a:pt x="569" y="413"/>
                  </a:cubicBezTo>
                  <a:cubicBezTo>
                    <a:pt x="568" y="414"/>
                    <a:pt x="568" y="414"/>
                    <a:pt x="568" y="414"/>
                  </a:cubicBezTo>
                  <a:cubicBezTo>
                    <a:pt x="550" y="429"/>
                    <a:pt x="550" y="429"/>
                    <a:pt x="550" y="429"/>
                  </a:cubicBezTo>
                  <a:cubicBezTo>
                    <a:pt x="546" y="422"/>
                    <a:pt x="546" y="422"/>
                    <a:pt x="546" y="422"/>
                  </a:cubicBezTo>
                  <a:cubicBezTo>
                    <a:pt x="545" y="422"/>
                    <a:pt x="545" y="422"/>
                    <a:pt x="545" y="422"/>
                  </a:cubicBezTo>
                  <a:cubicBezTo>
                    <a:pt x="545" y="422"/>
                    <a:pt x="545" y="422"/>
                    <a:pt x="545" y="422"/>
                  </a:cubicBezTo>
                  <a:cubicBezTo>
                    <a:pt x="533" y="413"/>
                    <a:pt x="533" y="413"/>
                    <a:pt x="533" y="413"/>
                  </a:cubicBezTo>
                  <a:cubicBezTo>
                    <a:pt x="531" y="402"/>
                    <a:pt x="531" y="402"/>
                    <a:pt x="531" y="402"/>
                  </a:cubicBezTo>
                  <a:cubicBezTo>
                    <a:pt x="531" y="402"/>
                    <a:pt x="531" y="402"/>
                    <a:pt x="531" y="402"/>
                  </a:cubicBezTo>
                  <a:cubicBezTo>
                    <a:pt x="530" y="401"/>
                    <a:pt x="530" y="401"/>
                    <a:pt x="530" y="401"/>
                  </a:cubicBezTo>
                  <a:cubicBezTo>
                    <a:pt x="487" y="356"/>
                    <a:pt x="487" y="356"/>
                    <a:pt x="487" y="356"/>
                  </a:cubicBezTo>
                  <a:cubicBezTo>
                    <a:pt x="487" y="355"/>
                    <a:pt x="487" y="355"/>
                    <a:pt x="487" y="355"/>
                  </a:cubicBezTo>
                  <a:cubicBezTo>
                    <a:pt x="486" y="355"/>
                    <a:pt x="486" y="355"/>
                    <a:pt x="486" y="355"/>
                  </a:cubicBezTo>
                  <a:cubicBezTo>
                    <a:pt x="452" y="354"/>
                    <a:pt x="452" y="354"/>
                    <a:pt x="452" y="354"/>
                  </a:cubicBezTo>
                  <a:cubicBezTo>
                    <a:pt x="451" y="354"/>
                    <a:pt x="451" y="354"/>
                    <a:pt x="451" y="354"/>
                  </a:cubicBezTo>
                  <a:cubicBezTo>
                    <a:pt x="450" y="355"/>
                    <a:pt x="450" y="355"/>
                    <a:pt x="450" y="355"/>
                  </a:cubicBezTo>
                  <a:cubicBezTo>
                    <a:pt x="418" y="413"/>
                    <a:pt x="418" y="413"/>
                    <a:pt x="418" y="413"/>
                  </a:cubicBezTo>
                  <a:cubicBezTo>
                    <a:pt x="382" y="413"/>
                    <a:pt x="382" y="413"/>
                    <a:pt x="382" y="413"/>
                  </a:cubicBezTo>
                  <a:cubicBezTo>
                    <a:pt x="380" y="413"/>
                    <a:pt x="380" y="413"/>
                    <a:pt x="380" y="413"/>
                  </a:cubicBezTo>
                  <a:cubicBezTo>
                    <a:pt x="380" y="414"/>
                    <a:pt x="380" y="414"/>
                    <a:pt x="380" y="414"/>
                  </a:cubicBezTo>
                  <a:cubicBezTo>
                    <a:pt x="375" y="435"/>
                    <a:pt x="375" y="435"/>
                    <a:pt x="375" y="435"/>
                  </a:cubicBezTo>
                  <a:cubicBezTo>
                    <a:pt x="367" y="432"/>
                    <a:pt x="367" y="432"/>
                    <a:pt x="367" y="432"/>
                  </a:cubicBezTo>
                  <a:cubicBezTo>
                    <a:pt x="366" y="432"/>
                    <a:pt x="366" y="432"/>
                    <a:pt x="366" y="432"/>
                  </a:cubicBezTo>
                  <a:cubicBezTo>
                    <a:pt x="365" y="434"/>
                    <a:pt x="365" y="434"/>
                    <a:pt x="365" y="434"/>
                  </a:cubicBezTo>
                  <a:cubicBezTo>
                    <a:pt x="300" y="494"/>
                    <a:pt x="300" y="494"/>
                    <a:pt x="300" y="494"/>
                  </a:cubicBezTo>
                  <a:cubicBezTo>
                    <a:pt x="300" y="494"/>
                    <a:pt x="300" y="494"/>
                    <a:pt x="300" y="494"/>
                  </a:cubicBezTo>
                  <a:cubicBezTo>
                    <a:pt x="300" y="494"/>
                    <a:pt x="300" y="494"/>
                    <a:pt x="300" y="494"/>
                  </a:cubicBezTo>
                  <a:cubicBezTo>
                    <a:pt x="294" y="505"/>
                    <a:pt x="294" y="505"/>
                    <a:pt x="294" y="505"/>
                  </a:cubicBezTo>
                  <a:cubicBezTo>
                    <a:pt x="272" y="506"/>
                    <a:pt x="272" y="506"/>
                    <a:pt x="272" y="506"/>
                  </a:cubicBezTo>
                  <a:cubicBezTo>
                    <a:pt x="271" y="506"/>
                    <a:pt x="271" y="506"/>
                    <a:pt x="271" y="506"/>
                  </a:cubicBezTo>
                  <a:cubicBezTo>
                    <a:pt x="271" y="508"/>
                    <a:pt x="271" y="508"/>
                    <a:pt x="271" y="508"/>
                  </a:cubicBezTo>
                  <a:cubicBezTo>
                    <a:pt x="271" y="518"/>
                    <a:pt x="271" y="518"/>
                    <a:pt x="271" y="518"/>
                  </a:cubicBezTo>
                  <a:cubicBezTo>
                    <a:pt x="272" y="519"/>
                    <a:pt x="272" y="519"/>
                    <a:pt x="272" y="519"/>
                  </a:cubicBezTo>
                  <a:close/>
                </a:path>
              </a:pathLst>
            </a:custGeom>
            <a:grp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743024">
                <a:defRPr/>
              </a:pPr>
              <a:endParaRPr lang="ru-RU" sz="1300" kern="0" dirty="0">
                <a:solidFill>
                  <a:sysClr val="windowText" lastClr="000000"/>
                </a:solidFill>
                <a:latin typeface="Arial" panose="020B0604020202020204" pitchFamily="34" charset="0"/>
                <a:cs typeface="Arial" panose="020B0604020202020204" pitchFamily="34" charset="0"/>
              </a:endParaRPr>
            </a:p>
          </p:txBody>
        </p:sp>
        <p:sp>
          <p:nvSpPr>
            <p:cNvPr id="90" name="Oval 557">
              <a:extLst>
                <a:ext uri="{FF2B5EF4-FFF2-40B4-BE49-F238E27FC236}">
                  <a16:creationId xmlns:a16="http://schemas.microsoft.com/office/drawing/2014/main" id="{775D2CB2-8B69-4148-8B43-44A213CC2B5D}"/>
                </a:ext>
              </a:extLst>
            </p:cNvPr>
            <p:cNvSpPr>
              <a:spLocks noChangeArrowheads="1"/>
            </p:cNvSpPr>
            <p:nvPr/>
          </p:nvSpPr>
          <p:spPr bwMode="auto">
            <a:xfrm>
              <a:off x="6107969" y="2905685"/>
              <a:ext cx="211312" cy="192700"/>
            </a:xfrm>
            <a:prstGeom prst="ellipse">
              <a:avLst/>
            </a:prstGeom>
            <a:grpFill/>
            <a:ln w="12700">
              <a:solidFill>
                <a:schemeClr val="bg1"/>
              </a:solidFill>
              <a:round/>
              <a:headEnd/>
              <a:tailEnd/>
            </a:ln>
            <a:effectLst/>
          </p:spPr>
          <p:txBody>
            <a:bodyPr wrap="none" anchor="ctr"/>
            <a:lstStyle/>
            <a:p>
              <a:pPr defTabSz="743024">
                <a:defRPr/>
              </a:pPr>
              <a:endParaRPr lang="ru-RU" sz="1300" kern="0" dirty="0">
                <a:solidFill>
                  <a:sysClr val="windowText" lastClr="000000"/>
                </a:solidFill>
                <a:latin typeface="Arial" panose="020B0604020202020204" pitchFamily="34" charset="0"/>
                <a:cs typeface="Arial" panose="020B0604020202020204" pitchFamily="34" charset="0"/>
              </a:endParaRPr>
            </a:p>
          </p:txBody>
        </p:sp>
        <p:sp>
          <p:nvSpPr>
            <p:cNvPr id="91" name="Oval 557">
              <a:extLst>
                <a:ext uri="{FF2B5EF4-FFF2-40B4-BE49-F238E27FC236}">
                  <a16:creationId xmlns:a16="http://schemas.microsoft.com/office/drawing/2014/main" id="{8DAB7013-C70B-4562-8986-9226409A631C}"/>
                </a:ext>
              </a:extLst>
            </p:cNvPr>
            <p:cNvSpPr>
              <a:spLocks noChangeArrowheads="1"/>
            </p:cNvSpPr>
            <p:nvPr/>
          </p:nvSpPr>
          <p:spPr bwMode="auto">
            <a:xfrm>
              <a:off x="5808400" y="5219224"/>
              <a:ext cx="211312" cy="192700"/>
            </a:xfrm>
            <a:prstGeom prst="ellipse">
              <a:avLst/>
            </a:prstGeom>
            <a:grpFill/>
            <a:ln w="12700">
              <a:solidFill>
                <a:schemeClr val="bg1"/>
              </a:solidFill>
              <a:round/>
              <a:headEnd/>
              <a:tailEnd/>
            </a:ln>
            <a:effectLst/>
          </p:spPr>
          <p:txBody>
            <a:bodyPr wrap="none" anchor="ctr"/>
            <a:lstStyle/>
            <a:p>
              <a:pPr defTabSz="743024">
                <a:defRPr/>
              </a:pPr>
              <a:endParaRPr lang="ru-RU" sz="1300" kern="0" dirty="0">
                <a:solidFill>
                  <a:sysClr val="windowText" lastClr="000000"/>
                </a:solidFill>
                <a:latin typeface="Arial" panose="020B0604020202020204" pitchFamily="34" charset="0"/>
                <a:cs typeface="Arial" panose="020B0604020202020204" pitchFamily="34" charset="0"/>
              </a:endParaRPr>
            </a:p>
          </p:txBody>
        </p:sp>
        <p:sp>
          <p:nvSpPr>
            <p:cNvPr id="92" name="Oval 557">
              <a:extLst>
                <a:ext uri="{FF2B5EF4-FFF2-40B4-BE49-F238E27FC236}">
                  <a16:creationId xmlns:a16="http://schemas.microsoft.com/office/drawing/2014/main" id="{9F0B33A7-F6BB-4DEE-A29D-385530C24B80}"/>
                </a:ext>
              </a:extLst>
            </p:cNvPr>
            <p:cNvSpPr>
              <a:spLocks noChangeArrowheads="1"/>
            </p:cNvSpPr>
            <p:nvPr/>
          </p:nvSpPr>
          <p:spPr bwMode="auto">
            <a:xfrm>
              <a:off x="7044044" y="4743198"/>
              <a:ext cx="211312" cy="192700"/>
            </a:xfrm>
            <a:prstGeom prst="ellipse">
              <a:avLst/>
            </a:prstGeom>
            <a:grpFill/>
            <a:ln w="12700">
              <a:solidFill>
                <a:schemeClr val="bg1"/>
              </a:solidFill>
              <a:round/>
              <a:headEnd/>
              <a:tailEnd/>
            </a:ln>
            <a:effectLst/>
          </p:spPr>
          <p:txBody>
            <a:bodyPr wrap="none" anchor="ctr"/>
            <a:lstStyle/>
            <a:p>
              <a:pPr defTabSz="743024">
                <a:defRPr/>
              </a:pPr>
              <a:endParaRPr lang="ru-RU" sz="1300" kern="0" dirty="0">
                <a:solidFill>
                  <a:sysClr val="windowText" lastClr="000000"/>
                </a:solidFill>
                <a:latin typeface="Arial" panose="020B0604020202020204" pitchFamily="34" charset="0"/>
                <a:cs typeface="Arial" panose="020B0604020202020204" pitchFamily="34" charset="0"/>
              </a:endParaRPr>
            </a:p>
          </p:txBody>
        </p:sp>
        <p:sp>
          <p:nvSpPr>
            <p:cNvPr id="93" name="Oval 557">
              <a:extLst>
                <a:ext uri="{FF2B5EF4-FFF2-40B4-BE49-F238E27FC236}">
                  <a16:creationId xmlns:a16="http://schemas.microsoft.com/office/drawing/2014/main" id="{374D483E-0538-4931-A8EF-E50AC6B847AE}"/>
                </a:ext>
              </a:extLst>
            </p:cNvPr>
            <p:cNvSpPr>
              <a:spLocks noChangeArrowheads="1"/>
            </p:cNvSpPr>
            <p:nvPr/>
          </p:nvSpPr>
          <p:spPr bwMode="auto">
            <a:xfrm>
              <a:off x="6302661" y="3386143"/>
              <a:ext cx="211311" cy="192701"/>
            </a:xfrm>
            <a:prstGeom prst="ellipse">
              <a:avLst/>
            </a:prstGeom>
            <a:grpFill/>
            <a:ln w="12700">
              <a:solidFill>
                <a:schemeClr val="bg1"/>
              </a:solidFill>
              <a:round/>
              <a:headEnd/>
              <a:tailEnd/>
            </a:ln>
            <a:effectLst/>
          </p:spPr>
          <p:txBody>
            <a:bodyPr wrap="none" anchor="ctr"/>
            <a:lstStyle/>
            <a:p>
              <a:pPr defTabSz="743024">
                <a:defRPr/>
              </a:pPr>
              <a:endParaRPr lang="ru-RU" sz="1300" kern="0" dirty="0">
                <a:solidFill>
                  <a:sysClr val="windowText" lastClr="000000"/>
                </a:solidFill>
                <a:latin typeface="Arial" panose="020B0604020202020204" pitchFamily="34" charset="0"/>
                <a:cs typeface="Arial" panose="020B0604020202020204" pitchFamily="34" charset="0"/>
              </a:endParaRPr>
            </a:p>
          </p:txBody>
        </p:sp>
        <p:sp>
          <p:nvSpPr>
            <p:cNvPr id="94" name="Oval 557">
              <a:extLst>
                <a:ext uri="{FF2B5EF4-FFF2-40B4-BE49-F238E27FC236}">
                  <a16:creationId xmlns:a16="http://schemas.microsoft.com/office/drawing/2014/main" id="{37688DCB-BA23-42EC-A631-A608C868D75A}"/>
                </a:ext>
              </a:extLst>
            </p:cNvPr>
            <p:cNvSpPr>
              <a:spLocks noChangeArrowheads="1"/>
            </p:cNvSpPr>
            <p:nvPr/>
          </p:nvSpPr>
          <p:spPr bwMode="auto">
            <a:xfrm>
              <a:off x="4102345" y="3352166"/>
              <a:ext cx="211311" cy="192701"/>
            </a:xfrm>
            <a:prstGeom prst="ellipse">
              <a:avLst/>
            </a:prstGeom>
            <a:grpFill/>
            <a:ln w="12700">
              <a:solidFill>
                <a:schemeClr val="bg1"/>
              </a:solidFill>
              <a:round/>
              <a:headEnd/>
              <a:tailEnd/>
            </a:ln>
            <a:effectLst/>
          </p:spPr>
          <p:txBody>
            <a:bodyPr wrap="none" anchor="ctr"/>
            <a:lstStyle/>
            <a:p>
              <a:pPr defTabSz="743024">
                <a:defRPr/>
              </a:pPr>
              <a:endParaRPr lang="ru-RU" sz="1300" kern="0" dirty="0">
                <a:solidFill>
                  <a:sysClr val="windowText" lastClr="000000"/>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757260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FB8EAC99-7AF1-4600-B404-EF52F85F1C7D}"/>
              </a:ext>
            </a:extLst>
          </p:cNvPr>
          <p:cNvSpPr/>
          <p:nvPr/>
        </p:nvSpPr>
        <p:spPr>
          <a:xfrm>
            <a:off x="5083179" y="0"/>
            <a:ext cx="4813296" cy="6858000"/>
          </a:xfrm>
          <a:prstGeom prst="rect">
            <a:avLst/>
          </a:prstGeom>
          <a:solidFill>
            <a:srgbClr val="2B54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5" name="Заголовок 1">
            <a:extLst>
              <a:ext uri="{FF2B5EF4-FFF2-40B4-BE49-F238E27FC236}">
                <a16:creationId xmlns:a16="http://schemas.microsoft.com/office/drawing/2014/main" id="{202AEC27-A5AE-47EA-BC06-571D22D5F86E}"/>
              </a:ext>
            </a:extLst>
          </p:cNvPr>
          <p:cNvSpPr>
            <a:spLocks noGrp="1"/>
          </p:cNvSpPr>
          <p:nvPr>
            <p:ph type="title"/>
          </p:nvPr>
        </p:nvSpPr>
        <p:spPr>
          <a:xfrm>
            <a:off x="590733" y="886653"/>
            <a:ext cx="4133665" cy="469900"/>
          </a:xfrm>
        </p:spPr>
        <p:txBody>
          <a:bodyPr>
            <a:noAutofit/>
          </a:bodyPr>
          <a:lstStyle/>
          <a:p>
            <a:pPr algn="l">
              <a:lnSpc>
                <a:spcPts val="3000"/>
              </a:lnSpc>
            </a:pPr>
            <a:r>
              <a:rPr lang="kk-KZ" sz="1600" b="1" dirty="0">
                <a:latin typeface="Arial" panose="020B0604020202020204" pitchFamily="34" charset="0"/>
                <a:ea typeface="+mn-ea"/>
                <a:cs typeface="Arial" panose="020B0604020202020204" pitchFamily="34" charset="0"/>
              </a:rPr>
              <a:t>1. Жилищные условия проживания </a:t>
            </a:r>
            <a:endParaRPr lang="ru-KZ" sz="1600" b="1" dirty="0">
              <a:latin typeface="Arial" panose="020B0604020202020204" pitchFamily="34" charset="0"/>
              <a:ea typeface="+mn-ea"/>
              <a:cs typeface="Arial" panose="020B0604020202020204" pitchFamily="34" charset="0"/>
            </a:endParaRPr>
          </a:p>
        </p:txBody>
      </p:sp>
      <p:sp>
        <p:nvSpPr>
          <p:cNvPr id="7" name="Заголовок 1">
            <a:extLst>
              <a:ext uri="{FF2B5EF4-FFF2-40B4-BE49-F238E27FC236}">
                <a16:creationId xmlns:a16="http://schemas.microsoft.com/office/drawing/2014/main" id="{8B0A0D41-A461-4B78-9BE2-278179A2FACF}"/>
              </a:ext>
            </a:extLst>
          </p:cNvPr>
          <p:cNvSpPr txBox="1">
            <a:spLocks/>
          </p:cNvSpPr>
          <p:nvPr/>
        </p:nvSpPr>
        <p:spPr>
          <a:xfrm>
            <a:off x="5181600" y="884741"/>
            <a:ext cx="4133665" cy="46990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1800" kern="1200">
                <a:solidFill>
                  <a:schemeClr val="tx1"/>
                </a:solidFill>
                <a:latin typeface="+mj-lt"/>
                <a:ea typeface="+mj-ea"/>
                <a:cs typeface="+mj-cs"/>
              </a:defRPr>
            </a:lvl1pPr>
          </a:lstStyle>
          <a:p>
            <a:pPr algn="l">
              <a:lnSpc>
                <a:spcPts val="3000"/>
              </a:lnSpc>
            </a:pPr>
            <a:r>
              <a:rPr lang="kk-KZ" sz="1600" b="1" dirty="0">
                <a:solidFill>
                  <a:schemeClr val="bg1"/>
                </a:solidFill>
                <a:latin typeface="Arial" panose="020B0604020202020204" pitchFamily="34" charset="0"/>
                <a:ea typeface="+mn-ea"/>
                <a:cs typeface="Arial" panose="020B0604020202020204" pitchFamily="34" charset="0"/>
              </a:rPr>
              <a:t>2. Планы по приобретению жилья</a:t>
            </a:r>
            <a:endParaRPr lang="ru-KZ" sz="1600" b="1" dirty="0">
              <a:solidFill>
                <a:schemeClr val="bg1"/>
              </a:solidFill>
              <a:latin typeface="Arial" panose="020B0604020202020204" pitchFamily="34" charset="0"/>
              <a:ea typeface="+mn-ea"/>
              <a:cs typeface="Arial" panose="020B0604020202020204" pitchFamily="34" charset="0"/>
            </a:endParaRPr>
          </a:p>
        </p:txBody>
      </p:sp>
      <p:sp>
        <p:nvSpPr>
          <p:cNvPr id="8" name="TextBox 7">
            <a:extLst>
              <a:ext uri="{FF2B5EF4-FFF2-40B4-BE49-F238E27FC236}">
                <a16:creationId xmlns:a16="http://schemas.microsoft.com/office/drawing/2014/main" id="{972E0FF7-ABCB-4E5C-9539-3B6E12BAC0D7}"/>
              </a:ext>
            </a:extLst>
          </p:cNvPr>
          <p:cNvSpPr txBox="1"/>
          <p:nvPr/>
        </p:nvSpPr>
        <p:spPr>
          <a:xfrm>
            <a:off x="565148" y="1352496"/>
            <a:ext cx="4527556" cy="5311711"/>
          </a:xfrm>
          <a:prstGeom prst="rect">
            <a:avLst/>
          </a:prstGeom>
          <a:noFill/>
        </p:spPr>
        <p:txBody>
          <a:bodyPr wrap="square" rtlCol="0">
            <a:spAutoFit/>
          </a:bodyPr>
          <a:lstStyle/>
          <a:p>
            <a:pPr marL="285750" indent="-285750">
              <a:lnSpc>
                <a:spcPts val="1400"/>
              </a:lnSpc>
              <a:spcAft>
                <a:spcPts val="700"/>
              </a:spcAft>
              <a:buFont typeface="Arial" panose="020B0604020202020204" pitchFamily="34" charset="0"/>
              <a:buChar char="•"/>
            </a:pPr>
            <a:r>
              <a:rPr lang="ru-RU" sz="1300" dirty="0">
                <a:latin typeface="Arial" panose="020B0604020202020204" pitchFamily="34" charset="0"/>
                <a:cs typeface="Arial" panose="020B0604020202020204" pitchFamily="34" charset="0"/>
              </a:rPr>
              <a:t>61% граждан имеют собственное жилье, 16% живут у родственников, 20% снимают жилье.</a:t>
            </a:r>
          </a:p>
          <a:p>
            <a:pPr marL="285750" indent="-285750">
              <a:lnSpc>
                <a:spcPts val="1400"/>
              </a:lnSpc>
              <a:spcAft>
                <a:spcPts val="700"/>
              </a:spcAft>
              <a:buFont typeface="Arial" panose="020B0604020202020204" pitchFamily="34" charset="0"/>
              <a:buChar char="•"/>
            </a:pPr>
            <a:r>
              <a:rPr lang="ru-RU" sz="1300" dirty="0">
                <a:latin typeface="Arial" panose="020B0604020202020204" pitchFamily="34" charset="0"/>
                <a:cs typeface="Arial" panose="020B0604020202020204" pitchFamily="34" charset="0"/>
              </a:rPr>
              <a:t>Треть арендаторов платят за квартиру до 100 тыс., 15% более 100 тыс., остальные  либо живут бесплатно либо платят только за</a:t>
            </a:r>
            <a:r>
              <a:rPr lang="en-US" sz="1300" dirty="0">
                <a:latin typeface="Arial" panose="020B0604020202020204" pitchFamily="34" charset="0"/>
                <a:cs typeface="Arial" panose="020B0604020202020204" pitchFamily="34" charset="0"/>
              </a:rPr>
              <a:t> </a:t>
            </a:r>
            <a:r>
              <a:rPr lang="ru-RU" sz="1300" dirty="0">
                <a:latin typeface="Arial" panose="020B0604020202020204" pitchFamily="34" charset="0"/>
                <a:cs typeface="Arial" panose="020B0604020202020204" pitchFamily="34" charset="0"/>
              </a:rPr>
              <a:t>ЖКХ (среди живущих у родственников таких 89%). </a:t>
            </a:r>
          </a:p>
          <a:p>
            <a:pPr marL="285750" indent="-285750">
              <a:lnSpc>
                <a:spcPts val="1400"/>
              </a:lnSpc>
              <a:spcAft>
                <a:spcPts val="700"/>
              </a:spcAft>
              <a:buFont typeface="Arial" panose="020B0604020202020204" pitchFamily="34" charset="0"/>
              <a:buChar char="•"/>
            </a:pPr>
            <a:r>
              <a:rPr lang="ru-RU" sz="1300" dirty="0">
                <a:latin typeface="Arial" panose="020B0604020202020204" pitchFamily="34" charset="0"/>
                <a:cs typeface="Arial" panose="020B0604020202020204" pitchFamily="34" charset="0"/>
              </a:rPr>
              <a:t>Более половины опрошенных проживают с совершеннолетними детьми (среди казахоязычных казахов – 67%), треть - со своими родителями и/или родителями супруга(и). </a:t>
            </a:r>
          </a:p>
          <a:p>
            <a:pPr marL="285750" indent="-285750">
              <a:lnSpc>
                <a:spcPts val="1400"/>
              </a:lnSpc>
              <a:spcAft>
                <a:spcPts val="700"/>
              </a:spcAft>
              <a:buFont typeface="Arial" panose="020B0604020202020204" pitchFamily="34" charset="0"/>
              <a:buChar char="•"/>
            </a:pPr>
            <a:r>
              <a:rPr lang="ru-RU" sz="1300" dirty="0">
                <a:latin typeface="Arial" panose="020B0604020202020204" pitchFamily="34" charset="0"/>
                <a:cs typeface="Arial" panose="020B0604020202020204" pitchFamily="34" charset="0"/>
              </a:rPr>
              <a:t>Около </a:t>
            </a:r>
            <a:r>
              <a:rPr lang="en-CA" sz="1300" dirty="0">
                <a:latin typeface="Arial" panose="020B0604020202020204" pitchFamily="34" charset="0"/>
                <a:cs typeface="Arial" panose="020B0604020202020204" pitchFamily="34" charset="0"/>
              </a:rPr>
              <a:t>5</a:t>
            </a:r>
            <a:r>
              <a:rPr lang="ru-RU" sz="1300" dirty="0">
                <a:latin typeface="Arial" panose="020B0604020202020204" pitchFamily="34" charset="0"/>
                <a:cs typeface="Arial" panose="020B0604020202020204" pitchFamily="34" charset="0"/>
              </a:rPr>
              <a:t>% населения имеют плохие условия проживания и не имеют перспектив их улучшения в ближайшие 5 лет.</a:t>
            </a:r>
          </a:p>
          <a:p>
            <a:pPr marL="285750" indent="-285750">
              <a:lnSpc>
                <a:spcPts val="1400"/>
              </a:lnSpc>
              <a:spcAft>
                <a:spcPts val="700"/>
              </a:spcAft>
              <a:buFont typeface="Arial" panose="020B0604020202020204" pitchFamily="34" charset="0"/>
              <a:buChar char="•"/>
            </a:pPr>
            <a:r>
              <a:rPr lang="ru-RU" sz="1300" dirty="0">
                <a:latin typeface="Arial" panose="020B0604020202020204" pitchFamily="34" charset="0"/>
                <a:cs typeface="Arial" panose="020B0604020202020204" pitchFamily="34" charset="0"/>
              </a:rPr>
              <a:t>11% оценивают свои жилищные условия как «плохие» чаще всего из-за отсутствия собственного жилья и вынужденной затратной аренды или из-за дорогих коммунальных услуг, а также аварийного состояния жилья. </a:t>
            </a:r>
          </a:p>
          <a:p>
            <a:pPr marL="285750" indent="-285750">
              <a:lnSpc>
                <a:spcPts val="1300"/>
              </a:lnSpc>
              <a:spcAft>
                <a:spcPts val="300"/>
              </a:spcAft>
              <a:buFont typeface="Arial" panose="020B0604020202020204" pitchFamily="34" charset="0"/>
              <a:buChar char="•"/>
            </a:pPr>
            <a:r>
              <a:rPr lang="ru-RU" sz="1300" dirty="0">
                <a:latin typeface="Arial" panose="020B0604020202020204" pitchFamily="34" charset="0"/>
                <a:cs typeface="Arial" panose="020B0604020202020204" pitchFamily="34" charset="0"/>
              </a:rPr>
              <a:t>Плохие жилищные условия сопряжены с более низкими оценками социального самочувствия и оценок органов власти. Среди тех, кто оценивает свои жилищные условия как «плохие», нежели «хорошие»:</a:t>
            </a:r>
          </a:p>
          <a:p>
            <a:pPr>
              <a:lnSpc>
                <a:spcPts val="1300"/>
              </a:lnSpc>
              <a:spcAft>
                <a:spcPts val="300"/>
              </a:spcAft>
            </a:pPr>
            <a:r>
              <a:rPr lang="ru-RU" sz="1300" dirty="0">
                <a:latin typeface="Arial" panose="020B0604020202020204" pitchFamily="34" charset="0"/>
                <a:cs typeface="Arial" panose="020B0604020202020204" pitchFamily="34" charset="0"/>
              </a:rPr>
              <a:t>      - удовлетворенность жизнью и уверенность в                                       завтрашнем дне ниже более, чем в 2 раза</a:t>
            </a:r>
          </a:p>
          <a:p>
            <a:pPr>
              <a:lnSpc>
                <a:spcPts val="1300"/>
              </a:lnSpc>
              <a:spcAft>
                <a:spcPts val="300"/>
              </a:spcAft>
            </a:pPr>
            <a:r>
              <a:rPr lang="ru-RU" sz="1300" dirty="0">
                <a:latin typeface="Arial" panose="020B0604020202020204" pitchFamily="34" charset="0"/>
                <a:cs typeface="Arial" panose="020B0604020202020204" pitchFamily="34" charset="0"/>
              </a:rPr>
              <a:t>      - рейтинг Президента ниже 1,9 раз, а одобрение  деятельности</a:t>
            </a:r>
            <a:r>
              <a:rPr lang="en-CA" sz="1300" dirty="0">
                <a:latin typeface="Arial" panose="020B0604020202020204" pitchFamily="34" charset="0"/>
                <a:cs typeface="Arial" panose="020B0604020202020204" pitchFamily="34" charset="0"/>
              </a:rPr>
              <a:t> </a:t>
            </a:r>
            <a:r>
              <a:rPr lang="ru-RU" sz="1300" dirty="0">
                <a:latin typeface="Arial" panose="020B0604020202020204" pitchFamily="34" charset="0"/>
                <a:cs typeface="Arial" panose="020B0604020202020204" pitchFamily="34" charset="0"/>
              </a:rPr>
              <a:t>ниже в 1,5 раза.</a:t>
            </a:r>
          </a:p>
        </p:txBody>
      </p:sp>
      <p:sp>
        <p:nvSpPr>
          <p:cNvPr id="11" name="Заголовок 1">
            <a:extLst>
              <a:ext uri="{FF2B5EF4-FFF2-40B4-BE49-F238E27FC236}">
                <a16:creationId xmlns:a16="http://schemas.microsoft.com/office/drawing/2014/main" id="{3D75A422-839E-470E-AD89-FA2EFA64EA4F}"/>
              </a:ext>
            </a:extLst>
          </p:cNvPr>
          <p:cNvSpPr txBox="1">
            <a:spLocks/>
          </p:cNvSpPr>
          <p:nvPr/>
        </p:nvSpPr>
        <p:spPr>
          <a:xfrm>
            <a:off x="590735" y="341773"/>
            <a:ext cx="5953719" cy="741363"/>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1800" kern="1200">
                <a:solidFill>
                  <a:schemeClr val="tx1"/>
                </a:solidFill>
                <a:latin typeface="+mj-lt"/>
                <a:ea typeface="+mj-ea"/>
                <a:cs typeface="+mj-cs"/>
              </a:defRPr>
            </a:lvl1pPr>
          </a:lstStyle>
          <a:p>
            <a:pPr algn="l">
              <a:lnSpc>
                <a:spcPts val="3000"/>
              </a:lnSpc>
            </a:pPr>
            <a:r>
              <a:rPr lang="kk-KZ" sz="3200" b="1" dirty="0">
                <a:latin typeface="Arial" panose="020B0604020202020204" pitchFamily="34" charset="0"/>
                <a:ea typeface="+mn-ea"/>
                <a:cs typeface="Arial" panose="020B0604020202020204" pitchFamily="34" charset="0"/>
              </a:rPr>
              <a:t>Ключевые выводы</a:t>
            </a:r>
            <a:endParaRPr lang="ru-KZ" sz="3200" b="1" dirty="0">
              <a:latin typeface="Arial" panose="020B0604020202020204" pitchFamily="34" charset="0"/>
              <a:ea typeface="+mn-ea"/>
              <a:cs typeface="Arial" panose="020B0604020202020204" pitchFamily="34" charset="0"/>
            </a:endParaRPr>
          </a:p>
        </p:txBody>
      </p:sp>
      <p:sp>
        <p:nvSpPr>
          <p:cNvPr id="12" name="Заголовок 1">
            <a:extLst>
              <a:ext uri="{FF2B5EF4-FFF2-40B4-BE49-F238E27FC236}">
                <a16:creationId xmlns:a16="http://schemas.microsoft.com/office/drawing/2014/main" id="{95BBD224-3F64-4CDA-B5F3-01863481F9B6}"/>
              </a:ext>
            </a:extLst>
          </p:cNvPr>
          <p:cNvSpPr txBox="1">
            <a:spLocks/>
          </p:cNvSpPr>
          <p:nvPr/>
        </p:nvSpPr>
        <p:spPr>
          <a:xfrm>
            <a:off x="5207187" y="4626768"/>
            <a:ext cx="4133665" cy="46990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1800" kern="1200">
                <a:solidFill>
                  <a:schemeClr val="tx1"/>
                </a:solidFill>
                <a:latin typeface="+mj-lt"/>
                <a:ea typeface="+mj-ea"/>
                <a:cs typeface="+mj-cs"/>
              </a:defRPr>
            </a:lvl1pPr>
          </a:lstStyle>
          <a:p>
            <a:pPr algn="l">
              <a:lnSpc>
                <a:spcPts val="3000"/>
              </a:lnSpc>
            </a:pPr>
            <a:r>
              <a:rPr lang="kk-KZ" sz="1600" b="1" dirty="0">
                <a:solidFill>
                  <a:schemeClr val="bg1"/>
                </a:solidFill>
                <a:latin typeface="Arial" panose="020B0604020202020204" pitchFamily="34" charset="0"/>
                <a:ea typeface="+mn-ea"/>
                <a:cs typeface="Arial" panose="020B0604020202020204" pitchFamily="34" charset="0"/>
              </a:rPr>
              <a:t>3. Готовность переехать</a:t>
            </a:r>
            <a:endParaRPr lang="ru-KZ" sz="1600" b="1" dirty="0">
              <a:solidFill>
                <a:schemeClr val="bg1"/>
              </a:solidFill>
              <a:latin typeface="Arial" panose="020B0604020202020204" pitchFamily="34" charset="0"/>
              <a:ea typeface="+mn-ea"/>
              <a:cs typeface="Arial" panose="020B0604020202020204" pitchFamily="34" charset="0"/>
            </a:endParaRPr>
          </a:p>
        </p:txBody>
      </p:sp>
      <p:sp>
        <p:nvSpPr>
          <p:cNvPr id="13" name="TextBox 12">
            <a:extLst>
              <a:ext uri="{FF2B5EF4-FFF2-40B4-BE49-F238E27FC236}">
                <a16:creationId xmlns:a16="http://schemas.microsoft.com/office/drawing/2014/main" id="{0FB47CC0-9661-4F70-841A-0624DAA19ED1}"/>
              </a:ext>
            </a:extLst>
          </p:cNvPr>
          <p:cNvSpPr txBox="1"/>
          <p:nvPr/>
        </p:nvSpPr>
        <p:spPr>
          <a:xfrm>
            <a:off x="5197661" y="5096668"/>
            <a:ext cx="3943166" cy="1528624"/>
          </a:xfrm>
          <a:prstGeom prst="rect">
            <a:avLst/>
          </a:prstGeom>
          <a:noFill/>
        </p:spPr>
        <p:txBody>
          <a:bodyPr wrap="square" rtlCol="0">
            <a:spAutoFit/>
          </a:bodyPr>
          <a:lstStyle/>
          <a:p>
            <a:pPr marL="285750" indent="-285750">
              <a:lnSpc>
                <a:spcPts val="1400"/>
              </a:lnSpc>
              <a:buFont typeface="Arial" panose="020B0604020202020204" pitchFamily="34" charset="0"/>
              <a:buChar char="•"/>
            </a:pPr>
            <a:r>
              <a:rPr lang="ru-RU" sz="1300" dirty="0">
                <a:solidFill>
                  <a:schemeClr val="bg1"/>
                </a:solidFill>
                <a:latin typeface="Arial" panose="020B0604020202020204" pitchFamily="34" charset="0"/>
                <a:cs typeface="Arial" panose="020B0604020202020204" pitchFamily="34" charset="0"/>
              </a:rPr>
              <a:t>Треть граждан готовы переехать в другой город или область страны ради улучшения своих жилищных условий. Как правило, это молодые русскоязычные казахи с высшим образованием, не обремененные семьей и детьми, а также те, кто не имеет собственного жилья или оценивает текущие жилищные условия как «плохие».</a:t>
            </a:r>
          </a:p>
        </p:txBody>
      </p:sp>
      <p:sp>
        <p:nvSpPr>
          <p:cNvPr id="14" name="TextBox 13">
            <a:extLst>
              <a:ext uri="{FF2B5EF4-FFF2-40B4-BE49-F238E27FC236}">
                <a16:creationId xmlns:a16="http://schemas.microsoft.com/office/drawing/2014/main" id="{58BDDEA2-26CD-483C-A66C-FE787BC20F51}"/>
              </a:ext>
            </a:extLst>
          </p:cNvPr>
          <p:cNvSpPr txBox="1"/>
          <p:nvPr/>
        </p:nvSpPr>
        <p:spPr>
          <a:xfrm>
            <a:off x="5191132" y="1394462"/>
            <a:ext cx="4200518" cy="3164969"/>
          </a:xfrm>
          <a:prstGeom prst="rect">
            <a:avLst/>
          </a:prstGeom>
          <a:noFill/>
        </p:spPr>
        <p:txBody>
          <a:bodyPr wrap="square" rtlCol="0">
            <a:spAutoFit/>
          </a:bodyPr>
          <a:lstStyle/>
          <a:p>
            <a:pPr marL="285750" indent="-285750">
              <a:lnSpc>
                <a:spcPts val="1400"/>
              </a:lnSpc>
              <a:buFont typeface="Arial" panose="020B0604020202020204" pitchFamily="34" charset="0"/>
              <a:buChar char="•"/>
            </a:pPr>
            <a:r>
              <a:rPr lang="ru-RU" sz="1300" dirty="0">
                <a:solidFill>
                  <a:schemeClr val="bg1"/>
                </a:solidFill>
                <a:latin typeface="Arial" panose="020B0604020202020204" pitchFamily="34" charset="0"/>
                <a:cs typeface="Arial" panose="020B0604020202020204" pitchFamily="34" charset="0"/>
              </a:rPr>
              <a:t>Половина граждан планируют приобретать жилье на горизонте пяти лет, из них 19% в течение 1-2 лет. Как правило, это обеспеченные казахи 25-34 лет. </a:t>
            </a:r>
          </a:p>
          <a:p>
            <a:pPr marL="285750" indent="-285750">
              <a:buFont typeface="Arial" panose="020B0604020202020204" pitchFamily="34" charset="0"/>
              <a:buChar char="•"/>
            </a:pPr>
            <a:endParaRPr lang="ru-RU" sz="1300" dirty="0">
              <a:solidFill>
                <a:schemeClr val="bg1"/>
              </a:solidFill>
              <a:latin typeface="Arial" panose="020B0604020202020204" pitchFamily="34" charset="0"/>
              <a:cs typeface="Arial" panose="020B0604020202020204" pitchFamily="34" charset="0"/>
            </a:endParaRPr>
          </a:p>
          <a:p>
            <a:pPr marL="285750" indent="-285750">
              <a:lnSpc>
                <a:spcPts val="1400"/>
              </a:lnSpc>
              <a:buFont typeface="Arial" panose="020B0604020202020204" pitchFamily="34" charset="0"/>
              <a:buChar char="•"/>
            </a:pPr>
            <a:r>
              <a:rPr lang="ru-RU" sz="1300" dirty="0">
                <a:solidFill>
                  <a:schemeClr val="bg1"/>
                </a:solidFill>
                <a:latin typeface="Arial" panose="020B0604020202020204" pitchFamily="34" charset="0"/>
                <a:cs typeface="Arial" panose="020B0604020202020204" pitchFamily="34" charset="0"/>
              </a:rPr>
              <a:t>Треть планирующих приобретать жильё хотели бы купить дом, 34% рассматривают покупку квартиру в новостройке. Наиболее популярная причина покупки – для проживания с семьей, треть планируют купить жильё детям / внукам. Инвестиционные намерения имеют 6% граждан.</a:t>
            </a:r>
          </a:p>
          <a:p>
            <a:pPr marL="285750" indent="-285750">
              <a:lnSpc>
                <a:spcPts val="1400"/>
              </a:lnSpc>
              <a:buFont typeface="Arial" panose="020B0604020202020204" pitchFamily="34" charset="0"/>
              <a:buChar char="•"/>
            </a:pPr>
            <a:endParaRPr lang="ru-RU" sz="1300" dirty="0">
              <a:solidFill>
                <a:schemeClr val="bg1"/>
              </a:solidFill>
              <a:latin typeface="Arial" panose="020B0604020202020204" pitchFamily="34" charset="0"/>
              <a:cs typeface="Arial" panose="020B0604020202020204" pitchFamily="34" charset="0"/>
            </a:endParaRPr>
          </a:p>
          <a:p>
            <a:pPr marL="285750" indent="-285750">
              <a:lnSpc>
                <a:spcPts val="1400"/>
              </a:lnSpc>
              <a:buFont typeface="Arial" panose="020B0604020202020204" pitchFamily="34" charset="0"/>
              <a:buChar char="•"/>
            </a:pPr>
            <a:r>
              <a:rPr lang="ru-RU" sz="1300" dirty="0">
                <a:solidFill>
                  <a:schemeClr val="bg1"/>
                </a:solidFill>
                <a:latin typeface="Arial" panose="020B0604020202020204" pitchFamily="34" charset="0"/>
                <a:cs typeface="Arial" panose="020B0604020202020204" pitchFamily="34" charset="0"/>
              </a:rPr>
              <a:t>40% имеют собственные накопления на покупку жилья, 49% рассчитывают на ипотеку (особенно «средний класс» в возрасте 35-44 года). </a:t>
            </a:r>
          </a:p>
        </p:txBody>
      </p:sp>
    </p:spTree>
    <p:extLst>
      <p:ext uri="{BB962C8B-B14F-4D97-AF65-F5344CB8AC3E}">
        <p14:creationId xmlns:p14="http://schemas.microsoft.com/office/powerpoint/2010/main" val="1193179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Прямоугольник 24">
            <a:extLst>
              <a:ext uri="{FF2B5EF4-FFF2-40B4-BE49-F238E27FC236}">
                <a16:creationId xmlns:a16="http://schemas.microsoft.com/office/drawing/2014/main" id="{DB51AC46-B34B-4C12-837F-8350ED188A47}"/>
              </a:ext>
            </a:extLst>
          </p:cNvPr>
          <p:cNvSpPr/>
          <p:nvPr/>
        </p:nvSpPr>
        <p:spPr>
          <a:xfrm>
            <a:off x="775145" y="3804297"/>
            <a:ext cx="2720529" cy="2855365"/>
          </a:xfrm>
          <a:prstGeom prst="rect">
            <a:avLst/>
          </a:prstGeom>
          <a:solidFill>
            <a:srgbClr val="2B546B">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 name="TextBox 2">
            <a:extLst>
              <a:ext uri="{FF2B5EF4-FFF2-40B4-BE49-F238E27FC236}">
                <a16:creationId xmlns:a16="http://schemas.microsoft.com/office/drawing/2014/main" id="{3498DA44-22BD-C58B-1ED9-641264DCA51A}"/>
              </a:ext>
            </a:extLst>
          </p:cNvPr>
          <p:cNvSpPr txBox="1"/>
          <p:nvPr/>
        </p:nvSpPr>
        <p:spPr>
          <a:xfrm>
            <a:off x="3600254" y="3804662"/>
            <a:ext cx="2892957" cy="2031325"/>
          </a:xfrm>
          <a:prstGeom prst="rect">
            <a:avLst/>
          </a:prstGeom>
          <a:noFill/>
        </p:spPr>
        <p:txBody>
          <a:bodyPr wrap="square" rtlCol="0">
            <a:spAutoFit/>
          </a:bodyPr>
          <a:lstStyle/>
          <a:p>
            <a:r>
              <a:rPr lang="ru-RU" sz="1400" dirty="0">
                <a:latin typeface="Arial" panose="020B0604020202020204" pitchFamily="34" charset="0"/>
                <a:cs typeface="Arial" panose="020B0604020202020204" pitchFamily="34" charset="0"/>
              </a:rPr>
              <a:t>Русские – 53%</a:t>
            </a:r>
          </a:p>
          <a:p>
            <a:r>
              <a:rPr lang="ru-RU" sz="1400" dirty="0">
                <a:latin typeface="Arial" panose="020B0604020202020204" pitchFamily="34" charset="0"/>
                <a:cs typeface="Arial" panose="020B0604020202020204" pitchFamily="34" charset="0"/>
              </a:rPr>
              <a:t>Городские жители – 64%</a:t>
            </a:r>
          </a:p>
          <a:p>
            <a:r>
              <a:rPr lang="ru-RU" sz="1400" dirty="0">
                <a:latin typeface="Arial" panose="020B0604020202020204" pitchFamily="34" charset="0"/>
                <a:cs typeface="Arial" panose="020B0604020202020204" pitchFamily="34" charset="0"/>
              </a:rPr>
              <a:t>Высшее образование – 54%</a:t>
            </a:r>
          </a:p>
          <a:p>
            <a:r>
              <a:rPr lang="ru-RU" sz="1400" dirty="0">
                <a:latin typeface="Arial" panose="020B0604020202020204" pitchFamily="34" charset="0"/>
                <a:cs typeface="Arial" panose="020B0604020202020204" pitchFamily="34" charset="0"/>
              </a:rPr>
              <a:t>Проживающие одни – 71%</a:t>
            </a:r>
          </a:p>
          <a:p>
            <a:r>
              <a:rPr lang="ru-RU" sz="1400" dirty="0">
                <a:latin typeface="Arial" panose="020B0604020202020204" pitchFamily="34" charset="0"/>
                <a:cs typeface="Arial" panose="020B0604020202020204" pitchFamily="34" charset="0"/>
              </a:rPr>
              <a:t>Не удовлетворены жизнью – 56%, не уверены в завтрашнем дне – 54%</a:t>
            </a:r>
          </a:p>
          <a:p>
            <a:r>
              <a:rPr lang="ru-RU" sz="1400" dirty="0">
                <a:latin typeface="Arial" panose="020B0604020202020204" pitchFamily="34" charset="0"/>
                <a:cs typeface="Arial" panose="020B0604020202020204" pitchFamily="34" charset="0"/>
              </a:rPr>
              <a:t>Жители Астаны, Карагандинской области</a:t>
            </a:r>
          </a:p>
        </p:txBody>
      </p:sp>
      <p:sp>
        <p:nvSpPr>
          <p:cNvPr id="4" name="Заголовок 1">
            <a:extLst>
              <a:ext uri="{FF2B5EF4-FFF2-40B4-BE49-F238E27FC236}">
                <a16:creationId xmlns:a16="http://schemas.microsoft.com/office/drawing/2014/main" id="{151A36BD-8908-4C80-AE6D-01A1E63F26F6}"/>
              </a:ext>
            </a:extLst>
          </p:cNvPr>
          <p:cNvSpPr>
            <a:spLocks noGrp="1"/>
          </p:cNvSpPr>
          <p:nvPr>
            <p:ph type="title"/>
          </p:nvPr>
        </p:nvSpPr>
        <p:spPr>
          <a:xfrm>
            <a:off x="590735" y="146303"/>
            <a:ext cx="5953719" cy="1516463"/>
          </a:xfrm>
        </p:spPr>
        <p:txBody>
          <a:bodyPr>
            <a:noAutofit/>
          </a:bodyPr>
          <a:lstStyle/>
          <a:p>
            <a:pPr algn="l">
              <a:lnSpc>
                <a:spcPts val="3000"/>
              </a:lnSpc>
            </a:pPr>
            <a:r>
              <a:rPr lang="kk-KZ" sz="3200" b="1" dirty="0">
                <a:latin typeface="Arial" panose="020B0604020202020204" pitchFamily="34" charset="0"/>
                <a:ea typeface="+mn-ea"/>
                <a:cs typeface="Arial" panose="020B0604020202020204" pitchFamily="34" charset="0"/>
              </a:rPr>
              <a:t>«</a:t>
            </a:r>
            <a:r>
              <a:rPr lang="ru-RU" sz="3200" b="1" dirty="0">
                <a:latin typeface="Arial" panose="020B0604020202020204" pitchFamily="34" charset="0"/>
                <a:ea typeface="+mn-ea"/>
                <a:cs typeface="Arial" panose="020B0604020202020204" pitchFamily="34" charset="0"/>
              </a:rPr>
              <a:t>Где Вы сейчас постоянно проживаете</a:t>
            </a:r>
            <a:r>
              <a:rPr lang="kk-KZ" sz="3200" b="1" dirty="0">
                <a:latin typeface="Arial" panose="020B0604020202020204" pitchFamily="34" charset="0"/>
                <a:ea typeface="+mn-ea"/>
                <a:cs typeface="Arial" panose="020B0604020202020204" pitchFamily="34" charset="0"/>
              </a:rPr>
              <a:t>?»</a:t>
            </a:r>
            <a:endParaRPr lang="ru-KZ" sz="3200" b="1" dirty="0">
              <a:latin typeface="Arial" panose="020B0604020202020204" pitchFamily="34" charset="0"/>
              <a:ea typeface="+mn-ea"/>
              <a:cs typeface="Arial" panose="020B0604020202020204" pitchFamily="34" charset="0"/>
            </a:endParaRPr>
          </a:p>
        </p:txBody>
      </p:sp>
      <p:sp>
        <p:nvSpPr>
          <p:cNvPr id="6" name="Заголовок 1">
            <a:extLst>
              <a:ext uri="{FF2B5EF4-FFF2-40B4-BE49-F238E27FC236}">
                <a16:creationId xmlns:a16="http://schemas.microsoft.com/office/drawing/2014/main" id="{6D870214-5F6D-4C80-8AEA-D8B415E96185}"/>
              </a:ext>
            </a:extLst>
          </p:cNvPr>
          <p:cNvSpPr txBox="1">
            <a:spLocks/>
          </p:cNvSpPr>
          <p:nvPr/>
        </p:nvSpPr>
        <p:spPr>
          <a:xfrm>
            <a:off x="588065" y="2267474"/>
            <a:ext cx="3012189"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2500"/>
              </a:lnSpc>
            </a:pPr>
            <a:r>
              <a:rPr lang="ru-RU" sz="1800" dirty="0">
                <a:latin typeface="Arial" panose="020B0604020202020204" pitchFamily="34" charset="0"/>
                <a:ea typeface="+mn-ea"/>
                <a:cs typeface="Arial" panose="020B0604020202020204" pitchFamily="34" charset="0"/>
              </a:rPr>
              <a:t>«В частном доме»</a:t>
            </a:r>
            <a:endParaRPr lang="ru-KZ" sz="1800" dirty="0">
              <a:latin typeface="Arial" panose="020B0604020202020204" pitchFamily="34" charset="0"/>
              <a:ea typeface="+mn-ea"/>
              <a:cs typeface="Arial" panose="020B0604020202020204" pitchFamily="34" charset="0"/>
            </a:endParaRPr>
          </a:p>
        </p:txBody>
      </p:sp>
      <p:sp>
        <p:nvSpPr>
          <p:cNvPr id="13" name="Заголовок 1">
            <a:extLst>
              <a:ext uri="{FF2B5EF4-FFF2-40B4-BE49-F238E27FC236}">
                <a16:creationId xmlns:a16="http://schemas.microsoft.com/office/drawing/2014/main" id="{895C0B44-777D-4BD4-8A39-B18EB810303C}"/>
              </a:ext>
            </a:extLst>
          </p:cNvPr>
          <p:cNvSpPr txBox="1">
            <a:spLocks/>
          </p:cNvSpPr>
          <p:nvPr/>
        </p:nvSpPr>
        <p:spPr>
          <a:xfrm>
            <a:off x="1299556" y="1803921"/>
            <a:ext cx="2187307"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6000" b="1" dirty="0">
                <a:solidFill>
                  <a:srgbClr val="2B546B"/>
                </a:solidFill>
                <a:latin typeface="Arial" panose="020B0604020202020204" pitchFamily="34" charset="0"/>
                <a:ea typeface="+mn-ea"/>
                <a:cs typeface="Arial" panose="020B0604020202020204" pitchFamily="34" charset="0"/>
              </a:rPr>
              <a:t>52</a:t>
            </a:r>
            <a:r>
              <a:rPr lang="ru-RU" sz="2400" b="1" dirty="0">
                <a:solidFill>
                  <a:srgbClr val="2B546B"/>
                </a:solidFill>
                <a:latin typeface="Arial" panose="020B0604020202020204" pitchFamily="34" charset="0"/>
                <a:ea typeface="+mn-ea"/>
                <a:cs typeface="Arial" panose="020B0604020202020204" pitchFamily="34" charset="0"/>
              </a:rPr>
              <a:t>%</a:t>
            </a:r>
            <a:endParaRPr lang="ru-KZ" b="1" dirty="0">
              <a:solidFill>
                <a:srgbClr val="2B546B"/>
              </a:solidFill>
              <a:latin typeface="Arial" panose="020B0604020202020204" pitchFamily="34" charset="0"/>
              <a:ea typeface="+mn-ea"/>
              <a:cs typeface="Arial" panose="020B0604020202020204" pitchFamily="34" charset="0"/>
            </a:endParaRPr>
          </a:p>
        </p:txBody>
      </p:sp>
      <p:sp>
        <p:nvSpPr>
          <p:cNvPr id="19" name="Заголовок 1">
            <a:extLst>
              <a:ext uri="{FF2B5EF4-FFF2-40B4-BE49-F238E27FC236}">
                <a16:creationId xmlns:a16="http://schemas.microsoft.com/office/drawing/2014/main" id="{DC950CFB-8689-44F8-A01D-5164B441D0D3}"/>
              </a:ext>
            </a:extLst>
          </p:cNvPr>
          <p:cNvSpPr txBox="1">
            <a:spLocks/>
          </p:cNvSpPr>
          <p:nvPr/>
        </p:nvSpPr>
        <p:spPr>
          <a:xfrm>
            <a:off x="4213693" y="1817944"/>
            <a:ext cx="1581721"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6000" b="1" dirty="0">
                <a:solidFill>
                  <a:srgbClr val="2B546B"/>
                </a:solidFill>
                <a:latin typeface="Arial" panose="020B0604020202020204" pitchFamily="34" charset="0"/>
                <a:ea typeface="+mn-ea"/>
                <a:cs typeface="Arial" panose="020B0604020202020204" pitchFamily="34" charset="0"/>
              </a:rPr>
              <a:t>47</a:t>
            </a:r>
            <a:r>
              <a:rPr lang="ru-RU" sz="3600" b="1" dirty="0">
                <a:solidFill>
                  <a:srgbClr val="2B546B"/>
                </a:solidFill>
                <a:latin typeface="Arial" panose="020B0604020202020204" pitchFamily="34" charset="0"/>
                <a:ea typeface="+mn-ea"/>
                <a:cs typeface="Arial" panose="020B0604020202020204" pitchFamily="34" charset="0"/>
              </a:rPr>
              <a:t>%</a:t>
            </a:r>
            <a:endParaRPr lang="ru-KZ" sz="6000" b="1" dirty="0">
              <a:solidFill>
                <a:srgbClr val="2B546B"/>
              </a:solidFill>
              <a:latin typeface="Arial" panose="020B0604020202020204" pitchFamily="34" charset="0"/>
              <a:ea typeface="+mn-ea"/>
              <a:cs typeface="Arial" panose="020B0604020202020204" pitchFamily="34" charset="0"/>
            </a:endParaRPr>
          </a:p>
        </p:txBody>
      </p:sp>
      <p:sp>
        <p:nvSpPr>
          <p:cNvPr id="23" name="Заголовок 1">
            <a:extLst>
              <a:ext uri="{FF2B5EF4-FFF2-40B4-BE49-F238E27FC236}">
                <a16:creationId xmlns:a16="http://schemas.microsoft.com/office/drawing/2014/main" id="{B38B1142-5B8C-4BB7-8EAF-3364211AC817}"/>
              </a:ext>
            </a:extLst>
          </p:cNvPr>
          <p:cNvSpPr txBox="1">
            <a:spLocks/>
          </p:cNvSpPr>
          <p:nvPr/>
        </p:nvSpPr>
        <p:spPr>
          <a:xfrm>
            <a:off x="3422833" y="2266494"/>
            <a:ext cx="3012189"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2500"/>
              </a:lnSpc>
            </a:pPr>
            <a:r>
              <a:rPr lang="ru-RU" sz="1800" dirty="0">
                <a:latin typeface="Arial" panose="020B0604020202020204" pitchFamily="34" charset="0"/>
                <a:ea typeface="+mn-ea"/>
                <a:cs typeface="Arial" panose="020B0604020202020204" pitchFamily="34" charset="0"/>
              </a:rPr>
              <a:t>«В квартире»</a:t>
            </a:r>
            <a:endParaRPr lang="ru-KZ" sz="1800" dirty="0">
              <a:latin typeface="Arial" panose="020B0604020202020204" pitchFamily="34" charset="0"/>
              <a:ea typeface="+mn-ea"/>
              <a:cs typeface="Arial" panose="020B0604020202020204" pitchFamily="34" charset="0"/>
            </a:endParaRPr>
          </a:p>
        </p:txBody>
      </p:sp>
      <p:sp>
        <p:nvSpPr>
          <p:cNvPr id="7" name="TextBox 6">
            <a:extLst>
              <a:ext uri="{FF2B5EF4-FFF2-40B4-BE49-F238E27FC236}">
                <a16:creationId xmlns:a16="http://schemas.microsoft.com/office/drawing/2014/main" id="{79EC497B-C9B4-3D47-B0CF-07AAF578D5FA}"/>
              </a:ext>
            </a:extLst>
          </p:cNvPr>
          <p:cNvSpPr txBox="1"/>
          <p:nvPr/>
        </p:nvSpPr>
        <p:spPr>
          <a:xfrm>
            <a:off x="836970" y="3803537"/>
            <a:ext cx="3263949" cy="1815882"/>
          </a:xfrm>
          <a:prstGeom prst="rect">
            <a:avLst/>
          </a:prstGeom>
          <a:noFill/>
        </p:spPr>
        <p:txBody>
          <a:bodyPr wrap="square" rtlCol="0">
            <a:spAutoFit/>
          </a:bodyPr>
          <a:lstStyle/>
          <a:p>
            <a:r>
              <a:rPr lang="ru-RU" sz="1400" dirty="0">
                <a:latin typeface="Arial" panose="020B0604020202020204" pitchFamily="34" charset="0"/>
                <a:cs typeface="Arial" panose="020B0604020202020204" pitchFamily="34" charset="0"/>
              </a:rPr>
              <a:t>Молодежь 18-24 года – 59%</a:t>
            </a:r>
          </a:p>
          <a:p>
            <a:r>
              <a:rPr lang="ru-RU" sz="1400" dirty="0">
                <a:latin typeface="Arial" panose="020B0604020202020204" pitchFamily="34" charset="0"/>
                <a:cs typeface="Arial" panose="020B0604020202020204" pitchFamily="34" charset="0"/>
              </a:rPr>
              <a:t>Казахоязычные казахи – 59%</a:t>
            </a:r>
          </a:p>
          <a:p>
            <a:r>
              <a:rPr lang="ru-RU" sz="1400" dirty="0">
                <a:latin typeface="Arial" panose="020B0604020202020204" pitchFamily="34" charset="0"/>
                <a:cs typeface="Arial" panose="020B0604020202020204" pitchFamily="34" charset="0"/>
              </a:rPr>
              <a:t>Сельские жители – 81%</a:t>
            </a:r>
          </a:p>
          <a:p>
            <a:r>
              <a:rPr lang="ru-RU" sz="1400" dirty="0">
                <a:latin typeface="Arial" panose="020B0604020202020204" pitchFamily="34" charset="0"/>
                <a:cs typeface="Arial" panose="020B0604020202020204" pitchFamily="34" charset="0"/>
              </a:rPr>
              <a:t>Семьи 6+ человек – 73%</a:t>
            </a:r>
          </a:p>
          <a:p>
            <a:r>
              <a:rPr lang="ru-RU" sz="1400" dirty="0">
                <a:latin typeface="Arial" panose="020B0604020202020204" pitchFamily="34" charset="0"/>
                <a:cs typeface="Arial" panose="020B0604020202020204" pitchFamily="34" charset="0"/>
              </a:rPr>
              <a:t>Очень богатые – 62%</a:t>
            </a:r>
          </a:p>
          <a:p>
            <a:r>
              <a:rPr lang="ru-RU" sz="1400" dirty="0">
                <a:latin typeface="Arial" panose="020B0604020202020204" pitchFamily="34" charset="0"/>
                <a:cs typeface="Arial" panose="020B0604020202020204" pitchFamily="34" charset="0"/>
              </a:rPr>
              <a:t>Жители Алматинской, Туркестанской, Жетысуйской, Жамбылской области.</a:t>
            </a:r>
            <a:endParaRPr lang="en-US" dirty="0"/>
          </a:p>
        </p:txBody>
      </p:sp>
      <p:cxnSp>
        <p:nvCxnSpPr>
          <p:cNvPr id="30" name="Прямая со стрелкой 29">
            <a:extLst>
              <a:ext uri="{FF2B5EF4-FFF2-40B4-BE49-F238E27FC236}">
                <a16:creationId xmlns:a16="http://schemas.microsoft.com/office/drawing/2014/main" id="{AAF32498-BAE9-4226-88CE-FDFBBAB54F23}"/>
              </a:ext>
            </a:extLst>
          </p:cNvPr>
          <p:cNvCxnSpPr>
            <a:cxnSpLocks/>
          </p:cNvCxnSpPr>
          <p:nvPr/>
        </p:nvCxnSpPr>
        <p:spPr>
          <a:xfrm>
            <a:off x="4819008" y="3108016"/>
            <a:ext cx="0" cy="320984"/>
          </a:xfrm>
          <a:prstGeom prst="straightConnector1">
            <a:avLst/>
          </a:prstGeom>
          <a:ln w="28575">
            <a:solidFill>
              <a:srgbClr val="2B546B"/>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CE994C8B-5131-49CB-8C2E-1DF68DD08663}"/>
              </a:ext>
            </a:extLst>
          </p:cNvPr>
          <p:cNvSpPr txBox="1"/>
          <p:nvPr/>
        </p:nvSpPr>
        <p:spPr>
          <a:xfrm>
            <a:off x="710177" y="3492978"/>
            <a:ext cx="4276940" cy="276999"/>
          </a:xfrm>
          <a:prstGeom prst="rect">
            <a:avLst/>
          </a:prstGeom>
          <a:noFill/>
        </p:spPr>
        <p:txBody>
          <a:bodyPr wrap="none" rtlCol="0">
            <a:spAutoFit/>
          </a:bodyPr>
          <a:lstStyle/>
          <a:p>
            <a:r>
              <a:rPr lang="ru-RU" sz="1200" b="1" dirty="0">
                <a:latin typeface="Arial" panose="020B0604020202020204" pitchFamily="34" charset="0"/>
                <a:cs typeface="Arial" panose="020B0604020202020204" pitchFamily="34" charset="0"/>
              </a:rPr>
              <a:t>В каких социально-демографических группах выше?</a:t>
            </a:r>
            <a:endParaRPr lang="en-US" sz="1200" b="1" dirty="0">
              <a:latin typeface="Arial" panose="020B0604020202020204" pitchFamily="34" charset="0"/>
              <a:cs typeface="Arial" panose="020B0604020202020204" pitchFamily="34" charset="0"/>
            </a:endParaRPr>
          </a:p>
        </p:txBody>
      </p:sp>
      <p:sp>
        <p:nvSpPr>
          <p:cNvPr id="22" name="Заголовок 1">
            <a:extLst>
              <a:ext uri="{FF2B5EF4-FFF2-40B4-BE49-F238E27FC236}">
                <a16:creationId xmlns:a16="http://schemas.microsoft.com/office/drawing/2014/main" id="{2E5174E2-A477-4032-8682-D33F0291CAC8}"/>
              </a:ext>
            </a:extLst>
          </p:cNvPr>
          <p:cNvSpPr txBox="1">
            <a:spLocks/>
          </p:cNvSpPr>
          <p:nvPr/>
        </p:nvSpPr>
        <p:spPr>
          <a:xfrm>
            <a:off x="7487309" y="1812707"/>
            <a:ext cx="1581721"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6000" b="1" dirty="0">
                <a:solidFill>
                  <a:srgbClr val="2B546B"/>
                </a:solidFill>
                <a:latin typeface="Arial" panose="020B0604020202020204" pitchFamily="34" charset="0"/>
                <a:ea typeface="+mn-ea"/>
                <a:cs typeface="Arial" panose="020B0604020202020204" pitchFamily="34" charset="0"/>
              </a:rPr>
              <a:t>1</a:t>
            </a:r>
            <a:r>
              <a:rPr lang="ru-RU" sz="3600" b="1" dirty="0">
                <a:solidFill>
                  <a:srgbClr val="2B546B"/>
                </a:solidFill>
                <a:latin typeface="Arial" panose="020B0604020202020204" pitchFamily="34" charset="0"/>
                <a:ea typeface="+mn-ea"/>
                <a:cs typeface="Arial" panose="020B0604020202020204" pitchFamily="34" charset="0"/>
              </a:rPr>
              <a:t>%</a:t>
            </a:r>
            <a:endParaRPr lang="ru-KZ" sz="6000" b="1" dirty="0">
              <a:solidFill>
                <a:srgbClr val="2B546B"/>
              </a:solidFill>
              <a:latin typeface="Arial" panose="020B0604020202020204" pitchFamily="34" charset="0"/>
              <a:ea typeface="+mn-ea"/>
              <a:cs typeface="Arial" panose="020B0604020202020204" pitchFamily="34" charset="0"/>
            </a:endParaRPr>
          </a:p>
        </p:txBody>
      </p:sp>
      <p:sp>
        <p:nvSpPr>
          <p:cNvPr id="24" name="Заголовок 1">
            <a:extLst>
              <a:ext uri="{FF2B5EF4-FFF2-40B4-BE49-F238E27FC236}">
                <a16:creationId xmlns:a16="http://schemas.microsoft.com/office/drawing/2014/main" id="{0FAA6498-C2E7-4BDB-922C-66C41723EB7F}"/>
              </a:ext>
            </a:extLst>
          </p:cNvPr>
          <p:cNvSpPr txBox="1">
            <a:spLocks/>
          </p:cNvSpPr>
          <p:nvPr/>
        </p:nvSpPr>
        <p:spPr>
          <a:xfrm>
            <a:off x="6223349" y="2620670"/>
            <a:ext cx="3452816" cy="2495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1600"/>
              </a:lnSpc>
            </a:pPr>
            <a:r>
              <a:rPr lang="ru-RU" sz="1800" dirty="0">
                <a:latin typeface="Arial" panose="020B0604020202020204" pitchFamily="34" charset="0"/>
                <a:ea typeface="+mn-ea"/>
                <a:cs typeface="Arial" panose="020B0604020202020204" pitchFamily="34" charset="0"/>
              </a:rPr>
              <a:t>«Другое»</a:t>
            </a:r>
            <a:endParaRPr lang="ru-KZ" sz="1800" dirty="0">
              <a:latin typeface="Arial" panose="020B0604020202020204" pitchFamily="34" charset="0"/>
              <a:ea typeface="+mn-ea"/>
              <a:cs typeface="Arial" panose="020B0604020202020204" pitchFamily="34" charset="0"/>
            </a:endParaRPr>
          </a:p>
        </p:txBody>
      </p:sp>
      <p:sp>
        <p:nvSpPr>
          <p:cNvPr id="28" name="TextBox 27">
            <a:extLst>
              <a:ext uri="{FF2B5EF4-FFF2-40B4-BE49-F238E27FC236}">
                <a16:creationId xmlns:a16="http://schemas.microsoft.com/office/drawing/2014/main" id="{8A1A87F5-93E0-4027-92BF-BD4935A74757}"/>
              </a:ext>
            </a:extLst>
          </p:cNvPr>
          <p:cNvSpPr txBox="1"/>
          <p:nvPr/>
        </p:nvSpPr>
        <p:spPr>
          <a:xfrm>
            <a:off x="6777375" y="3805926"/>
            <a:ext cx="2581029" cy="2031325"/>
          </a:xfrm>
          <a:prstGeom prst="rect">
            <a:avLst/>
          </a:prstGeom>
          <a:noFill/>
        </p:spPr>
        <p:txBody>
          <a:bodyPr wrap="square" rtlCol="0">
            <a:spAutoFit/>
          </a:bodyPr>
          <a:lstStyle/>
          <a:p>
            <a:r>
              <a:rPr lang="ru-RU" sz="1400" dirty="0">
                <a:latin typeface="Arial" panose="020B0604020202020204" pitchFamily="34" charset="0"/>
                <a:cs typeface="Arial" panose="020B0604020202020204" pitchFamily="34" charset="0"/>
              </a:rPr>
              <a:t>45-54 года, среднее специальное образование, очень бедные, проживающие в общежитиях, временных пристройках, домах престарелых и т.д.</a:t>
            </a:r>
          </a:p>
          <a:p>
            <a:endParaRPr lang="en-US" sz="1400" dirty="0">
              <a:latin typeface="Arial" panose="020B0604020202020204" pitchFamily="34" charset="0"/>
              <a:cs typeface="Arial" panose="020B0604020202020204" pitchFamily="34" charset="0"/>
            </a:endParaRPr>
          </a:p>
          <a:p>
            <a:endParaRPr lang="ru-RU" sz="1400" dirty="0">
              <a:latin typeface="Arial" panose="020B0604020202020204" pitchFamily="34" charset="0"/>
              <a:cs typeface="Arial" panose="020B0604020202020204" pitchFamily="34" charset="0"/>
            </a:endParaRPr>
          </a:p>
        </p:txBody>
      </p:sp>
      <p:cxnSp>
        <p:nvCxnSpPr>
          <p:cNvPr id="29" name="Прямая со стрелкой 28">
            <a:extLst>
              <a:ext uri="{FF2B5EF4-FFF2-40B4-BE49-F238E27FC236}">
                <a16:creationId xmlns:a16="http://schemas.microsoft.com/office/drawing/2014/main" id="{BBDE6043-D7E7-42B2-B033-DC9326E5E306}"/>
              </a:ext>
            </a:extLst>
          </p:cNvPr>
          <p:cNvCxnSpPr>
            <a:cxnSpLocks/>
          </p:cNvCxnSpPr>
          <p:nvPr/>
        </p:nvCxnSpPr>
        <p:spPr>
          <a:xfrm>
            <a:off x="7831319" y="3108016"/>
            <a:ext cx="0" cy="320984"/>
          </a:xfrm>
          <a:prstGeom prst="straightConnector1">
            <a:avLst/>
          </a:prstGeom>
          <a:ln w="28575">
            <a:solidFill>
              <a:srgbClr val="2B546B"/>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3" name="Прямая со стрелкой 32">
            <a:extLst>
              <a:ext uri="{FF2B5EF4-FFF2-40B4-BE49-F238E27FC236}">
                <a16:creationId xmlns:a16="http://schemas.microsoft.com/office/drawing/2014/main" id="{5F7CDE62-5688-43CC-8127-D01760747497}"/>
              </a:ext>
            </a:extLst>
          </p:cNvPr>
          <p:cNvCxnSpPr>
            <a:cxnSpLocks/>
          </p:cNvCxnSpPr>
          <p:nvPr/>
        </p:nvCxnSpPr>
        <p:spPr>
          <a:xfrm>
            <a:off x="1872608" y="3108016"/>
            <a:ext cx="0" cy="320984"/>
          </a:xfrm>
          <a:prstGeom prst="straightConnector1">
            <a:avLst/>
          </a:prstGeom>
          <a:ln w="28575">
            <a:solidFill>
              <a:srgbClr val="2B546B"/>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8" name="Прямоугольник 17">
            <a:extLst>
              <a:ext uri="{FF2B5EF4-FFF2-40B4-BE49-F238E27FC236}">
                <a16:creationId xmlns:a16="http://schemas.microsoft.com/office/drawing/2014/main" id="{10F0961E-C8D5-4E19-A321-4F4729BB1949}"/>
              </a:ext>
            </a:extLst>
          </p:cNvPr>
          <p:cNvSpPr/>
          <p:nvPr/>
        </p:nvSpPr>
        <p:spPr>
          <a:xfrm>
            <a:off x="6637875" y="3769977"/>
            <a:ext cx="2720529" cy="2855365"/>
          </a:xfrm>
          <a:prstGeom prst="rect">
            <a:avLst/>
          </a:prstGeom>
          <a:solidFill>
            <a:srgbClr val="2B546B">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Tree>
    <p:extLst>
      <p:ext uri="{BB962C8B-B14F-4D97-AF65-F5344CB8AC3E}">
        <p14:creationId xmlns:p14="http://schemas.microsoft.com/office/powerpoint/2010/main" val="749025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Прямоугольник 22">
            <a:extLst>
              <a:ext uri="{FF2B5EF4-FFF2-40B4-BE49-F238E27FC236}">
                <a16:creationId xmlns:a16="http://schemas.microsoft.com/office/drawing/2014/main" id="{755B9E3C-B625-4C53-A599-8FAD6196976E}"/>
              </a:ext>
            </a:extLst>
          </p:cNvPr>
          <p:cNvSpPr/>
          <p:nvPr/>
        </p:nvSpPr>
        <p:spPr>
          <a:xfrm>
            <a:off x="6637875" y="3769977"/>
            <a:ext cx="2720529" cy="2855365"/>
          </a:xfrm>
          <a:prstGeom prst="rect">
            <a:avLst/>
          </a:prstGeom>
          <a:solidFill>
            <a:srgbClr val="2B546B">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5" name="Прямоугольник 24">
            <a:extLst>
              <a:ext uri="{FF2B5EF4-FFF2-40B4-BE49-F238E27FC236}">
                <a16:creationId xmlns:a16="http://schemas.microsoft.com/office/drawing/2014/main" id="{DB51AC46-B34B-4C12-837F-8350ED188A47}"/>
              </a:ext>
            </a:extLst>
          </p:cNvPr>
          <p:cNvSpPr/>
          <p:nvPr/>
        </p:nvSpPr>
        <p:spPr>
          <a:xfrm>
            <a:off x="775145" y="3804297"/>
            <a:ext cx="2720529" cy="2855365"/>
          </a:xfrm>
          <a:prstGeom prst="rect">
            <a:avLst/>
          </a:prstGeom>
          <a:solidFill>
            <a:srgbClr val="2B546B">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4" name="Заголовок 1">
            <a:extLst>
              <a:ext uri="{FF2B5EF4-FFF2-40B4-BE49-F238E27FC236}">
                <a16:creationId xmlns:a16="http://schemas.microsoft.com/office/drawing/2014/main" id="{151A36BD-8908-4C80-AE6D-01A1E63F26F6}"/>
              </a:ext>
            </a:extLst>
          </p:cNvPr>
          <p:cNvSpPr>
            <a:spLocks noGrp="1"/>
          </p:cNvSpPr>
          <p:nvPr>
            <p:ph type="title"/>
          </p:nvPr>
        </p:nvSpPr>
        <p:spPr>
          <a:xfrm>
            <a:off x="590735" y="538308"/>
            <a:ext cx="5953719" cy="741363"/>
          </a:xfrm>
        </p:spPr>
        <p:txBody>
          <a:bodyPr>
            <a:noAutofit/>
          </a:bodyPr>
          <a:lstStyle/>
          <a:p>
            <a:pPr algn="l">
              <a:lnSpc>
                <a:spcPts val="3000"/>
              </a:lnSpc>
            </a:pPr>
            <a:r>
              <a:rPr lang="kk-KZ" sz="3200" b="1" dirty="0">
                <a:latin typeface="Arial" panose="020B0604020202020204" pitchFamily="34" charset="0"/>
                <a:ea typeface="+mn-ea"/>
                <a:cs typeface="Arial" panose="020B0604020202020204" pitchFamily="34" charset="0"/>
              </a:rPr>
              <a:t>«</a:t>
            </a:r>
            <a:r>
              <a:rPr lang="ru-RU" sz="3200" b="1" dirty="0">
                <a:latin typeface="Arial" panose="020B0604020202020204" pitchFamily="34" charset="0"/>
                <a:ea typeface="+mn-ea"/>
                <a:cs typeface="Arial" panose="020B0604020202020204" pitchFamily="34" charset="0"/>
              </a:rPr>
              <a:t>Как бы Вы оценили ваши жилищные условия</a:t>
            </a:r>
            <a:r>
              <a:rPr lang="kk-KZ" sz="3200" b="1" dirty="0">
                <a:latin typeface="Arial" panose="020B0604020202020204" pitchFamily="34" charset="0"/>
                <a:ea typeface="+mn-ea"/>
                <a:cs typeface="Arial" panose="020B0604020202020204" pitchFamily="34" charset="0"/>
              </a:rPr>
              <a:t>?»</a:t>
            </a:r>
            <a:endParaRPr lang="ru-KZ" sz="3200" b="1" dirty="0">
              <a:latin typeface="Arial" panose="020B0604020202020204" pitchFamily="34" charset="0"/>
              <a:ea typeface="+mn-ea"/>
              <a:cs typeface="Arial" panose="020B0604020202020204" pitchFamily="34" charset="0"/>
            </a:endParaRPr>
          </a:p>
        </p:txBody>
      </p:sp>
      <p:sp>
        <p:nvSpPr>
          <p:cNvPr id="6" name="Заголовок 1">
            <a:extLst>
              <a:ext uri="{FF2B5EF4-FFF2-40B4-BE49-F238E27FC236}">
                <a16:creationId xmlns:a16="http://schemas.microsoft.com/office/drawing/2014/main" id="{6D870214-5F6D-4C80-8AEA-D8B415E96185}"/>
              </a:ext>
            </a:extLst>
          </p:cNvPr>
          <p:cNvSpPr txBox="1">
            <a:spLocks/>
          </p:cNvSpPr>
          <p:nvPr/>
        </p:nvSpPr>
        <p:spPr>
          <a:xfrm>
            <a:off x="598765" y="2372885"/>
            <a:ext cx="3012189" cy="64656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2500"/>
              </a:lnSpc>
            </a:pPr>
            <a:r>
              <a:rPr lang="ru-RU" sz="1800" dirty="0">
                <a:latin typeface="Arial" panose="020B0604020202020204" pitchFamily="34" charset="0"/>
                <a:ea typeface="+mn-ea"/>
                <a:cs typeface="Arial" panose="020B0604020202020204" pitchFamily="34" charset="0"/>
              </a:rPr>
              <a:t>«Нормальные»</a:t>
            </a:r>
            <a:endParaRPr lang="ru-KZ" sz="1800" dirty="0">
              <a:latin typeface="Arial" panose="020B0604020202020204" pitchFamily="34" charset="0"/>
              <a:ea typeface="+mn-ea"/>
              <a:cs typeface="Arial" panose="020B0604020202020204" pitchFamily="34" charset="0"/>
            </a:endParaRPr>
          </a:p>
        </p:txBody>
      </p:sp>
      <p:sp>
        <p:nvSpPr>
          <p:cNvPr id="13" name="Заголовок 1">
            <a:extLst>
              <a:ext uri="{FF2B5EF4-FFF2-40B4-BE49-F238E27FC236}">
                <a16:creationId xmlns:a16="http://schemas.microsoft.com/office/drawing/2014/main" id="{895C0B44-777D-4BD4-8A39-B18EB810303C}"/>
              </a:ext>
            </a:extLst>
          </p:cNvPr>
          <p:cNvSpPr txBox="1">
            <a:spLocks/>
          </p:cNvSpPr>
          <p:nvPr/>
        </p:nvSpPr>
        <p:spPr>
          <a:xfrm>
            <a:off x="1310256" y="1802517"/>
            <a:ext cx="2187307"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6000" b="1" dirty="0">
                <a:solidFill>
                  <a:srgbClr val="2B546B"/>
                </a:solidFill>
                <a:latin typeface="Arial" panose="020B0604020202020204" pitchFamily="34" charset="0"/>
                <a:ea typeface="+mn-ea"/>
                <a:cs typeface="Arial" panose="020B0604020202020204" pitchFamily="34" charset="0"/>
              </a:rPr>
              <a:t>52</a:t>
            </a:r>
            <a:r>
              <a:rPr lang="ru-RU" sz="2400" b="1" dirty="0">
                <a:solidFill>
                  <a:srgbClr val="2B546B"/>
                </a:solidFill>
                <a:latin typeface="Arial" panose="020B0604020202020204" pitchFamily="34" charset="0"/>
                <a:ea typeface="+mn-ea"/>
                <a:cs typeface="Arial" panose="020B0604020202020204" pitchFamily="34" charset="0"/>
              </a:rPr>
              <a:t>%</a:t>
            </a:r>
            <a:endParaRPr lang="ru-KZ" b="1" dirty="0">
              <a:solidFill>
                <a:srgbClr val="2B546B"/>
              </a:solidFill>
              <a:latin typeface="Arial" panose="020B0604020202020204" pitchFamily="34" charset="0"/>
              <a:ea typeface="+mn-ea"/>
              <a:cs typeface="Arial" panose="020B0604020202020204" pitchFamily="34" charset="0"/>
            </a:endParaRPr>
          </a:p>
        </p:txBody>
      </p:sp>
      <p:sp>
        <p:nvSpPr>
          <p:cNvPr id="7" name="TextBox 6">
            <a:extLst>
              <a:ext uri="{FF2B5EF4-FFF2-40B4-BE49-F238E27FC236}">
                <a16:creationId xmlns:a16="http://schemas.microsoft.com/office/drawing/2014/main" id="{79EC497B-C9B4-3D47-B0CF-07AAF578D5FA}"/>
              </a:ext>
            </a:extLst>
          </p:cNvPr>
          <p:cNvSpPr txBox="1"/>
          <p:nvPr/>
        </p:nvSpPr>
        <p:spPr>
          <a:xfrm>
            <a:off x="710177" y="3813162"/>
            <a:ext cx="2720529" cy="1446550"/>
          </a:xfrm>
          <a:prstGeom prst="rect">
            <a:avLst/>
          </a:prstGeom>
          <a:noFill/>
        </p:spPr>
        <p:txBody>
          <a:bodyPr wrap="square" rtlCol="0">
            <a:spAutoFit/>
          </a:bodyPr>
          <a:lstStyle/>
          <a:p>
            <a:r>
              <a:rPr lang="ru-RU" sz="1400" dirty="0">
                <a:latin typeface="Arial" panose="020B0604020202020204" pitchFamily="34" charset="0"/>
                <a:cs typeface="Arial" panose="020B0604020202020204" pitchFamily="34" charset="0"/>
              </a:rPr>
              <a:t>55+ 58%</a:t>
            </a:r>
          </a:p>
          <a:p>
            <a:r>
              <a:rPr lang="ru-RU" sz="1400" dirty="0">
                <a:latin typeface="Arial" panose="020B0604020202020204" pitchFamily="34" charset="0"/>
                <a:cs typeface="Arial" panose="020B0604020202020204" pitchFamily="34" charset="0"/>
              </a:rPr>
              <a:t>Начальное образование и ниже – 69%</a:t>
            </a:r>
          </a:p>
          <a:p>
            <a:r>
              <a:rPr lang="ru-RU" sz="1400" dirty="0">
                <a:latin typeface="Arial" panose="020B0604020202020204" pitchFamily="34" charset="0"/>
                <a:cs typeface="Arial" panose="020B0604020202020204" pitchFamily="34" charset="0"/>
              </a:rPr>
              <a:t>Бедные – 60%</a:t>
            </a:r>
          </a:p>
          <a:p>
            <a:r>
              <a:rPr lang="ru-RU" sz="1400" dirty="0">
                <a:latin typeface="Arial" panose="020B0604020202020204" pitchFamily="34" charset="0"/>
                <a:cs typeface="Arial" panose="020B0604020202020204" pitchFamily="34" charset="0"/>
              </a:rPr>
              <a:t>Живут у родственников – 57%</a:t>
            </a:r>
          </a:p>
          <a:p>
            <a:endParaRPr lang="en-US" dirty="0"/>
          </a:p>
        </p:txBody>
      </p:sp>
      <p:sp>
        <p:nvSpPr>
          <p:cNvPr id="17" name="Заголовок 1">
            <a:extLst>
              <a:ext uri="{FF2B5EF4-FFF2-40B4-BE49-F238E27FC236}">
                <a16:creationId xmlns:a16="http://schemas.microsoft.com/office/drawing/2014/main" id="{6A1E0FAC-E9FB-4A0D-A57A-E1346B176DB7}"/>
              </a:ext>
            </a:extLst>
          </p:cNvPr>
          <p:cNvSpPr txBox="1">
            <a:spLocks/>
          </p:cNvSpPr>
          <p:nvPr/>
        </p:nvSpPr>
        <p:spPr>
          <a:xfrm>
            <a:off x="7290109" y="1802517"/>
            <a:ext cx="1581721"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6000" b="1" dirty="0">
                <a:solidFill>
                  <a:schemeClr val="tx1">
                    <a:lumMod val="50000"/>
                    <a:lumOff val="50000"/>
                  </a:schemeClr>
                </a:solidFill>
                <a:latin typeface="Arial" panose="020B0604020202020204" pitchFamily="34" charset="0"/>
                <a:ea typeface="+mn-ea"/>
                <a:cs typeface="Arial" panose="020B0604020202020204" pitchFamily="34" charset="0"/>
              </a:rPr>
              <a:t>11</a:t>
            </a:r>
            <a:r>
              <a:rPr lang="ru-RU" sz="3600" b="1" dirty="0">
                <a:solidFill>
                  <a:schemeClr val="tx1">
                    <a:lumMod val="50000"/>
                    <a:lumOff val="50000"/>
                  </a:schemeClr>
                </a:solidFill>
                <a:latin typeface="Arial" panose="020B0604020202020204" pitchFamily="34" charset="0"/>
                <a:ea typeface="+mn-ea"/>
                <a:cs typeface="Arial" panose="020B0604020202020204" pitchFamily="34" charset="0"/>
              </a:rPr>
              <a:t>%</a:t>
            </a:r>
            <a:endParaRPr lang="ru-KZ" sz="6000" b="1" dirty="0">
              <a:solidFill>
                <a:schemeClr val="tx1">
                  <a:lumMod val="50000"/>
                  <a:lumOff val="50000"/>
                </a:schemeClr>
              </a:solidFill>
              <a:latin typeface="Arial" panose="020B0604020202020204" pitchFamily="34" charset="0"/>
              <a:ea typeface="+mn-ea"/>
              <a:cs typeface="Arial" panose="020B0604020202020204" pitchFamily="34" charset="0"/>
            </a:endParaRPr>
          </a:p>
        </p:txBody>
      </p:sp>
      <p:sp>
        <p:nvSpPr>
          <p:cNvPr id="18" name="Заголовок 1">
            <a:extLst>
              <a:ext uri="{FF2B5EF4-FFF2-40B4-BE49-F238E27FC236}">
                <a16:creationId xmlns:a16="http://schemas.microsoft.com/office/drawing/2014/main" id="{59311977-A237-4B6B-A900-AEA0B6A20D19}"/>
              </a:ext>
            </a:extLst>
          </p:cNvPr>
          <p:cNvSpPr txBox="1">
            <a:spLocks/>
          </p:cNvSpPr>
          <p:nvPr/>
        </p:nvSpPr>
        <p:spPr>
          <a:xfrm>
            <a:off x="6227310" y="2615798"/>
            <a:ext cx="3452816" cy="2495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1600"/>
              </a:lnSpc>
            </a:pPr>
            <a:r>
              <a:rPr lang="ru-RU" sz="1800" dirty="0">
                <a:latin typeface="Arial" panose="020B0604020202020204" pitchFamily="34" charset="0"/>
                <a:ea typeface="+mn-ea"/>
                <a:cs typeface="Arial" panose="020B0604020202020204" pitchFamily="34" charset="0"/>
              </a:rPr>
              <a:t>«Плохие»</a:t>
            </a:r>
            <a:endParaRPr lang="ru-KZ" sz="1800" dirty="0">
              <a:latin typeface="Arial" panose="020B0604020202020204" pitchFamily="34" charset="0"/>
              <a:ea typeface="+mn-ea"/>
              <a:cs typeface="Arial" panose="020B0604020202020204" pitchFamily="34" charset="0"/>
            </a:endParaRPr>
          </a:p>
        </p:txBody>
      </p:sp>
      <p:sp>
        <p:nvSpPr>
          <p:cNvPr id="20" name="TextBox 19">
            <a:extLst>
              <a:ext uri="{FF2B5EF4-FFF2-40B4-BE49-F238E27FC236}">
                <a16:creationId xmlns:a16="http://schemas.microsoft.com/office/drawing/2014/main" id="{5621F59E-DB94-421A-BD54-93D66CDEF9CA}"/>
              </a:ext>
            </a:extLst>
          </p:cNvPr>
          <p:cNvSpPr txBox="1"/>
          <p:nvPr/>
        </p:nvSpPr>
        <p:spPr>
          <a:xfrm>
            <a:off x="6668127" y="3815551"/>
            <a:ext cx="2581029" cy="3539430"/>
          </a:xfrm>
          <a:prstGeom prst="rect">
            <a:avLst/>
          </a:prstGeom>
          <a:noFill/>
        </p:spPr>
        <p:txBody>
          <a:bodyPr wrap="square" rtlCol="0">
            <a:spAutoFit/>
          </a:bodyPr>
          <a:lstStyle/>
          <a:p>
            <a:r>
              <a:rPr lang="ru-RU" sz="1400" dirty="0">
                <a:latin typeface="Arial" panose="020B0604020202020204" pitchFamily="34" charset="0"/>
                <a:cs typeface="Arial" panose="020B0604020202020204" pitchFamily="34" charset="0"/>
              </a:rPr>
              <a:t>Среднее образование – 14%</a:t>
            </a:r>
          </a:p>
          <a:p>
            <a:r>
              <a:rPr lang="ru-RU" sz="1400" dirty="0">
                <a:latin typeface="Arial" panose="020B0604020202020204" pitchFamily="34" charset="0"/>
                <a:cs typeface="Arial" panose="020B0604020202020204" pitchFamily="34" charset="0"/>
              </a:rPr>
              <a:t>Живущие одни – 17%</a:t>
            </a:r>
          </a:p>
          <a:p>
            <a:r>
              <a:rPr lang="ru-RU" sz="1400" dirty="0">
                <a:latin typeface="Arial" panose="020B0604020202020204" pitchFamily="34" charset="0"/>
                <a:cs typeface="Arial" panose="020B0604020202020204" pitchFamily="34" charset="0"/>
              </a:rPr>
              <a:t>Очень бедные - 30%</a:t>
            </a:r>
          </a:p>
          <a:p>
            <a:r>
              <a:rPr lang="ru-RU" sz="1400" dirty="0">
                <a:latin typeface="Arial" panose="020B0604020202020204" pitchFamily="34" charset="0"/>
                <a:cs typeface="Arial" panose="020B0604020202020204" pitchFamily="34" charset="0"/>
              </a:rPr>
              <a:t>Не удовлетворены жизнью 38%, не уверены завтрашнем дне – 25%</a:t>
            </a:r>
          </a:p>
          <a:p>
            <a:r>
              <a:rPr lang="ru-RU" sz="1400" dirty="0">
                <a:latin typeface="Arial" panose="020B0604020202020204" pitchFamily="34" charset="0"/>
                <a:cs typeface="Arial" panose="020B0604020202020204" pitchFamily="34" charset="0"/>
              </a:rPr>
              <a:t>Нет собственного жилья – 21%</a:t>
            </a:r>
          </a:p>
          <a:p>
            <a:r>
              <a:rPr lang="ru-RU" sz="1400" dirty="0">
                <a:latin typeface="Arial" panose="020B0604020202020204" pitchFamily="34" charset="0"/>
                <a:cs typeface="Arial" panose="020B0604020202020204" pitchFamily="34" charset="0"/>
              </a:rPr>
              <a:t>Живут в съемном жилье – 26%</a:t>
            </a:r>
          </a:p>
          <a:p>
            <a:r>
              <a:rPr lang="ru-RU" sz="1400" dirty="0">
                <a:latin typeface="Arial" panose="020B0604020202020204" pitchFamily="34" charset="0"/>
                <a:cs typeface="Arial" panose="020B0604020202020204" pitchFamily="34" charset="0"/>
              </a:rPr>
              <a:t>Жители ВКО, Костанайской области, СКО, Астаны, Алматы.</a:t>
            </a:r>
          </a:p>
          <a:p>
            <a:endParaRPr lang="ru-RU"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endParaRPr lang="ru-RU" sz="1400" dirty="0">
              <a:latin typeface="Arial" panose="020B0604020202020204" pitchFamily="34" charset="0"/>
              <a:cs typeface="Arial" panose="020B0604020202020204" pitchFamily="34" charset="0"/>
            </a:endParaRPr>
          </a:p>
        </p:txBody>
      </p:sp>
      <p:cxnSp>
        <p:nvCxnSpPr>
          <p:cNvPr id="27" name="Прямая со стрелкой 26">
            <a:extLst>
              <a:ext uri="{FF2B5EF4-FFF2-40B4-BE49-F238E27FC236}">
                <a16:creationId xmlns:a16="http://schemas.microsoft.com/office/drawing/2014/main" id="{FE565708-931F-441F-BAA3-AD72600586C8}"/>
              </a:ext>
            </a:extLst>
          </p:cNvPr>
          <p:cNvCxnSpPr>
            <a:cxnSpLocks/>
          </p:cNvCxnSpPr>
          <p:nvPr/>
        </p:nvCxnSpPr>
        <p:spPr>
          <a:xfrm>
            <a:off x="4978415" y="3192308"/>
            <a:ext cx="0" cy="320984"/>
          </a:xfrm>
          <a:prstGeom prst="straightConnector1">
            <a:avLst/>
          </a:prstGeom>
          <a:ln w="28575">
            <a:solidFill>
              <a:srgbClr val="2B546B"/>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0" name="Прямая со стрелкой 29">
            <a:extLst>
              <a:ext uri="{FF2B5EF4-FFF2-40B4-BE49-F238E27FC236}">
                <a16:creationId xmlns:a16="http://schemas.microsoft.com/office/drawing/2014/main" id="{AAF32498-BAE9-4226-88CE-FDFBBAB54F23}"/>
              </a:ext>
            </a:extLst>
          </p:cNvPr>
          <p:cNvCxnSpPr>
            <a:cxnSpLocks/>
          </p:cNvCxnSpPr>
          <p:nvPr/>
        </p:nvCxnSpPr>
        <p:spPr>
          <a:xfrm>
            <a:off x="1466850" y="3192308"/>
            <a:ext cx="0" cy="320984"/>
          </a:xfrm>
          <a:prstGeom prst="straightConnector1">
            <a:avLst/>
          </a:prstGeom>
          <a:ln w="28575">
            <a:solidFill>
              <a:srgbClr val="2B546B"/>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CE994C8B-5131-49CB-8C2E-1DF68DD08663}"/>
              </a:ext>
            </a:extLst>
          </p:cNvPr>
          <p:cNvSpPr txBox="1"/>
          <p:nvPr/>
        </p:nvSpPr>
        <p:spPr>
          <a:xfrm>
            <a:off x="710177" y="3492978"/>
            <a:ext cx="4276940" cy="276999"/>
          </a:xfrm>
          <a:prstGeom prst="rect">
            <a:avLst/>
          </a:prstGeom>
          <a:noFill/>
        </p:spPr>
        <p:txBody>
          <a:bodyPr wrap="none" rtlCol="0">
            <a:spAutoFit/>
          </a:bodyPr>
          <a:lstStyle/>
          <a:p>
            <a:r>
              <a:rPr lang="ru-RU" sz="1200" b="1" dirty="0">
                <a:latin typeface="Arial" panose="020B0604020202020204" pitchFamily="34" charset="0"/>
                <a:cs typeface="Arial" panose="020B0604020202020204" pitchFamily="34" charset="0"/>
              </a:rPr>
              <a:t>В каких социально-демографических группах выше?</a:t>
            </a:r>
            <a:endParaRPr lang="en-US" sz="1200" b="1" dirty="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4D8ABD9-7070-4F3F-B566-0587016DAB9C}"/>
              </a:ext>
            </a:extLst>
          </p:cNvPr>
          <p:cNvSpPr txBox="1"/>
          <p:nvPr/>
        </p:nvSpPr>
        <p:spPr>
          <a:xfrm>
            <a:off x="3610954" y="3827140"/>
            <a:ext cx="2854858" cy="2462213"/>
          </a:xfrm>
          <a:prstGeom prst="rect">
            <a:avLst/>
          </a:prstGeom>
          <a:noFill/>
        </p:spPr>
        <p:txBody>
          <a:bodyPr wrap="square" rtlCol="0">
            <a:spAutoFit/>
          </a:bodyPr>
          <a:lstStyle/>
          <a:p>
            <a:r>
              <a:rPr lang="ru-RU" sz="1400" dirty="0">
                <a:latin typeface="Arial" panose="020B0604020202020204" pitchFamily="34" charset="0"/>
                <a:cs typeface="Arial" panose="020B0604020202020204" pitchFamily="34" charset="0"/>
              </a:rPr>
              <a:t>18-24 года – 56%</a:t>
            </a:r>
          </a:p>
          <a:p>
            <a:r>
              <a:rPr lang="ru-RU" sz="1400" dirty="0">
                <a:latin typeface="Arial" panose="020B0604020202020204" pitchFamily="34" charset="0"/>
                <a:cs typeface="Arial" panose="020B0604020202020204" pitchFamily="34" charset="0"/>
              </a:rPr>
              <a:t>Высшее образование – 47%</a:t>
            </a:r>
          </a:p>
          <a:p>
            <a:r>
              <a:rPr lang="ru-RU" sz="1400" dirty="0">
                <a:latin typeface="Arial" panose="020B0604020202020204" pitchFamily="34" charset="0"/>
                <a:cs typeface="Arial" panose="020B0604020202020204" pitchFamily="34" charset="0"/>
              </a:rPr>
              <a:t>Очень богатые - 72%</a:t>
            </a:r>
          </a:p>
          <a:p>
            <a:r>
              <a:rPr lang="ru-RU" sz="1400" dirty="0">
                <a:latin typeface="Arial" panose="020B0604020202020204" pitchFamily="34" charset="0"/>
                <a:cs typeface="Arial" panose="020B0604020202020204" pitchFamily="34" charset="0"/>
              </a:rPr>
              <a:t>Удовлетворены жизнью - 46%</a:t>
            </a:r>
          </a:p>
          <a:p>
            <a:r>
              <a:rPr lang="ru-RU" sz="1400" dirty="0">
                <a:latin typeface="Arial" panose="020B0604020202020204" pitchFamily="34" charset="0"/>
                <a:cs typeface="Arial" panose="020B0604020202020204" pitchFamily="34" charset="0"/>
              </a:rPr>
              <a:t>Уверены в завтрашнем дне – 47%</a:t>
            </a:r>
          </a:p>
          <a:p>
            <a:r>
              <a:rPr lang="ru-RU" sz="1400" dirty="0">
                <a:latin typeface="Arial" panose="020B0604020202020204" pitchFamily="34" charset="0"/>
                <a:cs typeface="Arial" panose="020B0604020202020204" pitchFamily="34" charset="0"/>
              </a:rPr>
              <a:t>Есть собственное жилье – 44% </a:t>
            </a:r>
          </a:p>
          <a:p>
            <a:r>
              <a:rPr lang="ru-RU" sz="1400" dirty="0">
                <a:latin typeface="Arial" panose="020B0604020202020204" pitchFamily="34" charset="0"/>
                <a:cs typeface="Arial" panose="020B0604020202020204" pitchFamily="34" charset="0"/>
              </a:rPr>
              <a:t>Живут в своем жилье – 45%</a:t>
            </a:r>
          </a:p>
          <a:p>
            <a:r>
              <a:rPr lang="ru-RU" sz="1400" dirty="0">
                <a:latin typeface="Arial" panose="020B0604020202020204" pitchFamily="34" charset="0"/>
                <a:cs typeface="Arial" panose="020B0604020202020204" pitchFamily="34" charset="0"/>
              </a:rPr>
              <a:t>Жители Атырауской области. </a:t>
            </a:r>
          </a:p>
          <a:p>
            <a:endParaRPr lang="ru-RU" sz="1400" dirty="0">
              <a:latin typeface="Arial" panose="020B0604020202020204" pitchFamily="34" charset="0"/>
              <a:cs typeface="Arial" panose="020B0604020202020204" pitchFamily="34" charset="0"/>
            </a:endParaRPr>
          </a:p>
          <a:p>
            <a:endParaRPr lang="ru-RU" sz="1400" dirty="0">
              <a:latin typeface="Arial" panose="020B0604020202020204" pitchFamily="34" charset="0"/>
              <a:cs typeface="Arial" panose="020B0604020202020204" pitchFamily="34" charset="0"/>
            </a:endParaRPr>
          </a:p>
        </p:txBody>
      </p:sp>
      <p:sp>
        <p:nvSpPr>
          <p:cNvPr id="22" name="Заголовок 1">
            <a:extLst>
              <a:ext uri="{FF2B5EF4-FFF2-40B4-BE49-F238E27FC236}">
                <a16:creationId xmlns:a16="http://schemas.microsoft.com/office/drawing/2014/main" id="{B3AA92F4-2656-40A2-B4AE-D01FBEB39750}"/>
              </a:ext>
            </a:extLst>
          </p:cNvPr>
          <p:cNvSpPr txBox="1">
            <a:spLocks/>
          </p:cNvSpPr>
          <p:nvPr/>
        </p:nvSpPr>
        <p:spPr>
          <a:xfrm>
            <a:off x="4116887" y="1802517"/>
            <a:ext cx="1581721"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6000" b="1" dirty="0">
                <a:solidFill>
                  <a:srgbClr val="2B546B"/>
                </a:solidFill>
                <a:latin typeface="Arial" panose="020B0604020202020204" pitchFamily="34" charset="0"/>
                <a:ea typeface="+mn-ea"/>
                <a:cs typeface="Arial" panose="020B0604020202020204" pitchFamily="34" charset="0"/>
              </a:rPr>
              <a:t>37</a:t>
            </a:r>
            <a:r>
              <a:rPr lang="ru-RU" sz="3600" b="1" dirty="0">
                <a:solidFill>
                  <a:srgbClr val="2B546B"/>
                </a:solidFill>
                <a:latin typeface="Arial" panose="020B0604020202020204" pitchFamily="34" charset="0"/>
                <a:ea typeface="+mn-ea"/>
                <a:cs typeface="Arial" panose="020B0604020202020204" pitchFamily="34" charset="0"/>
              </a:rPr>
              <a:t>%</a:t>
            </a:r>
            <a:endParaRPr lang="ru-KZ" sz="6000" b="1" dirty="0">
              <a:solidFill>
                <a:srgbClr val="2B546B"/>
              </a:solidFill>
              <a:latin typeface="Arial" panose="020B0604020202020204" pitchFamily="34" charset="0"/>
              <a:ea typeface="+mn-ea"/>
              <a:cs typeface="Arial" panose="020B0604020202020204" pitchFamily="34" charset="0"/>
            </a:endParaRPr>
          </a:p>
        </p:txBody>
      </p:sp>
      <p:sp>
        <p:nvSpPr>
          <p:cNvPr id="24" name="Заголовок 1">
            <a:extLst>
              <a:ext uri="{FF2B5EF4-FFF2-40B4-BE49-F238E27FC236}">
                <a16:creationId xmlns:a16="http://schemas.microsoft.com/office/drawing/2014/main" id="{8376D16C-76AB-4036-BC83-AE8EDD83613E}"/>
              </a:ext>
            </a:extLst>
          </p:cNvPr>
          <p:cNvSpPr txBox="1">
            <a:spLocks/>
          </p:cNvSpPr>
          <p:nvPr/>
        </p:nvSpPr>
        <p:spPr>
          <a:xfrm>
            <a:off x="3326027" y="2276467"/>
            <a:ext cx="3012189"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2500"/>
              </a:lnSpc>
            </a:pPr>
            <a:r>
              <a:rPr lang="ru-RU" sz="1800" dirty="0">
                <a:latin typeface="Arial" panose="020B0604020202020204" pitchFamily="34" charset="0"/>
                <a:ea typeface="+mn-ea"/>
                <a:cs typeface="Arial" panose="020B0604020202020204" pitchFamily="34" charset="0"/>
              </a:rPr>
              <a:t>«Хорошие»</a:t>
            </a:r>
            <a:endParaRPr lang="ru-KZ" sz="1800" dirty="0">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081258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Диаграмма 5">
            <a:extLst>
              <a:ext uri="{FF2B5EF4-FFF2-40B4-BE49-F238E27FC236}">
                <a16:creationId xmlns:a16="http://schemas.microsoft.com/office/drawing/2014/main" id="{CA067111-6A57-4464-8D5A-BE4291E212B4}"/>
              </a:ext>
            </a:extLst>
          </p:cNvPr>
          <p:cNvGraphicFramePr/>
          <p:nvPr>
            <p:extLst>
              <p:ext uri="{D42A27DB-BD31-4B8C-83A1-F6EECF244321}">
                <p14:modId xmlns:p14="http://schemas.microsoft.com/office/powerpoint/2010/main" val="3920127562"/>
              </p:ext>
            </p:extLst>
          </p:nvPr>
        </p:nvGraphicFramePr>
        <p:xfrm>
          <a:off x="177800" y="2044700"/>
          <a:ext cx="4305300" cy="3936999"/>
        </p:xfrm>
        <a:graphic>
          <a:graphicData uri="http://schemas.openxmlformats.org/drawingml/2006/chart">
            <c:chart xmlns:c="http://schemas.openxmlformats.org/drawingml/2006/chart" xmlns:r="http://schemas.openxmlformats.org/officeDocument/2006/relationships" r:id="rId2"/>
          </a:graphicData>
        </a:graphic>
      </p:graphicFrame>
      <p:sp>
        <p:nvSpPr>
          <p:cNvPr id="7" name="Заголовок 1">
            <a:extLst>
              <a:ext uri="{FF2B5EF4-FFF2-40B4-BE49-F238E27FC236}">
                <a16:creationId xmlns:a16="http://schemas.microsoft.com/office/drawing/2014/main" id="{AC432C8A-388A-4F51-A5D5-96AA3986E88D}"/>
              </a:ext>
            </a:extLst>
          </p:cNvPr>
          <p:cNvSpPr>
            <a:spLocks noGrp="1"/>
          </p:cNvSpPr>
          <p:nvPr>
            <p:ph type="title"/>
          </p:nvPr>
        </p:nvSpPr>
        <p:spPr>
          <a:xfrm>
            <a:off x="600260" y="538308"/>
            <a:ext cx="5953719" cy="741363"/>
          </a:xfrm>
        </p:spPr>
        <p:txBody>
          <a:bodyPr>
            <a:noAutofit/>
          </a:bodyPr>
          <a:lstStyle/>
          <a:p>
            <a:pPr>
              <a:lnSpc>
                <a:spcPts val="3000"/>
              </a:lnSpc>
            </a:pPr>
            <a:r>
              <a:rPr lang="kk-KZ" sz="3200" b="1" dirty="0">
                <a:latin typeface="Arial" panose="020B0604020202020204" pitchFamily="34" charset="0"/>
                <a:ea typeface="+mn-ea"/>
                <a:cs typeface="Arial" panose="020B0604020202020204" pitchFamily="34" charset="0"/>
              </a:rPr>
              <a:t>Условия проживания и социальное самочувствие</a:t>
            </a:r>
            <a:endParaRPr lang="ru-KZ" sz="3200" b="1" dirty="0">
              <a:latin typeface="Arial" panose="020B0604020202020204" pitchFamily="34" charset="0"/>
              <a:ea typeface="+mn-ea"/>
              <a:cs typeface="Arial" panose="020B0604020202020204" pitchFamily="34" charset="0"/>
            </a:endParaRPr>
          </a:p>
        </p:txBody>
      </p:sp>
      <p:sp>
        <p:nvSpPr>
          <p:cNvPr id="9" name="Заголовок 1">
            <a:extLst>
              <a:ext uri="{FF2B5EF4-FFF2-40B4-BE49-F238E27FC236}">
                <a16:creationId xmlns:a16="http://schemas.microsoft.com/office/drawing/2014/main" id="{586140D9-DFBD-4FA6-B6E4-26BAA8324432}"/>
              </a:ext>
            </a:extLst>
          </p:cNvPr>
          <p:cNvSpPr txBox="1">
            <a:spLocks/>
          </p:cNvSpPr>
          <p:nvPr/>
        </p:nvSpPr>
        <p:spPr>
          <a:xfrm>
            <a:off x="235136" y="1441122"/>
            <a:ext cx="4106550"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2500"/>
              </a:lnSpc>
            </a:pPr>
            <a:r>
              <a:rPr lang="ru-RU" sz="1800" b="1" dirty="0">
                <a:latin typeface="Arial" panose="020B0604020202020204" pitchFamily="34" charset="0"/>
                <a:ea typeface="+mn-ea"/>
                <a:cs typeface="Arial" panose="020B0604020202020204" pitchFamily="34" charset="0"/>
              </a:rPr>
              <a:t>Удовлетворенность жизнью</a:t>
            </a:r>
            <a:endParaRPr lang="ru-KZ" sz="1800" b="1" dirty="0">
              <a:latin typeface="Arial" panose="020B0604020202020204" pitchFamily="34" charset="0"/>
              <a:ea typeface="+mn-ea"/>
              <a:cs typeface="Arial" panose="020B0604020202020204" pitchFamily="34" charset="0"/>
            </a:endParaRPr>
          </a:p>
        </p:txBody>
      </p:sp>
      <p:sp>
        <p:nvSpPr>
          <p:cNvPr id="10" name="Заголовок 1">
            <a:extLst>
              <a:ext uri="{FF2B5EF4-FFF2-40B4-BE49-F238E27FC236}">
                <a16:creationId xmlns:a16="http://schemas.microsoft.com/office/drawing/2014/main" id="{F88CECFE-1CDF-413D-9FA0-F5BF54647AF4}"/>
              </a:ext>
            </a:extLst>
          </p:cNvPr>
          <p:cNvSpPr txBox="1">
            <a:spLocks/>
          </p:cNvSpPr>
          <p:nvPr/>
        </p:nvSpPr>
        <p:spPr>
          <a:xfrm>
            <a:off x="5067302" y="1441122"/>
            <a:ext cx="4106550"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2500"/>
              </a:lnSpc>
            </a:pPr>
            <a:r>
              <a:rPr lang="ru-RU" sz="1800" b="1" dirty="0">
                <a:latin typeface="Arial" panose="020B0604020202020204" pitchFamily="34" charset="0"/>
                <a:ea typeface="+mn-ea"/>
                <a:cs typeface="Arial" panose="020B0604020202020204" pitchFamily="34" charset="0"/>
              </a:rPr>
              <a:t>Уверенность в завтрашнем дне</a:t>
            </a:r>
            <a:endParaRPr lang="ru-KZ" sz="1800" b="1" dirty="0">
              <a:latin typeface="Arial" panose="020B0604020202020204" pitchFamily="34" charset="0"/>
              <a:ea typeface="+mn-ea"/>
              <a:cs typeface="Arial" panose="020B0604020202020204" pitchFamily="34" charset="0"/>
            </a:endParaRPr>
          </a:p>
        </p:txBody>
      </p:sp>
      <p:graphicFrame>
        <p:nvGraphicFramePr>
          <p:cNvPr id="11" name="Диаграмма 10">
            <a:extLst>
              <a:ext uri="{FF2B5EF4-FFF2-40B4-BE49-F238E27FC236}">
                <a16:creationId xmlns:a16="http://schemas.microsoft.com/office/drawing/2014/main" id="{249E4B0E-032C-4F6F-8E3A-15A7CC0DB965}"/>
              </a:ext>
            </a:extLst>
          </p:cNvPr>
          <p:cNvGraphicFramePr/>
          <p:nvPr>
            <p:extLst>
              <p:ext uri="{D42A27DB-BD31-4B8C-83A1-F6EECF244321}">
                <p14:modId xmlns:p14="http://schemas.microsoft.com/office/powerpoint/2010/main" val="3679973895"/>
              </p:ext>
            </p:extLst>
          </p:nvPr>
        </p:nvGraphicFramePr>
        <p:xfrm>
          <a:off x="4838699" y="2044700"/>
          <a:ext cx="4305300" cy="393699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512426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Диаграмма 5">
            <a:extLst>
              <a:ext uri="{FF2B5EF4-FFF2-40B4-BE49-F238E27FC236}">
                <a16:creationId xmlns:a16="http://schemas.microsoft.com/office/drawing/2014/main" id="{CA067111-6A57-4464-8D5A-BE4291E212B4}"/>
              </a:ext>
            </a:extLst>
          </p:cNvPr>
          <p:cNvGraphicFramePr/>
          <p:nvPr>
            <p:extLst>
              <p:ext uri="{D42A27DB-BD31-4B8C-83A1-F6EECF244321}">
                <p14:modId xmlns:p14="http://schemas.microsoft.com/office/powerpoint/2010/main" val="443676086"/>
              </p:ext>
            </p:extLst>
          </p:nvPr>
        </p:nvGraphicFramePr>
        <p:xfrm>
          <a:off x="264989" y="2044700"/>
          <a:ext cx="4305300" cy="3936999"/>
        </p:xfrm>
        <a:graphic>
          <a:graphicData uri="http://schemas.openxmlformats.org/drawingml/2006/chart">
            <c:chart xmlns:c="http://schemas.openxmlformats.org/drawingml/2006/chart" xmlns:r="http://schemas.openxmlformats.org/officeDocument/2006/relationships" r:id="rId2"/>
          </a:graphicData>
        </a:graphic>
      </p:graphicFrame>
      <p:sp>
        <p:nvSpPr>
          <p:cNvPr id="7" name="Заголовок 1">
            <a:extLst>
              <a:ext uri="{FF2B5EF4-FFF2-40B4-BE49-F238E27FC236}">
                <a16:creationId xmlns:a16="http://schemas.microsoft.com/office/drawing/2014/main" id="{AC432C8A-388A-4F51-A5D5-96AA3986E88D}"/>
              </a:ext>
            </a:extLst>
          </p:cNvPr>
          <p:cNvSpPr>
            <a:spLocks noGrp="1"/>
          </p:cNvSpPr>
          <p:nvPr>
            <p:ph type="title"/>
          </p:nvPr>
        </p:nvSpPr>
        <p:spPr>
          <a:xfrm>
            <a:off x="600260" y="538308"/>
            <a:ext cx="5953719" cy="741363"/>
          </a:xfrm>
        </p:spPr>
        <p:txBody>
          <a:bodyPr>
            <a:noAutofit/>
          </a:bodyPr>
          <a:lstStyle/>
          <a:p>
            <a:pPr>
              <a:lnSpc>
                <a:spcPts val="3000"/>
              </a:lnSpc>
            </a:pPr>
            <a:r>
              <a:rPr lang="kk-KZ" sz="3200" b="1" dirty="0">
                <a:latin typeface="Arial" panose="020B0604020202020204" pitchFamily="34" charset="0"/>
                <a:ea typeface="+mn-ea"/>
                <a:cs typeface="Arial" panose="020B0604020202020204" pitchFamily="34" charset="0"/>
              </a:rPr>
              <a:t>Условия проживания и оценка работы Президента</a:t>
            </a:r>
            <a:endParaRPr lang="ru-KZ" sz="3200" b="1" dirty="0">
              <a:latin typeface="Arial" panose="020B0604020202020204" pitchFamily="34" charset="0"/>
              <a:ea typeface="+mn-ea"/>
              <a:cs typeface="Arial" panose="020B0604020202020204" pitchFamily="34" charset="0"/>
            </a:endParaRPr>
          </a:p>
        </p:txBody>
      </p:sp>
      <p:sp>
        <p:nvSpPr>
          <p:cNvPr id="9" name="Заголовок 1">
            <a:extLst>
              <a:ext uri="{FF2B5EF4-FFF2-40B4-BE49-F238E27FC236}">
                <a16:creationId xmlns:a16="http://schemas.microsoft.com/office/drawing/2014/main" id="{586140D9-DFBD-4FA6-B6E4-26BAA8324432}"/>
              </a:ext>
            </a:extLst>
          </p:cNvPr>
          <p:cNvSpPr txBox="1">
            <a:spLocks/>
          </p:cNvSpPr>
          <p:nvPr/>
        </p:nvSpPr>
        <p:spPr>
          <a:xfrm>
            <a:off x="235136" y="1441122"/>
            <a:ext cx="4106550"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2500"/>
              </a:lnSpc>
            </a:pPr>
            <a:r>
              <a:rPr lang="ru-RU" sz="1800" b="1" dirty="0">
                <a:latin typeface="Arial" panose="020B0604020202020204" pitchFamily="34" charset="0"/>
                <a:ea typeface="+mn-ea"/>
                <a:cs typeface="Arial" panose="020B0604020202020204" pitchFamily="34" charset="0"/>
              </a:rPr>
              <a:t>Доверие Президенту</a:t>
            </a:r>
            <a:endParaRPr lang="ru-KZ" sz="1800" b="1" dirty="0">
              <a:latin typeface="Arial" panose="020B0604020202020204" pitchFamily="34" charset="0"/>
              <a:ea typeface="+mn-ea"/>
              <a:cs typeface="Arial" panose="020B0604020202020204" pitchFamily="34" charset="0"/>
            </a:endParaRPr>
          </a:p>
        </p:txBody>
      </p:sp>
      <p:sp>
        <p:nvSpPr>
          <p:cNvPr id="10" name="Заголовок 1">
            <a:extLst>
              <a:ext uri="{FF2B5EF4-FFF2-40B4-BE49-F238E27FC236}">
                <a16:creationId xmlns:a16="http://schemas.microsoft.com/office/drawing/2014/main" id="{F88CECFE-1CDF-413D-9FA0-F5BF54647AF4}"/>
              </a:ext>
            </a:extLst>
          </p:cNvPr>
          <p:cNvSpPr txBox="1">
            <a:spLocks/>
          </p:cNvSpPr>
          <p:nvPr/>
        </p:nvSpPr>
        <p:spPr>
          <a:xfrm>
            <a:off x="5067302" y="1441122"/>
            <a:ext cx="4106550"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2500"/>
              </a:lnSpc>
            </a:pPr>
            <a:r>
              <a:rPr lang="ru-RU" sz="1800" b="1" dirty="0">
                <a:latin typeface="Arial" panose="020B0604020202020204" pitchFamily="34" charset="0"/>
                <a:ea typeface="+mn-ea"/>
                <a:cs typeface="Arial" panose="020B0604020202020204" pitchFamily="34" charset="0"/>
              </a:rPr>
              <a:t>Одобрение Президента</a:t>
            </a:r>
            <a:endParaRPr lang="ru-KZ" sz="1800" b="1" dirty="0">
              <a:latin typeface="Arial" panose="020B0604020202020204" pitchFamily="34" charset="0"/>
              <a:ea typeface="+mn-ea"/>
              <a:cs typeface="Arial" panose="020B0604020202020204" pitchFamily="34" charset="0"/>
            </a:endParaRPr>
          </a:p>
        </p:txBody>
      </p:sp>
      <p:graphicFrame>
        <p:nvGraphicFramePr>
          <p:cNvPr id="11" name="Диаграмма 10">
            <a:extLst>
              <a:ext uri="{FF2B5EF4-FFF2-40B4-BE49-F238E27FC236}">
                <a16:creationId xmlns:a16="http://schemas.microsoft.com/office/drawing/2014/main" id="{249E4B0E-032C-4F6F-8E3A-15A7CC0DB965}"/>
              </a:ext>
            </a:extLst>
          </p:cNvPr>
          <p:cNvGraphicFramePr/>
          <p:nvPr>
            <p:extLst>
              <p:ext uri="{D42A27DB-BD31-4B8C-83A1-F6EECF244321}">
                <p14:modId xmlns:p14="http://schemas.microsoft.com/office/powerpoint/2010/main" val="2692446039"/>
              </p:ext>
            </p:extLst>
          </p:nvPr>
        </p:nvGraphicFramePr>
        <p:xfrm>
          <a:off x="4838699" y="2044700"/>
          <a:ext cx="4305300" cy="393699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730968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a:extLst>
              <a:ext uri="{FF2B5EF4-FFF2-40B4-BE49-F238E27FC236}">
                <a16:creationId xmlns:a16="http://schemas.microsoft.com/office/drawing/2014/main" id="{36B56C6B-AE36-7A14-7E69-466FBEA19A49}"/>
              </a:ext>
            </a:extLst>
          </p:cNvPr>
          <p:cNvSpPr/>
          <p:nvPr/>
        </p:nvSpPr>
        <p:spPr>
          <a:xfrm>
            <a:off x="4953001" y="1432559"/>
            <a:ext cx="4953000" cy="5420277"/>
          </a:xfrm>
          <a:prstGeom prst="rect">
            <a:avLst/>
          </a:prstGeom>
          <a:solidFill>
            <a:srgbClr val="2B546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 name="TextBox 1">
            <a:extLst>
              <a:ext uri="{FF2B5EF4-FFF2-40B4-BE49-F238E27FC236}">
                <a16:creationId xmlns:a16="http://schemas.microsoft.com/office/drawing/2014/main" id="{C421081E-2491-E609-1595-ED82D067F574}"/>
              </a:ext>
            </a:extLst>
          </p:cNvPr>
          <p:cNvSpPr txBox="1"/>
          <p:nvPr/>
        </p:nvSpPr>
        <p:spPr>
          <a:xfrm>
            <a:off x="587835" y="481795"/>
            <a:ext cx="7384589" cy="861774"/>
          </a:xfrm>
          <a:prstGeom prst="rect">
            <a:avLst/>
          </a:prstGeom>
          <a:noFill/>
        </p:spPr>
        <p:txBody>
          <a:bodyPr wrap="square">
            <a:spAutoFit/>
          </a:bodyPr>
          <a:lstStyle/>
          <a:p>
            <a:pPr>
              <a:lnSpc>
                <a:spcPts val="3000"/>
              </a:lnSpc>
            </a:pPr>
            <a:r>
              <a:rPr lang="ru-RU" sz="3200" b="1" dirty="0">
                <a:latin typeface="Arial" panose="020B0604020202020204" pitchFamily="34" charset="0"/>
                <a:cs typeface="Arial" panose="020B0604020202020204" pitchFamily="34" charset="0"/>
              </a:rPr>
              <a:t>Почему вы оцениваете свои жилищные условия как «плохие»?</a:t>
            </a:r>
          </a:p>
        </p:txBody>
      </p:sp>
      <p:sp>
        <p:nvSpPr>
          <p:cNvPr id="15" name="TextBox 14">
            <a:extLst>
              <a:ext uri="{FF2B5EF4-FFF2-40B4-BE49-F238E27FC236}">
                <a16:creationId xmlns:a16="http://schemas.microsoft.com/office/drawing/2014/main" id="{661AA8AA-4DA7-4764-8681-1102EA248320}"/>
              </a:ext>
            </a:extLst>
          </p:cNvPr>
          <p:cNvSpPr txBox="1"/>
          <p:nvPr/>
        </p:nvSpPr>
        <p:spPr>
          <a:xfrm>
            <a:off x="587835" y="2003651"/>
            <a:ext cx="4365165" cy="4893647"/>
          </a:xfrm>
          <a:prstGeom prst="rect">
            <a:avLst/>
          </a:prstGeom>
          <a:noFill/>
        </p:spPr>
        <p:txBody>
          <a:bodyPr wrap="square">
            <a:spAutoFit/>
          </a:bodyPr>
          <a:lstStyle/>
          <a:p>
            <a:r>
              <a:rPr lang="ru-RU" sz="1200" i="1" dirty="0">
                <a:latin typeface="Arial" panose="020B0604020202020204" pitchFamily="34" charset="0"/>
                <a:cs typeface="Arial" panose="020B0604020202020204" pitchFamily="34" charset="0"/>
              </a:rPr>
              <a:t>«Я человек, которому 67 лет, должна таскать угли, потому что отключили отопление, у меня печное отопление, а у меня ноги больные» </a:t>
            </a:r>
            <a:r>
              <a:rPr lang="ru-RU" sz="1200" b="1" i="1" dirty="0">
                <a:latin typeface="Arial" panose="020B0604020202020204" pitchFamily="34" charset="0"/>
                <a:cs typeface="Arial" panose="020B0604020202020204" pitchFamily="34" charset="0"/>
              </a:rPr>
              <a:t>Женщина, 67 лет, Абайская область</a:t>
            </a:r>
          </a:p>
          <a:p>
            <a:endParaRPr lang="ru-RU" sz="1200" b="1" i="1" dirty="0">
              <a:latin typeface="Arial" panose="020B0604020202020204" pitchFamily="34" charset="0"/>
              <a:cs typeface="Arial" panose="020B0604020202020204" pitchFamily="34" charset="0"/>
            </a:endParaRPr>
          </a:p>
          <a:p>
            <a:r>
              <a:rPr lang="ru-RU" sz="1200" i="1" dirty="0">
                <a:latin typeface="Arial" panose="020B0604020202020204" pitchFamily="34" charset="0"/>
                <a:cs typeface="Arial" panose="020B0604020202020204" pitchFamily="34" charset="0"/>
              </a:rPr>
              <a:t>«</a:t>
            </a:r>
            <a:r>
              <a:rPr lang="ru-RU" sz="1200" b="0" i="1" dirty="0">
                <a:solidFill>
                  <a:srgbClr val="000000"/>
                </a:solidFill>
                <a:effectLst/>
                <a:latin typeface="Roboto"/>
              </a:rPr>
              <a:t>Себебі ол жерде газ, электроэнергия, балалар алаңы мүлдем жоқ. Ток соғады. Ешкім қадағаламайды. Бірақ ақшаны төлеуді талап етеді. Ешкім жауапкершілікке алмайды. Кск мүлдем жұмыс істемейді. Құзырлы органдарға жазсақ, олар ауыстырамыз дейді де, бірақ ауыстарған жоқ</a:t>
            </a:r>
            <a:r>
              <a:rPr lang="ru-RU" sz="1200" i="1" dirty="0">
                <a:latin typeface="Arial" panose="020B0604020202020204" pitchFamily="34" charset="0"/>
                <a:cs typeface="Arial" panose="020B0604020202020204" pitchFamily="34" charset="0"/>
              </a:rPr>
              <a:t>» </a:t>
            </a:r>
            <a:r>
              <a:rPr lang="ru-RU" sz="1200" b="1" i="1" dirty="0">
                <a:latin typeface="Arial" panose="020B0604020202020204" pitchFamily="34" charset="0"/>
                <a:cs typeface="Arial" panose="020B0604020202020204" pitchFamily="34" charset="0"/>
              </a:rPr>
              <a:t>Женщина, 34 года, Кызылорда</a:t>
            </a:r>
          </a:p>
          <a:p>
            <a:endParaRPr lang="ru-RU" sz="1200" b="1" i="1" dirty="0">
              <a:latin typeface="Arial" panose="020B0604020202020204" pitchFamily="34" charset="0"/>
              <a:cs typeface="Arial" panose="020B0604020202020204" pitchFamily="34" charset="0"/>
            </a:endParaRPr>
          </a:p>
          <a:p>
            <a:r>
              <a:rPr lang="ru-RU" sz="1200" i="1" dirty="0">
                <a:latin typeface="Arial" panose="020B0604020202020204" pitchFamily="34" charset="0"/>
                <a:cs typeface="Arial" panose="020B0604020202020204" pitchFamily="34" charset="0"/>
              </a:rPr>
              <a:t>«Я не могу даже элементарно собрать деньги с нашими ценами на ремонт квартиры» </a:t>
            </a:r>
            <a:r>
              <a:rPr lang="ru-RU" sz="1200" b="1" i="1" dirty="0">
                <a:latin typeface="Arial" panose="020B0604020202020204" pitchFamily="34" charset="0"/>
                <a:cs typeface="Arial" panose="020B0604020202020204" pitchFamily="34" charset="0"/>
              </a:rPr>
              <a:t>Женщина, 48 лет, Сатпаев</a:t>
            </a:r>
          </a:p>
          <a:p>
            <a:endParaRPr lang="ru-RU" sz="1200" b="1" i="1" dirty="0">
              <a:latin typeface="Arial" panose="020B0604020202020204" pitchFamily="34" charset="0"/>
              <a:cs typeface="Arial" panose="020B0604020202020204" pitchFamily="34" charset="0"/>
            </a:endParaRPr>
          </a:p>
          <a:p>
            <a:r>
              <a:rPr lang="ru-RU" sz="1200" i="1" dirty="0">
                <a:latin typeface="Arial" panose="020B0604020202020204" pitchFamily="34" charset="0"/>
                <a:cs typeface="Arial" panose="020B0604020202020204" pitchFamily="34" charset="0"/>
              </a:rPr>
              <a:t>«Потому что с тремя детьми на квартире, работает только муж. Нет денег достроить свой участок» </a:t>
            </a:r>
            <a:r>
              <a:rPr lang="ru-RU" sz="1200" b="1" i="1" dirty="0">
                <a:latin typeface="Arial" panose="020B0604020202020204" pitchFamily="34" charset="0"/>
                <a:cs typeface="Arial" panose="020B0604020202020204" pitchFamily="34" charset="0"/>
              </a:rPr>
              <a:t>Женщина, 36 лет, Алматинская область</a:t>
            </a:r>
          </a:p>
          <a:p>
            <a:endParaRPr lang="ru-RU" sz="1200" b="1" i="1" dirty="0">
              <a:latin typeface="Arial" panose="020B0604020202020204" pitchFamily="34" charset="0"/>
              <a:cs typeface="Arial" panose="020B0604020202020204" pitchFamily="34" charset="0"/>
            </a:endParaRPr>
          </a:p>
          <a:p>
            <a:r>
              <a:rPr lang="ru-RU" sz="1200" i="1" dirty="0">
                <a:latin typeface="Arial" panose="020B0604020202020204" pitchFamily="34" charset="0"/>
                <a:cs typeface="Arial" panose="020B0604020202020204" pitchFamily="34" charset="0"/>
              </a:rPr>
              <a:t>«Нет своего жилья, живу по правилам других, в чужой квартире» </a:t>
            </a:r>
            <a:r>
              <a:rPr lang="ru-RU" sz="1200" b="1" i="1" dirty="0">
                <a:latin typeface="Arial" panose="020B0604020202020204" pitchFamily="34" charset="0"/>
                <a:cs typeface="Arial" panose="020B0604020202020204" pitchFamily="34" charset="0"/>
              </a:rPr>
              <a:t>Мужчина, 34 года, Ленгер</a:t>
            </a:r>
          </a:p>
          <a:p>
            <a:endParaRPr lang="ru-RU" sz="1200" b="1" i="1" dirty="0">
              <a:latin typeface="Arial" panose="020B0604020202020204" pitchFamily="34" charset="0"/>
              <a:cs typeface="Arial" panose="020B0604020202020204" pitchFamily="34" charset="0"/>
            </a:endParaRPr>
          </a:p>
          <a:p>
            <a:r>
              <a:rPr lang="ru-RU" sz="1200" i="1" dirty="0">
                <a:latin typeface="Arial" panose="020B0604020202020204" pitchFamily="34" charset="0"/>
                <a:cs typeface="Arial" panose="020B0604020202020204" pitchFamily="34" charset="0"/>
              </a:rPr>
              <a:t>«Каждый месяц плачу 100 000 за квартиру. Это очень дорого и  много кредитов» </a:t>
            </a:r>
            <a:r>
              <a:rPr lang="ru-RU" sz="1200" b="1" i="1" dirty="0">
                <a:latin typeface="Arial" panose="020B0604020202020204" pitchFamily="34" charset="0"/>
                <a:cs typeface="Arial" panose="020B0604020202020204" pitchFamily="34" charset="0"/>
              </a:rPr>
              <a:t>Мужчина, 29 лет, Караганда</a:t>
            </a:r>
          </a:p>
        </p:txBody>
      </p:sp>
      <p:sp>
        <p:nvSpPr>
          <p:cNvPr id="16" name="Заголовок 1">
            <a:extLst>
              <a:ext uri="{FF2B5EF4-FFF2-40B4-BE49-F238E27FC236}">
                <a16:creationId xmlns:a16="http://schemas.microsoft.com/office/drawing/2014/main" id="{80A7DE9D-081C-4900-B838-532964BF5D83}"/>
              </a:ext>
            </a:extLst>
          </p:cNvPr>
          <p:cNvSpPr txBox="1">
            <a:spLocks/>
          </p:cNvSpPr>
          <p:nvPr/>
        </p:nvSpPr>
        <p:spPr>
          <a:xfrm>
            <a:off x="78546" y="1330869"/>
            <a:ext cx="4131504"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2500"/>
              </a:lnSpc>
            </a:pPr>
            <a:r>
              <a:rPr lang="ru-RU" sz="1800" dirty="0">
                <a:latin typeface="Arial" panose="020B0604020202020204" pitchFamily="34" charset="0"/>
                <a:ea typeface="+mn-ea"/>
                <a:cs typeface="Arial" panose="020B0604020202020204" pitchFamily="34" charset="0"/>
              </a:rPr>
              <a:t>Живут в квартире</a:t>
            </a:r>
            <a:endParaRPr lang="ru-KZ" sz="1800" dirty="0">
              <a:latin typeface="Arial" panose="020B0604020202020204" pitchFamily="34" charset="0"/>
              <a:ea typeface="+mn-ea"/>
              <a:cs typeface="Arial" panose="020B0604020202020204" pitchFamily="34" charset="0"/>
            </a:endParaRPr>
          </a:p>
        </p:txBody>
      </p:sp>
      <p:sp>
        <p:nvSpPr>
          <p:cNvPr id="17" name="Заголовок 1">
            <a:extLst>
              <a:ext uri="{FF2B5EF4-FFF2-40B4-BE49-F238E27FC236}">
                <a16:creationId xmlns:a16="http://schemas.microsoft.com/office/drawing/2014/main" id="{1CAC6C95-3688-4417-9282-6C96CF4BCBDC}"/>
              </a:ext>
            </a:extLst>
          </p:cNvPr>
          <p:cNvSpPr txBox="1">
            <a:spLocks/>
          </p:cNvSpPr>
          <p:nvPr/>
        </p:nvSpPr>
        <p:spPr>
          <a:xfrm>
            <a:off x="5094203" y="1304854"/>
            <a:ext cx="4131504"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2500"/>
              </a:lnSpc>
            </a:pPr>
            <a:r>
              <a:rPr lang="ru-RU" sz="1800" dirty="0">
                <a:solidFill>
                  <a:schemeClr val="bg1"/>
                </a:solidFill>
                <a:latin typeface="Arial" panose="020B0604020202020204" pitchFamily="34" charset="0"/>
                <a:ea typeface="+mn-ea"/>
                <a:cs typeface="Arial" panose="020B0604020202020204" pitchFamily="34" charset="0"/>
              </a:rPr>
              <a:t>Живут в частном доме</a:t>
            </a:r>
            <a:endParaRPr lang="ru-KZ" sz="1800" dirty="0">
              <a:solidFill>
                <a:schemeClr val="bg1"/>
              </a:solidFill>
              <a:latin typeface="Arial" panose="020B0604020202020204" pitchFamily="34" charset="0"/>
              <a:ea typeface="+mn-ea"/>
              <a:cs typeface="Arial" panose="020B0604020202020204" pitchFamily="34" charset="0"/>
            </a:endParaRPr>
          </a:p>
        </p:txBody>
      </p:sp>
      <p:sp>
        <p:nvSpPr>
          <p:cNvPr id="19" name="TextBox 18">
            <a:extLst>
              <a:ext uri="{FF2B5EF4-FFF2-40B4-BE49-F238E27FC236}">
                <a16:creationId xmlns:a16="http://schemas.microsoft.com/office/drawing/2014/main" id="{2D34E20B-632D-43D4-9ABC-756A02F7B786}"/>
              </a:ext>
            </a:extLst>
          </p:cNvPr>
          <p:cNvSpPr txBox="1"/>
          <p:nvPr/>
        </p:nvSpPr>
        <p:spPr>
          <a:xfrm>
            <a:off x="5094203" y="2003651"/>
            <a:ext cx="4506997" cy="4524315"/>
          </a:xfrm>
          <a:prstGeom prst="rect">
            <a:avLst/>
          </a:prstGeom>
          <a:noFill/>
        </p:spPr>
        <p:txBody>
          <a:bodyPr wrap="square">
            <a:spAutoFit/>
          </a:bodyPr>
          <a:lstStyle/>
          <a:p>
            <a:r>
              <a:rPr lang="ru-RU" sz="1200" i="1" dirty="0">
                <a:solidFill>
                  <a:schemeClr val="bg1"/>
                </a:solidFill>
                <a:latin typeface="Arial" panose="020B0604020202020204" pitchFamily="34" charset="0"/>
                <a:cs typeface="Arial" panose="020B0604020202020204" pitchFamily="34" charset="0"/>
              </a:rPr>
              <a:t>«Потому что живем на границе с Россией, нет условий и воды, хотелось, чтоб заставу построили для улучшения жизни» </a:t>
            </a:r>
            <a:r>
              <a:rPr lang="ru-RU" sz="1200" b="1" i="1" dirty="0">
                <a:solidFill>
                  <a:schemeClr val="bg1"/>
                </a:solidFill>
                <a:latin typeface="Arial" panose="020B0604020202020204" pitchFamily="34" charset="0"/>
                <a:cs typeface="Arial" panose="020B0604020202020204" pitchFamily="34" charset="0"/>
              </a:rPr>
              <a:t>Женщина, 24 года, Костанайская область</a:t>
            </a:r>
          </a:p>
          <a:p>
            <a:endParaRPr lang="ru-RU" sz="1200" i="1" dirty="0">
              <a:solidFill>
                <a:schemeClr val="bg1"/>
              </a:solidFill>
              <a:latin typeface="Arial" panose="020B0604020202020204" pitchFamily="34" charset="0"/>
              <a:cs typeface="Arial" panose="020B0604020202020204" pitchFamily="34" charset="0"/>
            </a:endParaRPr>
          </a:p>
          <a:p>
            <a:r>
              <a:rPr lang="ru-RU" sz="1200" i="1" dirty="0">
                <a:solidFill>
                  <a:schemeClr val="bg1"/>
                </a:solidFill>
                <a:latin typeface="Arial" panose="020B0604020202020204" pitchFamily="34" charset="0"/>
                <a:cs typeface="Arial" panose="020B0604020202020204" pitchFamily="34" charset="0"/>
              </a:rPr>
              <a:t>«Надо иметь свой дом. Чтобы купить каждый день стоимость растет, не хватает заработной платы, у меня трое детей, если бы я жила в своей квартире было бы лучше» </a:t>
            </a:r>
            <a:r>
              <a:rPr lang="ru-RU" sz="1200" b="1" i="1" dirty="0">
                <a:solidFill>
                  <a:schemeClr val="bg1"/>
                </a:solidFill>
                <a:latin typeface="Arial" panose="020B0604020202020204" pitchFamily="34" charset="0"/>
                <a:cs typeface="Arial" panose="020B0604020202020204" pitchFamily="34" charset="0"/>
              </a:rPr>
              <a:t>Женщина, 38 лет, Восточно-Казахстанская область</a:t>
            </a:r>
          </a:p>
          <a:p>
            <a:endParaRPr lang="ru-RU" sz="1200" i="1" dirty="0">
              <a:solidFill>
                <a:schemeClr val="bg1"/>
              </a:solidFill>
              <a:latin typeface="Arial" panose="020B0604020202020204" pitchFamily="34" charset="0"/>
              <a:cs typeface="Arial" panose="020B0604020202020204" pitchFamily="34" charset="0"/>
            </a:endParaRPr>
          </a:p>
          <a:p>
            <a:r>
              <a:rPr lang="ru-RU" sz="1200" i="1" dirty="0">
                <a:solidFill>
                  <a:schemeClr val="bg1"/>
                </a:solidFill>
                <a:latin typeface="Arial" panose="020B0604020202020204" pitchFamily="34" charset="0"/>
                <a:cs typeface="Arial" panose="020B0604020202020204" pitchFamily="34" charset="0"/>
              </a:rPr>
              <a:t>«Ауылда тұруға ешқандай жағдай жасалмаған. Свет, газ, жол жоқ. » </a:t>
            </a:r>
            <a:r>
              <a:rPr lang="ru-RU" sz="1200" b="1" i="1" dirty="0">
                <a:solidFill>
                  <a:schemeClr val="bg1"/>
                </a:solidFill>
                <a:latin typeface="Arial" panose="020B0604020202020204" pitchFamily="34" charset="0"/>
                <a:cs typeface="Arial" panose="020B0604020202020204" pitchFamily="34" charset="0"/>
              </a:rPr>
              <a:t>Женщина, 42 года, Жетысуйская область</a:t>
            </a:r>
          </a:p>
          <a:p>
            <a:endParaRPr lang="ru-RU" sz="1200" i="1" dirty="0">
              <a:solidFill>
                <a:schemeClr val="bg1"/>
              </a:solidFill>
              <a:latin typeface="Arial" panose="020B0604020202020204" pitchFamily="34" charset="0"/>
              <a:cs typeface="Arial" panose="020B0604020202020204" pitchFamily="34" charset="0"/>
            </a:endParaRPr>
          </a:p>
          <a:p>
            <a:r>
              <a:rPr lang="ru-RU" sz="1200" i="1" dirty="0">
                <a:solidFill>
                  <a:schemeClr val="bg1"/>
                </a:solidFill>
                <a:latin typeface="Arial" panose="020B0604020202020204" pitchFamily="34" charset="0"/>
                <a:cs typeface="Arial" panose="020B0604020202020204" pitchFamily="34" charset="0"/>
              </a:rPr>
              <a:t>«Ремонт жасауға материалдар қымбат, пенсияға жасай алмайсын, ақша ештенеге жетпейді отынға, киімге» </a:t>
            </a:r>
            <a:r>
              <a:rPr lang="ru-RU" sz="1200" b="1" i="1" dirty="0">
                <a:solidFill>
                  <a:schemeClr val="bg1"/>
                </a:solidFill>
                <a:latin typeface="Arial" panose="020B0604020202020204" pitchFamily="34" charset="0"/>
                <a:cs typeface="Arial" panose="020B0604020202020204" pitchFamily="34" charset="0"/>
              </a:rPr>
              <a:t>Мужчина, 63 года, Туркестанская область</a:t>
            </a:r>
          </a:p>
          <a:p>
            <a:endParaRPr lang="ru-RU" sz="1200" i="1" dirty="0">
              <a:solidFill>
                <a:schemeClr val="bg1"/>
              </a:solidFill>
              <a:latin typeface="Arial" panose="020B0604020202020204" pitchFamily="34" charset="0"/>
              <a:cs typeface="Arial" panose="020B0604020202020204" pitchFamily="34" charset="0"/>
            </a:endParaRPr>
          </a:p>
          <a:p>
            <a:r>
              <a:rPr lang="ru-RU" sz="1200" i="1" dirty="0">
                <a:solidFill>
                  <a:schemeClr val="bg1"/>
                </a:solidFill>
                <a:latin typeface="Arial" panose="020B0604020202020204" pitchFamily="34" charset="0"/>
                <a:cs typeface="Arial" panose="020B0604020202020204" pitchFamily="34" charset="0"/>
              </a:rPr>
              <a:t>«Дом топится углем, дрова, ванны и туалета в доме нет, приходится ходить на улицу» </a:t>
            </a:r>
            <a:r>
              <a:rPr lang="ru-RU" sz="1200" b="1" i="1" dirty="0">
                <a:solidFill>
                  <a:schemeClr val="bg1"/>
                </a:solidFill>
                <a:latin typeface="Arial" panose="020B0604020202020204" pitchFamily="34" charset="0"/>
                <a:cs typeface="Arial" panose="020B0604020202020204" pitchFamily="34" charset="0"/>
              </a:rPr>
              <a:t>Женщина, 53 года, Акмолинская область</a:t>
            </a:r>
          </a:p>
          <a:p>
            <a:endParaRPr lang="ru-RU" sz="1200" b="1" i="1" dirty="0">
              <a:solidFill>
                <a:schemeClr val="bg1"/>
              </a:solidFill>
              <a:latin typeface="Arial" panose="020B0604020202020204" pitchFamily="34" charset="0"/>
              <a:cs typeface="Arial" panose="020B0604020202020204" pitchFamily="34" charset="0"/>
            </a:endParaRPr>
          </a:p>
          <a:p>
            <a:r>
              <a:rPr lang="ru-RU" sz="1200" i="1" dirty="0">
                <a:solidFill>
                  <a:schemeClr val="bg1"/>
                </a:solidFill>
                <a:latin typeface="Arial" panose="020B0604020202020204" pitchFamily="34" charset="0"/>
                <a:cs typeface="Arial" panose="020B0604020202020204" pitchFamily="34" charset="0"/>
              </a:rPr>
              <a:t>«Вода как бы должна быть, но проблема с водой, дождевой водой стираю собираючи ее, проблема с дорогами» </a:t>
            </a:r>
            <a:r>
              <a:rPr lang="ru-RU" sz="1200" b="1" i="1" dirty="0">
                <a:solidFill>
                  <a:schemeClr val="bg1"/>
                </a:solidFill>
                <a:latin typeface="Arial" panose="020B0604020202020204" pitchFamily="34" charset="0"/>
                <a:cs typeface="Arial" panose="020B0604020202020204" pitchFamily="34" charset="0"/>
              </a:rPr>
              <a:t>Мужчина, 50 лет, Северо-Казахстанская область</a:t>
            </a:r>
          </a:p>
        </p:txBody>
      </p:sp>
    </p:spTree>
    <p:extLst>
      <p:ext uri="{BB962C8B-B14F-4D97-AF65-F5344CB8AC3E}">
        <p14:creationId xmlns:p14="http://schemas.microsoft.com/office/powerpoint/2010/main" val="3878706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Прямоугольник 15">
            <a:extLst>
              <a:ext uri="{FF2B5EF4-FFF2-40B4-BE49-F238E27FC236}">
                <a16:creationId xmlns:a16="http://schemas.microsoft.com/office/drawing/2014/main" id="{E0027092-A459-44AA-AFBC-7CB653E13900}"/>
              </a:ext>
            </a:extLst>
          </p:cNvPr>
          <p:cNvSpPr/>
          <p:nvPr/>
        </p:nvSpPr>
        <p:spPr>
          <a:xfrm>
            <a:off x="4953001" y="-5163"/>
            <a:ext cx="4953000" cy="6858000"/>
          </a:xfrm>
          <a:prstGeom prst="rect">
            <a:avLst/>
          </a:prstGeom>
          <a:solidFill>
            <a:srgbClr val="2B546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5" name="Заголовок 1">
            <a:extLst>
              <a:ext uri="{FF2B5EF4-FFF2-40B4-BE49-F238E27FC236}">
                <a16:creationId xmlns:a16="http://schemas.microsoft.com/office/drawing/2014/main" id="{D5F66BA9-4310-434F-BC2F-067B1C838129}"/>
              </a:ext>
            </a:extLst>
          </p:cNvPr>
          <p:cNvSpPr txBox="1">
            <a:spLocks/>
          </p:cNvSpPr>
          <p:nvPr/>
        </p:nvSpPr>
        <p:spPr>
          <a:xfrm>
            <a:off x="258016" y="306581"/>
            <a:ext cx="4875573" cy="1180807"/>
          </a:xfrm>
          <a:prstGeom prst="rect">
            <a:avLst/>
          </a:prstGeom>
        </p:spPr>
        <p:txBody>
          <a:bodyPr vert="horz" lIns="74295" tIns="37148" rIns="74295" bIns="37148"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3000"/>
              </a:lnSpc>
            </a:pPr>
            <a:r>
              <a:rPr lang="ru-RU" sz="3200" b="1" dirty="0">
                <a:latin typeface="Arial" panose="020B0604020202020204" pitchFamily="34" charset="0"/>
                <a:ea typeface="+mn-ea"/>
                <a:cs typeface="Arial" panose="020B0604020202020204" pitchFamily="34" charset="0"/>
              </a:rPr>
              <a:t>Жилье, где вы сейчас постоянно проживаете</a:t>
            </a:r>
          </a:p>
        </p:txBody>
      </p:sp>
      <p:graphicFrame>
        <p:nvGraphicFramePr>
          <p:cNvPr id="39" name="Диаграмма 38">
            <a:extLst>
              <a:ext uri="{FF2B5EF4-FFF2-40B4-BE49-F238E27FC236}">
                <a16:creationId xmlns:a16="http://schemas.microsoft.com/office/drawing/2014/main" id="{ED15BE08-6C9F-4143-ADDF-A1779920CD56}"/>
              </a:ext>
            </a:extLst>
          </p:cNvPr>
          <p:cNvGraphicFramePr/>
          <p:nvPr>
            <p:extLst>
              <p:ext uri="{D42A27DB-BD31-4B8C-83A1-F6EECF244321}">
                <p14:modId xmlns:p14="http://schemas.microsoft.com/office/powerpoint/2010/main" val="3447021112"/>
              </p:ext>
            </p:extLst>
          </p:nvPr>
        </p:nvGraphicFramePr>
        <p:xfrm>
          <a:off x="568303" y="1556494"/>
          <a:ext cx="4173036" cy="2871981"/>
        </p:xfrm>
        <a:graphic>
          <a:graphicData uri="http://schemas.openxmlformats.org/drawingml/2006/chart">
            <c:chart xmlns:c="http://schemas.openxmlformats.org/drawingml/2006/chart" xmlns:r="http://schemas.openxmlformats.org/officeDocument/2006/relationships" r:id="rId2"/>
          </a:graphicData>
        </a:graphic>
      </p:graphicFrame>
      <p:grpSp>
        <p:nvGrpSpPr>
          <p:cNvPr id="46" name="Группа 45">
            <a:extLst>
              <a:ext uri="{FF2B5EF4-FFF2-40B4-BE49-F238E27FC236}">
                <a16:creationId xmlns:a16="http://schemas.microsoft.com/office/drawing/2014/main" id="{CE86DEC7-E59C-416E-AF53-A5B84AF7A51B}"/>
              </a:ext>
            </a:extLst>
          </p:cNvPr>
          <p:cNvGrpSpPr/>
          <p:nvPr/>
        </p:nvGrpSpPr>
        <p:grpSpPr>
          <a:xfrm flipH="1">
            <a:off x="8879980" y="3618312"/>
            <a:ext cx="740744" cy="2544364"/>
            <a:chOff x="528086" y="2200643"/>
            <a:chExt cx="725907" cy="2360604"/>
          </a:xfrm>
        </p:grpSpPr>
        <p:cxnSp>
          <p:nvCxnSpPr>
            <p:cNvPr id="51" name="Прямая соединительная линия 50">
              <a:extLst>
                <a:ext uri="{FF2B5EF4-FFF2-40B4-BE49-F238E27FC236}">
                  <a16:creationId xmlns:a16="http://schemas.microsoft.com/office/drawing/2014/main" id="{4A27FB2B-DEA6-42B8-8E66-EEF65AD97D23}"/>
                </a:ext>
              </a:extLst>
            </p:cNvPr>
            <p:cNvCxnSpPr>
              <a:cxnSpLocks/>
            </p:cNvCxnSpPr>
            <p:nvPr/>
          </p:nvCxnSpPr>
          <p:spPr>
            <a:xfrm>
              <a:off x="542259" y="2200643"/>
              <a:ext cx="0" cy="2360604"/>
            </a:xfrm>
            <a:prstGeom prst="line">
              <a:avLst/>
            </a:prstGeom>
            <a:ln w="19050">
              <a:solidFill>
                <a:srgbClr val="2B546B"/>
              </a:solidFill>
              <a:prstDash val="sysDot"/>
            </a:ln>
          </p:spPr>
          <p:style>
            <a:lnRef idx="1">
              <a:schemeClr val="accent1"/>
            </a:lnRef>
            <a:fillRef idx="0">
              <a:schemeClr val="accent1"/>
            </a:fillRef>
            <a:effectRef idx="0">
              <a:schemeClr val="accent1"/>
            </a:effectRef>
            <a:fontRef idx="minor">
              <a:schemeClr val="tx1"/>
            </a:fontRef>
          </p:style>
        </p:cxnSp>
        <p:cxnSp>
          <p:nvCxnSpPr>
            <p:cNvPr id="52" name="Прямая соединительная линия 51">
              <a:extLst>
                <a:ext uri="{FF2B5EF4-FFF2-40B4-BE49-F238E27FC236}">
                  <a16:creationId xmlns:a16="http://schemas.microsoft.com/office/drawing/2014/main" id="{829CF90F-ECAE-4BAC-BBF9-1BC091F056E2}"/>
                </a:ext>
              </a:extLst>
            </p:cNvPr>
            <p:cNvCxnSpPr>
              <a:cxnSpLocks/>
            </p:cNvCxnSpPr>
            <p:nvPr/>
          </p:nvCxnSpPr>
          <p:spPr>
            <a:xfrm flipH="1">
              <a:off x="528086" y="2210655"/>
              <a:ext cx="725907" cy="0"/>
            </a:xfrm>
            <a:prstGeom prst="line">
              <a:avLst/>
            </a:prstGeom>
            <a:ln w="19050">
              <a:solidFill>
                <a:srgbClr val="2B546B"/>
              </a:solidFill>
              <a:prstDash val="sysDot"/>
            </a:ln>
          </p:spPr>
          <p:style>
            <a:lnRef idx="1">
              <a:schemeClr val="accent1"/>
            </a:lnRef>
            <a:fillRef idx="0">
              <a:schemeClr val="accent1"/>
            </a:fillRef>
            <a:effectRef idx="0">
              <a:schemeClr val="accent1"/>
            </a:effectRef>
            <a:fontRef idx="minor">
              <a:schemeClr val="tx1"/>
            </a:fontRef>
          </p:style>
        </p:cxnSp>
        <p:cxnSp>
          <p:nvCxnSpPr>
            <p:cNvPr id="53" name="Прямая со стрелкой 52">
              <a:extLst>
                <a:ext uri="{FF2B5EF4-FFF2-40B4-BE49-F238E27FC236}">
                  <a16:creationId xmlns:a16="http://schemas.microsoft.com/office/drawing/2014/main" id="{44E2BDB4-0766-425D-B415-7E993EC4C22E}"/>
                </a:ext>
              </a:extLst>
            </p:cNvPr>
            <p:cNvCxnSpPr>
              <a:cxnSpLocks/>
            </p:cNvCxnSpPr>
            <p:nvPr/>
          </p:nvCxnSpPr>
          <p:spPr>
            <a:xfrm>
              <a:off x="534496" y="4554024"/>
              <a:ext cx="657533" cy="0"/>
            </a:xfrm>
            <a:prstGeom prst="straightConnector1">
              <a:avLst/>
            </a:prstGeom>
            <a:ln w="19050">
              <a:solidFill>
                <a:srgbClr val="2B546B"/>
              </a:solidFill>
              <a:prstDash val="sysDot"/>
              <a:tailEnd type="triangle"/>
            </a:ln>
          </p:spPr>
          <p:style>
            <a:lnRef idx="1">
              <a:schemeClr val="accent1"/>
            </a:lnRef>
            <a:fillRef idx="0">
              <a:schemeClr val="accent1"/>
            </a:fillRef>
            <a:effectRef idx="0">
              <a:schemeClr val="accent1"/>
            </a:effectRef>
            <a:fontRef idx="minor">
              <a:schemeClr val="tx1"/>
            </a:fontRef>
          </p:style>
        </p:cxnSp>
      </p:grpSp>
      <p:sp>
        <p:nvSpPr>
          <p:cNvPr id="56" name="Заголовок 1">
            <a:extLst>
              <a:ext uri="{FF2B5EF4-FFF2-40B4-BE49-F238E27FC236}">
                <a16:creationId xmlns:a16="http://schemas.microsoft.com/office/drawing/2014/main" id="{3A314F09-C6D9-49B3-8F72-C4B248605C02}"/>
              </a:ext>
            </a:extLst>
          </p:cNvPr>
          <p:cNvSpPr txBox="1">
            <a:spLocks/>
          </p:cNvSpPr>
          <p:nvPr/>
        </p:nvSpPr>
        <p:spPr>
          <a:xfrm>
            <a:off x="5105730" y="94788"/>
            <a:ext cx="4448869" cy="1180807"/>
          </a:xfrm>
          <a:prstGeom prst="rect">
            <a:avLst/>
          </a:prstGeom>
        </p:spPr>
        <p:txBody>
          <a:bodyPr vert="horz" lIns="74295" tIns="37148" rIns="74295" bIns="37148"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80340" marR="107315">
              <a:spcBef>
                <a:spcPts val="5"/>
              </a:spcBef>
              <a:spcAft>
                <a:spcPts val="0"/>
              </a:spcAft>
              <a:tabLst>
                <a:tab pos="270510" algn="l"/>
              </a:tabLst>
            </a:pPr>
            <a:r>
              <a:rPr lang="kk-KZ" sz="2800" b="1" dirty="0">
                <a:solidFill>
                  <a:schemeClr val="bg1"/>
                </a:solidFill>
                <a:latin typeface="Arial" panose="020B0604020202020204" pitchFamily="34" charset="0"/>
                <a:ea typeface="+mn-ea"/>
                <a:cs typeface="Arial" panose="020B0604020202020204" pitchFamily="34" charset="0"/>
              </a:rPr>
              <a:t>Что Вы снимаете</a:t>
            </a:r>
            <a:r>
              <a:rPr lang="ru-RU" sz="2800" b="1" dirty="0">
                <a:solidFill>
                  <a:schemeClr val="bg1"/>
                </a:solidFill>
                <a:latin typeface="Arial" panose="020B0604020202020204" pitchFamily="34" charset="0"/>
                <a:ea typeface="+mn-ea"/>
                <a:cs typeface="Arial" panose="020B0604020202020204" pitchFamily="34" charset="0"/>
              </a:rPr>
              <a:t>?</a:t>
            </a:r>
          </a:p>
        </p:txBody>
      </p:sp>
      <p:graphicFrame>
        <p:nvGraphicFramePr>
          <p:cNvPr id="57" name="Диаграмма 56">
            <a:extLst>
              <a:ext uri="{FF2B5EF4-FFF2-40B4-BE49-F238E27FC236}">
                <a16:creationId xmlns:a16="http://schemas.microsoft.com/office/drawing/2014/main" id="{9FD6C3BF-236C-40E9-B5D7-8FEEE51B275B}"/>
              </a:ext>
            </a:extLst>
          </p:cNvPr>
          <p:cNvGraphicFramePr/>
          <p:nvPr>
            <p:extLst>
              <p:ext uri="{D42A27DB-BD31-4B8C-83A1-F6EECF244321}">
                <p14:modId xmlns:p14="http://schemas.microsoft.com/office/powerpoint/2010/main" val="1608013329"/>
              </p:ext>
            </p:extLst>
          </p:nvPr>
        </p:nvGraphicFramePr>
        <p:xfrm>
          <a:off x="5052364" y="1341479"/>
          <a:ext cx="4454534" cy="2828633"/>
        </p:xfrm>
        <a:graphic>
          <a:graphicData uri="http://schemas.openxmlformats.org/drawingml/2006/chart">
            <c:chart xmlns:c="http://schemas.openxmlformats.org/drawingml/2006/chart" xmlns:r="http://schemas.openxmlformats.org/officeDocument/2006/relationships" r:id="rId3"/>
          </a:graphicData>
        </a:graphic>
      </p:graphicFrame>
      <p:grpSp>
        <p:nvGrpSpPr>
          <p:cNvPr id="12" name="Группа 11">
            <a:extLst>
              <a:ext uri="{FF2B5EF4-FFF2-40B4-BE49-F238E27FC236}">
                <a16:creationId xmlns:a16="http://schemas.microsoft.com/office/drawing/2014/main" id="{AD9044FA-2630-4FCF-A718-0345D80B80D8}"/>
              </a:ext>
            </a:extLst>
          </p:cNvPr>
          <p:cNvGrpSpPr/>
          <p:nvPr/>
        </p:nvGrpSpPr>
        <p:grpSpPr>
          <a:xfrm flipH="1">
            <a:off x="3352800" y="2600325"/>
            <a:ext cx="1314924" cy="2606675"/>
            <a:chOff x="528086" y="2200643"/>
            <a:chExt cx="1615187" cy="2360604"/>
          </a:xfrm>
        </p:grpSpPr>
        <p:cxnSp>
          <p:nvCxnSpPr>
            <p:cNvPr id="13" name="Прямая соединительная линия 12">
              <a:extLst>
                <a:ext uri="{FF2B5EF4-FFF2-40B4-BE49-F238E27FC236}">
                  <a16:creationId xmlns:a16="http://schemas.microsoft.com/office/drawing/2014/main" id="{A74676DD-611D-4BE8-A234-5CB8AFF6A1CC}"/>
                </a:ext>
              </a:extLst>
            </p:cNvPr>
            <p:cNvCxnSpPr>
              <a:cxnSpLocks/>
            </p:cNvCxnSpPr>
            <p:nvPr/>
          </p:nvCxnSpPr>
          <p:spPr>
            <a:xfrm>
              <a:off x="542259" y="2200643"/>
              <a:ext cx="0" cy="2360604"/>
            </a:xfrm>
            <a:prstGeom prst="line">
              <a:avLst/>
            </a:prstGeom>
            <a:ln w="19050">
              <a:solidFill>
                <a:srgbClr val="2B546B"/>
              </a:solidFill>
              <a:prstDash val="sysDot"/>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B1A7E8EF-A28B-4D5E-8A87-41580DCD70EB}"/>
                </a:ext>
              </a:extLst>
            </p:cNvPr>
            <p:cNvCxnSpPr>
              <a:cxnSpLocks/>
            </p:cNvCxnSpPr>
            <p:nvPr/>
          </p:nvCxnSpPr>
          <p:spPr>
            <a:xfrm flipH="1">
              <a:off x="528086" y="2210655"/>
              <a:ext cx="1615187" cy="0"/>
            </a:xfrm>
            <a:prstGeom prst="line">
              <a:avLst/>
            </a:prstGeom>
            <a:ln w="19050">
              <a:solidFill>
                <a:srgbClr val="2B546B"/>
              </a:solidFill>
              <a:prstDash val="sysDot"/>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a:extLst>
                <a:ext uri="{FF2B5EF4-FFF2-40B4-BE49-F238E27FC236}">
                  <a16:creationId xmlns:a16="http://schemas.microsoft.com/office/drawing/2014/main" id="{543ACEDC-4E98-48ED-96DC-F6E537762610}"/>
                </a:ext>
              </a:extLst>
            </p:cNvPr>
            <p:cNvCxnSpPr>
              <a:cxnSpLocks/>
            </p:cNvCxnSpPr>
            <p:nvPr/>
          </p:nvCxnSpPr>
          <p:spPr>
            <a:xfrm>
              <a:off x="534496" y="4554024"/>
              <a:ext cx="657533" cy="0"/>
            </a:xfrm>
            <a:prstGeom prst="straightConnector1">
              <a:avLst/>
            </a:prstGeom>
            <a:ln w="19050">
              <a:solidFill>
                <a:srgbClr val="2B546B"/>
              </a:solidFill>
              <a:prstDash val="sysDot"/>
              <a:tailEnd type="triangle"/>
            </a:ln>
          </p:spPr>
          <p:style>
            <a:lnRef idx="1">
              <a:schemeClr val="accent1"/>
            </a:lnRef>
            <a:fillRef idx="0">
              <a:schemeClr val="accent1"/>
            </a:fillRef>
            <a:effectRef idx="0">
              <a:schemeClr val="accent1"/>
            </a:effectRef>
            <a:fontRef idx="minor">
              <a:schemeClr val="tx1"/>
            </a:fontRef>
          </p:style>
        </p:cxnSp>
      </p:grpSp>
      <p:sp>
        <p:nvSpPr>
          <p:cNvPr id="18" name="TextBox 17">
            <a:extLst>
              <a:ext uri="{FF2B5EF4-FFF2-40B4-BE49-F238E27FC236}">
                <a16:creationId xmlns:a16="http://schemas.microsoft.com/office/drawing/2014/main" id="{740BF0F2-3D43-49A8-908B-6C72EC234240}"/>
              </a:ext>
            </a:extLst>
          </p:cNvPr>
          <p:cNvSpPr txBox="1"/>
          <p:nvPr/>
        </p:nvSpPr>
        <p:spPr>
          <a:xfrm>
            <a:off x="568303" y="4411830"/>
            <a:ext cx="3598915" cy="523220"/>
          </a:xfrm>
          <a:prstGeom prst="rect">
            <a:avLst/>
          </a:prstGeom>
          <a:noFill/>
        </p:spPr>
        <p:txBody>
          <a:bodyPr wrap="square" rtlCol="0">
            <a:spAutoFit/>
          </a:bodyPr>
          <a:lstStyle/>
          <a:p>
            <a:r>
              <a:rPr lang="ru-RU" sz="1400" b="1" dirty="0">
                <a:latin typeface="Arial" panose="020B0604020202020204" pitchFamily="34" charset="0"/>
                <a:cs typeface="Arial" panose="020B0604020202020204" pitchFamily="34" charset="0"/>
              </a:rPr>
              <a:t>В каких социально-демографических группах выше?</a:t>
            </a:r>
            <a:endParaRPr lang="en-US" sz="1400" b="1" dirty="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F634D997-CD80-46E7-ADB1-331BB2FDBA52}"/>
              </a:ext>
            </a:extLst>
          </p:cNvPr>
          <p:cNvSpPr txBox="1"/>
          <p:nvPr/>
        </p:nvSpPr>
        <p:spPr>
          <a:xfrm>
            <a:off x="560383" y="4865598"/>
            <a:ext cx="3598914" cy="954107"/>
          </a:xfrm>
          <a:prstGeom prst="rect">
            <a:avLst/>
          </a:prstGeom>
          <a:noFill/>
        </p:spPr>
        <p:txBody>
          <a:bodyPr wrap="square" rtlCol="0">
            <a:spAutoFit/>
          </a:bodyPr>
          <a:lstStyle/>
          <a:p>
            <a:r>
              <a:rPr lang="ru-RU" sz="1400" dirty="0">
                <a:latin typeface="Arial" panose="020B0604020202020204" pitchFamily="34" charset="0"/>
                <a:cs typeface="Arial" panose="020B0604020202020204" pitchFamily="34" charset="0"/>
              </a:rPr>
              <a:t>25-34 года, городские жители, начальное и ниже образование, казахоязычные казахи, живущие одни, очень бедные, жители Астаны, Алматы</a:t>
            </a:r>
          </a:p>
        </p:txBody>
      </p:sp>
      <p:grpSp>
        <p:nvGrpSpPr>
          <p:cNvPr id="20" name="Группа 19">
            <a:extLst>
              <a:ext uri="{FF2B5EF4-FFF2-40B4-BE49-F238E27FC236}">
                <a16:creationId xmlns:a16="http://schemas.microsoft.com/office/drawing/2014/main" id="{F88EB9A6-E5FC-42D5-99CD-2FE6BAE24AFF}"/>
              </a:ext>
            </a:extLst>
          </p:cNvPr>
          <p:cNvGrpSpPr/>
          <p:nvPr/>
        </p:nvGrpSpPr>
        <p:grpSpPr>
          <a:xfrm>
            <a:off x="399103" y="3346643"/>
            <a:ext cx="272868" cy="2808248"/>
            <a:chOff x="528086" y="2200643"/>
            <a:chExt cx="335177" cy="2360604"/>
          </a:xfrm>
        </p:grpSpPr>
        <p:cxnSp>
          <p:nvCxnSpPr>
            <p:cNvPr id="21" name="Прямая соединительная линия 20">
              <a:extLst>
                <a:ext uri="{FF2B5EF4-FFF2-40B4-BE49-F238E27FC236}">
                  <a16:creationId xmlns:a16="http://schemas.microsoft.com/office/drawing/2014/main" id="{16FD4716-8251-40DA-A6FD-85653BE487B5}"/>
                </a:ext>
              </a:extLst>
            </p:cNvPr>
            <p:cNvCxnSpPr>
              <a:cxnSpLocks/>
            </p:cNvCxnSpPr>
            <p:nvPr/>
          </p:nvCxnSpPr>
          <p:spPr>
            <a:xfrm>
              <a:off x="542259" y="2200643"/>
              <a:ext cx="0" cy="2360604"/>
            </a:xfrm>
            <a:prstGeom prst="line">
              <a:avLst/>
            </a:prstGeom>
            <a:ln w="19050">
              <a:solidFill>
                <a:srgbClr val="2B546B"/>
              </a:solidFill>
              <a:prstDash val="sysDot"/>
            </a:ln>
          </p:spPr>
          <p:style>
            <a:lnRef idx="1">
              <a:schemeClr val="accent1"/>
            </a:lnRef>
            <a:fillRef idx="0">
              <a:schemeClr val="accent1"/>
            </a:fillRef>
            <a:effectRef idx="0">
              <a:schemeClr val="accent1"/>
            </a:effectRef>
            <a:fontRef idx="minor">
              <a:schemeClr val="tx1"/>
            </a:fontRef>
          </p:style>
        </p:cxnSp>
        <p:cxnSp>
          <p:nvCxnSpPr>
            <p:cNvPr id="22" name="Прямая соединительная линия 21">
              <a:extLst>
                <a:ext uri="{FF2B5EF4-FFF2-40B4-BE49-F238E27FC236}">
                  <a16:creationId xmlns:a16="http://schemas.microsoft.com/office/drawing/2014/main" id="{F0422589-24BC-46E3-A28F-C9481399F2E3}"/>
                </a:ext>
              </a:extLst>
            </p:cNvPr>
            <p:cNvCxnSpPr>
              <a:cxnSpLocks/>
            </p:cNvCxnSpPr>
            <p:nvPr/>
          </p:nvCxnSpPr>
          <p:spPr>
            <a:xfrm flipH="1">
              <a:off x="528086" y="2210655"/>
              <a:ext cx="335176" cy="0"/>
            </a:xfrm>
            <a:prstGeom prst="line">
              <a:avLst/>
            </a:prstGeom>
            <a:ln w="19050">
              <a:solidFill>
                <a:srgbClr val="2B546B"/>
              </a:solidFill>
              <a:prstDash val="sysDot"/>
            </a:ln>
          </p:spPr>
          <p:style>
            <a:lnRef idx="1">
              <a:schemeClr val="accent1"/>
            </a:lnRef>
            <a:fillRef idx="0">
              <a:schemeClr val="accent1"/>
            </a:fillRef>
            <a:effectRef idx="0">
              <a:schemeClr val="accent1"/>
            </a:effectRef>
            <a:fontRef idx="minor">
              <a:schemeClr val="tx1"/>
            </a:fontRef>
          </p:style>
        </p:cxnSp>
        <p:cxnSp>
          <p:nvCxnSpPr>
            <p:cNvPr id="23" name="Прямая со стрелкой 22">
              <a:extLst>
                <a:ext uri="{FF2B5EF4-FFF2-40B4-BE49-F238E27FC236}">
                  <a16:creationId xmlns:a16="http://schemas.microsoft.com/office/drawing/2014/main" id="{FF02B405-E760-49FD-B8D3-E49142FD0C0F}"/>
                </a:ext>
              </a:extLst>
            </p:cNvPr>
            <p:cNvCxnSpPr>
              <a:cxnSpLocks/>
            </p:cNvCxnSpPr>
            <p:nvPr/>
          </p:nvCxnSpPr>
          <p:spPr>
            <a:xfrm>
              <a:off x="534496" y="4554024"/>
              <a:ext cx="328767" cy="0"/>
            </a:xfrm>
            <a:prstGeom prst="straightConnector1">
              <a:avLst/>
            </a:prstGeom>
            <a:ln w="19050">
              <a:solidFill>
                <a:srgbClr val="2B546B"/>
              </a:solidFill>
              <a:prstDash val="sysDot"/>
              <a:tailEnd type="triangle"/>
            </a:ln>
          </p:spPr>
          <p:style>
            <a:lnRef idx="1">
              <a:schemeClr val="accent1"/>
            </a:lnRef>
            <a:fillRef idx="0">
              <a:schemeClr val="accent1"/>
            </a:fillRef>
            <a:effectRef idx="0">
              <a:schemeClr val="accent1"/>
            </a:effectRef>
            <a:fontRef idx="minor">
              <a:schemeClr val="tx1"/>
            </a:fontRef>
          </p:style>
        </p:cxnSp>
      </p:grpSp>
      <p:sp>
        <p:nvSpPr>
          <p:cNvPr id="25" name="TextBox 24">
            <a:extLst>
              <a:ext uri="{FF2B5EF4-FFF2-40B4-BE49-F238E27FC236}">
                <a16:creationId xmlns:a16="http://schemas.microsoft.com/office/drawing/2014/main" id="{BA3D8022-9660-48D1-903A-3B6910C5A959}"/>
              </a:ext>
            </a:extLst>
          </p:cNvPr>
          <p:cNvSpPr txBox="1"/>
          <p:nvPr/>
        </p:nvSpPr>
        <p:spPr>
          <a:xfrm>
            <a:off x="595769" y="5859591"/>
            <a:ext cx="4318813" cy="738664"/>
          </a:xfrm>
          <a:prstGeom prst="rect">
            <a:avLst/>
          </a:prstGeom>
          <a:noFill/>
        </p:spPr>
        <p:txBody>
          <a:bodyPr wrap="square" rtlCol="0">
            <a:spAutoFit/>
          </a:bodyPr>
          <a:lstStyle/>
          <a:p>
            <a:r>
              <a:rPr lang="ru-RU" sz="1400" dirty="0">
                <a:latin typeface="Arial" panose="020B0604020202020204" pitchFamily="34" charset="0"/>
                <a:cs typeface="Arial" panose="020B0604020202020204" pitchFamily="34" charset="0"/>
              </a:rPr>
              <a:t>18-24 года, русские, в семье 6+ совместно проживающих, «средний класс», жители Атырауской, Туркестанской области, Шымкента.</a:t>
            </a:r>
          </a:p>
        </p:txBody>
      </p:sp>
      <p:sp>
        <p:nvSpPr>
          <p:cNvPr id="26" name="TextBox 25">
            <a:extLst>
              <a:ext uri="{FF2B5EF4-FFF2-40B4-BE49-F238E27FC236}">
                <a16:creationId xmlns:a16="http://schemas.microsoft.com/office/drawing/2014/main" id="{B45CB214-133B-451D-8DC7-2EA4AD0C4B91}"/>
              </a:ext>
            </a:extLst>
          </p:cNvPr>
          <p:cNvSpPr txBox="1"/>
          <p:nvPr/>
        </p:nvSpPr>
        <p:spPr>
          <a:xfrm>
            <a:off x="6240961" y="800455"/>
            <a:ext cx="3598915" cy="307777"/>
          </a:xfrm>
          <a:prstGeom prst="rect">
            <a:avLst/>
          </a:prstGeom>
          <a:noFill/>
        </p:spPr>
        <p:txBody>
          <a:bodyPr wrap="square" rtlCol="0">
            <a:spAutoFit/>
          </a:bodyPr>
          <a:lstStyle/>
          <a:p>
            <a:r>
              <a:rPr lang="ru-RU" sz="1400" dirty="0">
                <a:solidFill>
                  <a:schemeClr val="bg1"/>
                </a:solidFill>
                <a:latin typeface="Arial" panose="020B0604020202020204" pitchFamily="34" charset="0"/>
                <a:cs typeface="Arial" panose="020B0604020202020204" pitchFamily="34" charset="0"/>
              </a:rPr>
              <a:t>от тех, кто снимает жильё </a:t>
            </a:r>
            <a:endParaRPr lang="en-US" sz="1400" dirty="0">
              <a:solidFill>
                <a:schemeClr val="bg1"/>
              </a:solidFill>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D29E941D-B313-4914-BD5D-9703EA84AF51}"/>
              </a:ext>
            </a:extLst>
          </p:cNvPr>
          <p:cNvSpPr txBox="1"/>
          <p:nvPr/>
        </p:nvSpPr>
        <p:spPr>
          <a:xfrm>
            <a:off x="5251688" y="3453958"/>
            <a:ext cx="1647563" cy="461665"/>
          </a:xfrm>
          <a:prstGeom prst="rect">
            <a:avLst/>
          </a:prstGeom>
          <a:noFill/>
        </p:spPr>
        <p:txBody>
          <a:bodyPr wrap="square">
            <a:spAutoFit/>
          </a:bodyPr>
          <a:lstStyle/>
          <a:p>
            <a:r>
              <a:rPr lang="ru-RU" sz="1200" b="0" i="0" u="none" strike="noStrike" baseline="0" dirty="0">
                <a:solidFill>
                  <a:schemeClr val="bg1"/>
                </a:solidFill>
                <a:latin typeface="Arial" panose="020B0604020202020204" pitchFamily="34" charset="0"/>
              </a:rPr>
              <a:t>	</a:t>
            </a:r>
          </a:p>
          <a:p>
            <a:r>
              <a:rPr lang="ru-RU" sz="1200" b="0" i="0" u="none" strike="noStrike" baseline="0" dirty="0">
                <a:solidFill>
                  <a:schemeClr val="bg1"/>
                </a:solidFill>
                <a:latin typeface="Arial" panose="020B0604020202020204" pitchFamily="34" charset="0"/>
              </a:rPr>
              <a:t>Одну комнату	</a:t>
            </a:r>
          </a:p>
        </p:txBody>
      </p:sp>
      <p:sp>
        <p:nvSpPr>
          <p:cNvPr id="30" name="TextBox 29">
            <a:extLst>
              <a:ext uri="{FF2B5EF4-FFF2-40B4-BE49-F238E27FC236}">
                <a16:creationId xmlns:a16="http://schemas.microsoft.com/office/drawing/2014/main" id="{FEE43DDB-3687-4476-B20D-BBC12B34443D}"/>
              </a:ext>
            </a:extLst>
          </p:cNvPr>
          <p:cNvSpPr txBox="1"/>
          <p:nvPr/>
        </p:nvSpPr>
        <p:spPr>
          <a:xfrm>
            <a:off x="6327751" y="1293780"/>
            <a:ext cx="1060661" cy="646331"/>
          </a:xfrm>
          <a:prstGeom prst="rect">
            <a:avLst/>
          </a:prstGeom>
          <a:noFill/>
        </p:spPr>
        <p:txBody>
          <a:bodyPr wrap="square">
            <a:spAutoFit/>
          </a:bodyPr>
          <a:lstStyle/>
          <a:p>
            <a:r>
              <a:rPr lang="ru-RU" sz="1200" b="0" i="0" u="none" strike="noStrike" baseline="0" dirty="0">
                <a:solidFill>
                  <a:schemeClr val="bg1"/>
                </a:solidFill>
                <a:latin typeface="Arial" panose="020B0604020202020204" pitchFamily="34" charset="0"/>
              </a:rPr>
              <a:t>Несколько комнат	</a:t>
            </a:r>
          </a:p>
        </p:txBody>
      </p:sp>
      <p:sp>
        <p:nvSpPr>
          <p:cNvPr id="31" name="TextBox 30">
            <a:extLst>
              <a:ext uri="{FF2B5EF4-FFF2-40B4-BE49-F238E27FC236}">
                <a16:creationId xmlns:a16="http://schemas.microsoft.com/office/drawing/2014/main" id="{61183324-B59D-409B-8D12-71DA1EE7911B}"/>
              </a:ext>
            </a:extLst>
          </p:cNvPr>
          <p:cNvSpPr txBox="1"/>
          <p:nvPr/>
        </p:nvSpPr>
        <p:spPr>
          <a:xfrm>
            <a:off x="8346166" y="1672403"/>
            <a:ext cx="1304458" cy="461665"/>
          </a:xfrm>
          <a:prstGeom prst="rect">
            <a:avLst/>
          </a:prstGeom>
          <a:noFill/>
        </p:spPr>
        <p:txBody>
          <a:bodyPr wrap="square">
            <a:spAutoFit/>
          </a:bodyPr>
          <a:lstStyle/>
          <a:p>
            <a:r>
              <a:rPr lang="ru-RU" sz="1200" b="0" i="0" u="none" strike="noStrike" baseline="0" dirty="0">
                <a:solidFill>
                  <a:schemeClr val="bg1"/>
                </a:solidFill>
                <a:latin typeface="Arial" panose="020B0604020202020204" pitchFamily="34" charset="0"/>
              </a:rPr>
              <a:t>Квартира / </a:t>
            </a:r>
          </a:p>
          <a:p>
            <a:r>
              <a:rPr lang="ru-RU" sz="1200" b="0" i="0" u="none" strike="noStrike" baseline="0" dirty="0">
                <a:solidFill>
                  <a:schemeClr val="bg1"/>
                </a:solidFill>
                <a:latin typeface="Arial" panose="020B0604020202020204" pitchFamily="34" charset="0"/>
              </a:rPr>
              <a:t>дом полностью</a:t>
            </a:r>
          </a:p>
        </p:txBody>
      </p:sp>
      <p:sp>
        <p:nvSpPr>
          <p:cNvPr id="40" name="TextBox 39">
            <a:extLst>
              <a:ext uri="{FF2B5EF4-FFF2-40B4-BE49-F238E27FC236}">
                <a16:creationId xmlns:a16="http://schemas.microsoft.com/office/drawing/2014/main" id="{30587221-DCAB-4EAA-BCB7-71A910D74355}"/>
              </a:ext>
            </a:extLst>
          </p:cNvPr>
          <p:cNvSpPr txBox="1"/>
          <p:nvPr/>
        </p:nvSpPr>
        <p:spPr>
          <a:xfrm>
            <a:off x="5575306" y="4422074"/>
            <a:ext cx="3731216" cy="954107"/>
          </a:xfrm>
          <a:prstGeom prst="rect">
            <a:avLst/>
          </a:prstGeom>
          <a:noFill/>
        </p:spPr>
        <p:txBody>
          <a:bodyPr wrap="square" rtlCol="0">
            <a:spAutoFit/>
          </a:bodyPr>
          <a:lstStyle/>
          <a:p>
            <a:r>
              <a:rPr lang="ru-RU" sz="1400" dirty="0">
                <a:solidFill>
                  <a:schemeClr val="bg1"/>
                </a:solidFill>
                <a:latin typeface="Arial" panose="020B0604020202020204" pitchFamily="34" charset="0"/>
                <a:cs typeface="Arial" panose="020B0604020202020204" pitchFamily="34" charset="0"/>
              </a:rPr>
              <a:t>25-34 года, городские жители, русскоязычные казахи, русские, богатые, жители Акмолинской, Актюбинской, Карагандинской, Павлодарской областей.  </a:t>
            </a:r>
          </a:p>
        </p:txBody>
      </p:sp>
      <p:grpSp>
        <p:nvGrpSpPr>
          <p:cNvPr id="41" name="Группа 40">
            <a:extLst>
              <a:ext uri="{FF2B5EF4-FFF2-40B4-BE49-F238E27FC236}">
                <a16:creationId xmlns:a16="http://schemas.microsoft.com/office/drawing/2014/main" id="{88F6492B-EA66-4D7C-9FBA-4D41CBE0279C}"/>
              </a:ext>
            </a:extLst>
          </p:cNvPr>
          <p:cNvGrpSpPr/>
          <p:nvPr/>
        </p:nvGrpSpPr>
        <p:grpSpPr>
          <a:xfrm>
            <a:off x="5352106" y="3926088"/>
            <a:ext cx="985194" cy="2102011"/>
            <a:chOff x="528087" y="2200643"/>
            <a:chExt cx="1210162" cy="2360604"/>
          </a:xfrm>
        </p:grpSpPr>
        <p:cxnSp>
          <p:nvCxnSpPr>
            <p:cNvPr id="42" name="Прямая соединительная линия 41">
              <a:extLst>
                <a:ext uri="{FF2B5EF4-FFF2-40B4-BE49-F238E27FC236}">
                  <a16:creationId xmlns:a16="http://schemas.microsoft.com/office/drawing/2014/main" id="{F5E0566E-A5FF-457B-9704-1D4CE65E3920}"/>
                </a:ext>
              </a:extLst>
            </p:cNvPr>
            <p:cNvCxnSpPr>
              <a:cxnSpLocks/>
            </p:cNvCxnSpPr>
            <p:nvPr/>
          </p:nvCxnSpPr>
          <p:spPr>
            <a:xfrm>
              <a:off x="542259" y="2200643"/>
              <a:ext cx="0" cy="2360604"/>
            </a:xfrm>
            <a:prstGeom prst="line">
              <a:avLst/>
            </a:prstGeom>
            <a:ln w="1905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43" name="Прямая соединительная линия 42">
              <a:extLst>
                <a:ext uri="{FF2B5EF4-FFF2-40B4-BE49-F238E27FC236}">
                  <a16:creationId xmlns:a16="http://schemas.microsoft.com/office/drawing/2014/main" id="{7FBAEFB0-0512-4CD7-9628-4C3DE82C1696}"/>
                </a:ext>
              </a:extLst>
            </p:cNvPr>
            <p:cNvCxnSpPr>
              <a:cxnSpLocks/>
            </p:cNvCxnSpPr>
            <p:nvPr/>
          </p:nvCxnSpPr>
          <p:spPr>
            <a:xfrm flipH="1">
              <a:off x="528087" y="2210655"/>
              <a:ext cx="1210162" cy="0"/>
            </a:xfrm>
            <a:prstGeom prst="line">
              <a:avLst/>
            </a:prstGeom>
            <a:ln w="1905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44" name="Прямая со стрелкой 43">
              <a:extLst>
                <a:ext uri="{FF2B5EF4-FFF2-40B4-BE49-F238E27FC236}">
                  <a16:creationId xmlns:a16="http://schemas.microsoft.com/office/drawing/2014/main" id="{E6FE60EC-B8A1-4555-BCB8-F86DE2E55AE3}"/>
                </a:ext>
              </a:extLst>
            </p:cNvPr>
            <p:cNvCxnSpPr>
              <a:cxnSpLocks/>
            </p:cNvCxnSpPr>
            <p:nvPr/>
          </p:nvCxnSpPr>
          <p:spPr>
            <a:xfrm>
              <a:off x="534496" y="4554024"/>
              <a:ext cx="328767" cy="0"/>
            </a:xfrm>
            <a:prstGeom prst="straightConnector1">
              <a:avLst/>
            </a:prstGeom>
            <a:ln w="19050">
              <a:solidFill>
                <a:schemeClr val="bg1"/>
              </a:solidFill>
              <a:prstDash val="sysDot"/>
              <a:tailEnd type="triangle"/>
            </a:ln>
          </p:spPr>
          <p:style>
            <a:lnRef idx="1">
              <a:schemeClr val="accent1"/>
            </a:lnRef>
            <a:fillRef idx="0">
              <a:schemeClr val="accent1"/>
            </a:fillRef>
            <a:effectRef idx="0">
              <a:schemeClr val="accent1"/>
            </a:effectRef>
            <a:fontRef idx="minor">
              <a:schemeClr val="tx1"/>
            </a:fontRef>
          </p:style>
        </p:cxnSp>
      </p:grpSp>
      <p:grpSp>
        <p:nvGrpSpPr>
          <p:cNvPr id="47" name="Группа 46">
            <a:extLst>
              <a:ext uri="{FF2B5EF4-FFF2-40B4-BE49-F238E27FC236}">
                <a16:creationId xmlns:a16="http://schemas.microsoft.com/office/drawing/2014/main" id="{892AA9B4-112C-4F07-AA6F-032F43483730}"/>
              </a:ext>
            </a:extLst>
          </p:cNvPr>
          <p:cNvGrpSpPr/>
          <p:nvPr/>
        </p:nvGrpSpPr>
        <p:grpSpPr>
          <a:xfrm flipH="1">
            <a:off x="8429453" y="2095663"/>
            <a:ext cx="1125141" cy="2839386"/>
            <a:chOff x="528086" y="2200643"/>
            <a:chExt cx="1615187" cy="2360604"/>
          </a:xfrm>
        </p:grpSpPr>
        <p:cxnSp>
          <p:nvCxnSpPr>
            <p:cNvPr id="48" name="Прямая соединительная линия 47">
              <a:extLst>
                <a:ext uri="{FF2B5EF4-FFF2-40B4-BE49-F238E27FC236}">
                  <a16:creationId xmlns:a16="http://schemas.microsoft.com/office/drawing/2014/main" id="{471D817D-43BE-4642-B44F-B0BC0CAA7566}"/>
                </a:ext>
              </a:extLst>
            </p:cNvPr>
            <p:cNvCxnSpPr>
              <a:cxnSpLocks/>
            </p:cNvCxnSpPr>
            <p:nvPr/>
          </p:nvCxnSpPr>
          <p:spPr>
            <a:xfrm>
              <a:off x="542259" y="2200643"/>
              <a:ext cx="0" cy="2360604"/>
            </a:xfrm>
            <a:prstGeom prst="line">
              <a:avLst/>
            </a:prstGeom>
            <a:ln w="1905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49" name="Прямая соединительная линия 48">
              <a:extLst>
                <a:ext uri="{FF2B5EF4-FFF2-40B4-BE49-F238E27FC236}">
                  <a16:creationId xmlns:a16="http://schemas.microsoft.com/office/drawing/2014/main" id="{69707B77-69AE-4A0B-AB83-243B1F423ECD}"/>
                </a:ext>
              </a:extLst>
            </p:cNvPr>
            <p:cNvCxnSpPr>
              <a:cxnSpLocks/>
            </p:cNvCxnSpPr>
            <p:nvPr/>
          </p:nvCxnSpPr>
          <p:spPr>
            <a:xfrm flipH="1">
              <a:off x="528086" y="2210655"/>
              <a:ext cx="1615187" cy="0"/>
            </a:xfrm>
            <a:prstGeom prst="line">
              <a:avLst/>
            </a:prstGeom>
            <a:ln w="1905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50" name="Прямая со стрелкой 49">
              <a:extLst>
                <a:ext uri="{FF2B5EF4-FFF2-40B4-BE49-F238E27FC236}">
                  <a16:creationId xmlns:a16="http://schemas.microsoft.com/office/drawing/2014/main" id="{9846AD24-EE36-4585-970C-F043B006F375}"/>
                </a:ext>
              </a:extLst>
            </p:cNvPr>
            <p:cNvCxnSpPr>
              <a:cxnSpLocks/>
            </p:cNvCxnSpPr>
            <p:nvPr/>
          </p:nvCxnSpPr>
          <p:spPr>
            <a:xfrm>
              <a:off x="534496" y="4554024"/>
              <a:ext cx="657533" cy="0"/>
            </a:xfrm>
            <a:prstGeom prst="straightConnector1">
              <a:avLst/>
            </a:prstGeom>
            <a:ln w="19050">
              <a:solidFill>
                <a:schemeClr val="bg1"/>
              </a:solidFill>
              <a:prstDash val="sysDot"/>
              <a:tailEnd type="triangle"/>
            </a:ln>
          </p:spPr>
          <p:style>
            <a:lnRef idx="1">
              <a:schemeClr val="accent1"/>
            </a:lnRef>
            <a:fillRef idx="0">
              <a:schemeClr val="accent1"/>
            </a:fillRef>
            <a:effectRef idx="0">
              <a:schemeClr val="accent1"/>
            </a:effectRef>
            <a:fontRef idx="minor">
              <a:schemeClr val="tx1"/>
            </a:fontRef>
          </p:style>
        </p:cxnSp>
      </p:grpSp>
      <p:sp>
        <p:nvSpPr>
          <p:cNvPr id="54" name="TextBox 53">
            <a:extLst>
              <a:ext uri="{FF2B5EF4-FFF2-40B4-BE49-F238E27FC236}">
                <a16:creationId xmlns:a16="http://schemas.microsoft.com/office/drawing/2014/main" id="{EC2A8067-E84E-41E6-BE30-73253236E81C}"/>
              </a:ext>
            </a:extLst>
          </p:cNvPr>
          <p:cNvSpPr txBox="1"/>
          <p:nvPr/>
        </p:nvSpPr>
        <p:spPr>
          <a:xfrm>
            <a:off x="5589894" y="5498384"/>
            <a:ext cx="3964700" cy="1169551"/>
          </a:xfrm>
          <a:prstGeom prst="rect">
            <a:avLst/>
          </a:prstGeom>
          <a:noFill/>
        </p:spPr>
        <p:txBody>
          <a:bodyPr wrap="square" rtlCol="0">
            <a:spAutoFit/>
          </a:bodyPr>
          <a:lstStyle/>
          <a:p>
            <a:r>
              <a:rPr lang="ru-RU" sz="1400" dirty="0">
                <a:solidFill>
                  <a:schemeClr val="bg1"/>
                </a:solidFill>
                <a:latin typeface="Arial" panose="020B0604020202020204" pitchFamily="34" charset="0"/>
                <a:cs typeface="Arial" panose="020B0604020202020204" pitchFamily="34" charset="0"/>
              </a:rPr>
              <a:t>45+, сельские жители, казахоязычные казахи и представители других национальностей, проживающие одни, очень бедные, не удовлетворены жизнью, жители Алматинской, Атырауской областей, ЗКО.</a:t>
            </a:r>
          </a:p>
        </p:txBody>
      </p:sp>
    </p:spTree>
    <p:extLst>
      <p:ext uri="{BB962C8B-B14F-4D97-AF65-F5344CB8AC3E}">
        <p14:creationId xmlns:p14="http://schemas.microsoft.com/office/powerpoint/2010/main" val="2459185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0FB0D667-91DC-47BB-A561-AE62E6B8A3E1}"/>
              </a:ext>
            </a:extLst>
          </p:cNvPr>
          <p:cNvSpPr>
            <a:spLocks noGrp="1"/>
          </p:cNvSpPr>
          <p:nvPr>
            <p:ph type="title"/>
          </p:nvPr>
        </p:nvSpPr>
        <p:spPr>
          <a:xfrm>
            <a:off x="590735" y="500209"/>
            <a:ext cx="5953719" cy="426892"/>
          </a:xfrm>
        </p:spPr>
        <p:txBody>
          <a:bodyPr>
            <a:noAutofit/>
          </a:bodyPr>
          <a:lstStyle/>
          <a:p>
            <a:pPr algn="l">
              <a:lnSpc>
                <a:spcPts val="3000"/>
              </a:lnSpc>
            </a:pPr>
            <a:r>
              <a:rPr lang="kk-KZ" sz="3200" b="1" dirty="0">
                <a:latin typeface="Arial" panose="020B0604020202020204" pitchFamily="34" charset="0"/>
                <a:ea typeface="+mn-ea"/>
                <a:cs typeface="Arial" panose="020B0604020202020204" pitchFamily="34" charset="0"/>
              </a:rPr>
              <a:t>С кем Вы проживаете?</a:t>
            </a:r>
            <a:endParaRPr lang="ru-KZ" sz="3200" b="1" dirty="0">
              <a:latin typeface="Arial" panose="020B0604020202020204" pitchFamily="34" charset="0"/>
              <a:ea typeface="+mn-ea"/>
              <a:cs typeface="Arial" panose="020B0604020202020204" pitchFamily="34" charset="0"/>
            </a:endParaRPr>
          </a:p>
        </p:txBody>
      </p:sp>
      <p:sp>
        <p:nvSpPr>
          <p:cNvPr id="5" name="Заголовок 1">
            <a:extLst>
              <a:ext uri="{FF2B5EF4-FFF2-40B4-BE49-F238E27FC236}">
                <a16:creationId xmlns:a16="http://schemas.microsoft.com/office/drawing/2014/main" id="{9469FDC0-E903-4B22-9198-233A1E4DCA7C}"/>
              </a:ext>
            </a:extLst>
          </p:cNvPr>
          <p:cNvSpPr txBox="1">
            <a:spLocks/>
          </p:cNvSpPr>
          <p:nvPr/>
        </p:nvSpPr>
        <p:spPr>
          <a:xfrm>
            <a:off x="679635" y="1574741"/>
            <a:ext cx="1581721"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6000" b="1" dirty="0">
                <a:solidFill>
                  <a:srgbClr val="2B546B"/>
                </a:solidFill>
                <a:latin typeface="Arial" panose="020B0604020202020204" pitchFamily="34" charset="0"/>
                <a:ea typeface="+mn-ea"/>
                <a:cs typeface="Arial" panose="020B0604020202020204" pitchFamily="34" charset="0"/>
              </a:rPr>
              <a:t>26</a:t>
            </a:r>
            <a:r>
              <a:rPr lang="ru-RU" sz="3600" b="1" dirty="0">
                <a:solidFill>
                  <a:srgbClr val="2B546B"/>
                </a:solidFill>
                <a:latin typeface="Arial" panose="020B0604020202020204" pitchFamily="34" charset="0"/>
                <a:ea typeface="+mn-ea"/>
                <a:cs typeface="Arial" panose="020B0604020202020204" pitchFamily="34" charset="0"/>
              </a:rPr>
              <a:t>%</a:t>
            </a:r>
            <a:endParaRPr lang="ru-KZ" sz="6000" b="1" dirty="0">
              <a:solidFill>
                <a:srgbClr val="2B546B"/>
              </a:solidFill>
              <a:latin typeface="Arial" panose="020B0604020202020204" pitchFamily="34" charset="0"/>
              <a:ea typeface="+mn-ea"/>
              <a:cs typeface="Arial" panose="020B0604020202020204" pitchFamily="34" charset="0"/>
            </a:endParaRPr>
          </a:p>
        </p:txBody>
      </p:sp>
      <p:sp>
        <p:nvSpPr>
          <p:cNvPr id="6" name="Заголовок 1">
            <a:extLst>
              <a:ext uri="{FF2B5EF4-FFF2-40B4-BE49-F238E27FC236}">
                <a16:creationId xmlns:a16="http://schemas.microsoft.com/office/drawing/2014/main" id="{F2869A18-195B-46BF-8258-7392A07C259D}"/>
              </a:ext>
            </a:extLst>
          </p:cNvPr>
          <p:cNvSpPr txBox="1">
            <a:spLocks/>
          </p:cNvSpPr>
          <p:nvPr/>
        </p:nvSpPr>
        <p:spPr>
          <a:xfrm>
            <a:off x="-73700" y="2023291"/>
            <a:ext cx="3012189"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2500"/>
              </a:lnSpc>
            </a:pPr>
            <a:r>
              <a:rPr lang="ru-RU" sz="1800" dirty="0">
                <a:latin typeface="Arial" panose="020B0604020202020204" pitchFamily="34" charset="0"/>
                <a:ea typeface="+mn-ea"/>
                <a:cs typeface="Arial" panose="020B0604020202020204" pitchFamily="34" charset="0"/>
              </a:rPr>
              <a:t>Ваши родители</a:t>
            </a:r>
            <a:endParaRPr lang="ru-KZ" sz="1800" dirty="0">
              <a:latin typeface="Arial" panose="020B0604020202020204" pitchFamily="34" charset="0"/>
              <a:ea typeface="+mn-ea"/>
              <a:cs typeface="Arial" panose="020B0604020202020204" pitchFamily="34" charset="0"/>
            </a:endParaRPr>
          </a:p>
        </p:txBody>
      </p:sp>
      <p:sp>
        <p:nvSpPr>
          <p:cNvPr id="7" name="Заголовок 1">
            <a:extLst>
              <a:ext uri="{FF2B5EF4-FFF2-40B4-BE49-F238E27FC236}">
                <a16:creationId xmlns:a16="http://schemas.microsoft.com/office/drawing/2014/main" id="{C438E403-0872-4918-BEA5-C839E6C56CDE}"/>
              </a:ext>
            </a:extLst>
          </p:cNvPr>
          <p:cNvSpPr txBox="1">
            <a:spLocks/>
          </p:cNvSpPr>
          <p:nvPr/>
        </p:nvSpPr>
        <p:spPr>
          <a:xfrm>
            <a:off x="3931405" y="1552571"/>
            <a:ext cx="1581721"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6000" b="1" dirty="0">
                <a:solidFill>
                  <a:srgbClr val="2B546B"/>
                </a:solidFill>
                <a:latin typeface="Arial" panose="020B0604020202020204" pitchFamily="34" charset="0"/>
                <a:ea typeface="+mn-ea"/>
                <a:cs typeface="Arial" panose="020B0604020202020204" pitchFamily="34" charset="0"/>
              </a:rPr>
              <a:t>9</a:t>
            </a:r>
            <a:r>
              <a:rPr lang="ru-RU" sz="3600" b="1" dirty="0">
                <a:solidFill>
                  <a:srgbClr val="2B546B"/>
                </a:solidFill>
                <a:latin typeface="Arial" panose="020B0604020202020204" pitchFamily="34" charset="0"/>
                <a:ea typeface="+mn-ea"/>
                <a:cs typeface="Arial" panose="020B0604020202020204" pitchFamily="34" charset="0"/>
              </a:rPr>
              <a:t>%</a:t>
            </a:r>
            <a:endParaRPr lang="ru-KZ" sz="6000" b="1" dirty="0">
              <a:solidFill>
                <a:srgbClr val="2B546B"/>
              </a:solidFill>
              <a:latin typeface="Arial" panose="020B0604020202020204" pitchFamily="34" charset="0"/>
              <a:ea typeface="+mn-ea"/>
              <a:cs typeface="Arial" panose="020B0604020202020204" pitchFamily="34" charset="0"/>
            </a:endParaRPr>
          </a:p>
        </p:txBody>
      </p:sp>
      <p:sp>
        <p:nvSpPr>
          <p:cNvPr id="8" name="Заголовок 1">
            <a:extLst>
              <a:ext uri="{FF2B5EF4-FFF2-40B4-BE49-F238E27FC236}">
                <a16:creationId xmlns:a16="http://schemas.microsoft.com/office/drawing/2014/main" id="{6947347A-6030-41F3-BB49-BF2FAC0053B3}"/>
              </a:ext>
            </a:extLst>
          </p:cNvPr>
          <p:cNvSpPr txBox="1">
            <a:spLocks/>
          </p:cNvSpPr>
          <p:nvPr/>
        </p:nvSpPr>
        <p:spPr>
          <a:xfrm>
            <a:off x="3043747" y="2013821"/>
            <a:ext cx="3012189"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2500"/>
              </a:lnSpc>
            </a:pPr>
            <a:r>
              <a:rPr lang="ru-RU" sz="1800" dirty="0">
                <a:latin typeface="Arial" panose="020B0604020202020204" pitchFamily="34" charset="0"/>
                <a:ea typeface="+mn-ea"/>
                <a:cs typeface="Arial" panose="020B0604020202020204" pitchFamily="34" charset="0"/>
              </a:rPr>
              <a:t>Родители жены, мужа</a:t>
            </a:r>
            <a:endParaRPr lang="ru-KZ" sz="1800" dirty="0">
              <a:latin typeface="Arial" panose="020B0604020202020204" pitchFamily="34" charset="0"/>
              <a:ea typeface="+mn-ea"/>
              <a:cs typeface="Arial" panose="020B0604020202020204" pitchFamily="34" charset="0"/>
            </a:endParaRPr>
          </a:p>
        </p:txBody>
      </p:sp>
      <p:sp>
        <p:nvSpPr>
          <p:cNvPr id="9" name="Заголовок 1">
            <a:extLst>
              <a:ext uri="{FF2B5EF4-FFF2-40B4-BE49-F238E27FC236}">
                <a16:creationId xmlns:a16="http://schemas.microsoft.com/office/drawing/2014/main" id="{CD7C517B-5DFE-4D7E-82DB-AC731386D3D2}"/>
              </a:ext>
            </a:extLst>
          </p:cNvPr>
          <p:cNvSpPr txBox="1">
            <a:spLocks/>
          </p:cNvSpPr>
          <p:nvPr/>
        </p:nvSpPr>
        <p:spPr>
          <a:xfrm>
            <a:off x="7183176" y="1574741"/>
            <a:ext cx="1581721"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6000" b="1" dirty="0">
                <a:solidFill>
                  <a:srgbClr val="2B546B"/>
                </a:solidFill>
                <a:latin typeface="Arial" panose="020B0604020202020204" pitchFamily="34" charset="0"/>
                <a:ea typeface="+mn-ea"/>
                <a:cs typeface="Arial" panose="020B0604020202020204" pitchFamily="34" charset="0"/>
              </a:rPr>
              <a:t>59</a:t>
            </a:r>
            <a:r>
              <a:rPr lang="ru-RU" sz="3600" b="1" dirty="0">
                <a:solidFill>
                  <a:srgbClr val="2B546B"/>
                </a:solidFill>
                <a:latin typeface="Arial" panose="020B0604020202020204" pitchFamily="34" charset="0"/>
                <a:ea typeface="+mn-ea"/>
                <a:cs typeface="Arial" panose="020B0604020202020204" pitchFamily="34" charset="0"/>
              </a:rPr>
              <a:t>%</a:t>
            </a:r>
            <a:endParaRPr lang="ru-KZ" sz="6000" b="1" dirty="0">
              <a:solidFill>
                <a:srgbClr val="2B546B"/>
              </a:solidFill>
              <a:latin typeface="Arial" panose="020B0604020202020204" pitchFamily="34" charset="0"/>
              <a:ea typeface="+mn-ea"/>
              <a:cs typeface="Arial" panose="020B0604020202020204" pitchFamily="34" charset="0"/>
            </a:endParaRPr>
          </a:p>
        </p:txBody>
      </p:sp>
      <p:sp>
        <p:nvSpPr>
          <p:cNvPr id="10" name="Заголовок 1">
            <a:extLst>
              <a:ext uri="{FF2B5EF4-FFF2-40B4-BE49-F238E27FC236}">
                <a16:creationId xmlns:a16="http://schemas.microsoft.com/office/drawing/2014/main" id="{097E27DE-43CE-4801-B8A5-C513077F3FFD}"/>
              </a:ext>
            </a:extLst>
          </p:cNvPr>
          <p:cNvSpPr txBox="1">
            <a:spLocks/>
          </p:cNvSpPr>
          <p:nvPr/>
        </p:nvSpPr>
        <p:spPr>
          <a:xfrm>
            <a:off x="6303416" y="2013666"/>
            <a:ext cx="3012189"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2500"/>
              </a:lnSpc>
            </a:pPr>
            <a:r>
              <a:rPr lang="ru-RU" sz="1800" dirty="0">
                <a:latin typeface="Arial" panose="020B0604020202020204" pitchFamily="34" charset="0"/>
                <a:ea typeface="+mn-ea"/>
                <a:cs typeface="Arial" panose="020B0604020202020204" pitchFamily="34" charset="0"/>
              </a:rPr>
              <a:t>Совершеннолетние дети</a:t>
            </a:r>
            <a:endParaRPr lang="ru-KZ" sz="1800" dirty="0">
              <a:latin typeface="Arial" panose="020B0604020202020204" pitchFamily="34" charset="0"/>
              <a:ea typeface="+mn-ea"/>
              <a:cs typeface="Arial" panose="020B0604020202020204" pitchFamily="34" charset="0"/>
            </a:endParaRPr>
          </a:p>
        </p:txBody>
      </p:sp>
      <p:sp>
        <p:nvSpPr>
          <p:cNvPr id="11" name="Заголовок 1">
            <a:extLst>
              <a:ext uri="{FF2B5EF4-FFF2-40B4-BE49-F238E27FC236}">
                <a16:creationId xmlns:a16="http://schemas.microsoft.com/office/drawing/2014/main" id="{627CCA08-62B8-41DA-B816-89A6321466FF}"/>
              </a:ext>
            </a:extLst>
          </p:cNvPr>
          <p:cNvSpPr txBox="1">
            <a:spLocks/>
          </p:cNvSpPr>
          <p:nvPr/>
        </p:nvSpPr>
        <p:spPr>
          <a:xfrm>
            <a:off x="679635" y="4232003"/>
            <a:ext cx="1581721"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6000" b="1" dirty="0">
                <a:solidFill>
                  <a:srgbClr val="2B546B"/>
                </a:solidFill>
                <a:latin typeface="Arial" panose="020B0604020202020204" pitchFamily="34" charset="0"/>
                <a:ea typeface="+mn-ea"/>
                <a:cs typeface="Arial" panose="020B0604020202020204" pitchFamily="34" charset="0"/>
              </a:rPr>
              <a:t>14</a:t>
            </a:r>
            <a:r>
              <a:rPr lang="ru-RU" sz="3600" b="1" dirty="0">
                <a:solidFill>
                  <a:srgbClr val="2B546B"/>
                </a:solidFill>
                <a:latin typeface="Arial" panose="020B0604020202020204" pitchFamily="34" charset="0"/>
                <a:ea typeface="+mn-ea"/>
                <a:cs typeface="Arial" panose="020B0604020202020204" pitchFamily="34" charset="0"/>
              </a:rPr>
              <a:t>%</a:t>
            </a:r>
            <a:endParaRPr lang="ru-KZ" sz="6000" b="1" dirty="0">
              <a:solidFill>
                <a:srgbClr val="2B546B"/>
              </a:solidFill>
              <a:latin typeface="Arial" panose="020B0604020202020204" pitchFamily="34" charset="0"/>
              <a:ea typeface="+mn-ea"/>
              <a:cs typeface="Arial" panose="020B0604020202020204" pitchFamily="34" charset="0"/>
            </a:endParaRPr>
          </a:p>
        </p:txBody>
      </p:sp>
      <p:sp>
        <p:nvSpPr>
          <p:cNvPr id="12" name="Заголовок 1">
            <a:extLst>
              <a:ext uri="{FF2B5EF4-FFF2-40B4-BE49-F238E27FC236}">
                <a16:creationId xmlns:a16="http://schemas.microsoft.com/office/drawing/2014/main" id="{42B40014-CDB8-4A8D-88CF-83C995BFB9B5}"/>
              </a:ext>
            </a:extLst>
          </p:cNvPr>
          <p:cNvSpPr txBox="1">
            <a:spLocks/>
          </p:cNvSpPr>
          <p:nvPr/>
        </p:nvSpPr>
        <p:spPr>
          <a:xfrm>
            <a:off x="-144885" y="4680553"/>
            <a:ext cx="3012189"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2500"/>
              </a:lnSpc>
            </a:pPr>
            <a:r>
              <a:rPr lang="ru-RU" sz="1800" dirty="0">
                <a:latin typeface="Arial" panose="020B0604020202020204" pitchFamily="34" charset="0"/>
                <a:ea typeface="+mn-ea"/>
                <a:cs typeface="Arial" panose="020B0604020202020204" pitchFamily="34" charset="0"/>
              </a:rPr>
              <a:t>Родственники</a:t>
            </a:r>
            <a:endParaRPr lang="ru-KZ" sz="1800" dirty="0">
              <a:latin typeface="Arial" panose="020B0604020202020204" pitchFamily="34" charset="0"/>
              <a:ea typeface="+mn-ea"/>
              <a:cs typeface="Arial" panose="020B0604020202020204" pitchFamily="34" charset="0"/>
            </a:endParaRPr>
          </a:p>
        </p:txBody>
      </p:sp>
      <p:sp>
        <p:nvSpPr>
          <p:cNvPr id="13" name="Заголовок 1">
            <a:extLst>
              <a:ext uri="{FF2B5EF4-FFF2-40B4-BE49-F238E27FC236}">
                <a16:creationId xmlns:a16="http://schemas.microsoft.com/office/drawing/2014/main" id="{D03CE5C5-9CD3-4738-8C20-8DF96EA4AE1E}"/>
              </a:ext>
            </a:extLst>
          </p:cNvPr>
          <p:cNvSpPr txBox="1">
            <a:spLocks/>
          </p:cNvSpPr>
          <p:nvPr/>
        </p:nvSpPr>
        <p:spPr>
          <a:xfrm>
            <a:off x="3931405" y="4209833"/>
            <a:ext cx="1581721"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6000" b="1" dirty="0">
                <a:solidFill>
                  <a:srgbClr val="2B546B"/>
                </a:solidFill>
                <a:latin typeface="Arial" panose="020B0604020202020204" pitchFamily="34" charset="0"/>
                <a:ea typeface="+mn-ea"/>
                <a:cs typeface="Arial" panose="020B0604020202020204" pitchFamily="34" charset="0"/>
              </a:rPr>
              <a:t>5</a:t>
            </a:r>
            <a:r>
              <a:rPr lang="ru-RU" sz="3600" b="1" dirty="0">
                <a:solidFill>
                  <a:srgbClr val="2B546B"/>
                </a:solidFill>
                <a:latin typeface="Arial" panose="020B0604020202020204" pitchFamily="34" charset="0"/>
                <a:ea typeface="+mn-ea"/>
                <a:cs typeface="Arial" panose="020B0604020202020204" pitchFamily="34" charset="0"/>
              </a:rPr>
              <a:t>%</a:t>
            </a:r>
            <a:endParaRPr lang="ru-KZ" sz="6000" b="1" dirty="0">
              <a:solidFill>
                <a:srgbClr val="2B546B"/>
              </a:solidFill>
              <a:latin typeface="Arial" panose="020B0604020202020204" pitchFamily="34" charset="0"/>
              <a:ea typeface="+mn-ea"/>
              <a:cs typeface="Arial" panose="020B0604020202020204" pitchFamily="34" charset="0"/>
            </a:endParaRPr>
          </a:p>
        </p:txBody>
      </p:sp>
      <p:sp>
        <p:nvSpPr>
          <p:cNvPr id="14" name="Заголовок 1">
            <a:extLst>
              <a:ext uri="{FF2B5EF4-FFF2-40B4-BE49-F238E27FC236}">
                <a16:creationId xmlns:a16="http://schemas.microsoft.com/office/drawing/2014/main" id="{6B7DA7AA-F7A3-426E-B6FD-7DF9A5A6DF73}"/>
              </a:ext>
            </a:extLst>
          </p:cNvPr>
          <p:cNvSpPr txBox="1">
            <a:spLocks/>
          </p:cNvSpPr>
          <p:nvPr/>
        </p:nvSpPr>
        <p:spPr>
          <a:xfrm>
            <a:off x="3141116" y="4674003"/>
            <a:ext cx="3012189"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2500"/>
              </a:lnSpc>
            </a:pPr>
            <a:r>
              <a:rPr lang="ru-RU" sz="1800" dirty="0">
                <a:latin typeface="Arial" panose="020B0604020202020204" pitchFamily="34" charset="0"/>
                <a:ea typeface="+mn-ea"/>
                <a:cs typeface="Arial" panose="020B0604020202020204" pitchFamily="34" charset="0"/>
              </a:rPr>
              <a:t>Родственники жены, мужа</a:t>
            </a:r>
            <a:endParaRPr lang="ru-KZ" sz="1800" dirty="0">
              <a:latin typeface="Arial" panose="020B0604020202020204" pitchFamily="34" charset="0"/>
              <a:ea typeface="+mn-ea"/>
              <a:cs typeface="Arial" panose="020B0604020202020204" pitchFamily="34" charset="0"/>
            </a:endParaRPr>
          </a:p>
        </p:txBody>
      </p:sp>
      <p:sp>
        <p:nvSpPr>
          <p:cNvPr id="15" name="Заголовок 1">
            <a:extLst>
              <a:ext uri="{FF2B5EF4-FFF2-40B4-BE49-F238E27FC236}">
                <a16:creationId xmlns:a16="http://schemas.microsoft.com/office/drawing/2014/main" id="{7144C0A8-F113-41A0-8011-625E49C652AE}"/>
              </a:ext>
            </a:extLst>
          </p:cNvPr>
          <p:cNvSpPr txBox="1">
            <a:spLocks/>
          </p:cNvSpPr>
          <p:nvPr/>
        </p:nvSpPr>
        <p:spPr>
          <a:xfrm>
            <a:off x="7399076" y="4232003"/>
            <a:ext cx="1581721"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6000" b="1" dirty="0">
                <a:solidFill>
                  <a:srgbClr val="2B546B"/>
                </a:solidFill>
                <a:latin typeface="Arial" panose="020B0604020202020204" pitchFamily="34" charset="0"/>
                <a:ea typeface="+mn-ea"/>
                <a:cs typeface="Arial" panose="020B0604020202020204" pitchFamily="34" charset="0"/>
              </a:rPr>
              <a:t>2</a:t>
            </a:r>
            <a:r>
              <a:rPr lang="ru-RU" sz="3600" b="1" dirty="0">
                <a:solidFill>
                  <a:srgbClr val="2B546B"/>
                </a:solidFill>
                <a:latin typeface="Arial" panose="020B0604020202020204" pitchFamily="34" charset="0"/>
                <a:ea typeface="+mn-ea"/>
                <a:cs typeface="Arial" panose="020B0604020202020204" pitchFamily="34" charset="0"/>
              </a:rPr>
              <a:t>%</a:t>
            </a:r>
            <a:endParaRPr lang="ru-KZ" sz="6000" b="1" dirty="0">
              <a:solidFill>
                <a:srgbClr val="2B546B"/>
              </a:solidFill>
              <a:latin typeface="Arial" panose="020B0604020202020204" pitchFamily="34" charset="0"/>
              <a:ea typeface="+mn-ea"/>
              <a:cs typeface="Arial" panose="020B0604020202020204" pitchFamily="34" charset="0"/>
            </a:endParaRPr>
          </a:p>
        </p:txBody>
      </p:sp>
      <p:sp>
        <p:nvSpPr>
          <p:cNvPr id="16" name="Заголовок 1">
            <a:extLst>
              <a:ext uri="{FF2B5EF4-FFF2-40B4-BE49-F238E27FC236}">
                <a16:creationId xmlns:a16="http://schemas.microsoft.com/office/drawing/2014/main" id="{A1E9A9C8-14EC-40E8-BE29-55676DF5ED6B}"/>
              </a:ext>
            </a:extLst>
          </p:cNvPr>
          <p:cNvSpPr txBox="1">
            <a:spLocks/>
          </p:cNvSpPr>
          <p:nvPr/>
        </p:nvSpPr>
        <p:spPr>
          <a:xfrm>
            <a:off x="6303416" y="4680553"/>
            <a:ext cx="3012189"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2500"/>
              </a:lnSpc>
            </a:pPr>
            <a:r>
              <a:rPr lang="ru-RU" sz="1800" dirty="0">
                <a:latin typeface="Arial" panose="020B0604020202020204" pitchFamily="34" charset="0"/>
                <a:ea typeface="+mn-ea"/>
                <a:cs typeface="Arial" panose="020B0604020202020204" pitchFamily="34" charset="0"/>
              </a:rPr>
              <a:t>Друзья</a:t>
            </a:r>
            <a:endParaRPr lang="ru-KZ" sz="1800" dirty="0">
              <a:latin typeface="Arial" panose="020B0604020202020204" pitchFamily="34" charset="0"/>
              <a:ea typeface="+mn-ea"/>
              <a:cs typeface="Arial" panose="020B0604020202020204" pitchFamily="34" charset="0"/>
            </a:endParaRPr>
          </a:p>
        </p:txBody>
      </p:sp>
      <p:sp>
        <p:nvSpPr>
          <p:cNvPr id="17" name="Заголовок 1">
            <a:extLst>
              <a:ext uri="{FF2B5EF4-FFF2-40B4-BE49-F238E27FC236}">
                <a16:creationId xmlns:a16="http://schemas.microsoft.com/office/drawing/2014/main" id="{7440C2D4-2B34-4F22-BC00-61904E439B53}"/>
              </a:ext>
            </a:extLst>
          </p:cNvPr>
          <p:cNvSpPr txBox="1">
            <a:spLocks/>
          </p:cNvSpPr>
          <p:nvPr/>
        </p:nvSpPr>
        <p:spPr>
          <a:xfrm>
            <a:off x="182252" y="2958102"/>
            <a:ext cx="2576486"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1600"/>
              </a:lnSpc>
            </a:pPr>
            <a:r>
              <a:rPr lang="ru-RU" sz="1600" dirty="0">
                <a:latin typeface="Arial" panose="020B0604020202020204" pitchFamily="34" charset="0"/>
                <a:ea typeface="+mn-ea"/>
                <a:cs typeface="Arial" panose="020B0604020202020204" pitchFamily="34" charset="0"/>
              </a:rPr>
              <a:t>Мангистауская Туркестанская Кызылординская  области, Шымкент</a:t>
            </a:r>
            <a:endParaRPr lang="ru-KZ" sz="1600" dirty="0">
              <a:latin typeface="Arial" panose="020B0604020202020204" pitchFamily="34" charset="0"/>
              <a:ea typeface="+mn-ea"/>
              <a:cs typeface="Arial" panose="020B0604020202020204" pitchFamily="34" charset="0"/>
            </a:endParaRPr>
          </a:p>
        </p:txBody>
      </p:sp>
      <p:sp>
        <p:nvSpPr>
          <p:cNvPr id="18" name="Заголовок 1">
            <a:extLst>
              <a:ext uri="{FF2B5EF4-FFF2-40B4-BE49-F238E27FC236}">
                <a16:creationId xmlns:a16="http://schemas.microsoft.com/office/drawing/2014/main" id="{09B8E13B-21E7-4D13-BB39-B26FAED3892C}"/>
              </a:ext>
            </a:extLst>
          </p:cNvPr>
          <p:cNvSpPr txBox="1">
            <a:spLocks/>
          </p:cNvSpPr>
          <p:nvPr/>
        </p:nvSpPr>
        <p:spPr>
          <a:xfrm>
            <a:off x="3479450" y="2988628"/>
            <a:ext cx="2673855" cy="1705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1600"/>
              </a:lnSpc>
            </a:pPr>
            <a:r>
              <a:rPr lang="ru-RU" sz="1600" dirty="0">
                <a:latin typeface="Arial" panose="020B0604020202020204" pitchFamily="34" charset="0"/>
                <a:ea typeface="+mn-ea"/>
                <a:cs typeface="Arial" panose="020B0604020202020204" pitchFamily="34" charset="0"/>
              </a:rPr>
              <a:t>Туркестанская область</a:t>
            </a:r>
            <a:endParaRPr lang="ru-KZ" sz="1600" dirty="0">
              <a:latin typeface="Arial" panose="020B0604020202020204" pitchFamily="34" charset="0"/>
              <a:ea typeface="+mn-ea"/>
              <a:cs typeface="Arial" panose="020B0604020202020204" pitchFamily="34" charset="0"/>
            </a:endParaRPr>
          </a:p>
        </p:txBody>
      </p:sp>
      <p:sp>
        <p:nvSpPr>
          <p:cNvPr id="20" name="Заголовок 1">
            <a:extLst>
              <a:ext uri="{FF2B5EF4-FFF2-40B4-BE49-F238E27FC236}">
                <a16:creationId xmlns:a16="http://schemas.microsoft.com/office/drawing/2014/main" id="{79BB682D-4567-44A1-9C30-86A8F940411F}"/>
              </a:ext>
            </a:extLst>
          </p:cNvPr>
          <p:cNvSpPr txBox="1">
            <a:spLocks/>
          </p:cNvSpPr>
          <p:nvPr/>
        </p:nvSpPr>
        <p:spPr>
          <a:xfrm>
            <a:off x="6404311" y="2958102"/>
            <a:ext cx="2576486"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1600"/>
              </a:lnSpc>
            </a:pPr>
            <a:r>
              <a:rPr lang="ru-RU" sz="1600" dirty="0">
                <a:latin typeface="Arial" panose="020B0604020202020204" pitchFamily="34" charset="0"/>
                <a:ea typeface="+mn-ea"/>
                <a:cs typeface="Arial" panose="020B0604020202020204" pitchFamily="34" charset="0"/>
              </a:rPr>
              <a:t>Мангистауская, Туркестанская, Атырауская области, Шымкент</a:t>
            </a:r>
            <a:endParaRPr lang="ru-KZ" sz="1600" dirty="0">
              <a:latin typeface="Arial" panose="020B0604020202020204" pitchFamily="34" charset="0"/>
              <a:ea typeface="+mn-ea"/>
              <a:cs typeface="Arial" panose="020B0604020202020204" pitchFamily="34" charset="0"/>
            </a:endParaRPr>
          </a:p>
        </p:txBody>
      </p:sp>
      <p:sp>
        <p:nvSpPr>
          <p:cNvPr id="21" name="Заголовок 1">
            <a:extLst>
              <a:ext uri="{FF2B5EF4-FFF2-40B4-BE49-F238E27FC236}">
                <a16:creationId xmlns:a16="http://schemas.microsoft.com/office/drawing/2014/main" id="{00A6511A-4217-4CF1-B92F-DEDDEFAB46A5}"/>
              </a:ext>
            </a:extLst>
          </p:cNvPr>
          <p:cNvSpPr txBox="1">
            <a:spLocks/>
          </p:cNvSpPr>
          <p:nvPr/>
        </p:nvSpPr>
        <p:spPr>
          <a:xfrm>
            <a:off x="913704" y="5203172"/>
            <a:ext cx="2576486"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1600"/>
              </a:lnSpc>
            </a:pPr>
            <a:r>
              <a:rPr lang="ru-RU" sz="1600" dirty="0">
                <a:latin typeface="Arial" panose="020B0604020202020204" pitchFamily="34" charset="0"/>
                <a:ea typeface="+mn-ea"/>
                <a:cs typeface="Arial" panose="020B0604020202020204" pitchFamily="34" charset="0"/>
              </a:rPr>
              <a:t>Алматы</a:t>
            </a:r>
            <a:endParaRPr lang="ru-KZ" sz="1600" dirty="0">
              <a:latin typeface="Arial" panose="020B0604020202020204" pitchFamily="34" charset="0"/>
              <a:ea typeface="+mn-ea"/>
              <a:cs typeface="Arial" panose="020B0604020202020204" pitchFamily="34" charset="0"/>
            </a:endParaRPr>
          </a:p>
        </p:txBody>
      </p:sp>
      <p:sp>
        <p:nvSpPr>
          <p:cNvPr id="22" name="Заголовок 1">
            <a:extLst>
              <a:ext uri="{FF2B5EF4-FFF2-40B4-BE49-F238E27FC236}">
                <a16:creationId xmlns:a16="http://schemas.microsoft.com/office/drawing/2014/main" id="{4EFC15E8-5B0F-4C27-AF2D-14EA3F94824E}"/>
              </a:ext>
            </a:extLst>
          </p:cNvPr>
          <p:cNvSpPr txBox="1">
            <a:spLocks/>
          </p:cNvSpPr>
          <p:nvPr/>
        </p:nvSpPr>
        <p:spPr>
          <a:xfrm>
            <a:off x="3168466" y="5305429"/>
            <a:ext cx="2576486"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1600"/>
              </a:lnSpc>
            </a:pPr>
            <a:r>
              <a:rPr lang="ru-RU" sz="1600" dirty="0">
                <a:latin typeface="Arial" panose="020B0604020202020204" pitchFamily="34" charset="0"/>
                <a:ea typeface="+mn-ea"/>
                <a:cs typeface="Arial" panose="020B0604020202020204" pitchFamily="34" charset="0"/>
              </a:rPr>
              <a:t>Алматинская, Жамбылская области</a:t>
            </a:r>
            <a:endParaRPr lang="ru-KZ" sz="1600" dirty="0">
              <a:latin typeface="Arial" panose="020B0604020202020204" pitchFamily="34" charset="0"/>
              <a:ea typeface="+mn-ea"/>
              <a:cs typeface="Arial" panose="020B0604020202020204" pitchFamily="34" charset="0"/>
            </a:endParaRPr>
          </a:p>
        </p:txBody>
      </p:sp>
      <p:sp>
        <p:nvSpPr>
          <p:cNvPr id="23" name="Заголовок 1">
            <a:extLst>
              <a:ext uri="{FF2B5EF4-FFF2-40B4-BE49-F238E27FC236}">
                <a16:creationId xmlns:a16="http://schemas.microsoft.com/office/drawing/2014/main" id="{371C60F1-A8A5-4100-9716-E0253BA5FA54}"/>
              </a:ext>
            </a:extLst>
          </p:cNvPr>
          <p:cNvSpPr txBox="1">
            <a:spLocks/>
          </p:cNvSpPr>
          <p:nvPr/>
        </p:nvSpPr>
        <p:spPr>
          <a:xfrm>
            <a:off x="7399076" y="5247980"/>
            <a:ext cx="2576486" cy="73388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1600"/>
              </a:lnSpc>
            </a:pPr>
            <a:r>
              <a:rPr lang="ru-RU" sz="1600" dirty="0">
                <a:latin typeface="Arial" panose="020B0604020202020204" pitchFamily="34" charset="0"/>
                <a:ea typeface="+mn-ea"/>
                <a:cs typeface="Arial" panose="020B0604020202020204" pitchFamily="34" charset="0"/>
              </a:rPr>
              <a:t>Астана</a:t>
            </a:r>
            <a:endParaRPr lang="ru-KZ" sz="1600" dirty="0">
              <a:latin typeface="Arial" panose="020B0604020202020204" pitchFamily="34" charset="0"/>
              <a:ea typeface="+mn-ea"/>
              <a:cs typeface="Arial" panose="020B0604020202020204" pitchFamily="34" charset="0"/>
            </a:endParaRPr>
          </a:p>
        </p:txBody>
      </p:sp>
      <p:sp>
        <p:nvSpPr>
          <p:cNvPr id="24" name="Заголовок 1">
            <a:extLst>
              <a:ext uri="{FF2B5EF4-FFF2-40B4-BE49-F238E27FC236}">
                <a16:creationId xmlns:a16="http://schemas.microsoft.com/office/drawing/2014/main" id="{A3321B2D-6BE6-4CAA-BFFC-3871E0864E55}"/>
              </a:ext>
            </a:extLst>
          </p:cNvPr>
          <p:cNvSpPr txBox="1">
            <a:spLocks/>
          </p:cNvSpPr>
          <p:nvPr/>
        </p:nvSpPr>
        <p:spPr>
          <a:xfrm>
            <a:off x="4456710" y="2591068"/>
            <a:ext cx="1486890" cy="14345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1600"/>
              </a:lnSpc>
            </a:pPr>
            <a:r>
              <a:rPr lang="ru-RU" sz="1100" dirty="0">
                <a:latin typeface="Arial" panose="020B0604020202020204" pitchFamily="34" charset="0"/>
                <a:ea typeface="+mn-ea"/>
                <a:cs typeface="Arial" panose="020B0604020202020204" pitchFamily="34" charset="0"/>
              </a:rPr>
              <a:t>от тех, кто в браке</a:t>
            </a:r>
            <a:endParaRPr lang="ru-KZ" sz="1100" dirty="0">
              <a:latin typeface="Arial" panose="020B0604020202020204" pitchFamily="34" charset="0"/>
              <a:ea typeface="+mn-ea"/>
              <a:cs typeface="Arial" panose="020B0604020202020204" pitchFamily="34" charset="0"/>
            </a:endParaRPr>
          </a:p>
        </p:txBody>
      </p:sp>
      <p:sp>
        <p:nvSpPr>
          <p:cNvPr id="25" name="Заголовок 1">
            <a:extLst>
              <a:ext uri="{FF2B5EF4-FFF2-40B4-BE49-F238E27FC236}">
                <a16:creationId xmlns:a16="http://schemas.microsoft.com/office/drawing/2014/main" id="{09FE1B8A-DD76-4478-B56B-5DD7A7B99995}"/>
              </a:ext>
            </a:extLst>
          </p:cNvPr>
          <p:cNvSpPr txBox="1">
            <a:spLocks/>
          </p:cNvSpPr>
          <p:nvPr/>
        </p:nvSpPr>
        <p:spPr>
          <a:xfrm>
            <a:off x="4750915" y="5192713"/>
            <a:ext cx="1486890" cy="14345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1600"/>
              </a:lnSpc>
            </a:pPr>
            <a:r>
              <a:rPr lang="ru-RU" sz="1100" dirty="0">
                <a:latin typeface="Arial" panose="020B0604020202020204" pitchFamily="34" charset="0"/>
                <a:ea typeface="+mn-ea"/>
                <a:cs typeface="Arial" panose="020B0604020202020204" pitchFamily="34" charset="0"/>
              </a:rPr>
              <a:t>от тех, кто в браке</a:t>
            </a:r>
            <a:endParaRPr lang="ru-KZ" sz="1100" dirty="0">
              <a:latin typeface="Arial" panose="020B0604020202020204" pitchFamily="34" charset="0"/>
              <a:ea typeface="+mn-ea"/>
              <a:cs typeface="Arial" panose="020B0604020202020204" pitchFamily="34" charset="0"/>
            </a:endParaRPr>
          </a:p>
        </p:txBody>
      </p:sp>
      <p:sp>
        <p:nvSpPr>
          <p:cNvPr id="26" name="Заголовок 1">
            <a:extLst>
              <a:ext uri="{FF2B5EF4-FFF2-40B4-BE49-F238E27FC236}">
                <a16:creationId xmlns:a16="http://schemas.microsoft.com/office/drawing/2014/main" id="{2B93BE4E-5BFB-412B-910C-6F2326AE0FC6}"/>
              </a:ext>
            </a:extLst>
          </p:cNvPr>
          <p:cNvSpPr txBox="1">
            <a:spLocks/>
          </p:cNvSpPr>
          <p:nvPr/>
        </p:nvSpPr>
        <p:spPr>
          <a:xfrm>
            <a:off x="7572375" y="2542328"/>
            <a:ext cx="1724025" cy="19219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1600"/>
              </a:lnSpc>
            </a:pPr>
            <a:r>
              <a:rPr lang="ru-RU" sz="1100" dirty="0">
                <a:latin typeface="Arial" panose="020B0604020202020204" pitchFamily="34" charset="0"/>
                <a:ea typeface="+mn-ea"/>
                <a:cs typeface="Arial" panose="020B0604020202020204" pitchFamily="34" charset="0"/>
              </a:rPr>
              <a:t>от тех, у кого есть дети</a:t>
            </a:r>
            <a:endParaRPr lang="ru-KZ" sz="1100" dirty="0">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084623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Прямоугольник 15">
            <a:extLst>
              <a:ext uri="{FF2B5EF4-FFF2-40B4-BE49-F238E27FC236}">
                <a16:creationId xmlns:a16="http://schemas.microsoft.com/office/drawing/2014/main" id="{E0027092-A459-44AA-AFBC-7CB653E13900}"/>
              </a:ext>
            </a:extLst>
          </p:cNvPr>
          <p:cNvSpPr/>
          <p:nvPr/>
        </p:nvSpPr>
        <p:spPr>
          <a:xfrm>
            <a:off x="4959351" y="0"/>
            <a:ext cx="4953000" cy="6858000"/>
          </a:xfrm>
          <a:prstGeom prst="rect">
            <a:avLst/>
          </a:prstGeom>
          <a:solidFill>
            <a:srgbClr val="2B546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5" name="Заголовок 1">
            <a:extLst>
              <a:ext uri="{FF2B5EF4-FFF2-40B4-BE49-F238E27FC236}">
                <a16:creationId xmlns:a16="http://schemas.microsoft.com/office/drawing/2014/main" id="{D5F66BA9-4310-434F-BC2F-067B1C838129}"/>
              </a:ext>
            </a:extLst>
          </p:cNvPr>
          <p:cNvSpPr txBox="1">
            <a:spLocks/>
          </p:cNvSpPr>
          <p:nvPr/>
        </p:nvSpPr>
        <p:spPr>
          <a:xfrm>
            <a:off x="631461" y="306581"/>
            <a:ext cx="4448869" cy="1180807"/>
          </a:xfrm>
          <a:prstGeom prst="rect">
            <a:avLst/>
          </a:prstGeom>
        </p:spPr>
        <p:txBody>
          <a:bodyPr vert="horz" lIns="74295" tIns="37148" rIns="74295" bIns="37148"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3000"/>
              </a:lnSpc>
            </a:pPr>
            <a:r>
              <a:rPr lang="ru-RU" sz="3200" b="1" dirty="0">
                <a:latin typeface="Arial" panose="020B0604020202020204" pitchFamily="34" charset="0"/>
                <a:ea typeface="+mn-ea"/>
                <a:cs typeface="Arial" panose="020B0604020202020204" pitchFamily="34" charset="0"/>
              </a:rPr>
              <a:t>Вы планируете приобретать</a:t>
            </a:r>
          </a:p>
        </p:txBody>
      </p:sp>
      <p:graphicFrame>
        <p:nvGraphicFramePr>
          <p:cNvPr id="39" name="Диаграмма 38">
            <a:extLst>
              <a:ext uri="{FF2B5EF4-FFF2-40B4-BE49-F238E27FC236}">
                <a16:creationId xmlns:a16="http://schemas.microsoft.com/office/drawing/2014/main" id="{ED15BE08-6C9F-4143-ADDF-A1779920CD56}"/>
              </a:ext>
            </a:extLst>
          </p:cNvPr>
          <p:cNvGraphicFramePr/>
          <p:nvPr>
            <p:extLst>
              <p:ext uri="{D42A27DB-BD31-4B8C-83A1-F6EECF244321}">
                <p14:modId xmlns:p14="http://schemas.microsoft.com/office/powerpoint/2010/main" val="1421320188"/>
              </p:ext>
            </p:extLst>
          </p:nvPr>
        </p:nvGraphicFramePr>
        <p:xfrm>
          <a:off x="333381" y="1447798"/>
          <a:ext cx="4797549" cy="3033985"/>
        </p:xfrm>
        <a:graphic>
          <a:graphicData uri="http://schemas.openxmlformats.org/drawingml/2006/chart">
            <c:chart xmlns:c="http://schemas.openxmlformats.org/drawingml/2006/chart" xmlns:r="http://schemas.openxmlformats.org/officeDocument/2006/relationships" r:id="rId2"/>
          </a:graphicData>
        </a:graphic>
      </p:graphicFrame>
      <p:grpSp>
        <p:nvGrpSpPr>
          <p:cNvPr id="46" name="Группа 45">
            <a:extLst>
              <a:ext uri="{FF2B5EF4-FFF2-40B4-BE49-F238E27FC236}">
                <a16:creationId xmlns:a16="http://schemas.microsoft.com/office/drawing/2014/main" id="{CE86DEC7-E59C-416E-AF53-A5B84AF7A51B}"/>
              </a:ext>
            </a:extLst>
          </p:cNvPr>
          <p:cNvGrpSpPr/>
          <p:nvPr/>
        </p:nvGrpSpPr>
        <p:grpSpPr>
          <a:xfrm flipH="1">
            <a:off x="8879980" y="3618312"/>
            <a:ext cx="740744" cy="2544364"/>
            <a:chOff x="528086" y="2200643"/>
            <a:chExt cx="725907" cy="2360604"/>
          </a:xfrm>
        </p:grpSpPr>
        <p:cxnSp>
          <p:nvCxnSpPr>
            <p:cNvPr id="51" name="Прямая соединительная линия 50">
              <a:extLst>
                <a:ext uri="{FF2B5EF4-FFF2-40B4-BE49-F238E27FC236}">
                  <a16:creationId xmlns:a16="http://schemas.microsoft.com/office/drawing/2014/main" id="{4A27FB2B-DEA6-42B8-8E66-EEF65AD97D23}"/>
                </a:ext>
              </a:extLst>
            </p:cNvPr>
            <p:cNvCxnSpPr>
              <a:cxnSpLocks/>
            </p:cNvCxnSpPr>
            <p:nvPr/>
          </p:nvCxnSpPr>
          <p:spPr>
            <a:xfrm>
              <a:off x="542259" y="2200643"/>
              <a:ext cx="0" cy="2360604"/>
            </a:xfrm>
            <a:prstGeom prst="line">
              <a:avLst/>
            </a:prstGeom>
            <a:ln w="19050">
              <a:solidFill>
                <a:srgbClr val="2B546B"/>
              </a:solidFill>
              <a:prstDash val="sysDot"/>
            </a:ln>
          </p:spPr>
          <p:style>
            <a:lnRef idx="1">
              <a:schemeClr val="accent1"/>
            </a:lnRef>
            <a:fillRef idx="0">
              <a:schemeClr val="accent1"/>
            </a:fillRef>
            <a:effectRef idx="0">
              <a:schemeClr val="accent1"/>
            </a:effectRef>
            <a:fontRef idx="minor">
              <a:schemeClr val="tx1"/>
            </a:fontRef>
          </p:style>
        </p:cxnSp>
        <p:cxnSp>
          <p:nvCxnSpPr>
            <p:cNvPr id="52" name="Прямая соединительная линия 51">
              <a:extLst>
                <a:ext uri="{FF2B5EF4-FFF2-40B4-BE49-F238E27FC236}">
                  <a16:creationId xmlns:a16="http://schemas.microsoft.com/office/drawing/2014/main" id="{829CF90F-ECAE-4BAC-BBF9-1BC091F056E2}"/>
                </a:ext>
              </a:extLst>
            </p:cNvPr>
            <p:cNvCxnSpPr>
              <a:cxnSpLocks/>
            </p:cNvCxnSpPr>
            <p:nvPr/>
          </p:nvCxnSpPr>
          <p:spPr>
            <a:xfrm flipH="1">
              <a:off x="528086" y="2210655"/>
              <a:ext cx="725907" cy="0"/>
            </a:xfrm>
            <a:prstGeom prst="line">
              <a:avLst/>
            </a:prstGeom>
            <a:ln w="19050">
              <a:solidFill>
                <a:srgbClr val="2B546B"/>
              </a:solidFill>
              <a:prstDash val="sysDot"/>
            </a:ln>
          </p:spPr>
          <p:style>
            <a:lnRef idx="1">
              <a:schemeClr val="accent1"/>
            </a:lnRef>
            <a:fillRef idx="0">
              <a:schemeClr val="accent1"/>
            </a:fillRef>
            <a:effectRef idx="0">
              <a:schemeClr val="accent1"/>
            </a:effectRef>
            <a:fontRef idx="minor">
              <a:schemeClr val="tx1"/>
            </a:fontRef>
          </p:style>
        </p:cxnSp>
        <p:cxnSp>
          <p:nvCxnSpPr>
            <p:cNvPr id="53" name="Прямая со стрелкой 52">
              <a:extLst>
                <a:ext uri="{FF2B5EF4-FFF2-40B4-BE49-F238E27FC236}">
                  <a16:creationId xmlns:a16="http://schemas.microsoft.com/office/drawing/2014/main" id="{44E2BDB4-0766-425D-B415-7E993EC4C22E}"/>
                </a:ext>
              </a:extLst>
            </p:cNvPr>
            <p:cNvCxnSpPr>
              <a:cxnSpLocks/>
            </p:cNvCxnSpPr>
            <p:nvPr/>
          </p:nvCxnSpPr>
          <p:spPr>
            <a:xfrm>
              <a:off x="534496" y="4554024"/>
              <a:ext cx="657533" cy="0"/>
            </a:xfrm>
            <a:prstGeom prst="straightConnector1">
              <a:avLst/>
            </a:prstGeom>
            <a:ln w="19050">
              <a:solidFill>
                <a:srgbClr val="2B546B"/>
              </a:solidFill>
              <a:prstDash val="sysDot"/>
              <a:tailEnd type="triangle"/>
            </a:ln>
          </p:spPr>
          <p:style>
            <a:lnRef idx="1">
              <a:schemeClr val="accent1"/>
            </a:lnRef>
            <a:fillRef idx="0">
              <a:schemeClr val="accent1"/>
            </a:fillRef>
            <a:effectRef idx="0">
              <a:schemeClr val="accent1"/>
            </a:effectRef>
            <a:fontRef idx="minor">
              <a:schemeClr val="tx1"/>
            </a:fontRef>
          </p:style>
        </p:cxnSp>
      </p:grpSp>
      <p:sp>
        <p:nvSpPr>
          <p:cNvPr id="56" name="Заголовок 1">
            <a:extLst>
              <a:ext uri="{FF2B5EF4-FFF2-40B4-BE49-F238E27FC236}">
                <a16:creationId xmlns:a16="http://schemas.microsoft.com/office/drawing/2014/main" id="{3A314F09-C6D9-49B3-8F72-C4B248605C02}"/>
              </a:ext>
            </a:extLst>
          </p:cNvPr>
          <p:cNvSpPr txBox="1">
            <a:spLocks/>
          </p:cNvSpPr>
          <p:nvPr/>
        </p:nvSpPr>
        <p:spPr>
          <a:xfrm>
            <a:off x="5080330" y="279547"/>
            <a:ext cx="4448869" cy="811509"/>
          </a:xfrm>
          <a:prstGeom prst="rect">
            <a:avLst/>
          </a:prstGeom>
        </p:spPr>
        <p:txBody>
          <a:bodyPr vert="horz" lIns="74295" tIns="37148" rIns="74295" bIns="37148"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80340" marR="107315">
              <a:spcBef>
                <a:spcPts val="5"/>
              </a:spcBef>
              <a:spcAft>
                <a:spcPts val="0"/>
              </a:spcAft>
              <a:tabLst>
                <a:tab pos="270510" algn="l"/>
              </a:tabLst>
            </a:pPr>
            <a:r>
              <a:rPr lang="kk-KZ" sz="3200" b="1" dirty="0">
                <a:solidFill>
                  <a:schemeClr val="bg1"/>
                </a:solidFill>
                <a:latin typeface="Arial" panose="020B0604020202020204" pitchFamily="34" charset="0"/>
                <a:ea typeface="+mn-ea"/>
                <a:cs typeface="Arial" panose="020B0604020202020204" pitchFamily="34" charset="0"/>
              </a:rPr>
              <a:t>Что именно</a:t>
            </a:r>
            <a:r>
              <a:rPr lang="ru-RU" sz="3200" b="1" dirty="0">
                <a:solidFill>
                  <a:schemeClr val="bg1"/>
                </a:solidFill>
                <a:latin typeface="Arial" panose="020B0604020202020204" pitchFamily="34" charset="0"/>
                <a:ea typeface="+mn-ea"/>
                <a:cs typeface="Arial" panose="020B0604020202020204" pitchFamily="34" charset="0"/>
              </a:rPr>
              <a:t>?</a:t>
            </a:r>
          </a:p>
        </p:txBody>
      </p:sp>
      <p:graphicFrame>
        <p:nvGraphicFramePr>
          <p:cNvPr id="57" name="Диаграмма 56">
            <a:extLst>
              <a:ext uri="{FF2B5EF4-FFF2-40B4-BE49-F238E27FC236}">
                <a16:creationId xmlns:a16="http://schemas.microsoft.com/office/drawing/2014/main" id="{9FD6C3BF-236C-40E9-B5D7-8FEEE51B275B}"/>
              </a:ext>
            </a:extLst>
          </p:cNvPr>
          <p:cNvGraphicFramePr/>
          <p:nvPr>
            <p:extLst>
              <p:ext uri="{D42A27DB-BD31-4B8C-83A1-F6EECF244321}">
                <p14:modId xmlns:p14="http://schemas.microsoft.com/office/powerpoint/2010/main" val="324320997"/>
              </p:ext>
            </p:extLst>
          </p:nvPr>
        </p:nvGraphicFramePr>
        <p:xfrm>
          <a:off x="5292922" y="1328180"/>
          <a:ext cx="4454534" cy="2828633"/>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a:extLst>
              <a:ext uri="{FF2B5EF4-FFF2-40B4-BE49-F238E27FC236}">
                <a16:creationId xmlns:a16="http://schemas.microsoft.com/office/drawing/2014/main" id="{77294661-2F63-4B9C-92C6-7149750C6EF3}"/>
              </a:ext>
            </a:extLst>
          </p:cNvPr>
          <p:cNvSpPr txBox="1"/>
          <p:nvPr/>
        </p:nvSpPr>
        <p:spPr>
          <a:xfrm>
            <a:off x="5397377" y="1427161"/>
            <a:ext cx="1981202" cy="646331"/>
          </a:xfrm>
          <a:prstGeom prst="rect">
            <a:avLst/>
          </a:prstGeom>
          <a:noFill/>
        </p:spPr>
        <p:txBody>
          <a:bodyPr wrap="square">
            <a:spAutoFit/>
          </a:bodyPr>
          <a:lstStyle/>
          <a:p>
            <a:r>
              <a:rPr lang="ru-RU" sz="1200" dirty="0">
                <a:solidFill>
                  <a:schemeClr val="bg1"/>
                </a:solidFill>
                <a:latin typeface="Arial" panose="020B0604020202020204" pitchFamily="34" charset="0"/>
              </a:rPr>
              <a:t>квартиру от застройщика в новостройке /  строящемся доме 	</a:t>
            </a:r>
          </a:p>
        </p:txBody>
      </p:sp>
      <p:sp>
        <p:nvSpPr>
          <p:cNvPr id="13" name="TextBox 12">
            <a:extLst>
              <a:ext uri="{FF2B5EF4-FFF2-40B4-BE49-F238E27FC236}">
                <a16:creationId xmlns:a16="http://schemas.microsoft.com/office/drawing/2014/main" id="{B9C83D32-00BB-4A89-8DA4-F0E2EF31A3CA}"/>
              </a:ext>
            </a:extLst>
          </p:cNvPr>
          <p:cNvSpPr txBox="1"/>
          <p:nvPr/>
        </p:nvSpPr>
        <p:spPr>
          <a:xfrm>
            <a:off x="8715522" y="2288195"/>
            <a:ext cx="1126347" cy="461665"/>
          </a:xfrm>
          <a:prstGeom prst="rect">
            <a:avLst/>
          </a:prstGeom>
          <a:noFill/>
        </p:spPr>
        <p:txBody>
          <a:bodyPr wrap="square">
            <a:spAutoFit/>
          </a:bodyPr>
          <a:lstStyle/>
          <a:p>
            <a:pPr algn="ctr"/>
            <a:r>
              <a:rPr lang="ru-RU" sz="1200" dirty="0">
                <a:solidFill>
                  <a:schemeClr val="bg1"/>
                </a:solidFill>
                <a:latin typeface="Arial" panose="020B0604020202020204" pitchFamily="34" charset="0"/>
              </a:rPr>
              <a:t>Дом / </a:t>
            </a:r>
          </a:p>
          <a:p>
            <a:pPr algn="ctr"/>
            <a:r>
              <a:rPr lang="ru-RU" sz="1200" dirty="0">
                <a:solidFill>
                  <a:schemeClr val="bg1"/>
                </a:solidFill>
                <a:latin typeface="Arial" panose="020B0604020202020204" pitchFamily="34" charset="0"/>
              </a:rPr>
              <a:t>часть дома </a:t>
            </a:r>
          </a:p>
        </p:txBody>
      </p:sp>
      <p:sp>
        <p:nvSpPr>
          <p:cNvPr id="17" name="TextBox 16">
            <a:extLst>
              <a:ext uri="{FF2B5EF4-FFF2-40B4-BE49-F238E27FC236}">
                <a16:creationId xmlns:a16="http://schemas.microsoft.com/office/drawing/2014/main" id="{BF485F92-4034-4C7B-83EA-4E9A38F7AAEF}"/>
              </a:ext>
            </a:extLst>
          </p:cNvPr>
          <p:cNvSpPr txBox="1"/>
          <p:nvPr/>
        </p:nvSpPr>
        <p:spPr>
          <a:xfrm>
            <a:off x="5407841" y="3624318"/>
            <a:ext cx="1594458" cy="646331"/>
          </a:xfrm>
          <a:prstGeom prst="rect">
            <a:avLst/>
          </a:prstGeom>
          <a:noFill/>
        </p:spPr>
        <p:txBody>
          <a:bodyPr wrap="square">
            <a:spAutoFit/>
          </a:bodyPr>
          <a:lstStyle/>
          <a:p>
            <a:r>
              <a:rPr lang="ru-RU" sz="1200" dirty="0">
                <a:solidFill>
                  <a:schemeClr val="bg1"/>
                </a:solidFill>
                <a:latin typeface="Arial" panose="020B0604020202020204" pitchFamily="34" charset="0"/>
              </a:rPr>
              <a:t>квартиру от собственника на вторичном рынке</a:t>
            </a:r>
          </a:p>
        </p:txBody>
      </p:sp>
      <p:sp>
        <p:nvSpPr>
          <p:cNvPr id="18" name="TextBox 17">
            <a:extLst>
              <a:ext uri="{FF2B5EF4-FFF2-40B4-BE49-F238E27FC236}">
                <a16:creationId xmlns:a16="http://schemas.microsoft.com/office/drawing/2014/main" id="{42E42907-F31D-41D3-A347-C5E0444AE150}"/>
              </a:ext>
            </a:extLst>
          </p:cNvPr>
          <p:cNvSpPr txBox="1"/>
          <p:nvPr/>
        </p:nvSpPr>
        <p:spPr>
          <a:xfrm>
            <a:off x="7411803" y="4020118"/>
            <a:ext cx="788998" cy="461665"/>
          </a:xfrm>
          <a:prstGeom prst="rect">
            <a:avLst/>
          </a:prstGeom>
          <a:noFill/>
        </p:spPr>
        <p:txBody>
          <a:bodyPr wrap="square">
            <a:spAutoFit/>
          </a:bodyPr>
          <a:lstStyle/>
          <a:p>
            <a:r>
              <a:rPr lang="ru-RU" sz="1200" dirty="0">
                <a:solidFill>
                  <a:schemeClr val="bg1"/>
                </a:solidFill>
                <a:latin typeface="Arial" panose="020B0604020202020204" pitchFamily="34" charset="0"/>
              </a:rPr>
              <a:t>Другое	</a:t>
            </a:r>
          </a:p>
        </p:txBody>
      </p:sp>
      <p:sp>
        <p:nvSpPr>
          <p:cNvPr id="3" name="Правая фигурная скобка 2">
            <a:extLst>
              <a:ext uri="{FF2B5EF4-FFF2-40B4-BE49-F238E27FC236}">
                <a16:creationId xmlns:a16="http://schemas.microsoft.com/office/drawing/2014/main" id="{C33D88D7-1AFB-439F-A6D5-6DD40737E3C8}"/>
              </a:ext>
            </a:extLst>
          </p:cNvPr>
          <p:cNvSpPr/>
          <p:nvPr/>
        </p:nvSpPr>
        <p:spPr>
          <a:xfrm>
            <a:off x="3459555" y="1508025"/>
            <a:ext cx="358885" cy="1032128"/>
          </a:xfrm>
          <a:prstGeom prst="rightBrace">
            <a:avLst>
              <a:gd name="adj1" fmla="val 52451"/>
              <a:gd name="adj2" fmla="val 50000"/>
            </a:avLst>
          </a:prstGeom>
          <a:ln>
            <a:solidFill>
              <a:srgbClr val="2B546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p>
        </p:txBody>
      </p:sp>
      <p:sp>
        <p:nvSpPr>
          <p:cNvPr id="19" name="Заголовок 1">
            <a:extLst>
              <a:ext uri="{FF2B5EF4-FFF2-40B4-BE49-F238E27FC236}">
                <a16:creationId xmlns:a16="http://schemas.microsoft.com/office/drawing/2014/main" id="{4E21915A-A968-4A72-A9DA-7F5F0A110EE7}"/>
              </a:ext>
            </a:extLst>
          </p:cNvPr>
          <p:cNvSpPr txBox="1">
            <a:spLocks/>
          </p:cNvSpPr>
          <p:nvPr/>
        </p:nvSpPr>
        <p:spPr>
          <a:xfrm>
            <a:off x="3900351" y="1586369"/>
            <a:ext cx="1581721"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3600" b="1" dirty="0">
                <a:solidFill>
                  <a:srgbClr val="2B546B"/>
                </a:solidFill>
                <a:latin typeface="Arial" panose="020B0604020202020204" pitchFamily="34" charset="0"/>
                <a:ea typeface="+mn-ea"/>
                <a:cs typeface="Arial" panose="020B0604020202020204" pitchFamily="34" charset="0"/>
              </a:rPr>
              <a:t>47</a:t>
            </a:r>
            <a:r>
              <a:rPr lang="ru-RU" sz="1800" b="1" dirty="0">
                <a:solidFill>
                  <a:srgbClr val="2B546B"/>
                </a:solidFill>
                <a:latin typeface="Arial" panose="020B0604020202020204" pitchFamily="34" charset="0"/>
                <a:ea typeface="+mn-ea"/>
                <a:cs typeface="Arial" panose="020B0604020202020204" pitchFamily="34" charset="0"/>
              </a:rPr>
              <a:t>%</a:t>
            </a:r>
            <a:endParaRPr lang="ru-KZ" sz="3600" b="1" dirty="0">
              <a:solidFill>
                <a:srgbClr val="2B546B"/>
              </a:solidFill>
              <a:latin typeface="Arial" panose="020B0604020202020204" pitchFamily="34" charset="0"/>
              <a:ea typeface="+mn-ea"/>
              <a:cs typeface="Arial" panose="020B0604020202020204" pitchFamily="34" charset="0"/>
            </a:endParaRPr>
          </a:p>
        </p:txBody>
      </p:sp>
      <p:grpSp>
        <p:nvGrpSpPr>
          <p:cNvPr id="20" name="Группа 19">
            <a:extLst>
              <a:ext uri="{FF2B5EF4-FFF2-40B4-BE49-F238E27FC236}">
                <a16:creationId xmlns:a16="http://schemas.microsoft.com/office/drawing/2014/main" id="{9FF553E4-6B2E-4E75-8F37-67C00B5E9B36}"/>
              </a:ext>
            </a:extLst>
          </p:cNvPr>
          <p:cNvGrpSpPr/>
          <p:nvPr/>
        </p:nvGrpSpPr>
        <p:grpSpPr>
          <a:xfrm>
            <a:off x="454086" y="1673535"/>
            <a:ext cx="235657" cy="3411228"/>
            <a:chOff x="528086" y="2200643"/>
            <a:chExt cx="335177" cy="2360604"/>
          </a:xfrm>
        </p:grpSpPr>
        <p:cxnSp>
          <p:nvCxnSpPr>
            <p:cNvPr id="21" name="Прямая соединительная линия 20">
              <a:extLst>
                <a:ext uri="{FF2B5EF4-FFF2-40B4-BE49-F238E27FC236}">
                  <a16:creationId xmlns:a16="http://schemas.microsoft.com/office/drawing/2014/main" id="{EB8E837C-ADD7-4A35-B03A-A11FB3CEB1B5}"/>
                </a:ext>
              </a:extLst>
            </p:cNvPr>
            <p:cNvCxnSpPr>
              <a:cxnSpLocks/>
            </p:cNvCxnSpPr>
            <p:nvPr/>
          </p:nvCxnSpPr>
          <p:spPr>
            <a:xfrm>
              <a:off x="542259" y="2200643"/>
              <a:ext cx="0" cy="2360604"/>
            </a:xfrm>
            <a:prstGeom prst="line">
              <a:avLst/>
            </a:prstGeom>
            <a:ln w="19050">
              <a:solidFill>
                <a:srgbClr val="2B546B"/>
              </a:solidFill>
              <a:prstDash val="sysDot"/>
            </a:ln>
          </p:spPr>
          <p:style>
            <a:lnRef idx="1">
              <a:schemeClr val="accent1"/>
            </a:lnRef>
            <a:fillRef idx="0">
              <a:schemeClr val="accent1"/>
            </a:fillRef>
            <a:effectRef idx="0">
              <a:schemeClr val="accent1"/>
            </a:effectRef>
            <a:fontRef idx="minor">
              <a:schemeClr val="tx1"/>
            </a:fontRef>
          </p:style>
        </p:cxnSp>
        <p:cxnSp>
          <p:nvCxnSpPr>
            <p:cNvPr id="22" name="Прямая соединительная линия 21">
              <a:extLst>
                <a:ext uri="{FF2B5EF4-FFF2-40B4-BE49-F238E27FC236}">
                  <a16:creationId xmlns:a16="http://schemas.microsoft.com/office/drawing/2014/main" id="{C0019A97-9566-4D96-B87D-4B9B750E93F6}"/>
                </a:ext>
              </a:extLst>
            </p:cNvPr>
            <p:cNvCxnSpPr>
              <a:cxnSpLocks/>
            </p:cNvCxnSpPr>
            <p:nvPr/>
          </p:nvCxnSpPr>
          <p:spPr>
            <a:xfrm flipH="1">
              <a:off x="528086" y="2210655"/>
              <a:ext cx="335176" cy="0"/>
            </a:xfrm>
            <a:prstGeom prst="line">
              <a:avLst/>
            </a:prstGeom>
            <a:ln w="19050">
              <a:solidFill>
                <a:srgbClr val="2B546B"/>
              </a:solidFill>
              <a:prstDash val="sysDot"/>
            </a:ln>
          </p:spPr>
          <p:style>
            <a:lnRef idx="1">
              <a:schemeClr val="accent1"/>
            </a:lnRef>
            <a:fillRef idx="0">
              <a:schemeClr val="accent1"/>
            </a:fillRef>
            <a:effectRef idx="0">
              <a:schemeClr val="accent1"/>
            </a:effectRef>
            <a:fontRef idx="minor">
              <a:schemeClr val="tx1"/>
            </a:fontRef>
          </p:style>
        </p:cxnSp>
        <p:cxnSp>
          <p:nvCxnSpPr>
            <p:cNvPr id="23" name="Прямая со стрелкой 22">
              <a:extLst>
                <a:ext uri="{FF2B5EF4-FFF2-40B4-BE49-F238E27FC236}">
                  <a16:creationId xmlns:a16="http://schemas.microsoft.com/office/drawing/2014/main" id="{53B05832-43AD-4064-83C8-7E6F0D19FAEC}"/>
                </a:ext>
              </a:extLst>
            </p:cNvPr>
            <p:cNvCxnSpPr>
              <a:cxnSpLocks/>
            </p:cNvCxnSpPr>
            <p:nvPr/>
          </p:nvCxnSpPr>
          <p:spPr>
            <a:xfrm>
              <a:off x="534496" y="4554024"/>
              <a:ext cx="328767" cy="0"/>
            </a:xfrm>
            <a:prstGeom prst="straightConnector1">
              <a:avLst/>
            </a:prstGeom>
            <a:ln w="19050">
              <a:solidFill>
                <a:srgbClr val="2B546B"/>
              </a:solidFill>
              <a:prstDash val="sysDot"/>
              <a:tailEnd type="triangle"/>
            </a:ln>
          </p:spPr>
          <p:style>
            <a:lnRef idx="1">
              <a:schemeClr val="accent1"/>
            </a:lnRef>
            <a:fillRef idx="0">
              <a:schemeClr val="accent1"/>
            </a:fillRef>
            <a:effectRef idx="0">
              <a:schemeClr val="accent1"/>
            </a:effectRef>
            <a:fontRef idx="minor">
              <a:schemeClr val="tx1"/>
            </a:fontRef>
          </p:style>
        </p:cxnSp>
      </p:grpSp>
      <p:grpSp>
        <p:nvGrpSpPr>
          <p:cNvPr id="24" name="Группа 23">
            <a:extLst>
              <a:ext uri="{FF2B5EF4-FFF2-40B4-BE49-F238E27FC236}">
                <a16:creationId xmlns:a16="http://schemas.microsoft.com/office/drawing/2014/main" id="{D7CD8D2F-3FB6-4DDA-A320-A90C8149D162}"/>
              </a:ext>
            </a:extLst>
          </p:cNvPr>
          <p:cNvGrpSpPr/>
          <p:nvPr/>
        </p:nvGrpSpPr>
        <p:grpSpPr>
          <a:xfrm flipH="1">
            <a:off x="3887459" y="2946399"/>
            <a:ext cx="896943" cy="3216275"/>
            <a:chOff x="528086" y="2200643"/>
            <a:chExt cx="1615187" cy="2360604"/>
          </a:xfrm>
        </p:grpSpPr>
        <p:cxnSp>
          <p:nvCxnSpPr>
            <p:cNvPr id="25" name="Прямая соединительная линия 24">
              <a:extLst>
                <a:ext uri="{FF2B5EF4-FFF2-40B4-BE49-F238E27FC236}">
                  <a16:creationId xmlns:a16="http://schemas.microsoft.com/office/drawing/2014/main" id="{DE5F3C0F-33DE-423C-B361-8137B00BF6B9}"/>
                </a:ext>
              </a:extLst>
            </p:cNvPr>
            <p:cNvCxnSpPr>
              <a:cxnSpLocks/>
            </p:cNvCxnSpPr>
            <p:nvPr/>
          </p:nvCxnSpPr>
          <p:spPr>
            <a:xfrm>
              <a:off x="542259" y="2200643"/>
              <a:ext cx="0" cy="2360604"/>
            </a:xfrm>
            <a:prstGeom prst="line">
              <a:avLst/>
            </a:prstGeom>
            <a:ln w="19050">
              <a:solidFill>
                <a:srgbClr val="2B546B"/>
              </a:solidFill>
              <a:prstDash val="sysDot"/>
            </a:ln>
          </p:spPr>
          <p:style>
            <a:lnRef idx="1">
              <a:schemeClr val="accent1"/>
            </a:lnRef>
            <a:fillRef idx="0">
              <a:schemeClr val="accent1"/>
            </a:fillRef>
            <a:effectRef idx="0">
              <a:schemeClr val="accent1"/>
            </a:effectRef>
            <a:fontRef idx="minor">
              <a:schemeClr val="tx1"/>
            </a:fontRef>
          </p:style>
        </p:cxnSp>
        <p:cxnSp>
          <p:nvCxnSpPr>
            <p:cNvPr id="26" name="Прямая соединительная линия 25">
              <a:extLst>
                <a:ext uri="{FF2B5EF4-FFF2-40B4-BE49-F238E27FC236}">
                  <a16:creationId xmlns:a16="http://schemas.microsoft.com/office/drawing/2014/main" id="{E613D07B-CEDA-4656-9C52-F22ED99B5542}"/>
                </a:ext>
              </a:extLst>
            </p:cNvPr>
            <p:cNvCxnSpPr>
              <a:cxnSpLocks/>
            </p:cNvCxnSpPr>
            <p:nvPr/>
          </p:nvCxnSpPr>
          <p:spPr>
            <a:xfrm flipH="1">
              <a:off x="528086" y="2210655"/>
              <a:ext cx="1615187" cy="0"/>
            </a:xfrm>
            <a:prstGeom prst="line">
              <a:avLst/>
            </a:prstGeom>
            <a:ln w="19050">
              <a:solidFill>
                <a:srgbClr val="2B546B"/>
              </a:solidFill>
              <a:prstDash val="sysDot"/>
            </a:ln>
          </p:spPr>
          <p:style>
            <a:lnRef idx="1">
              <a:schemeClr val="accent1"/>
            </a:lnRef>
            <a:fillRef idx="0">
              <a:schemeClr val="accent1"/>
            </a:fillRef>
            <a:effectRef idx="0">
              <a:schemeClr val="accent1"/>
            </a:effectRef>
            <a:fontRef idx="minor">
              <a:schemeClr val="tx1"/>
            </a:fontRef>
          </p:style>
        </p:cxnSp>
        <p:cxnSp>
          <p:nvCxnSpPr>
            <p:cNvPr id="27" name="Прямая со стрелкой 26">
              <a:extLst>
                <a:ext uri="{FF2B5EF4-FFF2-40B4-BE49-F238E27FC236}">
                  <a16:creationId xmlns:a16="http://schemas.microsoft.com/office/drawing/2014/main" id="{E40C4BBD-52B3-4797-BD92-C6BFD04CDE8B}"/>
                </a:ext>
              </a:extLst>
            </p:cNvPr>
            <p:cNvCxnSpPr>
              <a:cxnSpLocks/>
            </p:cNvCxnSpPr>
            <p:nvPr/>
          </p:nvCxnSpPr>
          <p:spPr>
            <a:xfrm>
              <a:off x="534496" y="4554024"/>
              <a:ext cx="657533" cy="0"/>
            </a:xfrm>
            <a:prstGeom prst="straightConnector1">
              <a:avLst/>
            </a:prstGeom>
            <a:ln w="19050">
              <a:solidFill>
                <a:srgbClr val="2B546B"/>
              </a:solidFill>
              <a:prstDash val="sysDot"/>
              <a:tailEnd type="triangle"/>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63D2786A-5988-4F05-B983-EF3F50E3793F}"/>
              </a:ext>
            </a:extLst>
          </p:cNvPr>
          <p:cNvSpPr txBox="1"/>
          <p:nvPr/>
        </p:nvSpPr>
        <p:spPr>
          <a:xfrm>
            <a:off x="639000" y="4894401"/>
            <a:ext cx="3598914" cy="738664"/>
          </a:xfrm>
          <a:prstGeom prst="rect">
            <a:avLst/>
          </a:prstGeom>
          <a:noFill/>
        </p:spPr>
        <p:txBody>
          <a:bodyPr wrap="square" rtlCol="0">
            <a:spAutoFit/>
          </a:bodyPr>
          <a:lstStyle/>
          <a:p>
            <a:r>
              <a:rPr lang="ru-RU" sz="1400" dirty="0">
                <a:latin typeface="Arial" panose="020B0604020202020204" pitchFamily="34" charset="0"/>
                <a:cs typeface="Arial" panose="020B0604020202020204" pitchFamily="34" charset="0"/>
              </a:rPr>
              <a:t>25-44 года, казахи, богатые, живущие не в своем жилье, жители Улытауской области, Астаны.</a:t>
            </a:r>
          </a:p>
        </p:txBody>
      </p:sp>
      <p:sp>
        <p:nvSpPr>
          <p:cNvPr id="30" name="TextBox 29">
            <a:extLst>
              <a:ext uri="{FF2B5EF4-FFF2-40B4-BE49-F238E27FC236}">
                <a16:creationId xmlns:a16="http://schemas.microsoft.com/office/drawing/2014/main" id="{C9613A65-7656-423C-AACA-20F32E32BBE3}"/>
              </a:ext>
            </a:extLst>
          </p:cNvPr>
          <p:cNvSpPr txBox="1"/>
          <p:nvPr/>
        </p:nvSpPr>
        <p:spPr>
          <a:xfrm>
            <a:off x="607161" y="4411830"/>
            <a:ext cx="3598915" cy="523220"/>
          </a:xfrm>
          <a:prstGeom prst="rect">
            <a:avLst/>
          </a:prstGeom>
          <a:noFill/>
        </p:spPr>
        <p:txBody>
          <a:bodyPr wrap="square" rtlCol="0">
            <a:spAutoFit/>
          </a:bodyPr>
          <a:lstStyle/>
          <a:p>
            <a:r>
              <a:rPr lang="ru-RU" sz="1400" b="1" dirty="0">
                <a:latin typeface="Arial" panose="020B0604020202020204" pitchFamily="34" charset="0"/>
                <a:cs typeface="Arial" panose="020B0604020202020204" pitchFamily="34" charset="0"/>
              </a:rPr>
              <a:t>В каких социально-демографических группах выше?</a:t>
            </a:r>
            <a:endParaRPr lang="en-US" sz="1400" b="1" dirty="0">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83B99E4F-3EE7-422D-96B7-1D0472822448}"/>
              </a:ext>
            </a:extLst>
          </p:cNvPr>
          <p:cNvSpPr txBox="1"/>
          <p:nvPr/>
        </p:nvSpPr>
        <p:spPr>
          <a:xfrm>
            <a:off x="606064" y="5677110"/>
            <a:ext cx="3974271" cy="1169551"/>
          </a:xfrm>
          <a:prstGeom prst="rect">
            <a:avLst/>
          </a:prstGeom>
          <a:noFill/>
        </p:spPr>
        <p:txBody>
          <a:bodyPr wrap="square" rtlCol="0">
            <a:spAutoFit/>
          </a:bodyPr>
          <a:lstStyle/>
          <a:p>
            <a:r>
              <a:rPr lang="ru-RU" sz="1400" dirty="0">
                <a:latin typeface="Arial" panose="020B0604020202020204" pitchFamily="34" charset="0"/>
                <a:cs typeface="Arial" panose="020B0604020202020204" pitchFamily="34" charset="0"/>
              </a:rPr>
              <a:t>55+, русские и представители других национальностей, живущие одни, очень бедные, живущие в своём жилье, жители ВКО, Костанайской, Карагандинской, Павлодарской областей.</a:t>
            </a:r>
          </a:p>
        </p:txBody>
      </p:sp>
      <p:grpSp>
        <p:nvGrpSpPr>
          <p:cNvPr id="33" name="Группа 32">
            <a:extLst>
              <a:ext uri="{FF2B5EF4-FFF2-40B4-BE49-F238E27FC236}">
                <a16:creationId xmlns:a16="http://schemas.microsoft.com/office/drawing/2014/main" id="{708ECEB2-06D3-42B9-B2E3-B0FACBCE39CB}"/>
              </a:ext>
            </a:extLst>
          </p:cNvPr>
          <p:cNvGrpSpPr/>
          <p:nvPr/>
        </p:nvGrpSpPr>
        <p:grpSpPr>
          <a:xfrm>
            <a:off x="5202775" y="1659477"/>
            <a:ext cx="287537" cy="3046462"/>
            <a:chOff x="528086" y="2200643"/>
            <a:chExt cx="335177" cy="2360604"/>
          </a:xfrm>
        </p:grpSpPr>
        <p:cxnSp>
          <p:nvCxnSpPr>
            <p:cNvPr id="34" name="Прямая соединительная линия 33">
              <a:extLst>
                <a:ext uri="{FF2B5EF4-FFF2-40B4-BE49-F238E27FC236}">
                  <a16:creationId xmlns:a16="http://schemas.microsoft.com/office/drawing/2014/main" id="{05CE870A-1BB0-40F5-9619-82DF6F06B96B}"/>
                </a:ext>
              </a:extLst>
            </p:cNvPr>
            <p:cNvCxnSpPr>
              <a:cxnSpLocks/>
            </p:cNvCxnSpPr>
            <p:nvPr/>
          </p:nvCxnSpPr>
          <p:spPr>
            <a:xfrm>
              <a:off x="542259" y="2200643"/>
              <a:ext cx="0" cy="2360604"/>
            </a:xfrm>
            <a:prstGeom prst="line">
              <a:avLst/>
            </a:prstGeom>
            <a:ln w="1905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35" name="Прямая соединительная линия 34">
              <a:extLst>
                <a:ext uri="{FF2B5EF4-FFF2-40B4-BE49-F238E27FC236}">
                  <a16:creationId xmlns:a16="http://schemas.microsoft.com/office/drawing/2014/main" id="{43D7BAD3-35F7-495C-96B5-2D2BA2F10651}"/>
                </a:ext>
              </a:extLst>
            </p:cNvPr>
            <p:cNvCxnSpPr>
              <a:cxnSpLocks/>
            </p:cNvCxnSpPr>
            <p:nvPr/>
          </p:nvCxnSpPr>
          <p:spPr>
            <a:xfrm flipH="1">
              <a:off x="528086" y="2210655"/>
              <a:ext cx="335176" cy="0"/>
            </a:xfrm>
            <a:prstGeom prst="line">
              <a:avLst/>
            </a:prstGeom>
            <a:ln w="1905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36" name="Прямая со стрелкой 35">
              <a:extLst>
                <a:ext uri="{FF2B5EF4-FFF2-40B4-BE49-F238E27FC236}">
                  <a16:creationId xmlns:a16="http://schemas.microsoft.com/office/drawing/2014/main" id="{8E46B292-273E-48EC-8096-0EB83CC0AD18}"/>
                </a:ext>
              </a:extLst>
            </p:cNvPr>
            <p:cNvCxnSpPr>
              <a:cxnSpLocks/>
            </p:cNvCxnSpPr>
            <p:nvPr/>
          </p:nvCxnSpPr>
          <p:spPr>
            <a:xfrm>
              <a:off x="534496" y="4554024"/>
              <a:ext cx="328767" cy="0"/>
            </a:xfrm>
            <a:prstGeom prst="straightConnector1">
              <a:avLst/>
            </a:prstGeom>
            <a:ln w="19050">
              <a:solidFill>
                <a:schemeClr val="bg1"/>
              </a:solidFill>
              <a:prstDash val="sysDot"/>
              <a:tailEnd type="triangle"/>
            </a:ln>
          </p:spPr>
          <p:style>
            <a:lnRef idx="1">
              <a:schemeClr val="accent1"/>
            </a:lnRef>
            <a:fillRef idx="0">
              <a:schemeClr val="accent1"/>
            </a:fillRef>
            <a:effectRef idx="0">
              <a:schemeClr val="accent1"/>
            </a:effectRef>
            <a:fontRef idx="minor">
              <a:schemeClr val="tx1"/>
            </a:fontRef>
          </p:style>
        </p:cxnSp>
      </p:grpSp>
      <p:sp>
        <p:nvSpPr>
          <p:cNvPr id="37" name="TextBox 36">
            <a:extLst>
              <a:ext uri="{FF2B5EF4-FFF2-40B4-BE49-F238E27FC236}">
                <a16:creationId xmlns:a16="http://schemas.microsoft.com/office/drawing/2014/main" id="{38B7A475-5869-456C-BAAF-C0E937A7FE97}"/>
              </a:ext>
            </a:extLst>
          </p:cNvPr>
          <p:cNvSpPr txBox="1"/>
          <p:nvPr/>
        </p:nvSpPr>
        <p:spPr>
          <a:xfrm>
            <a:off x="5422619" y="4400708"/>
            <a:ext cx="3598914" cy="523220"/>
          </a:xfrm>
          <a:prstGeom prst="rect">
            <a:avLst/>
          </a:prstGeom>
          <a:noFill/>
        </p:spPr>
        <p:txBody>
          <a:bodyPr wrap="square" rtlCol="0">
            <a:spAutoFit/>
          </a:bodyPr>
          <a:lstStyle/>
          <a:p>
            <a:r>
              <a:rPr lang="ru-RU" sz="1400" dirty="0">
                <a:solidFill>
                  <a:schemeClr val="bg1"/>
                </a:solidFill>
                <a:latin typeface="Arial" panose="020B0604020202020204" pitchFamily="34" charset="0"/>
                <a:cs typeface="Arial" panose="020B0604020202020204" pitchFamily="34" charset="0"/>
              </a:rPr>
              <a:t>18-24 года, казахи, высшее образование, богатые, жители Астаны</a:t>
            </a:r>
          </a:p>
        </p:txBody>
      </p:sp>
      <p:sp>
        <p:nvSpPr>
          <p:cNvPr id="38" name="TextBox 37">
            <a:extLst>
              <a:ext uri="{FF2B5EF4-FFF2-40B4-BE49-F238E27FC236}">
                <a16:creationId xmlns:a16="http://schemas.microsoft.com/office/drawing/2014/main" id="{DBC08465-F67C-4DE7-BD6E-7EC593F6DBD8}"/>
              </a:ext>
            </a:extLst>
          </p:cNvPr>
          <p:cNvSpPr txBox="1"/>
          <p:nvPr/>
        </p:nvSpPr>
        <p:spPr>
          <a:xfrm>
            <a:off x="5422619" y="4889371"/>
            <a:ext cx="3598914" cy="523220"/>
          </a:xfrm>
          <a:prstGeom prst="rect">
            <a:avLst/>
          </a:prstGeom>
          <a:noFill/>
        </p:spPr>
        <p:txBody>
          <a:bodyPr wrap="square" rtlCol="0">
            <a:spAutoFit/>
          </a:bodyPr>
          <a:lstStyle/>
          <a:p>
            <a:r>
              <a:rPr lang="ru-RU" sz="1400" dirty="0">
                <a:solidFill>
                  <a:schemeClr val="bg1"/>
                </a:solidFill>
                <a:latin typeface="Arial" panose="020B0604020202020204" pitchFamily="34" charset="0"/>
                <a:cs typeface="Arial" panose="020B0604020202020204" pitchFamily="34" charset="0"/>
              </a:rPr>
              <a:t>русские, живущие одни, жители Карагандинской, Костанайской областей. </a:t>
            </a:r>
          </a:p>
        </p:txBody>
      </p:sp>
      <p:grpSp>
        <p:nvGrpSpPr>
          <p:cNvPr id="40" name="Группа 39">
            <a:extLst>
              <a:ext uri="{FF2B5EF4-FFF2-40B4-BE49-F238E27FC236}">
                <a16:creationId xmlns:a16="http://schemas.microsoft.com/office/drawing/2014/main" id="{B1E0DE2A-B8A4-4965-8AD4-FF92BFAB7F8F}"/>
              </a:ext>
            </a:extLst>
          </p:cNvPr>
          <p:cNvGrpSpPr/>
          <p:nvPr/>
        </p:nvGrpSpPr>
        <p:grpSpPr>
          <a:xfrm>
            <a:off x="5126212" y="3947484"/>
            <a:ext cx="355860" cy="1267729"/>
            <a:chOff x="528086" y="2200643"/>
            <a:chExt cx="335177" cy="2360604"/>
          </a:xfrm>
        </p:grpSpPr>
        <p:cxnSp>
          <p:nvCxnSpPr>
            <p:cNvPr id="41" name="Прямая соединительная линия 40">
              <a:extLst>
                <a:ext uri="{FF2B5EF4-FFF2-40B4-BE49-F238E27FC236}">
                  <a16:creationId xmlns:a16="http://schemas.microsoft.com/office/drawing/2014/main" id="{59665476-2F73-4FA0-8B5F-C3FADAECFFE7}"/>
                </a:ext>
              </a:extLst>
            </p:cNvPr>
            <p:cNvCxnSpPr>
              <a:cxnSpLocks/>
            </p:cNvCxnSpPr>
            <p:nvPr/>
          </p:nvCxnSpPr>
          <p:spPr>
            <a:xfrm>
              <a:off x="542259" y="2200643"/>
              <a:ext cx="0" cy="2360604"/>
            </a:xfrm>
            <a:prstGeom prst="line">
              <a:avLst/>
            </a:prstGeom>
            <a:ln w="1905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42" name="Прямая соединительная линия 41">
              <a:extLst>
                <a:ext uri="{FF2B5EF4-FFF2-40B4-BE49-F238E27FC236}">
                  <a16:creationId xmlns:a16="http://schemas.microsoft.com/office/drawing/2014/main" id="{D2246EB8-A072-4BA5-A2FB-E9B78B2910A6}"/>
                </a:ext>
              </a:extLst>
            </p:cNvPr>
            <p:cNvCxnSpPr>
              <a:cxnSpLocks/>
            </p:cNvCxnSpPr>
            <p:nvPr/>
          </p:nvCxnSpPr>
          <p:spPr>
            <a:xfrm flipH="1">
              <a:off x="528086" y="2210655"/>
              <a:ext cx="335176" cy="0"/>
            </a:xfrm>
            <a:prstGeom prst="line">
              <a:avLst/>
            </a:prstGeom>
            <a:ln w="1905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43" name="Прямая со стрелкой 42">
              <a:extLst>
                <a:ext uri="{FF2B5EF4-FFF2-40B4-BE49-F238E27FC236}">
                  <a16:creationId xmlns:a16="http://schemas.microsoft.com/office/drawing/2014/main" id="{15CFED1E-D9DC-4C8C-AA4F-DB7805A9DE5B}"/>
                </a:ext>
              </a:extLst>
            </p:cNvPr>
            <p:cNvCxnSpPr>
              <a:cxnSpLocks/>
            </p:cNvCxnSpPr>
            <p:nvPr/>
          </p:nvCxnSpPr>
          <p:spPr>
            <a:xfrm>
              <a:off x="534496" y="4554024"/>
              <a:ext cx="328767" cy="0"/>
            </a:xfrm>
            <a:prstGeom prst="straightConnector1">
              <a:avLst/>
            </a:prstGeom>
            <a:ln w="19050">
              <a:solidFill>
                <a:schemeClr val="bg1"/>
              </a:solidFill>
              <a:prstDash val="sysDot"/>
              <a:tailEnd type="triangle"/>
            </a:ln>
          </p:spPr>
          <p:style>
            <a:lnRef idx="1">
              <a:schemeClr val="accent1"/>
            </a:lnRef>
            <a:fillRef idx="0">
              <a:schemeClr val="accent1"/>
            </a:fillRef>
            <a:effectRef idx="0">
              <a:schemeClr val="accent1"/>
            </a:effectRef>
            <a:fontRef idx="minor">
              <a:schemeClr val="tx1"/>
            </a:fontRef>
          </p:style>
        </p:cxnSp>
      </p:grpSp>
      <p:grpSp>
        <p:nvGrpSpPr>
          <p:cNvPr id="44" name="Группа 43">
            <a:extLst>
              <a:ext uri="{FF2B5EF4-FFF2-40B4-BE49-F238E27FC236}">
                <a16:creationId xmlns:a16="http://schemas.microsoft.com/office/drawing/2014/main" id="{CBB73C49-ACD9-4CED-8DDD-B7D21EAAA6F9}"/>
              </a:ext>
            </a:extLst>
          </p:cNvPr>
          <p:cNvGrpSpPr/>
          <p:nvPr/>
        </p:nvGrpSpPr>
        <p:grpSpPr>
          <a:xfrm flipH="1">
            <a:off x="8877512" y="2719026"/>
            <a:ext cx="788997" cy="3725981"/>
            <a:chOff x="528086" y="2200643"/>
            <a:chExt cx="1615187" cy="2360604"/>
          </a:xfrm>
        </p:grpSpPr>
        <p:cxnSp>
          <p:nvCxnSpPr>
            <p:cNvPr id="45" name="Прямая соединительная линия 44">
              <a:extLst>
                <a:ext uri="{FF2B5EF4-FFF2-40B4-BE49-F238E27FC236}">
                  <a16:creationId xmlns:a16="http://schemas.microsoft.com/office/drawing/2014/main" id="{DE8FA9F8-0B4F-46C3-ADAB-664D0BC979D4}"/>
                </a:ext>
              </a:extLst>
            </p:cNvPr>
            <p:cNvCxnSpPr>
              <a:cxnSpLocks/>
            </p:cNvCxnSpPr>
            <p:nvPr/>
          </p:nvCxnSpPr>
          <p:spPr>
            <a:xfrm>
              <a:off x="542259" y="2200643"/>
              <a:ext cx="0" cy="2360604"/>
            </a:xfrm>
            <a:prstGeom prst="line">
              <a:avLst/>
            </a:prstGeom>
            <a:ln w="1905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47" name="Прямая соединительная линия 46">
              <a:extLst>
                <a:ext uri="{FF2B5EF4-FFF2-40B4-BE49-F238E27FC236}">
                  <a16:creationId xmlns:a16="http://schemas.microsoft.com/office/drawing/2014/main" id="{5F03198D-82D2-41A9-A21D-CD4E9653621B}"/>
                </a:ext>
              </a:extLst>
            </p:cNvPr>
            <p:cNvCxnSpPr>
              <a:cxnSpLocks/>
            </p:cNvCxnSpPr>
            <p:nvPr/>
          </p:nvCxnSpPr>
          <p:spPr>
            <a:xfrm flipH="1">
              <a:off x="528086" y="2210655"/>
              <a:ext cx="1615187" cy="0"/>
            </a:xfrm>
            <a:prstGeom prst="line">
              <a:avLst/>
            </a:prstGeom>
            <a:ln w="1905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48" name="Прямая со стрелкой 47">
              <a:extLst>
                <a:ext uri="{FF2B5EF4-FFF2-40B4-BE49-F238E27FC236}">
                  <a16:creationId xmlns:a16="http://schemas.microsoft.com/office/drawing/2014/main" id="{9B5EE461-5194-48DC-92FB-1882977046B9}"/>
                </a:ext>
              </a:extLst>
            </p:cNvPr>
            <p:cNvCxnSpPr>
              <a:cxnSpLocks/>
            </p:cNvCxnSpPr>
            <p:nvPr/>
          </p:nvCxnSpPr>
          <p:spPr>
            <a:xfrm>
              <a:off x="534496" y="4554024"/>
              <a:ext cx="657533" cy="0"/>
            </a:xfrm>
            <a:prstGeom prst="straightConnector1">
              <a:avLst/>
            </a:prstGeom>
            <a:ln w="19050">
              <a:solidFill>
                <a:schemeClr val="bg1"/>
              </a:solidFill>
              <a:prstDash val="sysDot"/>
              <a:tailEnd type="triangle"/>
            </a:ln>
          </p:spPr>
          <p:style>
            <a:lnRef idx="1">
              <a:schemeClr val="accent1"/>
            </a:lnRef>
            <a:fillRef idx="0">
              <a:schemeClr val="accent1"/>
            </a:fillRef>
            <a:effectRef idx="0">
              <a:schemeClr val="accent1"/>
            </a:effectRef>
            <a:fontRef idx="minor">
              <a:schemeClr val="tx1"/>
            </a:fontRef>
          </p:style>
        </p:cxnSp>
      </p:grpSp>
      <p:sp>
        <p:nvSpPr>
          <p:cNvPr id="49" name="TextBox 48">
            <a:extLst>
              <a:ext uri="{FF2B5EF4-FFF2-40B4-BE49-F238E27FC236}">
                <a16:creationId xmlns:a16="http://schemas.microsoft.com/office/drawing/2014/main" id="{FC5E5918-4BD9-4F3F-AAAF-7B67AC653026}"/>
              </a:ext>
            </a:extLst>
          </p:cNvPr>
          <p:cNvSpPr txBox="1"/>
          <p:nvPr/>
        </p:nvSpPr>
        <p:spPr>
          <a:xfrm>
            <a:off x="5385138" y="5473054"/>
            <a:ext cx="4038304" cy="1169551"/>
          </a:xfrm>
          <a:prstGeom prst="rect">
            <a:avLst/>
          </a:prstGeom>
          <a:noFill/>
        </p:spPr>
        <p:txBody>
          <a:bodyPr wrap="square" rtlCol="0">
            <a:spAutoFit/>
          </a:bodyPr>
          <a:lstStyle/>
          <a:p>
            <a:r>
              <a:rPr lang="ru-RU" sz="1400" dirty="0">
                <a:solidFill>
                  <a:schemeClr val="bg1"/>
                </a:solidFill>
                <a:latin typeface="Arial" panose="020B0604020202020204" pitchFamily="34" charset="0"/>
                <a:cs typeface="Arial" panose="020B0604020202020204" pitchFamily="34" charset="0"/>
              </a:rPr>
              <a:t>мужчины, сельские жители, среднее образование, живущие в семьях 5+ человек, очень бедные и очень богатые, жители Жетысуйской, Кызылординской, Туркестанской областей. </a:t>
            </a:r>
          </a:p>
        </p:txBody>
      </p:sp>
      <p:sp>
        <p:nvSpPr>
          <p:cNvPr id="50" name="TextBox 49">
            <a:extLst>
              <a:ext uri="{FF2B5EF4-FFF2-40B4-BE49-F238E27FC236}">
                <a16:creationId xmlns:a16="http://schemas.microsoft.com/office/drawing/2014/main" id="{6CA65C75-FEA3-42C9-8D2F-7F5A5A7F11DD}"/>
              </a:ext>
            </a:extLst>
          </p:cNvPr>
          <p:cNvSpPr txBox="1"/>
          <p:nvPr/>
        </p:nvSpPr>
        <p:spPr>
          <a:xfrm>
            <a:off x="5278597" y="812863"/>
            <a:ext cx="3598915" cy="307777"/>
          </a:xfrm>
          <a:prstGeom prst="rect">
            <a:avLst/>
          </a:prstGeom>
          <a:noFill/>
        </p:spPr>
        <p:txBody>
          <a:bodyPr wrap="square" rtlCol="0">
            <a:spAutoFit/>
          </a:bodyPr>
          <a:lstStyle/>
          <a:p>
            <a:r>
              <a:rPr lang="ru-RU" sz="1400" dirty="0">
                <a:solidFill>
                  <a:schemeClr val="bg1"/>
                </a:solidFill>
                <a:latin typeface="Arial" panose="020B0604020202020204" pitchFamily="34" charset="0"/>
                <a:cs typeface="Arial" panose="020B0604020202020204" pitchFamily="34" charset="0"/>
              </a:rPr>
              <a:t>от тех, кто планирует приобретать жильё</a:t>
            </a:r>
            <a:endParaRPr lang="en-US" sz="1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5009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Прямоугольник 15">
            <a:extLst>
              <a:ext uri="{FF2B5EF4-FFF2-40B4-BE49-F238E27FC236}">
                <a16:creationId xmlns:a16="http://schemas.microsoft.com/office/drawing/2014/main" id="{E0027092-A459-44AA-AFBC-7CB653E13900}"/>
              </a:ext>
            </a:extLst>
          </p:cNvPr>
          <p:cNvSpPr/>
          <p:nvPr/>
        </p:nvSpPr>
        <p:spPr>
          <a:xfrm>
            <a:off x="4953001" y="-5163"/>
            <a:ext cx="4953000" cy="6858000"/>
          </a:xfrm>
          <a:prstGeom prst="rect">
            <a:avLst/>
          </a:prstGeom>
          <a:solidFill>
            <a:srgbClr val="2B546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5" name="Заголовок 1">
            <a:extLst>
              <a:ext uri="{FF2B5EF4-FFF2-40B4-BE49-F238E27FC236}">
                <a16:creationId xmlns:a16="http://schemas.microsoft.com/office/drawing/2014/main" id="{D5F66BA9-4310-434F-BC2F-067B1C838129}"/>
              </a:ext>
            </a:extLst>
          </p:cNvPr>
          <p:cNvSpPr txBox="1">
            <a:spLocks/>
          </p:cNvSpPr>
          <p:nvPr/>
        </p:nvSpPr>
        <p:spPr>
          <a:xfrm>
            <a:off x="407984" y="321638"/>
            <a:ext cx="5213648" cy="1196393"/>
          </a:xfrm>
          <a:prstGeom prst="rect">
            <a:avLst/>
          </a:prstGeom>
        </p:spPr>
        <p:txBody>
          <a:bodyPr vert="horz" lIns="74295" tIns="37148" rIns="74295" bIns="37148"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3000"/>
              </a:lnSpc>
            </a:pPr>
            <a:r>
              <a:rPr lang="ru-RU" sz="3200" b="1" dirty="0">
                <a:latin typeface="Arial" panose="020B0604020202020204" pitchFamily="34" charset="0"/>
                <a:ea typeface="+mn-ea"/>
                <a:cs typeface="Arial" panose="020B0604020202020204" pitchFamily="34" charset="0"/>
              </a:rPr>
              <a:t>Для чего планируете </a:t>
            </a:r>
          </a:p>
          <a:p>
            <a:pPr>
              <a:lnSpc>
                <a:spcPts val="3000"/>
              </a:lnSpc>
            </a:pPr>
            <a:r>
              <a:rPr lang="ru-RU" sz="3200" b="1" dirty="0">
                <a:latin typeface="Arial" panose="020B0604020202020204" pitchFamily="34" charset="0"/>
                <a:ea typeface="+mn-ea"/>
                <a:cs typeface="Arial" panose="020B0604020202020204" pitchFamily="34" charset="0"/>
              </a:rPr>
              <a:t>приобретать жильё? </a:t>
            </a:r>
          </a:p>
        </p:txBody>
      </p:sp>
      <p:grpSp>
        <p:nvGrpSpPr>
          <p:cNvPr id="46" name="Группа 45">
            <a:extLst>
              <a:ext uri="{FF2B5EF4-FFF2-40B4-BE49-F238E27FC236}">
                <a16:creationId xmlns:a16="http://schemas.microsoft.com/office/drawing/2014/main" id="{CE86DEC7-E59C-416E-AF53-A5B84AF7A51B}"/>
              </a:ext>
            </a:extLst>
          </p:cNvPr>
          <p:cNvGrpSpPr/>
          <p:nvPr/>
        </p:nvGrpSpPr>
        <p:grpSpPr>
          <a:xfrm flipH="1">
            <a:off x="8879980" y="3618312"/>
            <a:ext cx="740744" cy="2544364"/>
            <a:chOff x="528086" y="2200643"/>
            <a:chExt cx="725907" cy="2360604"/>
          </a:xfrm>
        </p:grpSpPr>
        <p:cxnSp>
          <p:nvCxnSpPr>
            <p:cNvPr id="51" name="Прямая соединительная линия 50">
              <a:extLst>
                <a:ext uri="{FF2B5EF4-FFF2-40B4-BE49-F238E27FC236}">
                  <a16:creationId xmlns:a16="http://schemas.microsoft.com/office/drawing/2014/main" id="{4A27FB2B-DEA6-42B8-8E66-EEF65AD97D23}"/>
                </a:ext>
              </a:extLst>
            </p:cNvPr>
            <p:cNvCxnSpPr>
              <a:cxnSpLocks/>
            </p:cNvCxnSpPr>
            <p:nvPr/>
          </p:nvCxnSpPr>
          <p:spPr>
            <a:xfrm>
              <a:off x="542259" y="2200643"/>
              <a:ext cx="0" cy="2360604"/>
            </a:xfrm>
            <a:prstGeom prst="line">
              <a:avLst/>
            </a:prstGeom>
            <a:ln w="19050">
              <a:solidFill>
                <a:srgbClr val="2B546B"/>
              </a:solidFill>
              <a:prstDash val="sysDot"/>
            </a:ln>
          </p:spPr>
          <p:style>
            <a:lnRef idx="1">
              <a:schemeClr val="accent1"/>
            </a:lnRef>
            <a:fillRef idx="0">
              <a:schemeClr val="accent1"/>
            </a:fillRef>
            <a:effectRef idx="0">
              <a:schemeClr val="accent1"/>
            </a:effectRef>
            <a:fontRef idx="minor">
              <a:schemeClr val="tx1"/>
            </a:fontRef>
          </p:style>
        </p:cxnSp>
        <p:cxnSp>
          <p:nvCxnSpPr>
            <p:cNvPr id="52" name="Прямая соединительная линия 51">
              <a:extLst>
                <a:ext uri="{FF2B5EF4-FFF2-40B4-BE49-F238E27FC236}">
                  <a16:creationId xmlns:a16="http://schemas.microsoft.com/office/drawing/2014/main" id="{829CF90F-ECAE-4BAC-BBF9-1BC091F056E2}"/>
                </a:ext>
              </a:extLst>
            </p:cNvPr>
            <p:cNvCxnSpPr>
              <a:cxnSpLocks/>
            </p:cNvCxnSpPr>
            <p:nvPr/>
          </p:nvCxnSpPr>
          <p:spPr>
            <a:xfrm flipH="1">
              <a:off x="528086" y="2210655"/>
              <a:ext cx="725907" cy="0"/>
            </a:xfrm>
            <a:prstGeom prst="line">
              <a:avLst/>
            </a:prstGeom>
            <a:ln w="19050">
              <a:solidFill>
                <a:srgbClr val="2B546B"/>
              </a:solidFill>
              <a:prstDash val="sysDot"/>
            </a:ln>
          </p:spPr>
          <p:style>
            <a:lnRef idx="1">
              <a:schemeClr val="accent1"/>
            </a:lnRef>
            <a:fillRef idx="0">
              <a:schemeClr val="accent1"/>
            </a:fillRef>
            <a:effectRef idx="0">
              <a:schemeClr val="accent1"/>
            </a:effectRef>
            <a:fontRef idx="minor">
              <a:schemeClr val="tx1"/>
            </a:fontRef>
          </p:style>
        </p:cxnSp>
        <p:cxnSp>
          <p:nvCxnSpPr>
            <p:cNvPr id="53" name="Прямая со стрелкой 52">
              <a:extLst>
                <a:ext uri="{FF2B5EF4-FFF2-40B4-BE49-F238E27FC236}">
                  <a16:creationId xmlns:a16="http://schemas.microsoft.com/office/drawing/2014/main" id="{44E2BDB4-0766-425D-B415-7E993EC4C22E}"/>
                </a:ext>
              </a:extLst>
            </p:cNvPr>
            <p:cNvCxnSpPr>
              <a:cxnSpLocks/>
            </p:cNvCxnSpPr>
            <p:nvPr/>
          </p:nvCxnSpPr>
          <p:spPr>
            <a:xfrm>
              <a:off x="534496" y="4554024"/>
              <a:ext cx="657533" cy="0"/>
            </a:xfrm>
            <a:prstGeom prst="straightConnector1">
              <a:avLst/>
            </a:prstGeom>
            <a:ln w="19050">
              <a:solidFill>
                <a:srgbClr val="2B546B"/>
              </a:solidFill>
              <a:prstDash val="sysDot"/>
              <a:tailEnd type="triangle"/>
            </a:ln>
          </p:spPr>
          <p:style>
            <a:lnRef idx="1">
              <a:schemeClr val="accent1"/>
            </a:lnRef>
            <a:fillRef idx="0">
              <a:schemeClr val="accent1"/>
            </a:fillRef>
            <a:effectRef idx="0">
              <a:schemeClr val="accent1"/>
            </a:effectRef>
            <a:fontRef idx="minor">
              <a:schemeClr val="tx1"/>
            </a:fontRef>
          </p:style>
        </p:cxnSp>
      </p:grpSp>
      <p:sp>
        <p:nvSpPr>
          <p:cNvPr id="56" name="Заголовок 1">
            <a:extLst>
              <a:ext uri="{FF2B5EF4-FFF2-40B4-BE49-F238E27FC236}">
                <a16:creationId xmlns:a16="http://schemas.microsoft.com/office/drawing/2014/main" id="{3A314F09-C6D9-49B3-8F72-C4B248605C02}"/>
              </a:ext>
            </a:extLst>
          </p:cNvPr>
          <p:cNvSpPr txBox="1">
            <a:spLocks/>
          </p:cNvSpPr>
          <p:nvPr/>
        </p:nvSpPr>
        <p:spPr>
          <a:xfrm>
            <a:off x="5080330" y="120908"/>
            <a:ext cx="4448869" cy="1180807"/>
          </a:xfrm>
          <a:prstGeom prst="rect">
            <a:avLst/>
          </a:prstGeom>
        </p:spPr>
        <p:txBody>
          <a:bodyPr vert="horz" lIns="74295" tIns="37148" rIns="74295" bIns="37148"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80340" marR="107315">
              <a:spcBef>
                <a:spcPts val="5"/>
              </a:spcBef>
              <a:spcAft>
                <a:spcPts val="0"/>
              </a:spcAft>
              <a:tabLst>
                <a:tab pos="270510" algn="l"/>
              </a:tabLst>
            </a:pPr>
            <a:r>
              <a:rPr lang="ru-RU" sz="2700" b="1" dirty="0">
                <a:solidFill>
                  <a:schemeClr val="bg1"/>
                </a:solidFill>
                <a:latin typeface="Arial" panose="020B0604020202020204" pitchFamily="34" charset="0"/>
                <a:ea typeface="+mn-ea"/>
                <a:cs typeface="Arial" panose="020B0604020202020204" pitchFamily="34" charset="0"/>
              </a:rPr>
              <a:t>За счет каких средств? </a:t>
            </a:r>
          </a:p>
        </p:txBody>
      </p:sp>
      <p:sp>
        <p:nvSpPr>
          <p:cNvPr id="14" name="TextBox 13">
            <a:extLst>
              <a:ext uri="{FF2B5EF4-FFF2-40B4-BE49-F238E27FC236}">
                <a16:creationId xmlns:a16="http://schemas.microsoft.com/office/drawing/2014/main" id="{50C52D7F-0363-4408-9044-2D2B23858D6B}"/>
              </a:ext>
            </a:extLst>
          </p:cNvPr>
          <p:cNvSpPr txBox="1"/>
          <p:nvPr/>
        </p:nvSpPr>
        <p:spPr>
          <a:xfrm>
            <a:off x="432009" y="1844832"/>
            <a:ext cx="4441719" cy="4593565"/>
          </a:xfrm>
          <a:prstGeom prst="rect">
            <a:avLst/>
          </a:prstGeom>
          <a:noFill/>
        </p:spPr>
        <p:txBody>
          <a:bodyPr wrap="square">
            <a:spAutoFit/>
          </a:bodyPr>
          <a:lstStyle/>
          <a:p>
            <a:pPr>
              <a:spcAft>
                <a:spcPts val="900"/>
              </a:spcAft>
            </a:pPr>
            <a:r>
              <a:rPr lang="ru-RU" sz="1200" i="1" dirty="0">
                <a:latin typeface="Arial" panose="020B0604020202020204" pitchFamily="34" charset="0"/>
                <a:cs typeface="Arial" panose="020B0604020202020204" pitchFamily="34" charset="0"/>
              </a:rPr>
              <a:t>«Чтобы обеспечивать жизнь детей в комфортных условиях» </a:t>
            </a:r>
            <a:r>
              <a:rPr lang="ru-RU" sz="1200" b="1" i="1" dirty="0">
                <a:latin typeface="Arial" panose="020B0604020202020204" pitchFamily="34" charset="0"/>
                <a:cs typeface="Arial" panose="020B0604020202020204" pitchFamily="34" charset="0"/>
              </a:rPr>
              <a:t>Женщина, 37 лет, Актау</a:t>
            </a:r>
          </a:p>
          <a:p>
            <a:pPr>
              <a:spcAft>
                <a:spcPts val="900"/>
              </a:spcAft>
            </a:pPr>
            <a:r>
              <a:rPr lang="ru-RU" sz="1200" i="1" dirty="0">
                <a:latin typeface="Arial" panose="020B0604020202020204" pitchFamily="34" charset="0"/>
                <a:cs typeface="Arial" panose="020B0604020202020204" pitchFamily="34" charset="0"/>
              </a:rPr>
              <a:t>«Я здесь работаю, а семья в другом городе, жена там работает» </a:t>
            </a:r>
            <a:r>
              <a:rPr lang="ru-RU" sz="1200" b="1" i="1" dirty="0">
                <a:latin typeface="Arial" panose="020B0604020202020204" pitchFamily="34" charset="0"/>
                <a:cs typeface="Arial" panose="020B0604020202020204" pitchFamily="34" charset="0"/>
              </a:rPr>
              <a:t>Мужчина, 47 лет, Семей</a:t>
            </a:r>
          </a:p>
          <a:p>
            <a:pPr>
              <a:spcAft>
                <a:spcPts val="900"/>
              </a:spcAft>
            </a:pPr>
            <a:r>
              <a:rPr lang="ru-RU" sz="1200" i="1" dirty="0">
                <a:latin typeface="Arial" panose="020B0604020202020204" pitchFamily="34" charset="0"/>
                <a:cs typeface="Arial" panose="020B0604020202020204" pitchFamily="34" charset="0"/>
              </a:rPr>
              <a:t>«</a:t>
            </a:r>
            <a:r>
              <a:rPr lang="ru-RU" sz="1200" b="0" i="1" dirty="0">
                <a:solidFill>
                  <a:srgbClr val="000000"/>
                </a:solidFill>
                <a:effectLst/>
                <a:latin typeface="Roboto"/>
              </a:rPr>
              <a:t>Мен өзім Астанада оқимын. Әрі Астанада үйім болғанын қалаймын</a:t>
            </a:r>
            <a:r>
              <a:rPr lang="ru-RU" sz="1200" b="1" i="1" dirty="0">
                <a:latin typeface="Arial" panose="020B0604020202020204" pitchFamily="34" charset="0"/>
                <a:cs typeface="Arial" panose="020B0604020202020204" pitchFamily="34" charset="0"/>
              </a:rPr>
              <a:t>» Мужчина, 18 лет, СКО</a:t>
            </a:r>
          </a:p>
          <a:p>
            <a:pPr>
              <a:spcAft>
                <a:spcPts val="900"/>
              </a:spcAft>
            </a:pPr>
            <a:r>
              <a:rPr lang="ru-RU" sz="1200" i="1" dirty="0">
                <a:latin typeface="Arial" panose="020B0604020202020204" pitchFamily="34" charset="0"/>
                <a:cs typeface="Arial" panose="020B0604020202020204" pitchFamily="34" charset="0"/>
              </a:rPr>
              <a:t>«</a:t>
            </a:r>
            <a:r>
              <a:rPr lang="ru-RU" sz="1200" b="0" i="1" dirty="0">
                <a:solidFill>
                  <a:srgbClr val="000000"/>
                </a:solidFill>
                <a:effectLst/>
                <a:latin typeface="Roboto"/>
              </a:rPr>
              <a:t>Қазіргі тұрып жатқан үйім сүрілу керек, сондықтан жаңа үй алғым келеді</a:t>
            </a:r>
            <a:r>
              <a:rPr lang="ru-RU" sz="1200" i="1" dirty="0">
                <a:latin typeface="Arial" panose="020B0604020202020204" pitchFamily="34" charset="0"/>
                <a:cs typeface="Arial" panose="020B0604020202020204" pitchFamily="34" charset="0"/>
              </a:rPr>
              <a:t>» </a:t>
            </a:r>
            <a:r>
              <a:rPr lang="ru-RU" sz="1200" b="1" i="1" dirty="0">
                <a:latin typeface="Arial" panose="020B0604020202020204" pitchFamily="34" charset="0"/>
                <a:cs typeface="Arial" panose="020B0604020202020204" pitchFamily="34" charset="0"/>
              </a:rPr>
              <a:t>Женщина, 48 лет, Кульсары</a:t>
            </a:r>
          </a:p>
          <a:p>
            <a:pPr>
              <a:spcAft>
                <a:spcPts val="900"/>
              </a:spcAft>
            </a:pPr>
            <a:r>
              <a:rPr lang="ru-RU" sz="1200" i="1" dirty="0">
                <a:latin typeface="Arial" panose="020B0604020202020204" pitchFamily="34" charset="0"/>
                <a:cs typeface="Arial" panose="020B0604020202020204" pitchFamily="34" charset="0"/>
              </a:rPr>
              <a:t>«Для закупа однокомнатных квартир, хочу покупать делать ремонт квартир и их продавать» </a:t>
            </a:r>
            <a:r>
              <a:rPr lang="ru-RU" sz="1200" b="1" i="1" dirty="0">
                <a:latin typeface="Arial" panose="020B0604020202020204" pitchFamily="34" charset="0"/>
                <a:cs typeface="Arial" panose="020B0604020202020204" pitchFamily="34" charset="0"/>
              </a:rPr>
              <a:t>Женщина, 31 год, Актау</a:t>
            </a:r>
          </a:p>
          <a:p>
            <a:pPr>
              <a:spcAft>
                <a:spcPts val="900"/>
              </a:spcAft>
            </a:pPr>
            <a:r>
              <a:rPr lang="ru-RU" sz="1200" i="1" dirty="0">
                <a:latin typeface="Arial" panose="020B0604020202020204" pitchFamily="34" charset="0"/>
                <a:cs typeface="Arial" panose="020B0604020202020204" pitchFamily="34" charset="0"/>
              </a:rPr>
              <a:t>«В связи с переездом. В селе, где живу, становится проблематично жить» </a:t>
            </a:r>
            <a:r>
              <a:rPr lang="ru-RU" sz="1200" b="1" i="1" dirty="0">
                <a:latin typeface="Arial" panose="020B0604020202020204" pitchFamily="34" charset="0"/>
                <a:cs typeface="Arial" panose="020B0604020202020204" pitchFamily="34" charset="0"/>
              </a:rPr>
              <a:t>Мужчина, 50 лет, Акмолинская область</a:t>
            </a:r>
          </a:p>
          <a:p>
            <a:pPr>
              <a:spcAft>
                <a:spcPts val="900"/>
              </a:spcAft>
            </a:pPr>
            <a:r>
              <a:rPr lang="ru-RU" sz="1200" i="1" dirty="0">
                <a:latin typeface="Arial" panose="020B0604020202020204" pitchFamily="34" charset="0"/>
                <a:cs typeface="Arial" panose="020B0604020202020204" pitchFamily="34" charset="0"/>
              </a:rPr>
              <a:t>«Чтобы у детей было свое жилье, чтобы в будущем никто не обременял, не беспокоил» </a:t>
            </a:r>
            <a:r>
              <a:rPr lang="ru-RU" sz="1200" b="1" i="1" dirty="0">
                <a:latin typeface="Arial" panose="020B0604020202020204" pitchFamily="34" charset="0"/>
                <a:cs typeface="Arial" panose="020B0604020202020204" pitchFamily="34" charset="0"/>
              </a:rPr>
              <a:t>Мужчина, 40 лет, Алматы</a:t>
            </a:r>
          </a:p>
          <a:p>
            <a:pPr>
              <a:spcAft>
                <a:spcPts val="900"/>
              </a:spcAft>
            </a:pPr>
            <a:r>
              <a:rPr lang="ru-RU" sz="1200" i="1" dirty="0">
                <a:latin typeface="Arial" panose="020B0604020202020204" pitchFamily="34" charset="0"/>
                <a:cs typeface="Arial" panose="020B0604020202020204" pitchFamily="34" charset="0"/>
              </a:rPr>
              <a:t>«Переехать в город, чтобы ребенок не снимал общагу, чтобы горячая вода была, чтобы иметь хорошие условия» </a:t>
            </a:r>
            <a:r>
              <a:rPr lang="ru-RU" sz="1200" b="1" i="1" dirty="0">
                <a:latin typeface="Arial" panose="020B0604020202020204" pitchFamily="34" charset="0"/>
                <a:cs typeface="Arial" panose="020B0604020202020204" pitchFamily="34" charset="0"/>
              </a:rPr>
              <a:t>Женщина, 33 года, Улытауская область</a:t>
            </a:r>
          </a:p>
        </p:txBody>
      </p:sp>
      <p:graphicFrame>
        <p:nvGraphicFramePr>
          <p:cNvPr id="17" name="Диаграмма 16">
            <a:extLst>
              <a:ext uri="{FF2B5EF4-FFF2-40B4-BE49-F238E27FC236}">
                <a16:creationId xmlns:a16="http://schemas.microsoft.com/office/drawing/2014/main" id="{F431B167-702F-43E3-9931-8A6887AE7DA2}"/>
              </a:ext>
            </a:extLst>
          </p:cNvPr>
          <p:cNvGraphicFramePr/>
          <p:nvPr>
            <p:extLst>
              <p:ext uri="{D42A27DB-BD31-4B8C-83A1-F6EECF244321}">
                <p14:modId xmlns:p14="http://schemas.microsoft.com/office/powerpoint/2010/main" val="4266259575"/>
              </p:ext>
            </p:extLst>
          </p:nvPr>
        </p:nvGraphicFramePr>
        <p:xfrm>
          <a:off x="5292922" y="1328180"/>
          <a:ext cx="4454534" cy="2828633"/>
        </p:xfrm>
        <a:graphic>
          <a:graphicData uri="http://schemas.openxmlformats.org/drawingml/2006/chart">
            <c:chart xmlns:c="http://schemas.openxmlformats.org/drawingml/2006/chart" xmlns:r="http://schemas.openxmlformats.org/officeDocument/2006/relationships" r:id="rId2"/>
          </a:graphicData>
        </a:graphic>
      </p:graphicFrame>
      <p:sp>
        <p:nvSpPr>
          <p:cNvPr id="18" name="TextBox 17">
            <a:extLst>
              <a:ext uri="{FF2B5EF4-FFF2-40B4-BE49-F238E27FC236}">
                <a16:creationId xmlns:a16="http://schemas.microsoft.com/office/drawing/2014/main" id="{7EE50817-6DD6-472A-86AD-AEC3B65F3150}"/>
              </a:ext>
            </a:extLst>
          </p:cNvPr>
          <p:cNvSpPr txBox="1"/>
          <p:nvPr/>
        </p:nvSpPr>
        <p:spPr>
          <a:xfrm>
            <a:off x="8417126" y="3536362"/>
            <a:ext cx="1488874" cy="738664"/>
          </a:xfrm>
          <a:prstGeom prst="rect">
            <a:avLst/>
          </a:prstGeom>
          <a:noFill/>
        </p:spPr>
        <p:txBody>
          <a:bodyPr wrap="square">
            <a:spAutoFit/>
          </a:bodyPr>
          <a:lstStyle/>
          <a:p>
            <a:r>
              <a:rPr lang="ru-RU" sz="1400" b="0" i="0" u="none" strike="noStrike" baseline="0" dirty="0">
                <a:solidFill>
                  <a:schemeClr val="bg1"/>
                </a:solidFill>
                <a:latin typeface="Arial" panose="020B0604020202020204" pitchFamily="34" charset="0"/>
                <a:cs typeface="Arial" panose="020B0604020202020204" pitchFamily="34" charset="0"/>
              </a:rPr>
              <a:t>Собственные накопления		</a:t>
            </a:r>
          </a:p>
        </p:txBody>
      </p:sp>
      <p:sp>
        <p:nvSpPr>
          <p:cNvPr id="19" name="TextBox 18">
            <a:extLst>
              <a:ext uri="{FF2B5EF4-FFF2-40B4-BE49-F238E27FC236}">
                <a16:creationId xmlns:a16="http://schemas.microsoft.com/office/drawing/2014/main" id="{472BC09A-DBEE-4261-B62C-232A3CF72AB8}"/>
              </a:ext>
            </a:extLst>
          </p:cNvPr>
          <p:cNvSpPr txBox="1"/>
          <p:nvPr/>
        </p:nvSpPr>
        <p:spPr>
          <a:xfrm>
            <a:off x="5621632" y="2588607"/>
            <a:ext cx="1006278" cy="307777"/>
          </a:xfrm>
          <a:prstGeom prst="rect">
            <a:avLst/>
          </a:prstGeom>
          <a:noFill/>
        </p:spPr>
        <p:txBody>
          <a:bodyPr wrap="square">
            <a:spAutoFit/>
          </a:bodyPr>
          <a:lstStyle/>
          <a:p>
            <a:r>
              <a:rPr lang="ru-RU" sz="1400" b="0" i="0" u="none" strike="noStrike" baseline="0" dirty="0">
                <a:solidFill>
                  <a:schemeClr val="bg1"/>
                </a:solidFill>
                <a:latin typeface="Arial" panose="020B0604020202020204" pitchFamily="34" charset="0"/>
                <a:cs typeface="Arial" panose="020B0604020202020204" pitchFamily="34" charset="0"/>
              </a:rPr>
              <a:t>Ипотека</a:t>
            </a:r>
          </a:p>
        </p:txBody>
      </p:sp>
      <p:sp>
        <p:nvSpPr>
          <p:cNvPr id="20" name="TextBox 19">
            <a:extLst>
              <a:ext uri="{FF2B5EF4-FFF2-40B4-BE49-F238E27FC236}">
                <a16:creationId xmlns:a16="http://schemas.microsoft.com/office/drawing/2014/main" id="{912C879D-2699-41E4-9ACE-DE86EFFB54F4}"/>
              </a:ext>
            </a:extLst>
          </p:cNvPr>
          <p:cNvSpPr txBox="1"/>
          <p:nvPr/>
        </p:nvSpPr>
        <p:spPr>
          <a:xfrm>
            <a:off x="8712998" y="2497136"/>
            <a:ext cx="1113730" cy="307777"/>
          </a:xfrm>
          <a:prstGeom prst="rect">
            <a:avLst/>
          </a:prstGeom>
          <a:noFill/>
        </p:spPr>
        <p:txBody>
          <a:bodyPr wrap="square">
            <a:spAutoFit/>
          </a:bodyPr>
          <a:lstStyle/>
          <a:p>
            <a:r>
              <a:rPr lang="ru-RU" sz="1400" b="0" i="0" u="none" strike="noStrike" baseline="0" dirty="0">
                <a:solidFill>
                  <a:schemeClr val="bg1"/>
                </a:solidFill>
                <a:latin typeface="Arial" panose="020B0604020202020204" pitchFamily="34" charset="0"/>
                <a:cs typeface="Arial" panose="020B0604020202020204" pitchFamily="34" charset="0"/>
              </a:rPr>
              <a:t>Другое	</a:t>
            </a:r>
          </a:p>
        </p:txBody>
      </p:sp>
      <p:sp>
        <p:nvSpPr>
          <p:cNvPr id="21" name="TextBox 20">
            <a:extLst>
              <a:ext uri="{FF2B5EF4-FFF2-40B4-BE49-F238E27FC236}">
                <a16:creationId xmlns:a16="http://schemas.microsoft.com/office/drawing/2014/main" id="{E17FE357-E4C6-457F-89E7-5177A03DAC0B}"/>
              </a:ext>
            </a:extLst>
          </p:cNvPr>
          <p:cNvSpPr txBox="1"/>
          <p:nvPr/>
        </p:nvSpPr>
        <p:spPr>
          <a:xfrm>
            <a:off x="7986844" y="1414232"/>
            <a:ext cx="1839884" cy="738664"/>
          </a:xfrm>
          <a:prstGeom prst="rect">
            <a:avLst/>
          </a:prstGeom>
          <a:noFill/>
        </p:spPr>
        <p:txBody>
          <a:bodyPr wrap="square">
            <a:spAutoFit/>
          </a:bodyPr>
          <a:lstStyle/>
          <a:p>
            <a:r>
              <a:rPr lang="ru-RU" sz="1400" b="0" i="0" u="none" strike="noStrike" baseline="0" dirty="0">
                <a:solidFill>
                  <a:schemeClr val="bg1"/>
                </a:solidFill>
                <a:latin typeface="Arial" panose="020B0604020202020204" pitchFamily="34" charset="0"/>
                <a:cs typeface="Arial" panose="020B0604020202020204" pitchFamily="34" charset="0"/>
              </a:rPr>
              <a:t>Продажа, </a:t>
            </a:r>
          </a:p>
          <a:p>
            <a:r>
              <a:rPr lang="ru-RU" sz="1400" b="0" i="0" u="none" strike="noStrike" baseline="0" dirty="0">
                <a:solidFill>
                  <a:schemeClr val="bg1"/>
                </a:solidFill>
                <a:latin typeface="Arial" panose="020B0604020202020204" pitchFamily="34" charset="0"/>
                <a:cs typeface="Arial" panose="020B0604020202020204" pitchFamily="34" charset="0"/>
              </a:rPr>
              <a:t>обмен квартиры		</a:t>
            </a:r>
          </a:p>
        </p:txBody>
      </p:sp>
      <p:grpSp>
        <p:nvGrpSpPr>
          <p:cNvPr id="22" name="Группа 21">
            <a:extLst>
              <a:ext uri="{FF2B5EF4-FFF2-40B4-BE49-F238E27FC236}">
                <a16:creationId xmlns:a16="http://schemas.microsoft.com/office/drawing/2014/main" id="{218C33DC-25F5-453F-8116-A49AA3902CCA}"/>
              </a:ext>
            </a:extLst>
          </p:cNvPr>
          <p:cNvGrpSpPr/>
          <p:nvPr/>
        </p:nvGrpSpPr>
        <p:grpSpPr>
          <a:xfrm>
            <a:off x="5307291" y="2742495"/>
            <a:ext cx="344188" cy="1918405"/>
            <a:chOff x="528086" y="2200643"/>
            <a:chExt cx="335176" cy="2360604"/>
          </a:xfrm>
        </p:grpSpPr>
        <p:cxnSp>
          <p:nvCxnSpPr>
            <p:cNvPr id="23" name="Прямая соединительная линия 22">
              <a:extLst>
                <a:ext uri="{FF2B5EF4-FFF2-40B4-BE49-F238E27FC236}">
                  <a16:creationId xmlns:a16="http://schemas.microsoft.com/office/drawing/2014/main" id="{435A2A0B-6D1B-4B67-8505-1FEEB5363139}"/>
                </a:ext>
              </a:extLst>
            </p:cNvPr>
            <p:cNvCxnSpPr>
              <a:cxnSpLocks/>
            </p:cNvCxnSpPr>
            <p:nvPr/>
          </p:nvCxnSpPr>
          <p:spPr>
            <a:xfrm>
              <a:off x="542259" y="2200643"/>
              <a:ext cx="0" cy="2360604"/>
            </a:xfrm>
            <a:prstGeom prst="line">
              <a:avLst/>
            </a:prstGeom>
            <a:ln w="1905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24" name="Прямая соединительная линия 23">
              <a:extLst>
                <a:ext uri="{FF2B5EF4-FFF2-40B4-BE49-F238E27FC236}">
                  <a16:creationId xmlns:a16="http://schemas.microsoft.com/office/drawing/2014/main" id="{EF589FA7-0E5C-4DC8-9FEA-30DC7BD5E1C8}"/>
                </a:ext>
              </a:extLst>
            </p:cNvPr>
            <p:cNvCxnSpPr>
              <a:cxnSpLocks/>
            </p:cNvCxnSpPr>
            <p:nvPr/>
          </p:nvCxnSpPr>
          <p:spPr>
            <a:xfrm flipH="1">
              <a:off x="528086" y="2210655"/>
              <a:ext cx="335176" cy="0"/>
            </a:xfrm>
            <a:prstGeom prst="line">
              <a:avLst/>
            </a:prstGeom>
            <a:ln w="1905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25" name="Прямая со стрелкой 24">
              <a:extLst>
                <a:ext uri="{FF2B5EF4-FFF2-40B4-BE49-F238E27FC236}">
                  <a16:creationId xmlns:a16="http://schemas.microsoft.com/office/drawing/2014/main" id="{AB87D0A0-1296-4047-B779-D505CFFB458E}"/>
                </a:ext>
              </a:extLst>
            </p:cNvPr>
            <p:cNvCxnSpPr>
              <a:cxnSpLocks/>
            </p:cNvCxnSpPr>
            <p:nvPr/>
          </p:nvCxnSpPr>
          <p:spPr>
            <a:xfrm>
              <a:off x="534496" y="4554024"/>
              <a:ext cx="161178" cy="0"/>
            </a:xfrm>
            <a:prstGeom prst="straightConnector1">
              <a:avLst/>
            </a:prstGeom>
            <a:ln w="19050">
              <a:solidFill>
                <a:schemeClr val="bg1"/>
              </a:solidFill>
              <a:prstDash val="sysDot"/>
              <a:tailEnd type="triangle"/>
            </a:ln>
          </p:spPr>
          <p:style>
            <a:lnRef idx="1">
              <a:schemeClr val="accent1"/>
            </a:lnRef>
            <a:fillRef idx="0">
              <a:schemeClr val="accent1"/>
            </a:fillRef>
            <a:effectRef idx="0">
              <a:schemeClr val="accent1"/>
            </a:effectRef>
            <a:fontRef idx="minor">
              <a:schemeClr val="tx1"/>
            </a:fontRef>
          </p:style>
        </p:cxnSp>
      </p:grpSp>
      <p:grpSp>
        <p:nvGrpSpPr>
          <p:cNvPr id="26" name="Группа 25">
            <a:extLst>
              <a:ext uri="{FF2B5EF4-FFF2-40B4-BE49-F238E27FC236}">
                <a16:creationId xmlns:a16="http://schemas.microsoft.com/office/drawing/2014/main" id="{C35630B6-1804-40A3-8A15-69FF10260488}"/>
              </a:ext>
            </a:extLst>
          </p:cNvPr>
          <p:cNvGrpSpPr/>
          <p:nvPr/>
        </p:nvGrpSpPr>
        <p:grpSpPr>
          <a:xfrm flipH="1">
            <a:off x="8526463" y="4064003"/>
            <a:ext cx="1076544" cy="2282436"/>
            <a:chOff x="528086" y="2200643"/>
            <a:chExt cx="2203836" cy="2360604"/>
          </a:xfrm>
        </p:grpSpPr>
        <p:cxnSp>
          <p:nvCxnSpPr>
            <p:cNvPr id="27" name="Прямая соединительная линия 26">
              <a:extLst>
                <a:ext uri="{FF2B5EF4-FFF2-40B4-BE49-F238E27FC236}">
                  <a16:creationId xmlns:a16="http://schemas.microsoft.com/office/drawing/2014/main" id="{91CCB5CF-B150-45B8-9AF6-4D8C6B892FF4}"/>
                </a:ext>
              </a:extLst>
            </p:cNvPr>
            <p:cNvCxnSpPr>
              <a:cxnSpLocks/>
            </p:cNvCxnSpPr>
            <p:nvPr/>
          </p:nvCxnSpPr>
          <p:spPr>
            <a:xfrm>
              <a:off x="542259" y="2200643"/>
              <a:ext cx="0" cy="2360604"/>
            </a:xfrm>
            <a:prstGeom prst="line">
              <a:avLst/>
            </a:prstGeom>
            <a:ln w="1905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28" name="Прямая соединительная линия 27">
              <a:extLst>
                <a:ext uri="{FF2B5EF4-FFF2-40B4-BE49-F238E27FC236}">
                  <a16:creationId xmlns:a16="http://schemas.microsoft.com/office/drawing/2014/main" id="{D757FCC8-1127-46A4-8C54-0BDD9D42F594}"/>
                </a:ext>
              </a:extLst>
            </p:cNvPr>
            <p:cNvCxnSpPr>
              <a:cxnSpLocks/>
            </p:cNvCxnSpPr>
            <p:nvPr/>
          </p:nvCxnSpPr>
          <p:spPr>
            <a:xfrm flipH="1">
              <a:off x="528086" y="2200643"/>
              <a:ext cx="2203836" cy="10012"/>
            </a:xfrm>
            <a:prstGeom prst="line">
              <a:avLst/>
            </a:prstGeom>
            <a:ln w="1905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29" name="Прямая со стрелкой 28">
              <a:extLst>
                <a:ext uri="{FF2B5EF4-FFF2-40B4-BE49-F238E27FC236}">
                  <a16:creationId xmlns:a16="http://schemas.microsoft.com/office/drawing/2014/main" id="{435F33AC-6D28-4A34-9CAE-54704048768E}"/>
                </a:ext>
              </a:extLst>
            </p:cNvPr>
            <p:cNvCxnSpPr>
              <a:cxnSpLocks/>
            </p:cNvCxnSpPr>
            <p:nvPr/>
          </p:nvCxnSpPr>
          <p:spPr>
            <a:xfrm>
              <a:off x="534496" y="4554024"/>
              <a:ext cx="657533" cy="0"/>
            </a:xfrm>
            <a:prstGeom prst="straightConnector1">
              <a:avLst/>
            </a:prstGeom>
            <a:ln w="19050">
              <a:solidFill>
                <a:schemeClr val="bg1"/>
              </a:solidFill>
              <a:prstDash val="sysDot"/>
              <a:tailEnd type="triangle"/>
            </a:ln>
          </p:spPr>
          <p:style>
            <a:lnRef idx="1">
              <a:schemeClr val="accent1"/>
            </a:lnRef>
            <a:fillRef idx="0">
              <a:schemeClr val="accent1"/>
            </a:fillRef>
            <a:effectRef idx="0">
              <a:schemeClr val="accent1"/>
            </a:effectRef>
            <a:fontRef idx="minor">
              <a:schemeClr val="tx1"/>
            </a:fontRef>
          </p:style>
        </p:cxnSp>
      </p:grpSp>
      <p:sp>
        <p:nvSpPr>
          <p:cNvPr id="30" name="TextBox 29">
            <a:extLst>
              <a:ext uri="{FF2B5EF4-FFF2-40B4-BE49-F238E27FC236}">
                <a16:creationId xmlns:a16="http://schemas.microsoft.com/office/drawing/2014/main" id="{161E4BB5-9880-4D5B-8C65-F447879D44D2}"/>
              </a:ext>
            </a:extLst>
          </p:cNvPr>
          <p:cNvSpPr txBox="1"/>
          <p:nvPr/>
        </p:nvSpPr>
        <p:spPr>
          <a:xfrm>
            <a:off x="5453567" y="4430128"/>
            <a:ext cx="3598914" cy="523220"/>
          </a:xfrm>
          <a:prstGeom prst="rect">
            <a:avLst/>
          </a:prstGeom>
          <a:noFill/>
        </p:spPr>
        <p:txBody>
          <a:bodyPr wrap="square" rtlCol="0">
            <a:spAutoFit/>
          </a:bodyPr>
          <a:lstStyle/>
          <a:p>
            <a:r>
              <a:rPr lang="ru-RU" sz="1400" dirty="0">
                <a:solidFill>
                  <a:schemeClr val="bg1"/>
                </a:solidFill>
                <a:latin typeface="Arial" panose="020B0604020202020204" pitchFamily="34" charset="0"/>
                <a:cs typeface="Arial" panose="020B0604020202020204" pitchFamily="34" charset="0"/>
              </a:rPr>
              <a:t>35-44 года, «средний класс», не удовлетворены жизнью.</a:t>
            </a:r>
          </a:p>
        </p:txBody>
      </p:sp>
      <p:sp>
        <p:nvSpPr>
          <p:cNvPr id="31" name="TextBox 30">
            <a:extLst>
              <a:ext uri="{FF2B5EF4-FFF2-40B4-BE49-F238E27FC236}">
                <a16:creationId xmlns:a16="http://schemas.microsoft.com/office/drawing/2014/main" id="{238F88EF-C611-4784-889D-DE42B176B433}"/>
              </a:ext>
            </a:extLst>
          </p:cNvPr>
          <p:cNvSpPr txBox="1"/>
          <p:nvPr/>
        </p:nvSpPr>
        <p:spPr>
          <a:xfrm>
            <a:off x="5499029" y="5790641"/>
            <a:ext cx="3700378" cy="523220"/>
          </a:xfrm>
          <a:prstGeom prst="rect">
            <a:avLst/>
          </a:prstGeom>
          <a:noFill/>
        </p:spPr>
        <p:txBody>
          <a:bodyPr wrap="square" rtlCol="0">
            <a:spAutoFit/>
          </a:bodyPr>
          <a:lstStyle/>
          <a:p>
            <a:r>
              <a:rPr lang="ru-RU" sz="1400" dirty="0">
                <a:solidFill>
                  <a:schemeClr val="bg1"/>
                </a:solidFill>
                <a:latin typeface="Arial" panose="020B0604020202020204" pitchFamily="34" charset="0"/>
                <a:cs typeface="Arial" panose="020B0604020202020204" pitchFamily="34" charset="0"/>
              </a:rPr>
              <a:t>Мужчины, представители других национальностей, живущие одни, богатые</a:t>
            </a:r>
          </a:p>
        </p:txBody>
      </p:sp>
      <p:sp>
        <p:nvSpPr>
          <p:cNvPr id="33" name="TextBox 32">
            <a:extLst>
              <a:ext uri="{FF2B5EF4-FFF2-40B4-BE49-F238E27FC236}">
                <a16:creationId xmlns:a16="http://schemas.microsoft.com/office/drawing/2014/main" id="{7437B647-4F43-450B-B313-D9E5D4D2F163}"/>
              </a:ext>
            </a:extLst>
          </p:cNvPr>
          <p:cNvSpPr txBox="1"/>
          <p:nvPr/>
        </p:nvSpPr>
        <p:spPr>
          <a:xfrm>
            <a:off x="5748961" y="812863"/>
            <a:ext cx="3598915" cy="307777"/>
          </a:xfrm>
          <a:prstGeom prst="rect">
            <a:avLst/>
          </a:prstGeom>
          <a:noFill/>
        </p:spPr>
        <p:txBody>
          <a:bodyPr wrap="square" rtlCol="0">
            <a:spAutoFit/>
          </a:bodyPr>
          <a:lstStyle/>
          <a:p>
            <a:r>
              <a:rPr lang="ru-RU" sz="1400" dirty="0">
                <a:solidFill>
                  <a:schemeClr val="bg1"/>
                </a:solidFill>
                <a:latin typeface="Arial" panose="020B0604020202020204" pitchFamily="34" charset="0"/>
                <a:cs typeface="Arial" panose="020B0604020202020204" pitchFamily="34" charset="0"/>
              </a:rPr>
              <a:t>от тех, кто планирует приобретать жильё</a:t>
            </a:r>
            <a:endParaRPr lang="en-US" sz="1400" dirty="0">
              <a:solidFill>
                <a:schemeClr val="bg1"/>
              </a:solidFill>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7AFEE525-BC9D-4A71-92D3-FCAAD1DDD948}"/>
              </a:ext>
            </a:extLst>
          </p:cNvPr>
          <p:cNvSpPr txBox="1"/>
          <p:nvPr/>
        </p:nvSpPr>
        <p:spPr>
          <a:xfrm>
            <a:off x="1167098" y="1210254"/>
            <a:ext cx="3598915" cy="307777"/>
          </a:xfrm>
          <a:prstGeom prst="rect">
            <a:avLst/>
          </a:prstGeom>
          <a:noFill/>
        </p:spPr>
        <p:txBody>
          <a:bodyPr wrap="square" rtlCol="0">
            <a:spAutoFit/>
          </a:bodyPr>
          <a:lstStyle/>
          <a:p>
            <a:r>
              <a:rPr lang="ru-RU" sz="1400" dirty="0">
                <a:latin typeface="Arial" panose="020B0604020202020204" pitchFamily="34" charset="0"/>
                <a:cs typeface="Arial" panose="020B0604020202020204" pitchFamily="34" charset="0"/>
              </a:rPr>
              <a:t>от тех, кто планирует приобретать жильё</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018191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Прямоугольник 18">
            <a:extLst>
              <a:ext uri="{FF2B5EF4-FFF2-40B4-BE49-F238E27FC236}">
                <a16:creationId xmlns:a16="http://schemas.microsoft.com/office/drawing/2014/main" id="{4FD0852C-886B-471E-9900-1456D6FA5F2E}"/>
              </a:ext>
            </a:extLst>
          </p:cNvPr>
          <p:cNvSpPr/>
          <p:nvPr/>
        </p:nvSpPr>
        <p:spPr>
          <a:xfrm>
            <a:off x="6637875" y="3769977"/>
            <a:ext cx="2720529" cy="2855365"/>
          </a:xfrm>
          <a:prstGeom prst="rect">
            <a:avLst/>
          </a:prstGeom>
          <a:solidFill>
            <a:srgbClr val="2B546B">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2" name="Прямоугольник 21">
            <a:extLst>
              <a:ext uri="{FF2B5EF4-FFF2-40B4-BE49-F238E27FC236}">
                <a16:creationId xmlns:a16="http://schemas.microsoft.com/office/drawing/2014/main" id="{F117B275-DAFA-44B8-8DCA-1A3BA9DF5FF2}"/>
              </a:ext>
            </a:extLst>
          </p:cNvPr>
          <p:cNvSpPr/>
          <p:nvPr/>
        </p:nvSpPr>
        <p:spPr>
          <a:xfrm>
            <a:off x="3611551" y="3804297"/>
            <a:ext cx="2720529" cy="2855365"/>
          </a:xfrm>
          <a:prstGeom prst="rect">
            <a:avLst/>
          </a:prstGeom>
          <a:solidFill>
            <a:srgbClr val="2B546B">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7" name="Прямоугольник 36">
            <a:extLst>
              <a:ext uri="{FF2B5EF4-FFF2-40B4-BE49-F238E27FC236}">
                <a16:creationId xmlns:a16="http://schemas.microsoft.com/office/drawing/2014/main" id="{72ED5040-1164-4A5A-A301-5A8CFCA0BA4B}"/>
              </a:ext>
            </a:extLst>
          </p:cNvPr>
          <p:cNvSpPr/>
          <p:nvPr/>
        </p:nvSpPr>
        <p:spPr>
          <a:xfrm>
            <a:off x="775145" y="3804297"/>
            <a:ext cx="2720529" cy="2855365"/>
          </a:xfrm>
          <a:prstGeom prst="rect">
            <a:avLst/>
          </a:prstGeom>
          <a:solidFill>
            <a:srgbClr val="2B546B">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5" name="TextBox 4">
            <a:extLst>
              <a:ext uri="{FF2B5EF4-FFF2-40B4-BE49-F238E27FC236}">
                <a16:creationId xmlns:a16="http://schemas.microsoft.com/office/drawing/2014/main" id="{F77A792E-B74D-42CA-82BA-216DC70F366C}"/>
              </a:ext>
            </a:extLst>
          </p:cNvPr>
          <p:cNvSpPr txBox="1"/>
          <p:nvPr/>
        </p:nvSpPr>
        <p:spPr>
          <a:xfrm>
            <a:off x="608492" y="475513"/>
            <a:ext cx="6719406" cy="1543949"/>
          </a:xfrm>
          <a:prstGeom prst="rect">
            <a:avLst/>
          </a:prstGeom>
          <a:noFill/>
        </p:spPr>
        <p:txBody>
          <a:bodyPr wrap="square">
            <a:spAutoFit/>
          </a:bodyPr>
          <a:lstStyle/>
          <a:p>
            <a:pPr>
              <a:lnSpc>
                <a:spcPts val="2800"/>
              </a:lnSpc>
            </a:pPr>
            <a:r>
              <a:rPr lang="ru-RU" sz="3600" b="1" dirty="0">
                <a:latin typeface="Arial" panose="020B0604020202020204" pitchFamily="34" charset="0"/>
                <a:cs typeface="Arial" panose="020B0604020202020204" pitchFamily="34" charset="0"/>
              </a:rPr>
              <a:t>«</a:t>
            </a:r>
            <a:r>
              <a:rPr lang="ru-RU" sz="3200" b="1" dirty="0">
                <a:latin typeface="Arial" panose="020B0604020202020204" pitchFamily="34" charset="0"/>
                <a:cs typeface="Arial" panose="020B0604020202020204" pitchFamily="34" charset="0"/>
              </a:rPr>
              <a:t>Вы готовы переехать в другой город или другую область страны ради улучшения своих жилищных условий?</a:t>
            </a:r>
            <a:r>
              <a:rPr lang="ru-RU" sz="3600" b="1" dirty="0">
                <a:latin typeface="Arial" panose="020B0604020202020204" pitchFamily="34" charset="0"/>
                <a:cs typeface="Arial" panose="020B0604020202020204" pitchFamily="34" charset="0"/>
              </a:rPr>
              <a:t>»</a:t>
            </a:r>
          </a:p>
        </p:txBody>
      </p:sp>
      <p:sp>
        <p:nvSpPr>
          <p:cNvPr id="25" name="TextBox 24">
            <a:extLst>
              <a:ext uri="{FF2B5EF4-FFF2-40B4-BE49-F238E27FC236}">
                <a16:creationId xmlns:a16="http://schemas.microsoft.com/office/drawing/2014/main" id="{06651F51-2EA7-0659-C3C0-96DF5641D1DC}"/>
              </a:ext>
            </a:extLst>
          </p:cNvPr>
          <p:cNvSpPr txBox="1"/>
          <p:nvPr/>
        </p:nvSpPr>
        <p:spPr>
          <a:xfrm>
            <a:off x="710177" y="3785429"/>
            <a:ext cx="2629671" cy="1600438"/>
          </a:xfrm>
          <a:prstGeom prst="rect">
            <a:avLst/>
          </a:prstGeom>
          <a:noFill/>
        </p:spPr>
        <p:txBody>
          <a:bodyPr wrap="square" rtlCol="0">
            <a:spAutoFit/>
          </a:bodyPr>
          <a:lstStyle/>
          <a:p>
            <a:r>
              <a:rPr lang="ru-RU" sz="1400" dirty="0">
                <a:latin typeface="Arial" panose="020B0604020202020204" pitchFamily="34" charset="0"/>
                <a:cs typeface="Arial" panose="020B0604020202020204" pitchFamily="34" charset="0"/>
              </a:rPr>
              <a:t>55+ 80%</a:t>
            </a:r>
          </a:p>
          <a:p>
            <a:r>
              <a:rPr lang="ru-RU" sz="1400" dirty="0">
                <a:latin typeface="Arial" panose="020B0604020202020204" pitchFamily="34" charset="0"/>
                <a:cs typeface="Arial" panose="020B0604020202020204" pitchFamily="34" charset="0"/>
              </a:rPr>
              <a:t>Среднее образование - 65%</a:t>
            </a:r>
          </a:p>
          <a:p>
            <a:r>
              <a:rPr lang="ru-RU" sz="1400" dirty="0">
                <a:latin typeface="Arial" panose="020B0604020202020204" pitchFamily="34" charset="0"/>
                <a:cs typeface="Arial" panose="020B0604020202020204" pitchFamily="34" charset="0"/>
              </a:rPr>
              <a:t>Русские - 70%</a:t>
            </a:r>
          </a:p>
          <a:p>
            <a:r>
              <a:rPr lang="ru-RU" sz="1400" dirty="0">
                <a:latin typeface="Arial" panose="020B0604020202020204" pitchFamily="34" charset="0"/>
                <a:cs typeface="Arial" panose="020B0604020202020204" pitchFamily="34" charset="0"/>
              </a:rPr>
              <a:t>Живущие одни - 69%</a:t>
            </a:r>
          </a:p>
          <a:p>
            <a:r>
              <a:rPr lang="ru-RU" sz="1400" dirty="0">
                <a:latin typeface="Arial" panose="020B0604020202020204" pitchFamily="34" charset="0"/>
                <a:cs typeface="Arial" panose="020B0604020202020204" pitchFamily="34" charset="0"/>
              </a:rPr>
              <a:t>Очень богатые - 65%</a:t>
            </a:r>
          </a:p>
          <a:p>
            <a:r>
              <a:rPr lang="ru-RU" sz="1400" dirty="0">
                <a:latin typeface="Arial" panose="020B0604020202020204" pitchFamily="34" charset="0"/>
                <a:cs typeface="Arial" panose="020B0604020202020204" pitchFamily="34" charset="0"/>
              </a:rPr>
              <a:t>Есть своё жильё - 66%</a:t>
            </a:r>
          </a:p>
          <a:p>
            <a:r>
              <a:rPr lang="ru-RU" sz="1400" dirty="0">
                <a:latin typeface="Arial" panose="020B0604020202020204" pitchFamily="34" charset="0"/>
                <a:cs typeface="Arial" panose="020B0604020202020204" pitchFamily="34" charset="0"/>
              </a:rPr>
              <a:t>Жители Алматы</a:t>
            </a:r>
          </a:p>
        </p:txBody>
      </p:sp>
      <p:sp>
        <p:nvSpPr>
          <p:cNvPr id="27" name="TextBox 26">
            <a:extLst>
              <a:ext uri="{FF2B5EF4-FFF2-40B4-BE49-F238E27FC236}">
                <a16:creationId xmlns:a16="http://schemas.microsoft.com/office/drawing/2014/main" id="{5A6B9807-C370-98E8-52DE-89BDC51E8141}"/>
              </a:ext>
            </a:extLst>
          </p:cNvPr>
          <p:cNvSpPr txBox="1"/>
          <p:nvPr/>
        </p:nvSpPr>
        <p:spPr>
          <a:xfrm>
            <a:off x="3586532" y="3785429"/>
            <a:ext cx="2720529" cy="954107"/>
          </a:xfrm>
          <a:prstGeom prst="rect">
            <a:avLst/>
          </a:prstGeom>
          <a:noFill/>
        </p:spPr>
        <p:txBody>
          <a:bodyPr wrap="square" rtlCol="0">
            <a:spAutoFit/>
          </a:bodyPr>
          <a:lstStyle/>
          <a:p>
            <a:r>
              <a:rPr lang="ru-RU" sz="1400" dirty="0">
                <a:latin typeface="Arial" panose="020B0604020202020204" pitchFamily="34" charset="0"/>
                <a:cs typeface="Arial" panose="020B0604020202020204" pitchFamily="34" charset="0"/>
              </a:rPr>
              <a:t>Женщины, бедные, сельские жители, среднее образование, семьи 6+ человек, нет собственного жилья</a:t>
            </a:r>
          </a:p>
        </p:txBody>
      </p:sp>
      <p:sp>
        <p:nvSpPr>
          <p:cNvPr id="26" name="Заголовок 1">
            <a:extLst>
              <a:ext uri="{FF2B5EF4-FFF2-40B4-BE49-F238E27FC236}">
                <a16:creationId xmlns:a16="http://schemas.microsoft.com/office/drawing/2014/main" id="{F2D35B3C-FEB5-40DE-8BF8-21BD296D987B}"/>
              </a:ext>
            </a:extLst>
          </p:cNvPr>
          <p:cNvSpPr txBox="1">
            <a:spLocks/>
          </p:cNvSpPr>
          <p:nvPr/>
        </p:nvSpPr>
        <p:spPr>
          <a:xfrm>
            <a:off x="6916479" y="1174548"/>
            <a:ext cx="3012189"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2500"/>
              </a:lnSpc>
            </a:pPr>
            <a:r>
              <a:rPr lang="ru-RU" sz="2400" dirty="0">
                <a:latin typeface="Arial" panose="020B0604020202020204" pitchFamily="34" charset="0"/>
                <a:ea typeface="+mn-ea"/>
                <a:cs typeface="Arial" panose="020B0604020202020204" pitchFamily="34" charset="0"/>
              </a:rPr>
              <a:t>«Да»</a:t>
            </a:r>
            <a:endParaRPr lang="ru-KZ" sz="2400" dirty="0">
              <a:latin typeface="Arial" panose="020B0604020202020204" pitchFamily="34" charset="0"/>
              <a:ea typeface="+mn-ea"/>
              <a:cs typeface="Arial" panose="020B0604020202020204" pitchFamily="34" charset="0"/>
            </a:endParaRPr>
          </a:p>
        </p:txBody>
      </p:sp>
      <p:sp>
        <p:nvSpPr>
          <p:cNvPr id="28" name="Заголовок 1">
            <a:extLst>
              <a:ext uri="{FF2B5EF4-FFF2-40B4-BE49-F238E27FC236}">
                <a16:creationId xmlns:a16="http://schemas.microsoft.com/office/drawing/2014/main" id="{C7D159CA-4D70-4720-9BFE-7CD78596D286}"/>
              </a:ext>
            </a:extLst>
          </p:cNvPr>
          <p:cNvSpPr txBox="1">
            <a:spLocks/>
          </p:cNvSpPr>
          <p:nvPr/>
        </p:nvSpPr>
        <p:spPr>
          <a:xfrm>
            <a:off x="7718693" y="606823"/>
            <a:ext cx="2187307"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8000" b="1" dirty="0">
                <a:solidFill>
                  <a:srgbClr val="2B546B"/>
                </a:solidFill>
                <a:latin typeface="Arial" panose="020B0604020202020204" pitchFamily="34" charset="0"/>
                <a:ea typeface="+mn-ea"/>
                <a:cs typeface="Arial" panose="020B0604020202020204" pitchFamily="34" charset="0"/>
              </a:rPr>
              <a:t>37</a:t>
            </a:r>
            <a:r>
              <a:rPr lang="ru-RU" sz="3600" b="1" dirty="0">
                <a:solidFill>
                  <a:srgbClr val="2B546B"/>
                </a:solidFill>
                <a:latin typeface="Arial" panose="020B0604020202020204" pitchFamily="34" charset="0"/>
                <a:ea typeface="+mn-ea"/>
                <a:cs typeface="Arial" panose="020B0604020202020204" pitchFamily="34" charset="0"/>
              </a:rPr>
              <a:t>%</a:t>
            </a:r>
            <a:endParaRPr lang="ru-KZ" sz="6000" b="1" dirty="0">
              <a:solidFill>
                <a:srgbClr val="2B546B"/>
              </a:solidFill>
              <a:latin typeface="Arial" panose="020B0604020202020204" pitchFamily="34" charset="0"/>
              <a:ea typeface="+mn-ea"/>
              <a:cs typeface="Arial" panose="020B0604020202020204" pitchFamily="34" charset="0"/>
            </a:endParaRPr>
          </a:p>
        </p:txBody>
      </p:sp>
      <p:sp>
        <p:nvSpPr>
          <p:cNvPr id="29" name="Заголовок 1">
            <a:extLst>
              <a:ext uri="{FF2B5EF4-FFF2-40B4-BE49-F238E27FC236}">
                <a16:creationId xmlns:a16="http://schemas.microsoft.com/office/drawing/2014/main" id="{F562657A-BB13-4623-89C7-933C6EB65AA5}"/>
              </a:ext>
            </a:extLst>
          </p:cNvPr>
          <p:cNvSpPr txBox="1">
            <a:spLocks/>
          </p:cNvSpPr>
          <p:nvPr/>
        </p:nvSpPr>
        <p:spPr>
          <a:xfrm>
            <a:off x="954124" y="2108141"/>
            <a:ext cx="1581721"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6000" b="1" dirty="0">
                <a:solidFill>
                  <a:schemeClr val="tx1">
                    <a:lumMod val="65000"/>
                    <a:lumOff val="35000"/>
                  </a:schemeClr>
                </a:solidFill>
                <a:latin typeface="Arial" panose="020B0604020202020204" pitchFamily="34" charset="0"/>
                <a:ea typeface="+mn-ea"/>
                <a:cs typeface="Arial" panose="020B0604020202020204" pitchFamily="34" charset="0"/>
              </a:rPr>
              <a:t>59</a:t>
            </a:r>
            <a:r>
              <a:rPr lang="ru-RU" sz="3600" b="1" dirty="0">
                <a:solidFill>
                  <a:schemeClr val="tx1">
                    <a:lumMod val="65000"/>
                    <a:lumOff val="35000"/>
                  </a:schemeClr>
                </a:solidFill>
                <a:latin typeface="Arial" panose="020B0604020202020204" pitchFamily="34" charset="0"/>
                <a:ea typeface="+mn-ea"/>
                <a:cs typeface="Arial" panose="020B0604020202020204" pitchFamily="34" charset="0"/>
              </a:rPr>
              <a:t>%</a:t>
            </a:r>
            <a:endParaRPr lang="ru-KZ" sz="6000" b="1" dirty="0">
              <a:solidFill>
                <a:schemeClr val="tx1">
                  <a:lumMod val="65000"/>
                  <a:lumOff val="35000"/>
                </a:schemeClr>
              </a:solidFill>
              <a:latin typeface="Arial" panose="020B0604020202020204" pitchFamily="34" charset="0"/>
              <a:ea typeface="+mn-ea"/>
              <a:cs typeface="Arial" panose="020B0604020202020204" pitchFamily="34" charset="0"/>
            </a:endParaRPr>
          </a:p>
        </p:txBody>
      </p:sp>
      <p:sp>
        <p:nvSpPr>
          <p:cNvPr id="30" name="Заголовок 1">
            <a:extLst>
              <a:ext uri="{FF2B5EF4-FFF2-40B4-BE49-F238E27FC236}">
                <a16:creationId xmlns:a16="http://schemas.microsoft.com/office/drawing/2014/main" id="{3722710E-DE30-46C4-89AD-874BC264805D}"/>
              </a:ext>
            </a:extLst>
          </p:cNvPr>
          <p:cNvSpPr txBox="1">
            <a:spLocks/>
          </p:cNvSpPr>
          <p:nvPr/>
        </p:nvSpPr>
        <p:spPr>
          <a:xfrm>
            <a:off x="97596" y="2556691"/>
            <a:ext cx="3012189"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2500"/>
              </a:lnSpc>
            </a:pPr>
            <a:r>
              <a:rPr lang="ru-RU" sz="1800" dirty="0">
                <a:latin typeface="Arial" panose="020B0604020202020204" pitchFamily="34" charset="0"/>
                <a:ea typeface="+mn-ea"/>
                <a:cs typeface="Arial" panose="020B0604020202020204" pitchFamily="34" charset="0"/>
              </a:rPr>
              <a:t>«Нет»</a:t>
            </a:r>
            <a:endParaRPr lang="ru-KZ" sz="1800" dirty="0">
              <a:latin typeface="Arial" panose="020B0604020202020204" pitchFamily="34" charset="0"/>
              <a:ea typeface="+mn-ea"/>
              <a:cs typeface="Arial" panose="020B0604020202020204" pitchFamily="34" charset="0"/>
            </a:endParaRPr>
          </a:p>
        </p:txBody>
      </p:sp>
      <p:sp>
        <p:nvSpPr>
          <p:cNvPr id="31" name="Заголовок 1">
            <a:extLst>
              <a:ext uri="{FF2B5EF4-FFF2-40B4-BE49-F238E27FC236}">
                <a16:creationId xmlns:a16="http://schemas.microsoft.com/office/drawing/2014/main" id="{C88FA2F3-7CA3-43DE-90E0-FAE6DF711656}"/>
              </a:ext>
            </a:extLst>
          </p:cNvPr>
          <p:cNvSpPr txBox="1">
            <a:spLocks/>
          </p:cNvSpPr>
          <p:nvPr/>
        </p:nvSpPr>
        <p:spPr>
          <a:xfrm>
            <a:off x="4643892" y="2115604"/>
            <a:ext cx="1581721" cy="852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6000" b="1" dirty="0">
                <a:solidFill>
                  <a:srgbClr val="2B546B"/>
                </a:solidFill>
                <a:latin typeface="Arial" panose="020B0604020202020204" pitchFamily="34" charset="0"/>
                <a:ea typeface="+mn-ea"/>
                <a:cs typeface="Arial" panose="020B0604020202020204" pitchFamily="34" charset="0"/>
              </a:rPr>
              <a:t>4</a:t>
            </a:r>
            <a:r>
              <a:rPr lang="ru-RU" sz="3600" b="1" dirty="0">
                <a:solidFill>
                  <a:srgbClr val="2B546B"/>
                </a:solidFill>
                <a:latin typeface="Arial" panose="020B0604020202020204" pitchFamily="34" charset="0"/>
                <a:ea typeface="+mn-ea"/>
                <a:cs typeface="Arial" panose="020B0604020202020204" pitchFamily="34" charset="0"/>
              </a:rPr>
              <a:t>%</a:t>
            </a:r>
            <a:endParaRPr lang="ru-KZ" sz="6000" b="1" dirty="0">
              <a:solidFill>
                <a:srgbClr val="2B546B"/>
              </a:solidFill>
              <a:latin typeface="Arial" panose="020B0604020202020204" pitchFamily="34" charset="0"/>
              <a:ea typeface="+mn-ea"/>
              <a:cs typeface="Arial" panose="020B0604020202020204" pitchFamily="34" charset="0"/>
            </a:endParaRPr>
          </a:p>
        </p:txBody>
      </p:sp>
      <p:sp>
        <p:nvSpPr>
          <p:cNvPr id="32" name="Заголовок 1">
            <a:extLst>
              <a:ext uri="{FF2B5EF4-FFF2-40B4-BE49-F238E27FC236}">
                <a16:creationId xmlns:a16="http://schemas.microsoft.com/office/drawing/2014/main" id="{C4DF874A-0A10-46EC-B7D7-56400CBBE228}"/>
              </a:ext>
            </a:extLst>
          </p:cNvPr>
          <p:cNvSpPr txBox="1">
            <a:spLocks/>
          </p:cNvSpPr>
          <p:nvPr/>
        </p:nvSpPr>
        <p:spPr>
          <a:xfrm>
            <a:off x="3449059" y="2898167"/>
            <a:ext cx="3452816" cy="2495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1600"/>
              </a:lnSpc>
            </a:pPr>
            <a:r>
              <a:rPr lang="ru-RU" sz="1800" dirty="0">
                <a:latin typeface="Arial" panose="020B0604020202020204" pitchFamily="34" charset="0"/>
                <a:ea typeface="+mn-ea"/>
                <a:cs typeface="Arial" panose="020B0604020202020204" pitchFamily="34" charset="0"/>
              </a:rPr>
              <a:t>«З/о»</a:t>
            </a:r>
            <a:endParaRPr lang="ru-KZ" sz="1800" dirty="0">
              <a:latin typeface="Arial" panose="020B0604020202020204" pitchFamily="34" charset="0"/>
              <a:ea typeface="+mn-ea"/>
              <a:cs typeface="Arial" panose="020B0604020202020204" pitchFamily="34" charset="0"/>
            </a:endParaRPr>
          </a:p>
        </p:txBody>
      </p:sp>
      <p:cxnSp>
        <p:nvCxnSpPr>
          <p:cNvPr id="33" name="Прямая со стрелкой 32">
            <a:extLst>
              <a:ext uri="{FF2B5EF4-FFF2-40B4-BE49-F238E27FC236}">
                <a16:creationId xmlns:a16="http://schemas.microsoft.com/office/drawing/2014/main" id="{DFE202BA-4CF1-43A5-A4AB-DAA8A5495045}"/>
              </a:ext>
            </a:extLst>
          </p:cNvPr>
          <p:cNvCxnSpPr>
            <a:cxnSpLocks/>
          </p:cNvCxnSpPr>
          <p:nvPr/>
        </p:nvCxnSpPr>
        <p:spPr>
          <a:xfrm>
            <a:off x="8362950" y="2054771"/>
            <a:ext cx="0" cy="1576706"/>
          </a:xfrm>
          <a:prstGeom prst="straightConnector1">
            <a:avLst/>
          </a:prstGeom>
          <a:ln w="28575">
            <a:solidFill>
              <a:srgbClr val="2B546B"/>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4" name="Прямая со стрелкой 33">
            <a:extLst>
              <a:ext uri="{FF2B5EF4-FFF2-40B4-BE49-F238E27FC236}">
                <a16:creationId xmlns:a16="http://schemas.microsoft.com/office/drawing/2014/main" id="{B2E543A3-B10A-4E22-8F28-DEBD681F268C}"/>
              </a:ext>
            </a:extLst>
          </p:cNvPr>
          <p:cNvCxnSpPr>
            <a:cxnSpLocks/>
          </p:cNvCxnSpPr>
          <p:nvPr/>
        </p:nvCxnSpPr>
        <p:spPr>
          <a:xfrm>
            <a:off x="5163732" y="3192308"/>
            <a:ext cx="0" cy="320984"/>
          </a:xfrm>
          <a:prstGeom prst="straightConnector1">
            <a:avLst/>
          </a:prstGeom>
          <a:ln w="28575">
            <a:solidFill>
              <a:srgbClr val="2B546B"/>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8" name="Прямая со стрелкой 37">
            <a:extLst>
              <a:ext uri="{FF2B5EF4-FFF2-40B4-BE49-F238E27FC236}">
                <a16:creationId xmlns:a16="http://schemas.microsoft.com/office/drawing/2014/main" id="{1449CA2E-DD31-414A-90AA-E44FC6CD9068}"/>
              </a:ext>
            </a:extLst>
          </p:cNvPr>
          <p:cNvCxnSpPr>
            <a:cxnSpLocks/>
          </p:cNvCxnSpPr>
          <p:nvPr/>
        </p:nvCxnSpPr>
        <p:spPr>
          <a:xfrm>
            <a:off x="1466850" y="3192308"/>
            <a:ext cx="0" cy="320984"/>
          </a:xfrm>
          <a:prstGeom prst="straightConnector1">
            <a:avLst/>
          </a:prstGeom>
          <a:ln w="28575">
            <a:solidFill>
              <a:srgbClr val="2B546B"/>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13A9C681-3AC1-4B9C-B008-9110A8D18DEF}"/>
              </a:ext>
            </a:extLst>
          </p:cNvPr>
          <p:cNvSpPr txBox="1"/>
          <p:nvPr/>
        </p:nvSpPr>
        <p:spPr>
          <a:xfrm>
            <a:off x="710177" y="3492978"/>
            <a:ext cx="4276940" cy="276999"/>
          </a:xfrm>
          <a:prstGeom prst="rect">
            <a:avLst/>
          </a:prstGeom>
          <a:noFill/>
        </p:spPr>
        <p:txBody>
          <a:bodyPr wrap="none" rtlCol="0">
            <a:spAutoFit/>
          </a:bodyPr>
          <a:lstStyle/>
          <a:p>
            <a:r>
              <a:rPr lang="ru-RU" sz="1200" b="1" dirty="0">
                <a:latin typeface="Arial" panose="020B0604020202020204" pitchFamily="34" charset="0"/>
                <a:cs typeface="Arial" panose="020B0604020202020204" pitchFamily="34" charset="0"/>
              </a:rPr>
              <a:t>В каких социально-демографических группах выше?</a:t>
            </a:r>
            <a:endParaRPr lang="en-US" sz="1200" b="1" dirty="0">
              <a:latin typeface="Arial" panose="020B0604020202020204" pitchFamily="34" charset="0"/>
              <a:cs typeface="Arial" panose="020B0604020202020204" pitchFamily="34" charset="0"/>
            </a:endParaRPr>
          </a:p>
        </p:txBody>
      </p:sp>
      <p:sp>
        <p:nvSpPr>
          <p:cNvPr id="40" name="TextBox 39">
            <a:extLst>
              <a:ext uri="{FF2B5EF4-FFF2-40B4-BE49-F238E27FC236}">
                <a16:creationId xmlns:a16="http://schemas.microsoft.com/office/drawing/2014/main" id="{B49D23A8-A8B4-464B-A2CC-1D06D6FA6D7D}"/>
              </a:ext>
            </a:extLst>
          </p:cNvPr>
          <p:cNvSpPr txBox="1"/>
          <p:nvPr/>
        </p:nvSpPr>
        <p:spPr>
          <a:xfrm>
            <a:off x="6657687" y="3785429"/>
            <a:ext cx="2700717" cy="3108543"/>
          </a:xfrm>
          <a:prstGeom prst="rect">
            <a:avLst/>
          </a:prstGeom>
          <a:noFill/>
        </p:spPr>
        <p:txBody>
          <a:bodyPr wrap="square" rtlCol="0">
            <a:spAutoFit/>
          </a:bodyPr>
          <a:lstStyle/>
          <a:p>
            <a:r>
              <a:rPr lang="ru-RU" sz="1400" dirty="0">
                <a:latin typeface="Arial" panose="020B0604020202020204" pitchFamily="34" charset="0"/>
                <a:cs typeface="Arial" panose="020B0604020202020204" pitchFamily="34" charset="0"/>
              </a:rPr>
              <a:t>18-34 года – 50%</a:t>
            </a:r>
          </a:p>
          <a:p>
            <a:r>
              <a:rPr lang="ru-RU" sz="1400" dirty="0">
                <a:latin typeface="Arial" panose="020B0604020202020204" pitchFamily="34" charset="0"/>
                <a:cs typeface="Arial" panose="020B0604020202020204" pitchFamily="34" charset="0"/>
              </a:rPr>
              <a:t>Высшее образование – 42%</a:t>
            </a:r>
          </a:p>
          <a:p>
            <a:r>
              <a:rPr lang="ru-RU" sz="1400" dirty="0">
                <a:latin typeface="Arial" panose="020B0604020202020204" pitchFamily="34" charset="0"/>
                <a:cs typeface="Arial" panose="020B0604020202020204" pitchFamily="34" charset="0"/>
              </a:rPr>
              <a:t>Русскоязычные казахи – 42%</a:t>
            </a:r>
          </a:p>
          <a:p>
            <a:r>
              <a:rPr lang="ru-RU" sz="1400" dirty="0">
                <a:latin typeface="Arial" panose="020B0604020202020204" pitchFamily="34" charset="0"/>
                <a:cs typeface="Arial" panose="020B0604020202020204" pitchFamily="34" charset="0"/>
              </a:rPr>
              <a:t>«Плохие» условия проживания– 43%</a:t>
            </a:r>
          </a:p>
          <a:p>
            <a:r>
              <a:rPr lang="ru-RU" sz="1400" dirty="0">
                <a:latin typeface="Arial" panose="020B0604020202020204" pitchFamily="34" charset="0"/>
                <a:cs typeface="Arial" panose="020B0604020202020204" pitchFamily="34" charset="0"/>
              </a:rPr>
              <a:t>У кого нет собственного жилья – 49%</a:t>
            </a:r>
          </a:p>
          <a:p>
            <a:r>
              <a:rPr lang="ru-RU" sz="1400" dirty="0">
                <a:latin typeface="Arial" panose="020B0604020202020204" pitchFamily="34" charset="0"/>
                <a:cs typeface="Arial" panose="020B0604020202020204" pitchFamily="34" charset="0"/>
              </a:rPr>
              <a:t>Живущие с родственниками – 49%</a:t>
            </a:r>
          </a:p>
          <a:p>
            <a:r>
              <a:rPr lang="ru-RU" sz="1400" dirty="0">
                <a:latin typeface="Arial" panose="020B0604020202020204" pitchFamily="34" charset="0"/>
                <a:cs typeface="Arial" panose="020B0604020202020204" pitchFamily="34" charset="0"/>
              </a:rPr>
              <a:t>Жители Улытауской, Кызылординской, Атырауской области</a:t>
            </a:r>
          </a:p>
          <a:p>
            <a:endParaRPr lang="ru-RU" sz="1400" dirty="0">
              <a:latin typeface="Arial" panose="020B0604020202020204" pitchFamily="34" charset="0"/>
              <a:cs typeface="Arial" panose="020B0604020202020204" pitchFamily="34" charset="0"/>
            </a:endParaRPr>
          </a:p>
          <a:p>
            <a:r>
              <a:rPr lang="ru-RU" sz="14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143178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a:extLst>
              <a:ext uri="{FF2B5EF4-FFF2-40B4-BE49-F238E27FC236}">
                <a16:creationId xmlns:a16="http://schemas.microsoft.com/office/drawing/2014/main" id="{0F9E7DAD-04CB-483D-9D16-956701580B2D}"/>
              </a:ext>
            </a:extLst>
          </p:cNvPr>
          <p:cNvSpPr/>
          <p:nvPr/>
        </p:nvSpPr>
        <p:spPr>
          <a:xfrm>
            <a:off x="163286" y="152400"/>
            <a:ext cx="9568543" cy="6564085"/>
          </a:xfrm>
          <a:prstGeom prst="rect">
            <a:avLst/>
          </a:prstGeom>
          <a:solidFill>
            <a:srgbClr val="2B546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5" name="Рисунок 4">
            <a:extLst>
              <a:ext uri="{FF2B5EF4-FFF2-40B4-BE49-F238E27FC236}">
                <a16:creationId xmlns:a16="http://schemas.microsoft.com/office/drawing/2014/main" id="{A4034F93-1317-779E-AD9F-06C4493EF942}"/>
              </a:ext>
            </a:extLst>
          </p:cNvPr>
          <p:cNvPicPr>
            <a:picLocks noChangeAspect="1"/>
          </p:cNvPicPr>
          <p:nvPr/>
        </p:nvPicPr>
        <p:blipFill>
          <a:blip r:embed="rId2" cstate="print">
            <a:lum bright="70000" contrast="-70000"/>
            <a:extLst>
              <a:ext uri="{28A0092B-C50C-407E-A947-70E740481C1C}">
                <a14:useLocalDpi xmlns:a14="http://schemas.microsoft.com/office/drawing/2010/main"/>
              </a:ext>
            </a:extLst>
          </a:blip>
          <a:stretch>
            <a:fillRect/>
          </a:stretch>
        </p:blipFill>
        <p:spPr>
          <a:xfrm>
            <a:off x="854931" y="2607891"/>
            <a:ext cx="4724146" cy="1346530"/>
          </a:xfrm>
          <a:prstGeom prst="rect">
            <a:avLst/>
          </a:prstGeom>
        </p:spPr>
      </p:pic>
    </p:spTree>
    <p:extLst>
      <p:ext uri="{BB962C8B-B14F-4D97-AF65-F5344CB8AC3E}">
        <p14:creationId xmlns:p14="http://schemas.microsoft.com/office/powerpoint/2010/main" val="1688274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Тема Office">
  <a:themeElements>
    <a:clrScheme name="Тема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Тема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19414</TotalTime>
  <Words>1829</Words>
  <Application>Microsoft Office PowerPoint</Application>
  <PresentationFormat>Лист A4 (210x297 мм)</PresentationFormat>
  <Paragraphs>221</Paragraphs>
  <Slides>14</Slides>
  <Notes>0</Notes>
  <HiddenSlides>0</HiddenSlides>
  <MMClips>0</MMClips>
  <ScaleCrop>false</ScaleCrop>
  <HeadingPairs>
    <vt:vector size="8" baseType="variant">
      <vt:variant>
        <vt:lpstr>Использованные шрифты</vt:lpstr>
      </vt:variant>
      <vt:variant>
        <vt:i4>5</vt:i4>
      </vt:variant>
      <vt:variant>
        <vt:lpstr>Тема</vt:lpstr>
      </vt:variant>
      <vt:variant>
        <vt:i4>1</vt:i4>
      </vt:variant>
      <vt:variant>
        <vt:lpstr>Внедренные серверы OLE</vt:lpstr>
      </vt:variant>
      <vt:variant>
        <vt:i4>1</vt:i4>
      </vt:variant>
      <vt:variant>
        <vt:lpstr>Заголовки слайдов</vt:lpstr>
      </vt:variant>
      <vt:variant>
        <vt:i4>14</vt:i4>
      </vt:variant>
    </vt:vector>
  </HeadingPairs>
  <TitlesOfParts>
    <vt:vector size="21" baseType="lpstr">
      <vt:lpstr>Arial</vt:lpstr>
      <vt:lpstr>Calibri</vt:lpstr>
      <vt:lpstr>Calibri Light</vt:lpstr>
      <vt:lpstr>Roboto</vt:lpstr>
      <vt:lpstr>Wingdings</vt:lpstr>
      <vt:lpstr>Тема Office</vt:lpstr>
      <vt:lpstr>Слайд think-cell</vt:lpstr>
      <vt:lpstr>Презентация PowerPoint</vt:lpstr>
      <vt:lpstr>Дизайн исследования</vt:lpstr>
      <vt:lpstr>1. Жилищные условия проживания </vt:lpstr>
      <vt:lpstr>«Где Вы сейчас постоянно проживаете?»</vt:lpstr>
      <vt:lpstr>«Как бы Вы оценили ваши жилищные условия?»</vt:lpstr>
      <vt:lpstr>Условия проживания и социальное самочувствие</vt:lpstr>
      <vt:lpstr>Условия проживания и оценка работы Президента</vt:lpstr>
      <vt:lpstr>Презентация PowerPoint</vt:lpstr>
      <vt:lpstr>Презентация PowerPoint</vt:lpstr>
      <vt:lpstr>С кем Вы проживаете?</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k_guzguz k_guzguz</dc:creator>
  <cp:lastModifiedBy>Chechikova Svetlana</cp:lastModifiedBy>
  <cp:revision>1749</cp:revision>
  <cp:lastPrinted>2023-02-06T05:53:40Z</cp:lastPrinted>
  <dcterms:created xsi:type="dcterms:W3CDTF">2022-11-14T05:06:35Z</dcterms:created>
  <dcterms:modified xsi:type="dcterms:W3CDTF">2023-09-11T11:55:06Z</dcterms:modified>
</cp:coreProperties>
</file>