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1" d="100"/>
          <a:sy n="131" d="100"/>
        </p:scale>
        <p:origin x="208" y="72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731519" y="2377440"/>
            <a:ext cx="6170023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 bwMode="auto">
          <a:xfrm>
            <a:off x="73152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PropTech-экосистема</a:t>
            </a:r>
            <a:endParaRPr lang="en-US" sz="54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731520" y="3520440"/>
            <a:ext cx="1097280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endParaRPr lang="en-US" sz="5400"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 bwMode="auto">
          <a:xfrm>
            <a:off x="731519" y="3597184"/>
            <a:ext cx="1005840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Операционный контур</a:t>
            </a:r>
            <a:endParaRPr lang="en-US" sz="2200"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356289"/>
            <a:ext cx="73152" cy="274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КОНТЕКСТ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Окно возможностей: глобальный тренд и казахстанский момент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МИРОВОЙ КОНТЕКСТ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5740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7" name="Shape 5"/>
          <p:cNvSpPr/>
          <p:nvPr/>
        </p:nvSpPr>
        <p:spPr bwMode="auto">
          <a:xfrm>
            <a:off x="548640" y="2057400"/>
            <a:ext cx="7315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777240" y="216712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$393 трлн</a:t>
            </a:r>
            <a:endParaRPr lang="en-US" sz="26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3017519" y="2167128"/>
            <a:ext cx="2558686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мировой фонд недвижимости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endParaRPr lang="en-US" sz="105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крупнейший класс активов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(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McKinsey 2021)</a:t>
            </a:r>
            <a:endParaRPr lang="en-US" sz="1050">
              <a:latin typeface="Montserrat"/>
            </a:endParaRPr>
          </a:p>
        </p:txBody>
      </p:sp>
      <p:sp>
        <p:nvSpPr>
          <p:cNvPr id="10" name="Shape 8"/>
          <p:cNvSpPr/>
          <p:nvPr/>
        </p:nvSpPr>
        <p:spPr bwMode="auto">
          <a:xfrm>
            <a:off x="548640" y="338328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 bwMode="auto">
          <a:xfrm>
            <a:off x="548640" y="3383280"/>
            <a:ext cx="7315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 bwMode="auto">
          <a:xfrm>
            <a:off x="777240" y="349300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61%</a:t>
            </a:r>
            <a:endParaRPr lang="en-US" sz="2600"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 bwMode="auto">
          <a:xfrm>
            <a:off x="3017519" y="3493008"/>
            <a:ext cx="2558687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ru-RU" sz="1050">
                <a:solidFill>
                  <a:srgbClr val="1F2937"/>
                </a:solidFill>
                <a:latin typeface="Montserrat"/>
                <a:cs typeface="Calibri"/>
              </a:rPr>
              <a:t>компаний недвижимости работают на устаревших технологиях (</a:t>
            </a:r>
            <a:r>
              <a:rPr lang="en-US" sz="1050">
                <a:solidFill>
                  <a:srgbClr val="1F2937"/>
                </a:solidFill>
                <a:latin typeface="Montserrat"/>
                <a:cs typeface="Calibri"/>
              </a:rPr>
              <a:t>Deloitte, 2024)</a:t>
            </a:r>
            <a:endParaRPr lang="en-US" sz="1050">
              <a:latin typeface="Montserrat"/>
            </a:endParaRPr>
          </a:p>
        </p:txBody>
      </p:sp>
      <p:sp>
        <p:nvSpPr>
          <p:cNvPr id="14" name="Shape 12"/>
          <p:cNvSpPr/>
          <p:nvPr/>
        </p:nvSpPr>
        <p:spPr bwMode="auto">
          <a:xfrm>
            <a:off x="548640" y="470916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15" name="Shape 13"/>
          <p:cNvSpPr/>
          <p:nvPr/>
        </p:nvSpPr>
        <p:spPr bwMode="auto">
          <a:xfrm>
            <a:off x="548640" y="4709160"/>
            <a:ext cx="7315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 bwMode="auto">
          <a:xfrm>
            <a:off x="777240" y="481888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$209 млрд</a:t>
            </a:r>
            <a:endParaRPr lang="en-US" sz="2600"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 bwMode="auto">
          <a:xfrm>
            <a:off x="3017519" y="4818888"/>
            <a:ext cx="2787287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прогноз рынка PropTech</a:t>
            </a:r>
            <a:endParaRPr lang="en-US" sz="105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 2035 г. (CAGR 16,4%) </a:t>
            </a:r>
            <a:endParaRPr lang="ru-RU" sz="1050">
              <a:solidFill>
                <a:srgbClr val="1F2937"/>
              </a:solidFill>
              <a:latin typeface="Montserrat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(Precedence Research)</a:t>
            </a:r>
            <a:endParaRPr lang="en-US" sz="1050">
              <a:latin typeface="Montserrat"/>
            </a:endParaRPr>
          </a:p>
        </p:txBody>
      </p:sp>
      <p:sp>
        <p:nvSpPr>
          <p:cNvPr id="18" name="Text 16"/>
          <p:cNvSpPr/>
          <p:nvPr/>
        </p:nvSpPr>
        <p:spPr bwMode="auto">
          <a:xfrm>
            <a:off x="6355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КАЗАХСТАН И ALATAU CITY</a:t>
            </a:r>
            <a:endParaRPr lang="en-US" sz="1100">
              <a:latin typeface="Montserrat"/>
            </a:endParaRPr>
          </a:p>
        </p:txBody>
      </p:sp>
      <p:sp>
        <p:nvSpPr>
          <p:cNvPr id="19" name="Shape 17"/>
          <p:cNvSpPr/>
          <p:nvPr/>
        </p:nvSpPr>
        <p:spPr bwMode="auto">
          <a:xfrm>
            <a:off x="6355080" y="205740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Shape 18"/>
          <p:cNvSpPr/>
          <p:nvPr/>
        </p:nvSpPr>
        <p:spPr bwMode="auto">
          <a:xfrm>
            <a:off x="6355080" y="2057400"/>
            <a:ext cx="73152" cy="1143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 bwMode="auto">
          <a:xfrm>
            <a:off x="6583680" y="216712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12 трлн ₸</a:t>
            </a:r>
            <a:endParaRPr lang="en-US" sz="26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8823960" y="2167128"/>
            <a:ext cx="292608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объ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м рынка недвижимости РК;</a:t>
            </a:r>
            <a:endParaRPr lang="en-US" sz="105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до 68% дол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вки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серые схемы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(БНС РК)</a:t>
            </a:r>
            <a:endParaRPr lang="en-US" sz="1050">
              <a:latin typeface="Montserrat"/>
            </a:endParaRPr>
          </a:p>
        </p:txBody>
      </p:sp>
      <p:sp>
        <p:nvSpPr>
          <p:cNvPr id="23" name="Shape 21"/>
          <p:cNvSpPr/>
          <p:nvPr/>
        </p:nvSpPr>
        <p:spPr bwMode="auto">
          <a:xfrm>
            <a:off x="6355080" y="338328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Shape 22"/>
          <p:cNvSpPr/>
          <p:nvPr/>
        </p:nvSpPr>
        <p:spPr bwMode="auto">
          <a:xfrm>
            <a:off x="6355080" y="3383280"/>
            <a:ext cx="73152" cy="1143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 bwMode="auto">
          <a:xfrm>
            <a:off x="6583680" y="349300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5%</a:t>
            </a:r>
            <a:endParaRPr lang="en-US" sz="2600">
              <a:latin typeface="Montserrat"/>
            </a:endParaRPr>
          </a:p>
        </p:txBody>
      </p:sp>
      <p:sp>
        <p:nvSpPr>
          <p:cNvPr id="26" name="Text 24"/>
          <p:cNvSpPr/>
          <p:nvPr/>
        </p:nvSpPr>
        <p:spPr bwMode="auto">
          <a:xfrm>
            <a:off x="8823960" y="3493008"/>
            <a:ext cx="292608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проникновение ипотеки в ВВП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endParaRPr lang="en-US" sz="105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в разы ниже развитых стран</a:t>
            </a:r>
            <a:endParaRPr lang="en-US" sz="1050">
              <a:latin typeface="Montserrat"/>
            </a:endParaRPr>
          </a:p>
        </p:txBody>
      </p:sp>
      <p:sp>
        <p:nvSpPr>
          <p:cNvPr id="27" name="Shape 25"/>
          <p:cNvSpPr/>
          <p:nvPr/>
        </p:nvSpPr>
        <p:spPr bwMode="auto">
          <a:xfrm>
            <a:off x="6355080" y="4709160"/>
            <a:ext cx="54864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Shape 26"/>
          <p:cNvSpPr/>
          <p:nvPr/>
        </p:nvSpPr>
        <p:spPr bwMode="auto">
          <a:xfrm>
            <a:off x="6355080" y="4709160"/>
            <a:ext cx="73152" cy="1143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Text 27"/>
          <p:cNvSpPr/>
          <p:nvPr/>
        </p:nvSpPr>
        <p:spPr bwMode="auto">
          <a:xfrm>
            <a:off x="6583680" y="4818888"/>
            <a:ext cx="2194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24.04.26</a:t>
            </a:r>
            <a:endParaRPr lang="en-US" sz="26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8823960" y="4818888"/>
            <a:ext cx="292608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первый криптоплат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ж ACB + Binance;</a:t>
            </a:r>
            <a:endParaRPr lang="en-US" sz="105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с 01.05.26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регулирование ЦФА</a:t>
            </a:r>
            <a:endParaRPr lang="en-US" sz="1050">
              <a:latin typeface="Montserrat"/>
            </a:endParaRPr>
          </a:p>
        </p:txBody>
      </p:sp>
      <p:sp>
        <p:nvSpPr>
          <p:cNvPr id="31" name="Shape 29"/>
          <p:cNvSpPr/>
          <p:nvPr/>
        </p:nvSpPr>
        <p:spPr bwMode="auto">
          <a:xfrm>
            <a:off x="548640" y="5989320"/>
            <a:ext cx="1106424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 bwMode="auto">
          <a:xfrm>
            <a:off x="73152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Конституционный закон Alatau City + регулирование ЦФА + рыночный спрос = момент перехода от деклараций к запуску</a:t>
            </a:r>
            <a:endParaRPr lang="en-US" sz="1200">
              <a:latin typeface="Montserrat"/>
            </a:endParaRPr>
          </a:p>
        </p:txBody>
      </p:sp>
      <p:sp>
        <p:nvSpPr>
          <p:cNvPr id="34" name="Text 32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365760"/>
            <a:ext cx="80010" cy="295547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685800" y="391886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ЭТАЛОННАЯ МОДЕЛЬ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Пять этапов клиентского пути и два сквозных слоя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Полная экосистема = 5 этапов клиентского пути + 2 сквозных инфраструктурных слоя = 8 функциональных блоков</a:t>
            </a:r>
            <a:endParaRPr lang="en-US" sz="12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57400"/>
            <a:ext cx="2157984" cy="2148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 bwMode="auto">
          <a:xfrm>
            <a:off x="548640" y="2057400"/>
            <a:ext cx="2157984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548640" y="2057400"/>
            <a:ext cx="2157984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Этап 1</a:t>
            </a:r>
            <a:endParaRPr lang="en-US" sz="11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685800" y="2606040"/>
            <a:ext cx="188366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Поиск</a:t>
            </a:r>
            <a:endParaRPr lang="en-US" sz="17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685800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Биография объекта,</a:t>
            </a:r>
            <a:endParaRPr lang="en-US" sz="10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публичная оценка</a:t>
            </a:r>
            <a:endParaRPr lang="en-US" sz="1000"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 bwMode="auto">
          <a:xfrm>
            <a:off x="685800" y="3749040"/>
            <a:ext cx="1883664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Zillow (США)</a:t>
            </a:r>
            <a:endParaRPr lang="en-US" sz="900">
              <a:latin typeface="Montserrat"/>
            </a:endParaRPr>
          </a:p>
        </p:txBody>
      </p:sp>
      <p:sp>
        <p:nvSpPr>
          <p:cNvPr id="12" name="Shape 10"/>
          <p:cNvSpPr/>
          <p:nvPr/>
        </p:nvSpPr>
        <p:spPr bwMode="auto">
          <a:xfrm>
            <a:off x="2798064" y="2057400"/>
            <a:ext cx="2157984" cy="2148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Shape 11"/>
          <p:cNvSpPr/>
          <p:nvPr/>
        </p:nvSpPr>
        <p:spPr bwMode="auto">
          <a:xfrm>
            <a:off x="2798064" y="2057400"/>
            <a:ext cx="2157984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 bwMode="auto">
          <a:xfrm>
            <a:off x="2798064" y="2057400"/>
            <a:ext cx="2157984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Этап 2</a:t>
            </a:r>
            <a:endParaRPr lang="en-US" sz="11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2935224" y="2606040"/>
            <a:ext cx="188366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Сделка</a:t>
            </a:r>
            <a:endParaRPr lang="en-US" sz="1700"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2935224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Цифровая регистрация,</a:t>
            </a:r>
            <a:endParaRPr lang="en-US" sz="10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эскроу, верификация</a:t>
            </a:r>
            <a:endParaRPr lang="en-US" sz="1000"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 bwMode="auto">
          <a:xfrm>
            <a:off x="2935224" y="3749040"/>
            <a:ext cx="1883664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Dubai Land Dept,</a:t>
            </a:r>
            <a:endParaRPr lang="en-US" sz="9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Домклик</a:t>
            </a:r>
            <a:endParaRPr lang="en-US" sz="900">
              <a:latin typeface="Montserrat"/>
            </a:endParaRPr>
          </a:p>
        </p:txBody>
      </p:sp>
      <p:sp>
        <p:nvSpPr>
          <p:cNvPr id="18" name="Shape 16"/>
          <p:cNvSpPr/>
          <p:nvPr/>
        </p:nvSpPr>
        <p:spPr bwMode="auto">
          <a:xfrm>
            <a:off x="5047488" y="2057400"/>
            <a:ext cx="2157984" cy="2148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 bwMode="auto">
          <a:xfrm>
            <a:off x="5047488" y="2057400"/>
            <a:ext cx="2157984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 bwMode="auto">
          <a:xfrm>
            <a:off x="5047488" y="2057400"/>
            <a:ext cx="2157984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Этап 3</a:t>
            </a:r>
            <a:endParaRPr lang="en-US" sz="11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5184648" y="2606040"/>
            <a:ext cx="188366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Финансы</a:t>
            </a:r>
            <a:endParaRPr lang="en-US" sz="17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5184648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Ипотека, проектное фин.,</a:t>
            </a:r>
            <a:endParaRPr lang="en-US" sz="10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GenAI-скоринг</a:t>
            </a:r>
            <a:endParaRPr lang="en-US" sz="1000"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5184648" y="3749040"/>
            <a:ext cx="1883664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DBS Bank</a:t>
            </a:r>
            <a:endParaRPr lang="en-US" sz="9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(Сингапур)</a:t>
            </a:r>
            <a:endParaRPr lang="en-US" sz="900">
              <a:latin typeface="Montserrat"/>
            </a:endParaRPr>
          </a:p>
        </p:txBody>
      </p:sp>
      <p:sp>
        <p:nvSpPr>
          <p:cNvPr id="24" name="Shape 22"/>
          <p:cNvSpPr/>
          <p:nvPr/>
        </p:nvSpPr>
        <p:spPr bwMode="auto">
          <a:xfrm>
            <a:off x="7296912" y="2057400"/>
            <a:ext cx="2157984" cy="2148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Shape 23"/>
          <p:cNvSpPr/>
          <p:nvPr/>
        </p:nvSpPr>
        <p:spPr bwMode="auto">
          <a:xfrm>
            <a:off x="7296912" y="2057400"/>
            <a:ext cx="2157984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26" name="Text 24"/>
          <p:cNvSpPr/>
          <p:nvPr/>
        </p:nvSpPr>
        <p:spPr bwMode="auto">
          <a:xfrm>
            <a:off x="7296912" y="2057400"/>
            <a:ext cx="2157984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Calibri"/>
                <a:ea typeface="Calibri"/>
                <a:cs typeface="Calibri"/>
              </a:rPr>
              <a:t>Этап 4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 bwMode="auto">
          <a:xfrm>
            <a:off x="7434072" y="2606040"/>
            <a:ext cx="188366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Инвестиции</a:t>
            </a:r>
            <a:endParaRPr lang="en-US" sz="1700">
              <a:latin typeface="Montserrat"/>
            </a:endParaRPr>
          </a:p>
        </p:txBody>
      </p:sp>
      <p:sp>
        <p:nvSpPr>
          <p:cNvPr id="28" name="Text 26"/>
          <p:cNvSpPr/>
          <p:nvPr/>
        </p:nvSpPr>
        <p:spPr bwMode="auto">
          <a:xfrm>
            <a:off x="7434072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Токенизация,</a:t>
            </a:r>
            <a:endParaRPr lang="en-US" sz="10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долевое владение от $500</a:t>
            </a:r>
            <a:endParaRPr lang="en-US" sz="100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7434072" y="3749040"/>
            <a:ext cx="1883664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Prypco Mint</a:t>
            </a:r>
            <a:endParaRPr lang="en-US" sz="9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(Дубай)</a:t>
            </a:r>
            <a:endParaRPr lang="en-US" sz="900">
              <a:latin typeface="Montserrat"/>
            </a:endParaRPr>
          </a:p>
        </p:txBody>
      </p:sp>
      <p:sp>
        <p:nvSpPr>
          <p:cNvPr id="30" name="Shape 28"/>
          <p:cNvSpPr/>
          <p:nvPr/>
        </p:nvSpPr>
        <p:spPr bwMode="auto">
          <a:xfrm>
            <a:off x="9546336" y="2057400"/>
            <a:ext cx="2157984" cy="2148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Shape 29"/>
          <p:cNvSpPr/>
          <p:nvPr/>
        </p:nvSpPr>
        <p:spPr bwMode="auto">
          <a:xfrm>
            <a:off x="9546336" y="2057400"/>
            <a:ext cx="2157984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 bwMode="auto">
          <a:xfrm>
            <a:off x="9546336" y="2057400"/>
            <a:ext cx="2157984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Этап 5</a:t>
            </a:r>
            <a:endParaRPr lang="en-US" sz="1100"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 bwMode="auto">
          <a:xfrm>
            <a:off x="9683496" y="2606040"/>
            <a:ext cx="188366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Сервис</a:t>
            </a:r>
            <a:endParaRPr lang="en-US" sz="1700">
              <a:latin typeface="Montserrat"/>
            </a:endParaRPr>
          </a:p>
        </p:txBody>
      </p:sp>
      <p:sp>
        <p:nvSpPr>
          <p:cNvPr id="34" name="Text 32"/>
          <p:cNvSpPr/>
          <p:nvPr/>
        </p:nvSpPr>
        <p:spPr bwMode="auto">
          <a:xfrm>
            <a:off x="9683496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ЖКУ, ремонт,</a:t>
            </a:r>
            <a:endParaRPr lang="en-US" sz="10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управление, Smart Home</a:t>
            </a:r>
            <a:endParaRPr lang="en-US" sz="1000">
              <a:latin typeface="Montserrat"/>
            </a:endParaRPr>
          </a:p>
        </p:txBody>
      </p:sp>
      <p:sp>
        <p:nvSpPr>
          <p:cNvPr id="35" name="Text 33"/>
          <p:cNvSpPr/>
          <p:nvPr/>
        </p:nvSpPr>
        <p:spPr bwMode="auto">
          <a:xfrm>
            <a:off x="9683496" y="3749040"/>
            <a:ext cx="1883664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Kraken Tech,</a:t>
            </a:r>
            <a:endParaRPr lang="en-US" sz="900">
              <a:latin typeface="Montserrat"/>
            </a:endParaRPr>
          </a:p>
          <a:p>
            <a:pPr marL="0" indent="0" algn="ctr">
              <a:buNone/>
              <a:defRPr/>
            </a:pPr>
            <a:r>
              <a:rPr lang="en-US" sz="900" i="1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Beike (Китай)</a:t>
            </a:r>
            <a:endParaRPr lang="en-US" sz="900">
              <a:latin typeface="Montserrat"/>
            </a:endParaRPr>
          </a:p>
        </p:txBody>
      </p:sp>
      <p:sp>
        <p:nvSpPr>
          <p:cNvPr id="36" name="Text 34"/>
          <p:cNvSpPr/>
          <p:nvPr/>
        </p:nvSpPr>
        <p:spPr bwMode="auto"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СКВОЗНЫЕ СЛОИ</a:t>
            </a:r>
            <a:endParaRPr lang="en-US" sz="1100">
              <a:latin typeface="Montserrat"/>
            </a:endParaRPr>
          </a:p>
        </p:txBody>
      </p:sp>
      <p:sp>
        <p:nvSpPr>
          <p:cNvPr id="37" name="Shape 35"/>
          <p:cNvSpPr/>
          <p:nvPr/>
        </p:nvSpPr>
        <p:spPr bwMode="auto">
          <a:xfrm>
            <a:off x="548640" y="47548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38" name="Text 36"/>
          <p:cNvSpPr/>
          <p:nvPr/>
        </p:nvSpPr>
        <p:spPr bwMode="auto">
          <a:xfrm>
            <a:off x="73152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Единые данные и идентификация</a:t>
            </a:r>
            <a:endParaRPr lang="en-US" sz="1300">
              <a:latin typeface="Montserrat"/>
            </a:endParaRPr>
          </a:p>
        </p:txBody>
      </p:sp>
      <p:sp>
        <p:nvSpPr>
          <p:cNvPr id="39" name="Text 37"/>
          <p:cNvSpPr/>
          <p:nvPr/>
        </p:nvSpPr>
        <p:spPr bwMode="auto">
          <a:xfrm>
            <a:off x="73152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Один KYC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верификация везде. Общая база объектов. Событийная шина. Без слоя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нет экосистемы, только набор сервисов.</a:t>
            </a:r>
            <a:endParaRPr lang="en-US" sz="1050">
              <a:latin typeface="Montserrat"/>
            </a:endParaRPr>
          </a:p>
        </p:txBody>
      </p:sp>
      <p:sp>
        <p:nvSpPr>
          <p:cNvPr id="40" name="Shape 38"/>
          <p:cNvSpPr/>
          <p:nvPr/>
        </p:nvSpPr>
        <p:spPr bwMode="auto">
          <a:xfrm>
            <a:off x="6126480" y="47548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" name="Text 39"/>
          <p:cNvSpPr/>
          <p:nvPr/>
        </p:nvSpPr>
        <p:spPr bwMode="auto">
          <a:xfrm>
            <a:off x="630936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ConTech </a:t>
            </a:r>
            <a:r>
              <a:rPr lang="ru-RU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 технологическое ядро застройки</a:t>
            </a:r>
            <a:endParaRPr lang="en-US" sz="1300">
              <a:latin typeface="Montserrat"/>
            </a:endParaRPr>
          </a:p>
        </p:txBody>
      </p:sp>
      <p:sp>
        <p:nvSpPr>
          <p:cNvPr id="42" name="Text 40"/>
          <p:cNvSpPr/>
          <p:nvPr/>
        </p:nvSpPr>
        <p:spPr bwMode="auto">
          <a:xfrm>
            <a:off x="630936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BIM, цифровой кадастр на блокчейне, сквозной контроль стройки. Фундамент эскроу 2.0 и токенизации off-plan.</a:t>
            </a:r>
            <a:endParaRPr lang="en-US" sz="1050">
              <a:latin typeface="Montserrat"/>
            </a:endParaRPr>
          </a:p>
        </p:txBody>
      </p:sp>
      <p:sp>
        <p:nvSpPr>
          <p:cNvPr id="43" name="Shape 41"/>
          <p:cNvSpPr/>
          <p:nvPr/>
        </p:nvSpPr>
        <p:spPr bwMode="auto">
          <a:xfrm>
            <a:off x="548640" y="5989320"/>
            <a:ext cx="1106424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" name="Text 42"/>
          <p:cNvSpPr/>
          <p:nvPr/>
        </p:nvSpPr>
        <p:spPr bwMode="auto">
          <a:xfrm>
            <a:off x="73152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Ни один мировой игрок не построил полный цикл «строительство + финансы + сервис» </a:t>
            </a:r>
            <a:r>
              <a:rPr lang="ru-RU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 именно эту нишу проект и должен занять</a:t>
            </a:r>
            <a:endParaRPr lang="en-US" sz="1200">
              <a:latin typeface="Montserrat"/>
            </a:endParaRPr>
          </a:p>
        </p:txBody>
      </p:sp>
      <p:sp>
        <p:nvSpPr>
          <p:cNvPr id="46" name="Text 44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365760"/>
            <a:ext cx="91440" cy="320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АУДИТ АКТИВОВ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Восемь функциональных блоков </a:t>
            </a:r>
            <a:r>
              <a:rPr lang="ru-RU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 в периметре одного акционера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64592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Из восьми блоков шесть закрываются готовыми активами; два </a:t>
            </a:r>
            <a:r>
              <a:rPr lang="ru-RU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 токенизация и единый слой данных </a:t>
            </a:r>
            <a:r>
              <a:rPr lang="ru-RU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 строятся с нуля, но имеют законодательный фундамент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5740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7" name="Shape 5"/>
          <p:cNvSpPr/>
          <p:nvPr/>
        </p:nvSpPr>
        <p:spPr bwMode="auto">
          <a:xfrm>
            <a:off x="548640" y="205740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7772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ЛИСТИНГ</a:t>
            </a:r>
            <a:endParaRPr lang="en-US" sz="95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77724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Krisha.kz</a:t>
            </a:r>
            <a:endParaRPr lang="en-US" sz="13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5,8 млн MAU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крупнейший трафик жилья РК</a:t>
            </a:r>
            <a:endParaRPr lang="en-US" sz="1050">
              <a:latin typeface="Montserrat"/>
            </a:endParaRPr>
          </a:p>
        </p:txBody>
      </p:sp>
      <p:sp>
        <p:nvSpPr>
          <p:cNvPr id="11" name="Shape 9"/>
          <p:cNvSpPr/>
          <p:nvPr/>
        </p:nvSpPr>
        <p:spPr bwMode="auto">
          <a:xfrm>
            <a:off x="6172200" y="205740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 bwMode="auto">
          <a:xfrm>
            <a:off x="6172200" y="205740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 bwMode="auto">
          <a:xfrm>
            <a:off x="64008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СДЕЛКА И ФИНАНСЫ</a:t>
            </a:r>
            <a:endParaRPr lang="en-US" sz="950">
              <a:latin typeface="Montserrat"/>
            </a:endParaRPr>
          </a:p>
        </p:txBody>
      </p:sp>
      <p:sp>
        <p:nvSpPr>
          <p:cNvPr id="14" name="Text 12"/>
          <p:cNvSpPr/>
          <p:nvPr/>
        </p:nvSpPr>
        <p:spPr bwMode="auto">
          <a:xfrm>
            <a:off x="64008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Bank</a:t>
            </a:r>
            <a:endParaRPr lang="en-US" sz="13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900684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Капитал 1+ трлн ₸, k2=28%, ипотека, эскроу</a:t>
            </a:r>
            <a:endParaRPr lang="en-US" sz="1050"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 bwMode="auto">
          <a:xfrm>
            <a:off x="548640" y="315468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 bwMode="auto">
          <a:xfrm>
            <a:off x="548640" y="315468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 bwMode="auto">
          <a:xfrm>
            <a:off x="7772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СТРАХОВАНИЕ</a:t>
            </a:r>
            <a:endParaRPr lang="en-US" sz="950">
              <a:latin typeface="Montserrat"/>
            </a:endParaRPr>
          </a:p>
        </p:txBody>
      </p:sp>
      <p:sp>
        <p:nvSpPr>
          <p:cNvPr id="19" name="Text 17"/>
          <p:cNvSpPr/>
          <p:nvPr/>
        </p:nvSpPr>
        <p:spPr bwMode="auto">
          <a:xfrm>
            <a:off x="7772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Garant</a:t>
            </a:r>
            <a:endParaRPr lang="en-US" sz="1300">
              <a:latin typeface="Montserrat"/>
            </a:endParaRPr>
          </a:p>
        </p:txBody>
      </p:sp>
      <p:sp>
        <p:nvSpPr>
          <p:cNvPr id="20" name="Text 18"/>
          <p:cNvSpPr/>
          <p:nvPr/>
        </p:nvSpPr>
        <p:spPr bwMode="auto">
          <a:xfrm>
            <a:off x="338328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ТОП-8, 447 тыс. клиентов, готовая лицензия</a:t>
            </a:r>
            <a:endParaRPr lang="en-US" sz="1050">
              <a:latin typeface="Montserrat"/>
            </a:endParaRPr>
          </a:p>
        </p:txBody>
      </p:sp>
      <p:sp>
        <p:nvSpPr>
          <p:cNvPr id="21" name="Shape 19"/>
          <p:cNvSpPr/>
          <p:nvPr/>
        </p:nvSpPr>
        <p:spPr bwMode="auto">
          <a:xfrm>
            <a:off x="6172200" y="315468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 bwMode="auto">
          <a:xfrm>
            <a:off x="6172200" y="315468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 bwMode="auto">
          <a:xfrm>
            <a:off x="64008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СЕРВИС ЖКУ</a:t>
            </a:r>
            <a:endParaRPr lang="en-US" sz="950">
              <a:latin typeface="Montserrat"/>
            </a:endParaRPr>
          </a:p>
        </p:txBody>
      </p:sp>
      <p:sp>
        <p:nvSpPr>
          <p:cNvPr id="24" name="Text 22"/>
          <p:cNvSpPr/>
          <p:nvPr/>
        </p:nvSpPr>
        <p:spPr bwMode="auto">
          <a:xfrm>
            <a:off x="640080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Алсеко + ЕРЦ</a:t>
            </a:r>
            <a:endParaRPr lang="en-US" sz="1300"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 bwMode="auto">
          <a:xfrm>
            <a:off x="900684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Плат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жное поведение, ежедневная частота</a:t>
            </a:r>
            <a:endParaRPr lang="en-US" sz="1050"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 bwMode="auto">
          <a:xfrm>
            <a:off x="548640" y="425196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27" name="Shape 25"/>
          <p:cNvSpPr/>
          <p:nvPr/>
        </p:nvSpPr>
        <p:spPr bwMode="auto">
          <a:xfrm>
            <a:off x="548640" y="425196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 bwMode="auto">
          <a:xfrm>
            <a:off x="77724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МАРКЕТПЛЕЙС / LIFESTYLE</a:t>
            </a:r>
            <a:endParaRPr lang="en-US" sz="95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7772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Kaspi</a:t>
            </a:r>
            <a:endParaRPr lang="en-US" sz="13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3383280" y="438912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14 млн пользователей, рассрочка, логистика</a:t>
            </a:r>
            <a:endParaRPr lang="en-US" sz="1050">
              <a:latin typeface="Montserrat"/>
            </a:endParaRPr>
          </a:p>
        </p:txBody>
      </p:sp>
      <p:sp>
        <p:nvSpPr>
          <p:cNvPr id="31" name="Shape 29"/>
          <p:cNvSpPr/>
          <p:nvPr/>
        </p:nvSpPr>
        <p:spPr bwMode="auto">
          <a:xfrm>
            <a:off x="6172200" y="425196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 bwMode="auto">
          <a:xfrm>
            <a:off x="6172200" y="4251960"/>
            <a:ext cx="9144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Text 31"/>
          <p:cNvSpPr/>
          <p:nvPr/>
        </p:nvSpPr>
        <p:spPr bwMode="auto">
          <a:xfrm>
            <a:off x="640080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ПЛАТЕЖИ И КРИПТО</a:t>
            </a:r>
            <a:endParaRPr lang="en-US" sz="950">
              <a:latin typeface="Montserrat"/>
            </a:endParaRPr>
          </a:p>
        </p:txBody>
      </p:sp>
      <p:sp>
        <p:nvSpPr>
          <p:cNvPr id="34" name="Text 32"/>
          <p:cNvSpPr/>
          <p:nvPr/>
        </p:nvSpPr>
        <p:spPr bwMode="auto">
          <a:xfrm>
            <a:off x="640080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CryptoPay (ACB)</a:t>
            </a:r>
            <a:endParaRPr lang="en-US" sz="1300">
              <a:latin typeface="Montserrat"/>
            </a:endParaRPr>
          </a:p>
        </p:txBody>
      </p:sp>
      <p:sp>
        <p:nvSpPr>
          <p:cNvPr id="35" name="Text 33"/>
          <p:cNvSpPr/>
          <p:nvPr/>
        </p:nvSpPr>
        <p:spPr bwMode="auto">
          <a:xfrm>
            <a:off x="9006840" y="438912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Партн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рство с Binance, первая транзакция в РК</a:t>
            </a:r>
            <a:endParaRPr lang="en-US" sz="1050">
              <a:latin typeface="Montserrat"/>
            </a:endParaRPr>
          </a:p>
        </p:txBody>
      </p:sp>
      <p:sp>
        <p:nvSpPr>
          <p:cNvPr id="36" name="Shape 34"/>
          <p:cNvSpPr/>
          <p:nvPr/>
        </p:nvSpPr>
        <p:spPr bwMode="auto">
          <a:xfrm>
            <a:off x="548640" y="534924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37" name="Shape 35"/>
          <p:cNvSpPr/>
          <p:nvPr/>
        </p:nvSpPr>
        <p:spPr bwMode="auto">
          <a:xfrm>
            <a:off x="548640" y="5349240"/>
            <a:ext cx="91440" cy="10058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 bwMode="auto">
          <a:xfrm>
            <a:off x="777240" y="544068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CONTECH</a:t>
            </a:r>
            <a:endParaRPr lang="en-US" sz="950">
              <a:latin typeface="Montserrat"/>
            </a:endParaRPr>
          </a:p>
        </p:txBody>
      </p:sp>
      <p:sp>
        <p:nvSpPr>
          <p:cNvPr id="39" name="Text 37"/>
          <p:cNvSpPr/>
          <p:nvPr/>
        </p:nvSpPr>
        <p:spPr bwMode="auto">
          <a:xfrm>
            <a:off x="777240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Девелоперы Alatau City</a:t>
            </a:r>
            <a:endParaRPr lang="en-US" sz="1300">
              <a:latin typeface="Montserrat"/>
            </a:endParaRPr>
          </a:p>
        </p:txBody>
      </p:sp>
      <p:sp>
        <p:nvSpPr>
          <p:cNvPr id="40" name="Text 38"/>
          <p:cNvSpPr/>
          <p:nvPr/>
        </p:nvSpPr>
        <p:spPr bwMode="auto">
          <a:xfrm>
            <a:off x="338328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Пилотные площадки в периметре города</a:t>
            </a:r>
            <a:endParaRPr lang="en-US" sz="1050">
              <a:latin typeface="Montserrat"/>
            </a:endParaRPr>
          </a:p>
        </p:txBody>
      </p:sp>
      <p:sp>
        <p:nvSpPr>
          <p:cNvPr id="41" name="Shape 39"/>
          <p:cNvSpPr/>
          <p:nvPr/>
        </p:nvSpPr>
        <p:spPr bwMode="auto">
          <a:xfrm>
            <a:off x="6172200" y="5349240"/>
            <a:ext cx="553212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Shape 40"/>
          <p:cNvSpPr/>
          <p:nvPr/>
        </p:nvSpPr>
        <p:spPr bwMode="auto">
          <a:xfrm>
            <a:off x="6172200" y="5349240"/>
            <a:ext cx="91440" cy="10058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" name="Text 41"/>
          <p:cNvSpPr/>
          <p:nvPr/>
        </p:nvSpPr>
        <p:spPr bwMode="auto">
          <a:xfrm>
            <a:off x="6400800" y="5440680"/>
            <a:ext cx="24688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ТОКЕНИЗАЦИЯ</a:t>
            </a:r>
            <a:endParaRPr lang="en-US" sz="950">
              <a:latin typeface="Montserrat"/>
            </a:endParaRPr>
          </a:p>
        </p:txBody>
      </p:sp>
      <p:sp>
        <p:nvSpPr>
          <p:cNvPr id="44" name="Text 42"/>
          <p:cNvSpPr/>
          <p:nvPr/>
        </p:nvSpPr>
        <p:spPr bwMode="auto">
          <a:xfrm>
            <a:off x="6400800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SPV ACB</a:t>
            </a:r>
            <a:endParaRPr lang="en-US" sz="1300">
              <a:latin typeface="Montserrat"/>
            </a:endParaRPr>
          </a:p>
        </p:txBody>
      </p:sp>
      <p:sp>
        <p:nvSpPr>
          <p:cNvPr id="45" name="Text 43"/>
          <p:cNvSpPr/>
          <p:nvPr/>
        </p:nvSpPr>
        <p:spPr bwMode="auto">
          <a:xfrm>
            <a:off x="900684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Требуется создание подзакона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. Iconic Towers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пилот</a:t>
            </a:r>
            <a:endParaRPr lang="en-US" sz="1050">
              <a:latin typeface="Montserrat"/>
            </a:endParaRPr>
          </a:p>
        </p:txBody>
      </p:sp>
      <p:sp>
        <p:nvSpPr>
          <p:cNvPr id="51" name="Text 49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365760"/>
            <a:ext cx="73152" cy="4114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GAP-АНАЛИЗ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Три критические зоны: что предстоит построить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Без закрытия этих зон экосистема существует на уровне отдельных сервисов, а не как платформа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57400"/>
            <a:ext cx="3703320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 bwMode="auto">
          <a:xfrm>
            <a:off x="548640" y="2057400"/>
            <a:ext cx="37033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 bwMode="auto">
          <a:xfrm>
            <a:off x="777240" y="2167128"/>
            <a:ext cx="292608" cy="29260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 bwMode="auto">
          <a:xfrm>
            <a:off x="77724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1</a:t>
            </a:r>
            <a:endParaRPr lang="en-US" sz="14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118872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ЗОНА РАЗВИТИЯ</a:t>
            </a:r>
            <a:endParaRPr lang="en-US" sz="1000"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 bwMode="auto">
          <a:xfrm>
            <a:off x="731520" y="2743200"/>
            <a:ext cx="333756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Единые данные</a:t>
            </a:r>
            <a:endParaRPr lang="en-US" sz="170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и идентификация</a:t>
            </a:r>
            <a:endParaRPr lang="en-US" sz="1700"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 bwMode="auto">
          <a:xfrm>
            <a:off x="731520" y="3657600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Проблема</a:t>
            </a:r>
            <a:endParaRPr lang="en-US" sz="950"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 bwMode="auto">
          <a:xfrm>
            <a:off x="731520" y="388620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Ни один из активов не выполняет функцию единого identity-провайдера и общей базы объектов.</a:t>
            </a:r>
            <a:endParaRPr lang="en-US" sz="1100">
              <a:latin typeface="Montserrat"/>
            </a:endParaRPr>
          </a:p>
        </p:txBody>
      </p:sp>
      <p:sp>
        <p:nvSpPr>
          <p:cNvPr id="14" name="Text 12"/>
          <p:cNvSpPr/>
          <p:nvPr/>
        </p:nvSpPr>
        <p:spPr bwMode="auto">
          <a:xfrm>
            <a:off x="731520" y="4892039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Что нужно</a:t>
            </a:r>
            <a:endParaRPr lang="en-US" sz="95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73152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Unified ID + KYC (источник </a:t>
            </a:r>
            <a:r>
              <a:rPr lang="ru-RU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ACB), Property Hub, Transaction Engine, Analytics-слой.</a:t>
            </a:r>
            <a:endParaRPr lang="en-US" sz="1100"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 bwMode="auto">
          <a:xfrm>
            <a:off x="4325112" y="2057400"/>
            <a:ext cx="3703320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 bwMode="auto">
          <a:xfrm>
            <a:off x="4325112" y="2057400"/>
            <a:ext cx="37033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hape 16"/>
          <p:cNvSpPr/>
          <p:nvPr/>
        </p:nvSpPr>
        <p:spPr bwMode="auto">
          <a:xfrm>
            <a:off x="4553712" y="2167128"/>
            <a:ext cx="292608" cy="29260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 bwMode="auto">
          <a:xfrm>
            <a:off x="4553712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2</a:t>
            </a:r>
            <a:endParaRPr lang="en-US" sz="1400">
              <a:latin typeface="Montserrat"/>
            </a:endParaRPr>
          </a:p>
        </p:txBody>
      </p:sp>
      <p:sp>
        <p:nvSpPr>
          <p:cNvPr id="20" name="Text 18"/>
          <p:cNvSpPr/>
          <p:nvPr/>
        </p:nvSpPr>
        <p:spPr bwMode="auto">
          <a:xfrm>
            <a:off x="4965192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ЗОНА РАЗВИТИЯ</a:t>
            </a:r>
            <a:endParaRPr lang="en-US" sz="10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4507992" y="2743200"/>
            <a:ext cx="333756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ConTech-стандарты</a:t>
            </a:r>
            <a:endParaRPr lang="en-US" sz="17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4507992" y="3657600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Проблема</a:t>
            </a:r>
            <a:endParaRPr lang="en-US" sz="950"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4507992" y="388620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Пилотные площадки есть, но единых требований по BIM, цифровому кадастру и сквозному контролю стройки </a:t>
            </a:r>
            <a:r>
              <a:rPr lang="ru-RU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нет.</a:t>
            </a:r>
            <a:endParaRPr lang="en-US" sz="1100">
              <a:latin typeface="Montserrat"/>
            </a:endParaRPr>
          </a:p>
        </p:txBody>
      </p:sp>
      <p:sp>
        <p:nvSpPr>
          <p:cNvPr id="24" name="Text 22"/>
          <p:cNvSpPr/>
          <p:nvPr/>
        </p:nvSpPr>
        <p:spPr bwMode="auto">
          <a:xfrm>
            <a:off x="4507992" y="4892039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Что нужно</a:t>
            </a:r>
            <a:endParaRPr lang="en-US" sz="950"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 bwMode="auto">
          <a:xfrm>
            <a:off x="4507992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BIM как обязательный стандарт для застройщиков периметра Alatau City; API-интеграция с Common Data Layer.</a:t>
            </a:r>
            <a:endParaRPr lang="en-US" sz="1100"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 bwMode="auto">
          <a:xfrm>
            <a:off x="8101584" y="2057400"/>
            <a:ext cx="3703320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Shape 25"/>
          <p:cNvSpPr/>
          <p:nvPr/>
        </p:nvSpPr>
        <p:spPr bwMode="auto">
          <a:xfrm>
            <a:off x="8101584" y="2057400"/>
            <a:ext cx="37033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Shape 26"/>
          <p:cNvSpPr/>
          <p:nvPr/>
        </p:nvSpPr>
        <p:spPr bwMode="auto">
          <a:xfrm>
            <a:off x="8330184" y="2167128"/>
            <a:ext cx="292608" cy="29260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8330184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 bwMode="auto">
          <a:xfrm>
            <a:off x="8741664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ЗОНА РАЗВИТИЯ</a:t>
            </a:r>
            <a:endParaRPr lang="en-US" sz="1000">
              <a:latin typeface="Montserrat"/>
            </a:endParaRPr>
          </a:p>
        </p:txBody>
      </p:sp>
      <p:sp>
        <p:nvSpPr>
          <p:cNvPr id="31" name="Text 29"/>
          <p:cNvSpPr/>
          <p:nvPr/>
        </p:nvSpPr>
        <p:spPr bwMode="auto">
          <a:xfrm>
            <a:off x="8284464" y="2743200"/>
            <a:ext cx="333756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Кадастровый</a:t>
            </a:r>
            <a:endParaRPr lang="en-US" sz="1700">
              <a:latin typeface="Montserrat"/>
            </a:endParaRPr>
          </a:p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и регуляторный мост</a:t>
            </a:r>
            <a:endParaRPr lang="en-US" sz="1700">
              <a:latin typeface="Montserrat"/>
            </a:endParaRPr>
          </a:p>
        </p:txBody>
      </p:sp>
      <p:sp>
        <p:nvSpPr>
          <p:cNvPr id="32" name="Text 30"/>
          <p:cNvSpPr/>
          <p:nvPr/>
        </p:nvSpPr>
        <p:spPr bwMode="auto">
          <a:xfrm>
            <a:off x="8284464" y="3657600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Проблема</a:t>
            </a:r>
            <a:endParaRPr lang="en-US" sz="950"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 bwMode="auto">
          <a:xfrm>
            <a:off x="8284464" y="388620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Блокчейн-кадастр закрепл</a:t>
            </a:r>
            <a:r>
              <a:rPr lang="ru-RU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н законом, но нет подзаконных актов для практической работы.</a:t>
            </a:r>
            <a:endParaRPr lang="en-US" sz="1100">
              <a:latin typeface="Montserrat"/>
            </a:endParaRPr>
          </a:p>
        </p:txBody>
      </p:sp>
      <p:sp>
        <p:nvSpPr>
          <p:cNvPr id="34" name="Text 32"/>
          <p:cNvSpPr/>
          <p:nvPr/>
        </p:nvSpPr>
        <p:spPr bwMode="auto">
          <a:xfrm>
            <a:off x="8284464" y="4892039"/>
            <a:ext cx="333756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Что нужно</a:t>
            </a:r>
            <a:endParaRPr lang="en-US" sz="950">
              <a:latin typeface="Montserrat"/>
            </a:endParaRPr>
          </a:p>
        </p:txBody>
      </p:sp>
      <p:sp>
        <p:nvSpPr>
          <p:cNvPr id="35" name="Text 33"/>
          <p:cNvSpPr/>
          <p:nvPr/>
        </p:nvSpPr>
        <p:spPr bwMode="auto">
          <a:xfrm>
            <a:off x="8284464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Порядок ведения блокчейн-кадастра, регуляторная лицензия для ЦФА, налоговый режим SPV, стандарты цифрового эскроу off-plan.</a:t>
            </a:r>
            <a:endParaRPr lang="en-US" sz="1100">
              <a:latin typeface="Montserrat"/>
            </a:endParaRPr>
          </a:p>
        </p:txBody>
      </p:sp>
      <p:sp>
        <p:nvSpPr>
          <p:cNvPr id="36" name="Shape 34"/>
          <p:cNvSpPr/>
          <p:nvPr/>
        </p:nvSpPr>
        <p:spPr bwMode="auto">
          <a:xfrm>
            <a:off x="548640" y="6355080"/>
            <a:ext cx="11064240" cy="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457198"/>
            <a:ext cx="70196" cy="274321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СТРАТЕГИЧЕСКИЙ ВЫБОР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Через какой интерфейс пользователь видит экосистему</a:t>
            </a:r>
            <a:endParaRPr lang="en-US" sz="2600">
              <a:latin typeface="Montserrat"/>
            </a:endParaRPr>
          </a:p>
        </p:txBody>
      </p:sp>
      <p:sp>
        <p:nvSpPr>
          <p:cNvPr id="5" name="Shape 3"/>
          <p:cNvSpPr/>
          <p:nvPr/>
        </p:nvSpPr>
        <p:spPr bwMode="auto">
          <a:xfrm>
            <a:off x="548640" y="1691640"/>
            <a:ext cx="3703320" cy="365760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2788920" y="1874520"/>
            <a:ext cx="1280160" cy="274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 bwMode="auto">
          <a:xfrm>
            <a:off x="278892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ru-RU" sz="900" b="1" spc="200">
                <a:solidFill>
                  <a:srgbClr val="0B2545"/>
                </a:solidFill>
                <a:latin typeface="Calibri"/>
                <a:cs typeface="Calibri"/>
              </a:rPr>
              <a:t>ПРЕДЛАГАЕМЫЙ</a:t>
            </a:r>
            <a:endParaRPr lang="en-US" sz="900"/>
          </a:p>
        </p:txBody>
      </p:sp>
      <p:sp>
        <p:nvSpPr>
          <p:cNvPr id="8" name="Text 6"/>
          <p:cNvSpPr/>
          <p:nvPr/>
        </p:nvSpPr>
        <p:spPr bwMode="auto">
          <a:xfrm>
            <a:off x="7315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Сценарий 1</a:t>
            </a:r>
            <a:endParaRPr lang="en-US" sz="10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731520" y="21945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Автономная платформа</a:t>
            </a:r>
            <a:endParaRPr lang="en-US" sz="17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731520" y="2651760"/>
            <a:ext cx="33375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Отдельный бренд и приложение</a:t>
            </a:r>
            <a:endParaRPr lang="en-US" sz="1050"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 bwMode="auto">
          <a:xfrm>
            <a:off x="731520" y="306324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+ ПЛЮСЫ</a:t>
            </a:r>
            <a:endParaRPr lang="en-US" sz="900"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 bwMode="auto">
          <a:xfrm>
            <a:off x="731520" y="329184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Чистое позиционирование как нац. инфраструктуры; нейтральная территория; легче упаковать для гос-ва и инвесторов.</a:t>
            </a:r>
            <a:endParaRPr lang="en-US" sz="1000"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 bwMode="auto">
          <a:xfrm>
            <a:off x="731520" y="429768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F4B41A"/>
                </a:solidFill>
                <a:latin typeface="Montserrat"/>
                <a:ea typeface="Calibri"/>
                <a:cs typeface="Calibri"/>
              </a:rPr>
              <a:t>— МИНУСЫ</a:t>
            </a:r>
            <a:endParaRPr lang="en-US" sz="900">
              <a:latin typeface="Montserrat"/>
            </a:endParaRPr>
          </a:p>
        </p:txBody>
      </p:sp>
      <p:sp>
        <p:nvSpPr>
          <p:cNvPr id="14" name="Text 12"/>
          <p:cNvSpPr/>
          <p:nvPr/>
        </p:nvSpPr>
        <p:spPr bwMode="auto">
          <a:xfrm>
            <a:off x="731520" y="4526280"/>
            <a:ext cx="3337560" cy="5029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Нужно строить узнаваемость с нуля, выше CAC.</a:t>
            </a:r>
            <a:endParaRPr lang="en-US" sz="10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731520" y="5029200"/>
            <a:ext cx="33375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8BA3C7"/>
                </a:solidFill>
                <a:latin typeface="Montserrat"/>
                <a:ea typeface="Calibri"/>
                <a:cs typeface="Calibri"/>
              </a:rPr>
              <a:t>Аналог: Домклик, Dubai REST</a:t>
            </a:r>
            <a:endParaRPr lang="en-US" sz="900"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 bwMode="auto">
          <a:xfrm>
            <a:off x="4325112" y="1691640"/>
            <a:ext cx="3703320" cy="365760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 bwMode="auto">
          <a:xfrm>
            <a:off x="450799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Сценарий 2</a:t>
            </a:r>
            <a:endParaRPr lang="en-US" sz="1000">
              <a:latin typeface="Montserrat"/>
            </a:endParaRPr>
          </a:p>
        </p:txBody>
      </p:sp>
      <p:sp>
        <p:nvSpPr>
          <p:cNvPr id="18" name="Text 16"/>
          <p:cNvSpPr/>
          <p:nvPr/>
        </p:nvSpPr>
        <p:spPr bwMode="auto">
          <a:xfrm>
            <a:off x="4507992" y="21945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Krisha.kz как драйвер</a:t>
            </a:r>
            <a:endParaRPr lang="en-US" sz="1700">
              <a:latin typeface="Montserrat"/>
            </a:endParaRPr>
          </a:p>
        </p:txBody>
      </p:sp>
      <p:sp>
        <p:nvSpPr>
          <p:cNvPr id="19" name="Text 17"/>
          <p:cNvSpPr/>
          <p:nvPr/>
        </p:nvSpPr>
        <p:spPr bwMode="auto">
          <a:xfrm>
            <a:off x="4507992" y="2651760"/>
            <a:ext cx="33375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Листинг → transaction-ready платформа</a:t>
            </a:r>
            <a:endParaRPr lang="en-US" sz="1050">
              <a:latin typeface="Montserrat"/>
            </a:endParaRPr>
          </a:p>
        </p:txBody>
      </p:sp>
      <p:sp>
        <p:nvSpPr>
          <p:cNvPr id="20" name="Text 18"/>
          <p:cNvSpPr/>
          <p:nvPr/>
        </p:nvSpPr>
        <p:spPr bwMode="auto">
          <a:xfrm>
            <a:off x="4507992" y="306324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+ ПЛЮСЫ</a:t>
            </a:r>
            <a:endParaRPr lang="en-US" sz="9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4507992" y="329184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5,8 млн MAU уже есть, минимальный CAC, быстрый запуск.</a:t>
            </a:r>
            <a:endParaRPr lang="en-US" sz="10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4507992" y="429768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B85042"/>
                </a:solidFill>
                <a:latin typeface="Montserrat"/>
                <a:ea typeface="Calibri"/>
                <a:cs typeface="Calibri"/>
              </a:rPr>
              <a:t>— МИНУСЫ</a:t>
            </a:r>
            <a:endParaRPr lang="en-US" sz="900"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4507992" y="4526280"/>
            <a:ext cx="3337560" cy="5029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Воспринимается как доска объявлений </a:t>
            </a:r>
            <a:r>
              <a:rPr lang="ru-RU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репозиционирование займ</a:t>
            </a:r>
            <a:r>
              <a:rPr lang="ru-RU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 время.</a:t>
            </a:r>
            <a:endParaRPr lang="en-US" sz="1000">
              <a:latin typeface="Montserrat"/>
            </a:endParaRPr>
          </a:p>
        </p:txBody>
      </p:sp>
      <p:sp>
        <p:nvSpPr>
          <p:cNvPr id="24" name="Text 22"/>
          <p:cNvSpPr/>
          <p:nvPr/>
        </p:nvSpPr>
        <p:spPr bwMode="auto">
          <a:xfrm>
            <a:off x="4507992" y="5029200"/>
            <a:ext cx="33375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Аналог: Zillow</a:t>
            </a:r>
            <a:endParaRPr lang="en-US" sz="900">
              <a:latin typeface="Montserrat"/>
            </a:endParaRPr>
          </a:p>
        </p:txBody>
      </p:sp>
      <p:sp>
        <p:nvSpPr>
          <p:cNvPr id="25" name="Shape 23"/>
          <p:cNvSpPr/>
          <p:nvPr/>
        </p:nvSpPr>
        <p:spPr bwMode="auto">
          <a:xfrm>
            <a:off x="8101584" y="1691640"/>
            <a:ext cx="3703320" cy="365760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 bwMode="auto">
          <a:xfrm>
            <a:off x="8284464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Сценарий 3</a:t>
            </a:r>
            <a:endParaRPr lang="en-US" sz="1000">
              <a:latin typeface="Montserrat"/>
            </a:endParaRPr>
          </a:p>
        </p:txBody>
      </p:sp>
      <p:sp>
        <p:nvSpPr>
          <p:cNvPr id="27" name="Text 25"/>
          <p:cNvSpPr/>
          <p:nvPr/>
        </p:nvSpPr>
        <p:spPr bwMode="auto">
          <a:xfrm>
            <a:off x="8284464" y="21945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ACB как ядро</a:t>
            </a:r>
            <a:endParaRPr lang="en-US" sz="1700">
              <a:latin typeface="Montserrat"/>
            </a:endParaRPr>
          </a:p>
        </p:txBody>
      </p:sp>
      <p:sp>
        <p:nvSpPr>
          <p:cNvPr id="28" name="Text 26"/>
          <p:cNvSpPr/>
          <p:nvPr/>
        </p:nvSpPr>
        <p:spPr bwMode="auto">
          <a:xfrm>
            <a:off x="8284464" y="2651760"/>
            <a:ext cx="33375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Модель «банк-гавань»</a:t>
            </a:r>
            <a:endParaRPr lang="en-US" sz="105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8284464" y="306324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+ ПЛЮСЫ</a:t>
            </a:r>
            <a:endParaRPr lang="en-US" sz="9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8284464" y="3291840"/>
            <a:ext cx="3337560" cy="9144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Банк </a:t>
            </a:r>
            <a:r>
              <a:rPr lang="ru-RU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финансовый центр; Unified ID в ACB; естественная связка с эскроу.</a:t>
            </a:r>
            <a:endParaRPr lang="en-US" sz="1000">
              <a:latin typeface="Montserrat"/>
            </a:endParaRPr>
          </a:p>
        </p:txBody>
      </p:sp>
      <p:sp>
        <p:nvSpPr>
          <p:cNvPr id="31" name="Text 29"/>
          <p:cNvSpPr/>
          <p:nvPr/>
        </p:nvSpPr>
        <p:spPr bwMode="auto">
          <a:xfrm>
            <a:off x="8284464" y="4297680"/>
            <a:ext cx="333756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B85042"/>
                </a:solidFill>
                <a:latin typeface="Montserrat"/>
                <a:ea typeface="Calibri"/>
                <a:cs typeface="Calibri"/>
              </a:rPr>
              <a:t>— МИНУСЫ</a:t>
            </a:r>
            <a:endParaRPr lang="en-US" sz="900">
              <a:latin typeface="Montserrat"/>
            </a:endParaRPr>
          </a:p>
        </p:txBody>
      </p:sp>
      <p:sp>
        <p:nvSpPr>
          <p:cNvPr id="32" name="Text 30"/>
          <p:cNvSpPr/>
          <p:nvPr/>
        </p:nvSpPr>
        <p:spPr bwMode="auto">
          <a:xfrm>
            <a:off x="8284464" y="4526280"/>
            <a:ext cx="3337560" cy="5029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1,2 млн MAU </a:t>
            </a:r>
            <a:r>
              <a:rPr lang="ru-RU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узкая аудитория; недельная, а не дневная частота.</a:t>
            </a:r>
            <a:endParaRPr lang="en-US" sz="1000"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 bwMode="auto">
          <a:xfrm>
            <a:off x="8284464" y="5029200"/>
            <a:ext cx="33375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Аналог: DBS Bank</a:t>
            </a:r>
            <a:endParaRPr lang="en-US" sz="900">
              <a:latin typeface="Montserrat"/>
            </a:endParaRPr>
          </a:p>
        </p:txBody>
      </p:sp>
      <p:sp>
        <p:nvSpPr>
          <p:cNvPr id="34" name="Shape 32"/>
          <p:cNvSpPr/>
          <p:nvPr/>
        </p:nvSpPr>
        <p:spPr bwMode="auto">
          <a:xfrm>
            <a:off x="548640" y="5532120"/>
            <a:ext cx="1106424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Text 33"/>
          <p:cNvSpPr/>
          <p:nvPr/>
        </p:nvSpPr>
        <p:spPr bwMode="auto">
          <a:xfrm>
            <a:off x="731520" y="5623560"/>
            <a:ext cx="182880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РЕШЕНИЕ</a:t>
            </a:r>
            <a:endParaRPr lang="en-US" sz="1000">
              <a:latin typeface="Montserrat"/>
            </a:endParaRPr>
          </a:p>
        </p:txBody>
      </p:sp>
      <p:sp>
        <p:nvSpPr>
          <p:cNvPr id="36" name="Text 34"/>
          <p:cNvSpPr/>
          <p:nvPr/>
        </p:nvSpPr>
        <p:spPr bwMode="auto">
          <a:xfrm>
            <a:off x="731520" y="5852160"/>
            <a:ext cx="10789920" cy="5029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Гибрид: автономная платформа как «личный кабинет недвижимости» + Krisha, ACB, Kaspi, Алсеко/ЕРЦ остаются самостоятельными точками входа. Платформа не дублирует функциональность сервисов </a:t>
            </a:r>
            <a:r>
              <a:rPr lang="ru-RU" sz="12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2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она е</a:t>
            </a:r>
            <a:r>
              <a:rPr lang="ru-RU" sz="12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2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агрегирует.</a:t>
            </a:r>
            <a:endParaRPr lang="en-US" sz="1200">
              <a:latin typeface="Montserrat"/>
            </a:endParaRPr>
          </a:p>
        </p:txBody>
      </p:sp>
      <p:sp>
        <p:nvSpPr>
          <p:cNvPr id="38" name="Text 36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57784" y="324612"/>
            <a:ext cx="73152" cy="4114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АРХИТЕКТУРА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873579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Личный кабинет недвижимости: что видит и делает пользователь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Платформа агрегирует существующие сервисы через сквозную авторизацию и единые данные</a:t>
            </a:r>
            <a:r>
              <a:rPr lang="ru-RU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,</a:t>
            </a: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 не дублируя их функциональность</a:t>
            </a:r>
            <a:endParaRPr lang="en-US" sz="1100"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 bwMode="auto">
          <a:xfrm>
            <a:off x="548640" y="2011680"/>
            <a:ext cx="56692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ЛИЧНЫЙ КАБИНЕТ ПОЛЬЗОВАТЕЛЯ</a:t>
            </a:r>
            <a:endParaRPr lang="en-US" sz="1100">
              <a:latin typeface="Montserrat"/>
            </a:endParaRPr>
          </a:p>
        </p:txBody>
      </p:sp>
      <p:sp>
        <p:nvSpPr>
          <p:cNvPr id="7" name="Shape 5"/>
          <p:cNvSpPr/>
          <p:nvPr/>
        </p:nvSpPr>
        <p:spPr bwMode="auto">
          <a:xfrm>
            <a:off x="548640" y="2542032"/>
            <a:ext cx="164592" cy="16459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822960" y="2377440"/>
            <a:ext cx="53949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Портфель недвижимости</a:t>
            </a:r>
            <a:endParaRPr lang="en-US" sz="13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822960" y="2670048"/>
            <a:ext cx="53949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Сво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жиль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, аренда, токенизированные доли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с текущей стоимостью и статусом</a:t>
            </a:r>
            <a:endParaRPr lang="en-US" sz="1050">
              <a:latin typeface="Montserrat"/>
            </a:endParaRPr>
          </a:p>
        </p:txBody>
      </p:sp>
      <p:sp>
        <p:nvSpPr>
          <p:cNvPr id="10" name="Shape 8"/>
          <p:cNvSpPr/>
          <p:nvPr/>
        </p:nvSpPr>
        <p:spPr bwMode="auto">
          <a:xfrm>
            <a:off x="548640" y="3255264"/>
            <a:ext cx="164592" cy="16459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 bwMode="auto">
          <a:xfrm>
            <a:off x="822960" y="3090672"/>
            <a:ext cx="53949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Единая история сделок</a:t>
            </a:r>
            <a:endParaRPr lang="en-US" sz="1300"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 bwMode="auto">
          <a:xfrm>
            <a:off x="82296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Все транзакции: покупки, эскроу, ипотека, страховки, оплата криптой</a:t>
            </a:r>
            <a:endParaRPr lang="en-US" sz="1050">
              <a:latin typeface="Montserrat"/>
            </a:endParaRPr>
          </a:p>
        </p:txBody>
      </p:sp>
      <p:sp>
        <p:nvSpPr>
          <p:cNvPr id="13" name="Shape 11"/>
          <p:cNvSpPr/>
          <p:nvPr/>
        </p:nvSpPr>
        <p:spPr bwMode="auto">
          <a:xfrm>
            <a:off x="548640" y="3968496"/>
            <a:ext cx="164592" cy="16459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 bwMode="auto">
          <a:xfrm>
            <a:off x="822960" y="3803904"/>
            <a:ext cx="53949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Сквозная авторизация</a:t>
            </a:r>
            <a:endParaRPr lang="en-US" sz="13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822960" y="4096512"/>
            <a:ext cx="53949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Один KYC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переход между всеми сервисами без повторной верификации</a:t>
            </a:r>
            <a:endParaRPr lang="en-US" sz="1050"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 bwMode="auto">
          <a:xfrm>
            <a:off x="548640" y="4681728"/>
            <a:ext cx="164592" cy="16459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 bwMode="auto">
          <a:xfrm>
            <a:off x="822960" y="4517136"/>
            <a:ext cx="53949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Уведомления и календарь</a:t>
            </a:r>
            <a:endParaRPr lang="en-US" sz="1300">
              <a:latin typeface="Montserrat"/>
            </a:endParaRPr>
          </a:p>
        </p:txBody>
      </p:sp>
      <p:sp>
        <p:nvSpPr>
          <p:cNvPr id="18" name="Text 16"/>
          <p:cNvSpPr/>
          <p:nvPr/>
        </p:nvSpPr>
        <p:spPr bwMode="auto">
          <a:xfrm>
            <a:off x="822960" y="4809744"/>
            <a:ext cx="53949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Ипотека, страховки, дивиденды по долям, ЖКУ, прогресс стройки</a:t>
            </a:r>
            <a:endParaRPr lang="en-US" sz="1050">
              <a:latin typeface="Montserrat"/>
            </a:endParaRPr>
          </a:p>
        </p:txBody>
      </p:sp>
      <p:sp>
        <p:nvSpPr>
          <p:cNvPr id="19" name="Shape 17"/>
          <p:cNvSpPr/>
          <p:nvPr/>
        </p:nvSpPr>
        <p:spPr bwMode="auto">
          <a:xfrm>
            <a:off x="548640" y="5394960"/>
            <a:ext cx="164592" cy="16459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 bwMode="auto">
          <a:xfrm>
            <a:off x="822960" y="5230368"/>
            <a:ext cx="539496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Аналитика по объектам</a:t>
            </a:r>
            <a:endParaRPr lang="en-US" sz="13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822960" y="5522976"/>
            <a:ext cx="53949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Динамика стоимости, доходность аренды и долей, экономия и реинвестирование</a:t>
            </a:r>
            <a:endParaRPr lang="en-US" sz="105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6400800" y="2011680"/>
            <a:ext cx="521208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ПОДКЛЮЧ</a:t>
            </a:r>
            <a:r>
              <a:rPr lang="ru-RU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ННЫЕ СЕРВИСЫ</a:t>
            </a:r>
            <a:endParaRPr lang="en-US" sz="1100">
              <a:latin typeface="Montserrat"/>
            </a:endParaRPr>
          </a:p>
        </p:txBody>
      </p:sp>
      <p:sp>
        <p:nvSpPr>
          <p:cNvPr id="23" name="Shape 21"/>
          <p:cNvSpPr/>
          <p:nvPr/>
        </p:nvSpPr>
        <p:spPr bwMode="auto">
          <a:xfrm>
            <a:off x="6400800" y="2377440"/>
            <a:ext cx="5212080" cy="640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Shape 22"/>
          <p:cNvSpPr/>
          <p:nvPr/>
        </p:nvSpPr>
        <p:spPr bwMode="auto">
          <a:xfrm>
            <a:off x="6400800" y="2377440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 bwMode="auto">
          <a:xfrm>
            <a:off x="658368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Krisha.kz</a:t>
            </a:r>
            <a:endParaRPr lang="en-US" sz="1200">
              <a:latin typeface="Montserrat"/>
            </a:endParaRPr>
          </a:p>
        </p:txBody>
      </p:sp>
      <p:sp>
        <p:nvSpPr>
          <p:cNvPr id="26" name="Text 24"/>
          <p:cNvSpPr/>
          <p:nvPr/>
        </p:nvSpPr>
        <p:spPr bwMode="auto">
          <a:xfrm>
            <a:off x="6583680" y="2670048"/>
            <a:ext cx="49377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Поиск и выбор. Карточка объекта = точки входа в ипотеку, страхование, токенизацию, ремонт</a:t>
            </a:r>
            <a:endParaRPr lang="en-US" sz="950">
              <a:latin typeface="Montserrat"/>
            </a:endParaRPr>
          </a:p>
        </p:txBody>
      </p:sp>
      <p:sp>
        <p:nvSpPr>
          <p:cNvPr id="27" name="Shape 25"/>
          <p:cNvSpPr/>
          <p:nvPr/>
        </p:nvSpPr>
        <p:spPr bwMode="auto">
          <a:xfrm>
            <a:off x="6400800" y="3090672"/>
            <a:ext cx="5212080" cy="640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Shape 26"/>
          <p:cNvSpPr/>
          <p:nvPr/>
        </p:nvSpPr>
        <p:spPr bwMode="auto">
          <a:xfrm>
            <a:off x="6400800" y="3090672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Text 27"/>
          <p:cNvSpPr/>
          <p:nvPr/>
        </p:nvSpPr>
        <p:spPr bwMode="auto">
          <a:xfrm>
            <a:off x="658368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Bank</a:t>
            </a:r>
            <a:endParaRPr lang="en-US" sz="12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Источник Unified ID и Transaction Engine. Ипотека, эскроу, CryptoPay, дочерняя структура ЦФА</a:t>
            </a:r>
            <a:endParaRPr lang="en-US" sz="950">
              <a:latin typeface="Montserrat"/>
            </a:endParaRPr>
          </a:p>
        </p:txBody>
      </p:sp>
      <p:sp>
        <p:nvSpPr>
          <p:cNvPr id="31" name="Shape 29"/>
          <p:cNvSpPr/>
          <p:nvPr/>
        </p:nvSpPr>
        <p:spPr bwMode="auto">
          <a:xfrm>
            <a:off x="6400800" y="3803904"/>
            <a:ext cx="5212080" cy="640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 bwMode="auto">
          <a:xfrm>
            <a:off x="6400800" y="3803904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Text 31"/>
          <p:cNvSpPr/>
          <p:nvPr/>
        </p:nvSpPr>
        <p:spPr bwMode="auto">
          <a:xfrm>
            <a:off x="6583680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Kaspi</a:t>
            </a:r>
            <a:endParaRPr lang="en-US" sz="1200">
              <a:latin typeface="Montserrat"/>
            </a:endParaRPr>
          </a:p>
        </p:txBody>
      </p:sp>
      <p:sp>
        <p:nvSpPr>
          <p:cNvPr id="34" name="Text 32"/>
          <p:cNvSpPr/>
          <p:nvPr/>
        </p:nvSpPr>
        <p:spPr bwMode="auto">
          <a:xfrm>
            <a:off x="658368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Триггер «новая покупка» → пакет «Подготовка к переезду», ремонт, рассрочка</a:t>
            </a:r>
            <a:endParaRPr lang="en-US" sz="950">
              <a:latin typeface="Montserrat"/>
            </a:endParaRPr>
          </a:p>
        </p:txBody>
      </p:sp>
      <p:sp>
        <p:nvSpPr>
          <p:cNvPr id="35" name="Shape 33"/>
          <p:cNvSpPr/>
          <p:nvPr/>
        </p:nvSpPr>
        <p:spPr bwMode="auto">
          <a:xfrm>
            <a:off x="6400800" y="4517136"/>
            <a:ext cx="5212080" cy="640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Shape 34"/>
          <p:cNvSpPr/>
          <p:nvPr/>
        </p:nvSpPr>
        <p:spPr bwMode="auto">
          <a:xfrm>
            <a:off x="6400800" y="4517136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Text 35"/>
          <p:cNvSpPr/>
          <p:nvPr/>
        </p:nvSpPr>
        <p:spPr bwMode="auto">
          <a:xfrm>
            <a:off x="6583680" y="4562856"/>
            <a:ext cx="182880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Garant</a:t>
            </a:r>
            <a:endParaRPr lang="en-US" sz="1200">
              <a:latin typeface="Montserrat"/>
            </a:endParaRPr>
          </a:p>
        </p:txBody>
      </p:sp>
      <p:sp>
        <p:nvSpPr>
          <p:cNvPr id="38" name="Text 36"/>
          <p:cNvSpPr/>
          <p:nvPr/>
        </p:nvSpPr>
        <p:spPr bwMode="auto">
          <a:xfrm>
            <a:off x="6583680" y="4809744"/>
            <a:ext cx="49377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Подключается через Transaction Engine. Титульное, арендное, страхование цифровых долей</a:t>
            </a:r>
            <a:endParaRPr lang="en-US" sz="950">
              <a:latin typeface="Montserrat"/>
            </a:endParaRPr>
          </a:p>
        </p:txBody>
      </p:sp>
      <p:sp>
        <p:nvSpPr>
          <p:cNvPr id="39" name="Shape 37"/>
          <p:cNvSpPr/>
          <p:nvPr/>
        </p:nvSpPr>
        <p:spPr bwMode="auto">
          <a:xfrm>
            <a:off x="6400800" y="5230368"/>
            <a:ext cx="5212080" cy="640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Shape 38"/>
          <p:cNvSpPr/>
          <p:nvPr/>
        </p:nvSpPr>
        <p:spPr bwMode="auto">
          <a:xfrm>
            <a:off x="6400800" y="5230368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" name="Text 39"/>
          <p:cNvSpPr/>
          <p:nvPr/>
        </p:nvSpPr>
        <p:spPr bwMode="auto">
          <a:xfrm>
            <a:off x="6583680" y="5276088"/>
            <a:ext cx="182880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Алсеко / ЕРЦ</a:t>
            </a:r>
            <a:endParaRPr lang="en-US" sz="1200">
              <a:latin typeface="Montserrat"/>
            </a:endParaRPr>
          </a:p>
        </p:txBody>
      </p:sp>
      <p:sp>
        <p:nvSpPr>
          <p:cNvPr id="42" name="Text 40"/>
          <p:cNvSpPr/>
          <p:nvPr/>
        </p:nvSpPr>
        <p:spPr bwMode="auto">
          <a:xfrm>
            <a:off x="658368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Real-time API: ЖКУ-данные, поведенческий скоринг, авто-смена владельца</a:t>
            </a:r>
            <a:endParaRPr lang="en-US" sz="950">
              <a:latin typeface="Montserrat"/>
            </a:endParaRPr>
          </a:p>
        </p:txBody>
      </p:sp>
      <p:sp>
        <p:nvSpPr>
          <p:cNvPr id="44" name="Text 42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371964"/>
            <a:ext cx="63681" cy="295547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371965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ТЕХНОЛОГИЧЕСКИЙ ФУНДАМЕНТ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Common Data Layer: четыре компонента, без которых нет экосистемы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Из всех задач самой критичной является создание слоя данных, которого пока нет. Без Unified ID каждый сервис работает изолированно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57400"/>
            <a:ext cx="5532120" cy="187452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 bwMode="auto">
          <a:xfrm>
            <a:off x="548640" y="2057400"/>
            <a:ext cx="5532120" cy="7315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77724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ЗАДАЧА №1</a:t>
            </a:r>
            <a:endParaRPr lang="en-US" sz="95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777240" y="2468880"/>
            <a:ext cx="507492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Unified ID + KYC</a:t>
            </a:r>
            <a:endParaRPr lang="en-US" sz="18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777240" y="2880360"/>
            <a:ext cx="507492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Сквозная авторизация для всей экосистемы. Источник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ACB, потребители identity 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все остальные через API. Без Unified ID каждый сервис работает изолированно.</a:t>
            </a:r>
            <a:endParaRPr lang="en-US" sz="1050"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 bwMode="auto">
          <a:xfrm>
            <a:off x="777240" y="3630168"/>
            <a:ext cx="507492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Эталоны: Aadhaar India Stack, Open Banking ЕС</a:t>
            </a:r>
            <a:endParaRPr lang="en-US" sz="950">
              <a:latin typeface="Montserrat"/>
            </a:endParaRPr>
          </a:p>
        </p:txBody>
      </p:sp>
      <p:sp>
        <p:nvSpPr>
          <p:cNvPr id="12" name="Shape 10"/>
          <p:cNvSpPr/>
          <p:nvPr/>
        </p:nvSpPr>
        <p:spPr bwMode="auto">
          <a:xfrm>
            <a:off x="6172200" y="2057400"/>
            <a:ext cx="5532120" cy="187452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Shape 11"/>
          <p:cNvSpPr/>
          <p:nvPr/>
        </p:nvSpPr>
        <p:spPr bwMode="auto">
          <a:xfrm>
            <a:off x="6172200" y="2057400"/>
            <a:ext cx="55321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 bwMode="auto">
          <a:xfrm>
            <a:off x="640080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БАЗА ОБЪЕКТОВ</a:t>
            </a:r>
            <a:endParaRPr lang="en-US" sz="95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6400800" y="2468880"/>
            <a:ext cx="507492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Property Hub</a:t>
            </a:r>
            <a:endParaRPr lang="en-US" sz="1800"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6400800" y="2880360"/>
            <a:ext cx="507492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Единая обогащ</a:t>
            </a:r>
            <a:r>
              <a:rPr lang="ru-RU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нная база объектов: данные Krisha + НАО «Правительство для граждан» + Алсеко/ЕРЦ + ACB. Антифрод и параметр скоринга.</a:t>
            </a:r>
            <a:endParaRPr lang="en-US" sz="1050"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 bwMode="auto">
          <a:xfrm>
            <a:off x="6400800" y="3630168"/>
            <a:ext cx="507492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Эталон: REA Group PropTrack</a:t>
            </a:r>
            <a:endParaRPr lang="en-US" sz="950">
              <a:latin typeface="Montserrat"/>
            </a:endParaRPr>
          </a:p>
        </p:txBody>
      </p:sp>
      <p:sp>
        <p:nvSpPr>
          <p:cNvPr id="18" name="Shape 16"/>
          <p:cNvSpPr/>
          <p:nvPr/>
        </p:nvSpPr>
        <p:spPr bwMode="auto">
          <a:xfrm>
            <a:off x="548640" y="4114800"/>
            <a:ext cx="5532120" cy="187452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 bwMode="auto">
          <a:xfrm>
            <a:off x="548640" y="4114800"/>
            <a:ext cx="55321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 bwMode="auto">
          <a:xfrm>
            <a:off x="7772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СОБЫТИЙНАЯ ШИНА</a:t>
            </a:r>
            <a:endParaRPr lang="en-US" sz="95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77724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Transaction Engine</a:t>
            </a:r>
            <a:endParaRPr lang="en-US" sz="18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777240" y="4937760"/>
            <a:ext cx="507492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Событийная шина для управления этапами сделки. Фиат-крипто шлюз через CryptoPay. При закрытии сделки автоматически переоформляются ЖКУ, страховки.</a:t>
            </a:r>
            <a:endParaRPr lang="en-US" sz="1050"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777240" y="5687568"/>
            <a:ext cx="507492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Эталон: DBS Token Services</a:t>
            </a:r>
            <a:endParaRPr lang="en-US" sz="950">
              <a:latin typeface="Montserrat"/>
            </a:endParaRPr>
          </a:p>
        </p:txBody>
      </p:sp>
      <p:sp>
        <p:nvSpPr>
          <p:cNvPr id="24" name="Shape 22"/>
          <p:cNvSpPr/>
          <p:nvPr/>
        </p:nvSpPr>
        <p:spPr bwMode="auto">
          <a:xfrm>
            <a:off x="6172200" y="4114800"/>
            <a:ext cx="5532120" cy="187452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Shape 23"/>
          <p:cNvSpPr/>
          <p:nvPr/>
        </p:nvSpPr>
        <p:spPr bwMode="auto">
          <a:xfrm>
            <a:off x="6172200" y="4114800"/>
            <a:ext cx="55321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 bwMode="auto">
          <a:xfrm>
            <a:off x="64008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1C7293"/>
                </a:solidFill>
                <a:latin typeface="Montserrat"/>
                <a:ea typeface="Calibri"/>
                <a:cs typeface="Calibri"/>
              </a:rPr>
              <a:t>ГОРИЗОНТ 12-18 МЕС</a:t>
            </a:r>
            <a:endParaRPr lang="en-US" sz="950">
              <a:latin typeface="Montserrat"/>
            </a:endParaRPr>
          </a:p>
        </p:txBody>
      </p:sp>
      <p:sp>
        <p:nvSpPr>
          <p:cNvPr id="27" name="Text 25"/>
          <p:cNvSpPr/>
          <p:nvPr/>
        </p:nvSpPr>
        <p:spPr bwMode="auto">
          <a:xfrm>
            <a:off x="640080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Open API</a:t>
            </a:r>
            <a:endParaRPr lang="en-US" sz="1800">
              <a:latin typeface="Montserrat"/>
            </a:endParaRPr>
          </a:p>
        </p:txBody>
      </p:sp>
      <p:sp>
        <p:nvSpPr>
          <p:cNvPr id="28" name="Text 26"/>
          <p:cNvSpPr/>
          <p:nvPr/>
        </p:nvSpPr>
        <p:spPr bwMode="auto">
          <a:xfrm>
            <a:off x="6400800" y="4937760"/>
            <a:ext cx="5074920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Архитектура с прицелом на открытие отдельных сервисов (скоринг по комбинированным данным) для внешних участников. Снимает антимонопольный риск.</a:t>
            </a:r>
            <a:endParaRPr lang="en-US" sz="105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6400800" y="5687568"/>
            <a:ext cx="507492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Эталон: Open Banking ЕС/Великобритании</a:t>
            </a:r>
            <a:endParaRPr lang="en-US" sz="950">
              <a:latin typeface="Montserrat"/>
            </a:endParaRPr>
          </a:p>
        </p:txBody>
      </p:sp>
      <p:sp>
        <p:nvSpPr>
          <p:cNvPr id="31" name="Text 29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64968" y="438912"/>
            <a:ext cx="63681" cy="274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ЧЕК-ЛИСТ ПО ВЕРТИКАЛЯМ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Что должен сделать каждый игрок для запуска экосистемы</a:t>
            </a:r>
            <a:endParaRPr lang="en-US" sz="2600">
              <a:latin typeface="Montserrat"/>
            </a:endParaRPr>
          </a:p>
        </p:txBody>
      </p:sp>
      <p:sp>
        <p:nvSpPr>
          <p:cNvPr id="5" name="Shape 3"/>
          <p:cNvSpPr/>
          <p:nvPr/>
        </p:nvSpPr>
        <p:spPr bwMode="auto">
          <a:xfrm>
            <a:off x="548640" y="1645920"/>
            <a:ext cx="1106424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Text 4"/>
          <p:cNvSpPr/>
          <p:nvPr/>
        </p:nvSpPr>
        <p:spPr bwMode="auto">
          <a:xfrm>
            <a:off x="68580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АКТИВ / БЛОК</a:t>
            </a:r>
            <a:endParaRPr lang="en-US" sz="1000"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 bwMode="auto">
          <a:xfrm>
            <a:off x="2971800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 spc="2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ЗАДАЧИ ДЛЯ ВСТРАИВАНИЯ В ЭКОСИСТЕМУ</a:t>
            </a:r>
            <a:endParaRPr lang="en-US" sz="1000">
              <a:latin typeface="Montserrat"/>
            </a:endParaRPr>
          </a:p>
        </p:txBody>
      </p:sp>
      <p:sp>
        <p:nvSpPr>
          <p:cNvPr id="8" name="Shape 6"/>
          <p:cNvSpPr/>
          <p:nvPr/>
        </p:nvSpPr>
        <p:spPr bwMode="auto">
          <a:xfrm>
            <a:off x="548640" y="2029968"/>
            <a:ext cx="11064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 bwMode="auto">
          <a:xfrm>
            <a:off x="685800" y="2029968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Krisha.kz</a:t>
            </a:r>
            <a:endParaRPr lang="en-US" sz="105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2971800" y="2075688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Биография объекта + публичная метрика точности оценки (Zillow); расширенная OSINT-карточка и рейтинги ТОП-100 (Домклик); подключение к Unified ID; точки входа в ипотеку/страховку/токенизацию; категория «Инвестиционные объекты».</a:t>
            </a:r>
            <a:endParaRPr lang="en-US" sz="900">
              <a:latin typeface="Montserrat"/>
            </a:endParaRPr>
          </a:p>
        </p:txBody>
      </p:sp>
      <p:sp>
        <p:nvSpPr>
          <p:cNvPr id="11" name="Shape 9"/>
          <p:cNvSpPr/>
          <p:nvPr/>
        </p:nvSpPr>
        <p:spPr bwMode="auto">
          <a:xfrm>
            <a:off x="548640" y="2651760"/>
            <a:ext cx="11064240" cy="621792"/>
          </a:xfrm>
          <a:prstGeom prst="rect">
            <a:avLst/>
          </a:prstGeom>
          <a:solidFill>
            <a:srgbClr val="F4F6FA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 bwMode="auto">
          <a:xfrm>
            <a:off x="685800" y="2651760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Bank</a:t>
            </a:r>
            <a:endParaRPr lang="en-US" sz="1050"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 bwMode="auto">
          <a:xfrm>
            <a:off x="2971800" y="2697480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Unified ID </a:t>
            </a:r>
            <a:r>
              <a:rPr lang="ru-RU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задача №1; цифровая ипотека за 30 мин; эскроу для частных лиц; эскроу 2.0 с BIM-разблокировкой; дочерняя структура; расширение CryptoPay.</a:t>
            </a:r>
            <a:endParaRPr lang="en-US" sz="900">
              <a:latin typeface="Montserrat"/>
            </a:endParaRPr>
          </a:p>
        </p:txBody>
      </p:sp>
      <p:sp>
        <p:nvSpPr>
          <p:cNvPr id="14" name="Shape 12"/>
          <p:cNvSpPr/>
          <p:nvPr/>
        </p:nvSpPr>
        <p:spPr bwMode="auto">
          <a:xfrm>
            <a:off x="548640" y="3273552"/>
            <a:ext cx="11064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 bwMode="auto">
          <a:xfrm>
            <a:off x="685800" y="3273552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Alatau City Garant</a:t>
            </a:r>
            <a:endParaRPr lang="en-US" sz="1050"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2971800" y="3319272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Подключение через Transaction Engine. Три новых продукта: титульное страхование (First American), гарантия страховой суммы (Сберстрах), страхование арендных рисков (QuintoAndar).</a:t>
            </a:r>
            <a:endParaRPr lang="en-US" sz="900">
              <a:latin typeface="Montserrat"/>
            </a:endParaRPr>
          </a:p>
        </p:txBody>
      </p:sp>
      <p:sp>
        <p:nvSpPr>
          <p:cNvPr id="17" name="Shape 15"/>
          <p:cNvSpPr/>
          <p:nvPr/>
        </p:nvSpPr>
        <p:spPr bwMode="auto">
          <a:xfrm>
            <a:off x="548640" y="3895343"/>
            <a:ext cx="11064240" cy="621792"/>
          </a:xfrm>
          <a:prstGeom prst="rect">
            <a:avLst/>
          </a:prstGeom>
          <a:solidFill>
            <a:srgbClr val="F4F6FA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 bwMode="auto">
          <a:xfrm>
            <a:off x="685800" y="3895343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Алсеко / ЕРЦ</a:t>
            </a:r>
            <a:endParaRPr lang="en-US" sz="1050">
              <a:latin typeface="Montserrat"/>
            </a:endParaRPr>
          </a:p>
        </p:txBody>
      </p:sp>
      <p:sp>
        <p:nvSpPr>
          <p:cNvPr id="19" name="Text 17"/>
          <p:cNvSpPr/>
          <p:nvPr/>
        </p:nvSpPr>
        <p:spPr bwMode="auto">
          <a:xfrm>
            <a:off x="2971800" y="3941064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API-шлюз поверх batch-биллингов; унификация справочников; событийная интеграция с Transaction Engine; авто-смена владельца при сделке; подключение к Unified ID.</a:t>
            </a:r>
            <a:endParaRPr lang="en-US" sz="900">
              <a:latin typeface="Montserrat"/>
            </a:endParaRPr>
          </a:p>
        </p:txBody>
      </p:sp>
      <p:sp>
        <p:nvSpPr>
          <p:cNvPr id="20" name="Shape 18"/>
          <p:cNvSpPr/>
          <p:nvPr/>
        </p:nvSpPr>
        <p:spPr bwMode="auto">
          <a:xfrm>
            <a:off x="548640" y="4517136"/>
            <a:ext cx="11064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 bwMode="auto">
          <a:xfrm>
            <a:off x="685800" y="4517136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Kaspi</a:t>
            </a:r>
            <a:endParaRPr lang="en-US" sz="105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2971800" y="4562856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Вертикаль «Дом» в Магазине; пакет «Подготовка к переезду» (автосмета после покупки); маркетплейс верифицированных бригад с эскроу через ACB; опция CryptoPay.</a:t>
            </a:r>
            <a:endParaRPr lang="en-US" sz="900">
              <a:latin typeface="Montserrat"/>
            </a:endParaRPr>
          </a:p>
        </p:txBody>
      </p:sp>
      <p:sp>
        <p:nvSpPr>
          <p:cNvPr id="23" name="Shape 21"/>
          <p:cNvSpPr/>
          <p:nvPr/>
        </p:nvSpPr>
        <p:spPr bwMode="auto">
          <a:xfrm>
            <a:off x="548640" y="5138928"/>
            <a:ext cx="11064240" cy="621792"/>
          </a:xfrm>
          <a:prstGeom prst="rect">
            <a:avLst/>
          </a:prstGeom>
          <a:solidFill>
            <a:srgbClr val="F4F6FA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 bwMode="auto">
          <a:xfrm>
            <a:off x="685800" y="5138928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Токенизация (ACB SPV)</a:t>
            </a:r>
            <a:endParaRPr lang="en-US" sz="1050"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 bwMode="auto">
          <a:xfrm>
            <a:off x="2971800" y="5184648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Юр. модель ARVAs; технико-юр. мост блокчейн-токена с гос. кадастром; tech-</a:t>
            </a: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партн</a:t>
            </a:r>
            <a:r>
              <a:rPr lang="ru-RU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р</a:t>
            </a: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 блокчейн-инфраструктуры; пилот на Iconic Towers; страхование долей через ACG.</a:t>
            </a:r>
            <a:endParaRPr lang="en-US" sz="900"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 bwMode="auto">
          <a:xfrm>
            <a:off x="548640" y="5760720"/>
            <a:ext cx="11064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Text 25"/>
          <p:cNvSpPr/>
          <p:nvPr/>
        </p:nvSpPr>
        <p:spPr bwMode="auto">
          <a:xfrm>
            <a:off x="685800" y="5760720"/>
            <a:ext cx="2103120" cy="6217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ConTech (девелоперы)</a:t>
            </a:r>
            <a:endParaRPr lang="en-US" sz="1050">
              <a:latin typeface="Montserrat"/>
            </a:endParaRPr>
          </a:p>
        </p:txBody>
      </p:sp>
      <p:sp>
        <p:nvSpPr>
          <p:cNvPr id="28" name="Text 26"/>
          <p:cNvSpPr/>
          <p:nvPr/>
        </p:nvSpPr>
        <p:spPr bwMode="auto">
          <a:xfrm>
            <a:off x="2971800" y="5806440"/>
            <a:ext cx="8503920" cy="5303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Утверждение BIM как обязательного стандарта периметра Alatau City; подзаконные акты по блокчейн-кадастру и цифровому эскроу для off-plan; API-интеграция с Common Data Layer.</a:t>
            </a:r>
            <a:endParaRPr lang="en-US" sz="9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480060"/>
            <a:ext cx="45719" cy="274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671104" y="48006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КООРДИНАЦИЯ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SANA Holding: фасилитатор и шесть стратегических ролей</a:t>
            </a:r>
            <a:endParaRPr lang="en-US" sz="26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Главный риск проекта </a:t>
            </a:r>
            <a:r>
              <a:rPr lang="ru-RU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100" i="1">
                <a:solidFill>
                  <a:srgbClr val="6B7280"/>
                </a:solidFill>
                <a:latin typeface="Montserrat"/>
                <a:ea typeface="Calibri"/>
                <a:cs typeface="Calibri"/>
              </a:rPr>
              <a:t> координационный. Восемь команд с разными ДНК конфликтуют без независимого фасилитатора.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01168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 bwMode="auto">
          <a:xfrm>
            <a:off x="73152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01</a:t>
            </a:r>
            <a:endParaRPr lang="en-US" sz="2800">
              <a:latin typeface="Montserrat"/>
            </a:endParaRPr>
          </a:p>
        </p:txBody>
      </p:sp>
      <p:sp>
        <p:nvSpPr>
          <p:cNvPr id="8" name="Text 6"/>
          <p:cNvSpPr/>
          <p:nvPr/>
        </p:nvSpPr>
        <p:spPr bwMode="auto">
          <a:xfrm>
            <a:off x="73152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Социология и исследования</a:t>
            </a:r>
            <a:endParaRPr lang="en-US" sz="13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731520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Три волны ADAM: покупатели жилья, девелоперы, будущие резиденты Alatau City. Фактура для product-market fit.</a:t>
            </a:r>
            <a:endParaRPr lang="en-US" sz="1000">
              <a:latin typeface="Montserrat"/>
            </a:endParaRPr>
          </a:p>
        </p:txBody>
      </p:sp>
      <p:sp>
        <p:nvSpPr>
          <p:cNvPr id="10" name="Shape 8"/>
          <p:cNvSpPr/>
          <p:nvPr/>
        </p:nvSpPr>
        <p:spPr bwMode="auto">
          <a:xfrm>
            <a:off x="4325112" y="201168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 bwMode="auto">
          <a:xfrm>
            <a:off x="4507992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02</a:t>
            </a:r>
            <a:endParaRPr lang="en-US" sz="2800"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 bwMode="auto">
          <a:xfrm>
            <a:off x="4507992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Нормативное строительство</a:t>
            </a:r>
            <a:endParaRPr lang="en-US" sz="1300"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 bwMode="auto">
          <a:xfrm>
            <a:off x="4507992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Подзаконные акты Администрации Alatau City: 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блокчейн-кадастр</a:t>
            </a: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, лицензия для ЦФА, налоговый режим SPV, эскроу off-plan.</a:t>
            </a:r>
            <a:endParaRPr lang="en-US" sz="1000">
              <a:latin typeface="Montserrat"/>
            </a:endParaRPr>
          </a:p>
        </p:txBody>
      </p:sp>
      <p:sp>
        <p:nvSpPr>
          <p:cNvPr id="14" name="Shape 12"/>
          <p:cNvSpPr/>
          <p:nvPr/>
        </p:nvSpPr>
        <p:spPr bwMode="auto">
          <a:xfrm>
            <a:off x="8101584" y="201168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 bwMode="auto">
          <a:xfrm>
            <a:off x="8284464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03</a:t>
            </a:r>
            <a:endParaRPr lang="en-US" sz="2800"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8284464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GR-сопровождение</a:t>
            </a:r>
            <a:endParaRPr lang="en-US" sz="1300"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 bwMode="auto">
          <a:xfrm>
            <a:off x="8284464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Продажа Proptech на уровне Правительства, АРРФР, акимата. Аргументация под каждого стейкхолдера, прогноз регуляторных рисков.</a:t>
            </a:r>
            <a:endParaRPr lang="en-US" sz="1000">
              <a:latin typeface="Montserrat"/>
            </a:endParaRPr>
          </a:p>
        </p:txBody>
      </p:sp>
      <p:sp>
        <p:nvSpPr>
          <p:cNvPr id="18" name="Shape 16"/>
          <p:cNvSpPr/>
          <p:nvPr/>
        </p:nvSpPr>
        <p:spPr bwMode="auto">
          <a:xfrm>
            <a:off x="548640" y="397764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 bwMode="auto">
          <a:xfrm>
            <a:off x="73152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04</a:t>
            </a:r>
            <a:endParaRPr lang="en-US" sz="2800">
              <a:latin typeface="Montserrat"/>
            </a:endParaRPr>
          </a:p>
        </p:txBody>
      </p:sp>
      <p:sp>
        <p:nvSpPr>
          <p:cNvPr id="20" name="Text 18"/>
          <p:cNvSpPr/>
          <p:nvPr/>
        </p:nvSpPr>
        <p:spPr bwMode="auto">
          <a:xfrm>
            <a:off x="731520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Нейтральный фасилитатор</a:t>
            </a:r>
            <a:endParaRPr lang="en-US" sz="13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731520" y="507492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Операционная модель между Kaspi (product-first, agile) и ACB (банковская логика). KPI-синхронизация, архитектурный совет.</a:t>
            </a:r>
            <a:endParaRPr lang="en-US" sz="1000">
              <a:latin typeface="Montserrat"/>
            </a:endParaRPr>
          </a:p>
        </p:txBody>
      </p:sp>
      <p:sp>
        <p:nvSpPr>
          <p:cNvPr id="22" name="Shape 20"/>
          <p:cNvSpPr/>
          <p:nvPr/>
        </p:nvSpPr>
        <p:spPr bwMode="auto">
          <a:xfrm>
            <a:off x="4325112" y="397764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 bwMode="auto">
          <a:xfrm>
            <a:off x="4507992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05</a:t>
            </a:r>
            <a:endParaRPr lang="en-US" sz="2800">
              <a:latin typeface="Montserrat"/>
            </a:endParaRPr>
          </a:p>
        </p:txBody>
      </p:sp>
      <p:sp>
        <p:nvSpPr>
          <p:cNvPr id="24" name="Text 22"/>
          <p:cNvSpPr/>
          <p:nvPr/>
        </p:nvSpPr>
        <p:spPr bwMode="auto">
          <a:xfrm>
            <a:off x="4507992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Медиа-стратегия для граждан</a:t>
            </a:r>
            <a:endParaRPr lang="en-US" sz="1300"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 bwMode="auto">
          <a:xfrm>
            <a:off x="4507992" y="507492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Объяснение эскроу и токенизации массовой аудитории. Без доверия нарратива продукт не примут.</a:t>
            </a:r>
            <a:endParaRPr lang="en-US" sz="1000"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 bwMode="auto">
          <a:xfrm>
            <a:off x="8101584" y="3977640"/>
            <a:ext cx="370332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Text 25"/>
          <p:cNvSpPr/>
          <p:nvPr/>
        </p:nvSpPr>
        <p:spPr bwMode="auto">
          <a:xfrm>
            <a:off x="8284464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06</a:t>
            </a:r>
            <a:endParaRPr lang="en-US" sz="2800">
              <a:latin typeface="Montserrat"/>
            </a:endParaRPr>
          </a:p>
        </p:txBody>
      </p:sp>
      <p:sp>
        <p:nvSpPr>
          <p:cNvPr id="28" name="Text 26"/>
          <p:cNvSpPr/>
          <p:nvPr/>
        </p:nvSpPr>
        <p:spPr bwMode="auto">
          <a:xfrm>
            <a:off x="8284464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Упаковка для инвесторов</a:t>
            </a:r>
            <a:endParaRPr lang="en-US" sz="130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8284464" y="5074920"/>
            <a:ext cx="333756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Корейское roadshow: Smart City, Green Energy, Modular Construction. Верифицированный отчёт об инвест-потенциале.</a:t>
            </a:r>
            <a:endParaRPr lang="en-US" sz="1000">
              <a:latin typeface="Montserrat"/>
            </a:endParaRPr>
          </a:p>
        </p:txBody>
      </p:sp>
      <p:sp>
        <p:nvSpPr>
          <p:cNvPr id="30" name="Shape 28"/>
          <p:cNvSpPr/>
          <p:nvPr/>
        </p:nvSpPr>
        <p:spPr bwMode="auto">
          <a:xfrm>
            <a:off x="548640" y="5989320"/>
            <a:ext cx="1106424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Text 29"/>
          <p:cNvSpPr/>
          <p:nvPr/>
        </p:nvSpPr>
        <p:spPr bwMode="auto">
          <a:xfrm>
            <a:off x="73152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Граница: Kaspi </a:t>
            </a:r>
            <a:r>
              <a:rPr lang="ru-RU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 UX/маркетплейс/процессинг   •   ACB </a:t>
            </a:r>
            <a:r>
              <a:rPr lang="ru-RU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 банковский продукт и дочерняя структура ЦФА   •   SANA </a:t>
            </a:r>
            <a:r>
              <a:rPr lang="ru-RU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0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 социология, нормотворчество, GR, медиа, упаковка</a:t>
            </a:r>
            <a:endParaRPr lang="en-US" sz="1000"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1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434340"/>
            <a:ext cx="63681" cy="274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ГЛАВНЫЙ ВЫВОД</a:t>
            </a:r>
            <a:endParaRPr lang="en-US" sz="1100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 bwMode="auto"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Минимально достаточный контур из пяти пунктов</a:t>
            </a:r>
            <a:endParaRPr lang="en-US" sz="2800"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Экосистема не запускается «всем сразу». На этих пяти пунктах уже можно собрать работающий автономный сервис </a:t>
            </a:r>
            <a:r>
              <a:rPr lang="ru-RU" sz="1300" i="1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1300" i="1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 остальные вертикали достраиваются волнами, не блокируя запуск.</a:t>
            </a:r>
            <a:endParaRPr lang="en-US" sz="13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2331720"/>
            <a:ext cx="2157984" cy="3017519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 bwMode="auto">
          <a:xfrm>
            <a:off x="1216151" y="265176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1216151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1</a:t>
            </a:r>
            <a:endParaRPr lang="en-US" sz="36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685800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Unified ID на стороне ACB</a:t>
            </a:r>
            <a:endParaRPr lang="en-US" sz="13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685800" y="4434840"/>
            <a:ext cx="1883664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Задача №1. Без не</a:t>
            </a:r>
            <a:r>
              <a:rPr lang="ru-RU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 каждый сервис изолирован и экосистемного эффекта нет.</a:t>
            </a:r>
            <a:endParaRPr lang="en-US" sz="950">
              <a:latin typeface="Montserrat"/>
            </a:endParaRPr>
          </a:p>
        </p:txBody>
      </p:sp>
      <p:sp>
        <p:nvSpPr>
          <p:cNvPr id="11" name="Shape 9"/>
          <p:cNvSpPr/>
          <p:nvPr/>
        </p:nvSpPr>
        <p:spPr bwMode="auto">
          <a:xfrm>
            <a:off x="2798064" y="2331720"/>
            <a:ext cx="2157984" cy="3017519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 bwMode="auto">
          <a:xfrm>
            <a:off x="3465576" y="265176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 bwMode="auto">
          <a:xfrm>
            <a:off x="3465576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2</a:t>
            </a:r>
            <a:endParaRPr lang="en-US" sz="3600">
              <a:latin typeface="Montserrat"/>
            </a:endParaRPr>
          </a:p>
        </p:txBody>
      </p:sp>
      <p:sp>
        <p:nvSpPr>
          <p:cNvPr id="14" name="Text 12"/>
          <p:cNvSpPr/>
          <p:nvPr/>
        </p:nvSpPr>
        <p:spPr bwMode="auto">
          <a:xfrm>
            <a:off x="2935224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API-шлюз Алсеко / ЕРЦ</a:t>
            </a:r>
            <a:endParaRPr lang="en-US" sz="13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2935224" y="4434840"/>
            <a:ext cx="1883664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Самая высокорисковая зона. Без не</a:t>
            </a:r>
            <a:r>
              <a:rPr lang="ru-RU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 </a:t>
            </a:r>
            <a:r>
              <a:rPr lang="ru-RU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 треть экосистемной ценности теряется.</a:t>
            </a:r>
            <a:endParaRPr lang="en-US" sz="950"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 bwMode="auto">
          <a:xfrm>
            <a:off x="5047488" y="2331720"/>
            <a:ext cx="2157984" cy="3017519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 bwMode="auto">
          <a:xfrm>
            <a:off x="5715000" y="265176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 bwMode="auto">
          <a:xfrm>
            <a:off x="571500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3</a:t>
            </a:r>
            <a:endParaRPr lang="en-US" sz="3600">
              <a:latin typeface="Montserrat"/>
            </a:endParaRPr>
          </a:p>
        </p:txBody>
      </p:sp>
      <p:sp>
        <p:nvSpPr>
          <p:cNvPr id="19" name="Text 17"/>
          <p:cNvSpPr/>
          <p:nvPr/>
        </p:nvSpPr>
        <p:spPr bwMode="auto">
          <a:xfrm>
            <a:off x="5184648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MVP Common Data Layer</a:t>
            </a:r>
            <a:endParaRPr lang="en-US" sz="1300">
              <a:latin typeface="Montserrat"/>
            </a:endParaRPr>
          </a:p>
        </p:txBody>
      </p:sp>
      <p:sp>
        <p:nvSpPr>
          <p:cNvPr id="20" name="Text 18"/>
          <p:cNvSpPr/>
          <p:nvPr/>
        </p:nvSpPr>
        <p:spPr bwMode="auto">
          <a:xfrm>
            <a:off x="5184648" y="4434840"/>
            <a:ext cx="1883664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Единая авторизация + Property Hub + Transaction Engine для управления сделкой.</a:t>
            </a:r>
            <a:endParaRPr lang="en-US" sz="950">
              <a:latin typeface="Montserrat"/>
            </a:endParaRPr>
          </a:p>
        </p:txBody>
      </p:sp>
      <p:sp>
        <p:nvSpPr>
          <p:cNvPr id="21" name="Shape 19"/>
          <p:cNvSpPr/>
          <p:nvPr/>
        </p:nvSpPr>
        <p:spPr bwMode="auto">
          <a:xfrm>
            <a:off x="7296912" y="2331720"/>
            <a:ext cx="2157984" cy="3017519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 bwMode="auto">
          <a:xfrm>
            <a:off x="7964424" y="265176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 bwMode="auto">
          <a:xfrm>
            <a:off x="7964424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4</a:t>
            </a:r>
            <a:endParaRPr lang="en-US" sz="3600">
              <a:latin typeface="Montserrat"/>
            </a:endParaRPr>
          </a:p>
        </p:txBody>
      </p:sp>
      <p:sp>
        <p:nvSpPr>
          <p:cNvPr id="24" name="Text 22"/>
          <p:cNvSpPr/>
          <p:nvPr/>
        </p:nvSpPr>
        <p:spPr bwMode="auto">
          <a:xfrm>
            <a:off x="7434072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Дочерняя структура ACB + пилот токенизации</a:t>
            </a:r>
            <a:endParaRPr lang="en-US" sz="1300"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 bwMode="auto">
          <a:xfrm>
            <a:off x="7434072" y="4434840"/>
            <a:ext cx="1883664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По ст. 50 закона. Iconic Towers </a:t>
            </a:r>
            <a:r>
              <a:rPr lang="ru-RU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-</a:t>
            </a: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 регуляторное доказательство и витрина для инвесторов.</a:t>
            </a:r>
            <a:endParaRPr lang="en-US" sz="950"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 bwMode="auto">
          <a:xfrm>
            <a:off x="9546336" y="2331720"/>
            <a:ext cx="2157984" cy="3017519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Shape 25"/>
          <p:cNvSpPr/>
          <p:nvPr/>
        </p:nvSpPr>
        <p:spPr bwMode="auto">
          <a:xfrm>
            <a:off x="10213848" y="265176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 bwMode="auto">
          <a:xfrm>
            <a:off x="1021384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5</a:t>
            </a:r>
            <a:endParaRPr lang="en-US" sz="3600"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 bwMode="auto">
          <a:xfrm>
            <a:off x="9683496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Подзаконные акты Alatau City</a:t>
            </a:r>
            <a:endParaRPr lang="en-US" sz="1300">
              <a:latin typeface="Montserrat"/>
            </a:endParaRPr>
          </a:p>
        </p:txBody>
      </p:sp>
      <p:sp>
        <p:nvSpPr>
          <p:cNvPr id="30" name="Text 28"/>
          <p:cNvSpPr/>
          <p:nvPr/>
        </p:nvSpPr>
        <p:spPr bwMode="auto">
          <a:xfrm>
            <a:off x="9683496" y="4434840"/>
            <a:ext cx="1883664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CADCFC"/>
                </a:solidFill>
                <a:latin typeface="Montserrat"/>
                <a:ea typeface="Calibri"/>
                <a:cs typeface="Calibri"/>
              </a:rPr>
              <a:t>Блокчейн-кадастр, налоговый режим SPV, стандарты цифрового эскроу off-plan.</a:t>
            </a:r>
            <a:endParaRPr lang="en-US" sz="950">
              <a:latin typeface="Montserrat"/>
            </a:endParaRPr>
          </a:p>
        </p:txBody>
      </p:sp>
      <p:sp>
        <p:nvSpPr>
          <p:cNvPr id="31" name="Shape 29"/>
          <p:cNvSpPr/>
          <p:nvPr/>
        </p:nvSpPr>
        <p:spPr bwMode="auto">
          <a:xfrm>
            <a:off x="548640" y="5715000"/>
            <a:ext cx="11064240" cy="6858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 bwMode="auto">
          <a:xfrm>
            <a:off x="731520" y="5715000"/>
            <a:ext cx="10881360" cy="685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Пользователь регистрируется один раз через Unified ID → видит объекты в личном кабинете → получает ипотеку и эскроу через ACB → покупает долю в Iconic Towers → платит ЖКУ → получает мгновенную смену владельца после сделки.</a:t>
            </a:r>
            <a:endParaRPr lang="en-US" sz="1100"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8BA3C7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48640" y="411480"/>
            <a:ext cx="73152" cy="4114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 bwMode="auto"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СЛЕДУЮЩИЙ ШАГ</a:t>
            </a:r>
            <a:endParaRPr lang="en-US" sz="1100"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 bwMode="auto">
          <a:xfrm>
            <a:off x="548640" y="1303020"/>
            <a:ext cx="370332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 bwMode="auto">
          <a:xfrm>
            <a:off x="548640" y="1303020"/>
            <a:ext cx="37033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 bwMode="auto">
          <a:xfrm>
            <a:off x="822960" y="1303020"/>
            <a:ext cx="9144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1</a:t>
            </a:r>
            <a:endParaRPr lang="en-US" sz="3200"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 bwMode="auto">
          <a:xfrm>
            <a:off x="1173045" y="148590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ШАГ</a:t>
            </a:r>
            <a:endParaRPr lang="en-US" sz="1000"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 bwMode="auto">
          <a:xfrm>
            <a:off x="777240" y="2171700"/>
            <a:ext cx="3246120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Сверка гипотез с реальностью</a:t>
            </a:r>
            <a:endParaRPr lang="en-US" sz="1500"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 bwMode="auto">
          <a:xfrm>
            <a:off x="777240" y="3086100"/>
            <a:ext cx="3246120" cy="10058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По каждому из 8 блоков: что реализуемо на стороне каждого игрока в текущих условиях, какие задачи требуют дополнительной проработки.</a:t>
            </a:r>
            <a:endParaRPr lang="en-US" sz="1100">
              <a:latin typeface="Montserrat"/>
            </a:endParaRPr>
          </a:p>
        </p:txBody>
      </p:sp>
      <p:sp>
        <p:nvSpPr>
          <p:cNvPr id="12" name="Shape 10"/>
          <p:cNvSpPr/>
          <p:nvPr/>
        </p:nvSpPr>
        <p:spPr bwMode="auto">
          <a:xfrm>
            <a:off x="4325112" y="1303020"/>
            <a:ext cx="370332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Shape 11"/>
          <p:cNvSpPr/>
          <p:nvPr/>
        </p:nvSpPr>
        <p:spPr bwMode="auto">
          <a:xfrm>
            <a:off x="4325112" y="1303020"/>
            <a:ext cx="37033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 bwMode="auto">
          <a:xfrm>
            <a:off x="4599432" y="1303020"/>
            <a:ext cx="9144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2</a:t>
            </a:r>
            <a:endParaRPr lang="en-US" sz="3200"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 bwMode="auto">
          <a:xfrm>
            <a:off x="4983480" y="148590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ШАГ</a:t>
            </a:r>
            <a:endParaRPr lang="en-US" sz="1000"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4553712" y="2171700"/>
            <a:ext cx="3246120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Карта быстрых побед</a:t>
            </a:r>
            <a:endParaRPr lang="en-US" sz="1500"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 bwMode="auto">
          <a:xfrm>
            <a:off x="4553712" y="3086100"/>
            <a:ext cx="3246120" cy="10058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Какие точки приложения дают самый быстрый эффект. Приоритизация пяти пунктов минимально достаточного контура.</a:t>
            </a:r>
            <a:endParaRPr lang="en-US" sz="1100">
              <a:latin typeface="Montserrat"/>
            </a:endParaRPr>
          </a:p>
        </p:txBody>
      </p:sp>
      <p:sp>
        <p:nvSpPr>
          <p:cNvPr id="18" name="Shape 16"/>
          <p:cNvSpPr/>
          <p:nvPr/>
        </p:nvSpPr>
        <p:spPr bwMode="auto">
          <a:xfrm>
            <a:off x="8101584" y="1303020"/>
            <a:ext cx="370332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 bwMode="auto">
          <a:xfrm>
            <a:off x="8101584" y="1303020"/>
            <a:ext cx="37033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 bwMode="auto">
          <a:xfrm>
            <a:off x="8375904" y="1303020"/>
            <a:ext cx="914400" cy="640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4A24C"/>
                </a:solidFill>
                <a:latin typeface="Montserrat"/>
                <a:ea typeface="Calibri"/>
                <a:cs typeface="Calibri"/>
              </a:rPr>
              <a:t>3</a:t>
            </a:r>
            <a:endParaRPr lang="en-US" sz="3200"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 bwMode="auto">
          <a:xfrm>
            <a:off x="8732955" y="1508759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 spc="300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ШАГ</a:t>
            </a:r>
            <a:endParaRPr lang="en-US" sz="1000"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 bwMode="auto">
          <a:xfrm>
            <a:off x="8330184" y="2171700"/>
            <a:ext cx="3246120" cy="8686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545"/>
                </a:solidFill>
                <a:latin typeface="Montserrat"/>
                <a:ea typeface="Calibri"/>
                <a:cs typeface="Calibri"/>
              </a:rPr>
              <a:t>Итоговая стратегия запуска</a:t>
            </a:r>
            <a:endParaRPr lang="en-US" sz="1500"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8330184" y="3086100"/>
            <a:ext cx="3246120" cy="10058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2937"/>
                </a:solidFill>
                <a:latin typeface="Montserrat"/>
                <a:ea typeface="Calibri"/>
                <a:cs typeface="Calibri"/>
              </a:rPr>
              <a:t>Конкретное распределение ответственности и приоритетов. Дорожная карта с волнами достраивания вертикалей.</a:t>
            </a:r>
            <a:endParaRPr lang="en-US" sz="1100">
              <a:latin typeface="Montserrat"/>
            </a:endParaRPr>
          </a:p>
        </p:txBody>
      </p:sp>
      <p:sp>
        <p:nvSpPr>
          <p:cNvPr id="24" name="Shape 22"/>
          <p:cNvSpPr/>
          <p:nvPr/>
        </p:nvSpPr>
        <p:spPr bwMode="auto">
          <a:xfrm>
            <a:off x="548640" y="4846320"/>
            <a:ext cx="1106424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 bwMode="auto">
          <a:xfrm>
            <a:off x="640080" y="4838156"/>
            <a:ext cx="10881360" cy="685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Результат: рабочая стратегия запуска автономного PropTech-сервиса с распредел</a:t>
            </a:r>
            <a:r>
              <a:rPr lang="ru-RU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е</a:t>
            </a:r>
            <a:r>
              <a:rPr lang="en-US" sz="1200" b="1" i="1">
                <a:solidFill>
                  <a:srgbClr val="FFFFFF"/>
                </a:solidFill>
                <a:latin typeface="Montserrat"/>
                <a:ea typeface="Calibri"/>
                <a:cs typeface="Calibri"/>
              </a:rPr>
              <a:t>нной ответственностью и приоритетной дорожной картой</a:t>
            </a:r>
            <a:endParaRPr lang="en-US" sz="1200">
              <a:latin typeface="Montserrat"/>
            </a:endParaRPr>
          </a:p>
        </p:txBody>
      </p:sp>
      <p:sp>
        <p:nvSpPr>
          <p:cNvPr id="27" name="Text 25"/>
          <p:cNvSpPr/>
          <p:nvPr/>
        </p:nvSpPr>
        <p:spPr bwMode="auto"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r7-office/2025.3.2.1000</Application>
  <DocSecurity>0</DocSecurity>
  <PresentationFormat>Широкоэкранный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PropTech-экосистема Alatau City</dc:title>
  <dc:subject>PptxGenJS Presentation</dc:subject>
  <dc:creator>PptxGenJS</dc:creator>
  <cp:keywords/>
  <dc:description/>
  <dc:identifier/>
  <dc:language/>
  <cp:lastModifiedBy>Saltanat Zholamanova</cp:lastModifiedBy>
  <cp:revision>3</cp:revision>
  <dcterms:created xsi:type="dcterms:W3CDTF">2026-05-12T06:40:42Z</dcterms:created>
  <dcterms:modified xsi:type="dcterms:W3CDTF">2026-05-21T09:41:03Z</dcterms:modified>
  <cp:category/>
  <cp:contentStatus/>
  <cp:version/>
</cp:coreProperties>
</file>