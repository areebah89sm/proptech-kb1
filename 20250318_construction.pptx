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14"/>
  </p:notesMasterIdLst>
  <p:sldIdLst>
    <p:sldId id="778" r:id="rId2"/>
    <p:sldId id="656" r:id="rId3"/>
    <p:sldId id="2145708160" r:id="rId4"/>
    <p:sldId id="2145708185" r:id="rId5"/>
    <p:sldId id="2145708186" r:id="rId6"/>
    <p:sldId id="610" r:id="rId7"/>
    <p:sldId id="616" r:id="rId8"/>
    <p:sldId id="638" r:id="rId9"/>
    <p:sldId id="2145708182" r:id="rId10"/>
    <p:sldId id="635" r:id="rId11"/>
    <p:sldId id="642" r:id="rId12"/>
    <p:sldId id="268" r:id="rId13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DEE3D736-201F-854C-9933-1D684D140B5D}">
          <p14:sldIdLst>
            <p14:sldId id="778"/>
          </p14:sldIdLst>
        </p14:section>
        <p14:section name="Строительство" id="{71393E2D-667A-4F0E-91C7-44D8EB5CA189}">
          <p14:sldIdLst>
            <p14:sldId id="656"/>
            <p14:sldId id="2145708160"/>
            <p14:sldId id="2145708185"/>
            <p14:sldId id="2145708186"/>
            <p14:sldId id="610"/>
            <p14:sldId id="616"/>
            <p14:sldId id="638"/>
            <p14:sldId id="2145708182"/>
            <p14:sldId id="635"/>
            <p14:sldId id="642"/>
          </p14:sldIdLst>
        </p14:section>
        <p14:section name="Конец" id="{D7E49C59-F4CA-4E22-8919-234445346FB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83325C-F437-FA72-DE51-14A730BD8108}" name="Aruzhan Ibekenova" initials="AI" userId="68ea18afab4a60d4" providerId="Windows Live"/>
  <p188:author id="{F44F2CA5-144D-0D16-6442-D99836C92C01}" name="Nurlan Muratbek" initials="NM" userId="7dc2c228e30f88d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4D6"/>
    <a:srgbClr val="F1E4D4"/>
    <a:srgbClr val="FFFFFF"/>
    <a:srgbClr val="E4B984"/>
    <a:srgbClr val="D79342"/>
    <a:srgbClr val="E5BA83"/>
    <a:srgbClr val="366C8A"/>
    <a:srgbClr val="376C8A"/>
    <a:srgbClr val="F5E4CD"/>
    <a:srgbClr val="D6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7"/>
  </p:normalViewPr>
  <p:slideViewPr>
    <p:cSldViewPr snapToGrid="0">
      <p:cViewPr varScale="1">
        <p:scale>
          <a:sx n="100" d="100"/>
          <a:sy n="100" d="100"/>
        </p:scale>
        <p:origin x="90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56-4205-8C38-D34E0B7B45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9DD-F34F-A0AC-93FC87BEB19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4th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DD-F34F-A0AC-93FC87BEB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12"/>
        <c:holeSize val="51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K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Жилищка</c:v>
                </c:pt>
                <c:pt idx="1">
                  <c:v>Инфраструктурное</c:v>
                </c:pt>
                <c:pt idx="2">
                  <c:v>Промышленное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0.62</c:v>
                </c:pt>
                <c:pt idx="1">
                  <c:v>0.25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68-4842-91A5-3157F61C99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15"/>
        <c:axId val="1545642112"/>
        <c:axId val="1546522608"/>
      </c:barChart>
      <c:catAx>
        <c:axId val="1545642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46522608"/>
        <c:crosses val="autoZero"/>
        <c:auto val="1"/>
        <c:lblAlgn val="ctr"/>
        <c:lblOffset val="100"/>
        <c:noMultiLvlLbl val="0"/>
      </c:catAx>
      <c:valAx>
        <c:axId val="1546522608"/>
        <c:scaling>
          <c:orientation val="minMax"/>
          <c:max val="0.7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1545642112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K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48-CE4B-82C3-C81FB6B0D4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48-CE4B-82C3-C81FB6B0D4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48-CE4B-82C3-C81FB6B0D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2"/>
        <c:overlap val="100"/>
        <c:axId val="232698048"/>
        <c:axId val="196559696"/>
      </c:barChart>
      <c:catAx>
        <c:axId val="2326980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6559696"/>
        <c:crosses val="autoZero"/>
        <c:auto val="1"/>
        <c:lblAlgn val="ctr"/>
        <c:lblOffset val="100"/>
        <c:noMultiLvlLbl val="0"/>
      </c:catAx>
      <c:valAx>
        <c:axId val="1965596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2326980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K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442-434B-BAFC-14771302C3CD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42-434B-BAFC-14771302C3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KZ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2023</c:v>
                </c:pt>
                <c:pt idx="1">
                  <c:v>2050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4.4000000000000004</c:v>
                </c:pt>
                <c:pt idx="1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42-434B-BAFC-14771302C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3"/>
        <c:overlap val="-15"/>
        <c:axId val="1545642112"/>
        <c:axId val="1546522608"/>
      </c:barChart>
      <c:catAx>
        <c:axId val="1545642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46522608"/>
        <c:crosses val="autoZero"/>
        <c:auto val="1"/>
        <c:lblAlgn val="ctr"/>
        <c:lblOffset val="100"/>
        <c:noMultiLvlLbl val="0"/>
      </c:catAx>
      <c:valAx>
        <c:axId val="154652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5642112"/>
        <c:crosses val="autoZero"/>
        <c:crossBetween val="between"/>
        <c:majorUnit val="5"/>
        <c:min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K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78132" y="1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9F78FEC2-6901-42CF-BCAD-12A876C5C8DA}" type="datetimeFigureOut">
              <a:rPr lang="x-none" smtClean="0"/>
              <a:t>02.04.2026</a:t>
            </a:fld>
            <a:endParaRPr lang="x-none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x-none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x-none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CB31E615-7CDB-4FAA-9A57-63D32807353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3116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the-next-normal-in-construction-how-disruption-is-reshaping-the-worlds-largest-ecosystem#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mckinsey.com/capabilities/operations/our-insights/reinventing-construction-through-a-productivity-revolution" TargetMode="External"/><Relationship Id="rId4" Type="http://schemas.openxmlformats.org/officeDocument/2006/relationships/hyperlink" Target="https://www.mckinsey.com/capabilities/operations/our-insights/delivering-on-construction-productivity-is-no-longer-optional#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neering.rowan.edu/_docs/civilenvironmental/cee-materials-reading-assignment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mckinsey.com/capabilities/operations/our-insights/reinventing-construction-through-a-productivity-revolution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reinventing-construction-through-a-productivity-revolution" TargetMode="External"/><Relationship Id="rId7" Type="http://schemas.openxmlformats.org/officeDocument/2006/relationships/hyperlink" Target="https://www.mckinsey.com/capabilities/operations/our-insights/beating-the-low-productivity-trap-how-to-transform-construction-operations#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mckinsey.com/capabilities/operations/our-insights/imagining-constructions-digital-future#/" TargetMode="External"/><Relationship Id="rId5" Type="http://schemas.openxmlformats.org/officeDocument/2006/relationships/hyperlink" Target="https://www.mckinsey.com/capabilities/operations/our-insights/delivering-on-construction-productivity-is-no-longer-optional#/" TargetMode="External"/><Relationship Id="rId4" Type="http://schemas.openxmlformats.org/officeDocument/2006/relationships/hyperlink" Target="https://www.mckinsey.com/capabilities/operations/our-insights/the-next-normal-in-construction-how-disruption-is-reshaping-the-worlds-largest-ecosystem#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reinventing-construction-through-a-productivity-revolution" TargetMode="External"/><Relationship Id="rId7" Type="http://schemas.openxmlformats.org/officeDocument/2006/relationships/hyperlink" Target="https://www.mckinsey.com/capabilities/operations/our-insights/beating-the-low-productivity-trap-how-to-transform-construction-operations#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mckinsey.com/capabilities/operations/our-insights/imagining-constructions-digital-future#/" TargetMode="External"/><Relationship Id="rId5" Type="http://schemas.openxmlformats.org/officeDocument/2006/relationships/hyperlink" Target="https://www.mckinsey.com/capabilities/operations/our-insights/delivering-on-construction-productivity-is-no-longer-optional#/" TargetMode="External"/><Relationship Id="rId4" Type="http://schemas.openxmlformats.org/officeDocument/2006/relationships/hyperlink" Target="https://www.mckinsey.com/capabilities/operations/our-insights/the-next-normal-in-construction-how-disruption-is-reshaping-the-worlds-largest-ecosystem#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topic/urbandevelopment/overview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mckinsey.com/capabilities/operations/our-insights/the-next-normal-in-construction-how-disruption-is-reshaping-the-worlds-largest-ecosystem#/" TargetMode="External"/><Relationship Id="rId4" Type="http://schemas.openxmlformats.org/officeDocument/2006/relationships/hyperlink" Target="https://www.bcg.com/publications/2024/green-building-regulations-disturb-french-construction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imagining-constructions-digital-future#/" TargetMode="External"/><Relationship Id="rId7" Type="http://schemas.openxmlformats.org/officeDocument/2006/relationships/hyperlink" Target="https://www.mckinsey.com/capabilities/operations/our-insights/delivering-on-construction-productivity-is-no-longer-optiona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mckinsey.com/~/media/mckinsey/mckinsey%20global%20institute/our%20research/the%20next%20big%20arenas%20of%20competition/the-next-big-arenas-of-competition_final.pdf" TargetMode="External"/><Relationship Id="rId5" Type="http://schemas.openxmlformats.org/officeDocument/2006/relationships/hyperlink" Target="https://www.bain.com/insights/breaking-new-ground-the-efficiency-gains-of-industrialized-design-and-construction/" TargetMode="External"/><Relationship Id="rId4" Type="http://schemas.openxmlformats.org/officeDocument/2006/relationships/hyperlink" Target="https://www.mckinsey.com/capabilities/operations/our-insights/the-next-normal-in-construction-how-disruption-is-reshaping-the-worlds-largest-ecosystem#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reinventing-construction-through-a-productivity-revolution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mckinsey.com/industries/private-capital/our-insights/from-start-up-to-scale-up-accelerating-growth-in-construction-technology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reinventing-construction-through-a-productivity-revolution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mckinsey.com/industries/private-capital/our-insights/from-start-up-to-scale-up-accelerating-growth-in-construction-technology" TargetMode="External"/><Relationship Id="rId5" Type="http://schemas.openxmlformats.org/officeDocument/2006/relationships/hyperlink" Target="https://www.mckinsey.com/capabilities/operations/our-insights/collaborative-contracting-moving-from-pilot-to-scale-up" TargetMode="External"/><Relationship Id="rId4" Type="http://schemas.openxmlformats.org/officeDocument/2006/relationships/hyperlink" Target="https://legacy.csce.ca/elf/apps/CONFERENCEVIEWER/conferences/2013/pdfs/construction/123.pdf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reinventing-construction-through-a-productivity-revolution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mckinsey.com/capabilities/operations/our-insights/the-next-normal-in-construction-how-disruption-is-reshaping-the-worlds-largest-ecosystem#/" TargetMode="External"/><Relationship Id="rId4" Type="http://schemas.openxmlformats.org/officeDocument/2006/relationships/hyperlink" Target="https://www.mckinsey.com/capabilities/operations/our-insights/delivering-on-construction-productivity-is-no-longer-optional#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reinventing-construction-through-a-productivity-revolution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5EBF-D6D2-D1C8-BE3A-C3DCE82B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2C412-CA98-678C-20ED-446589B00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74C6D-0CD2-D206-36BD-0D03696C3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</a:t>
            </a:r>
            <a:r>
              <a:rPr lang="ru-RU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, 2020,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стр. 4, 43</a:t>
            </a:r>
            <a:r>
              <a:rPr lang="en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https://</a:t>
            </a:r>
            <a:r>
              <a:rPr lang="en-US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www.mckinsey.com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/capabilities/operations/our-insights/the-next-normal-in-construction-how-disruption-is-reshaping-the-worlds-largest-ecosystem#/</a:t>
            </a:r>
            <a:endParaRPr lang="ru-RU" sz="180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</a:t>
            </a:r>
            <a:r>
              <a:rPr lang="ru-RU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, 2024,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2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/capabilities/operations/our-insights/delivering-on-construction-productivity-is-no-longer-optional#/</a:t>
            </a:r>
            <a:endParaRPr lang="ru-RU"/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McKinsey</a:t>
            </a:r>
            <a:r>
              <a:rPr lang="ru-RU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, 2017,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15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https://</a:t>
            </a:r>
            <a:r>
              <a:rPr lang="en-US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/capabilities/operations/our-insights/reinventing-construction-through-a-productivity-revolution</a:t>
            </a:r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4A642-128F-E4B7-9002-BBBAF707D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7075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CD1C-D19C-7F48-BA50-E91DE40A1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65720-7DB7-2970-8380-C1A782D57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792C2-4CC7-FBE5-464D-3AD94E800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Университет Роуэна, </a:t>
            </a:r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N</a:t>
            </a: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A</a:t>
            </a:r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engineering.rowan.edu</a:t>
            </a:r>
            <a:r>
              <a:rPr lang="en-US"/>
              <a:t>/_docs/</a:t>
            </a:r>
            <a:r>
              <a:rPr lang="en-US" err="1"/>
              <a:t>civilenvironmental</a:t>
            </a:r>
            <a:r>
              <a:rPr lang="en-US"/>
              <a:t>/cee-materials-reading-</a:t>
            </a:r>
            <a:r>
              <a:rPr lang="en-US" err="1"/>
              <a:t>assignment.pdf</a:t>
            </a:r>
            <a:endParaRPr lang="ru-RU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Всемирный банк, 2009, стр. 203, 212</a:t>
            </a:r>
            <a:r>
              <a:rPr lang="en-KZ">
                <a:effectLst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, 2017,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1</a:t>
            </a:r>
            <a:r>
              <a:rPr lang="en-KZ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/capabilities/operations/our-insights/reinventing-construction-through-a-productivity-revolution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B48F4-806B-7EA0-07AE-1919B9F9C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41986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6D19-5FB5-FC0A-DA21-4530CE43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97E39-8FC4-0A3D-C780-806C8AE5B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A1A7F-0911-B381-9B3D-839AEBF4B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Всемирный Банк, 2022:</a:t>
            </a:r>
            <a:r>
              <a:rPr lang="en-US"/>
              <a:t> https://documents1.worldbank.org/curated/</a:t>
            </a:r>
            <a:r>
              <a:rPr lang="en-US" err="1"/>
              <a:t>en</a:t>
            </a:r>
            <a:r>
              <a:rPr lang="en-US"/>
              <a:t>/099215106282220794/pdf/P1721130d0dfbb0608c320b74edcad90d8.pdf</a:t>
            </a:r>
            <a:endParaRPr lang="ru-RU" sz="1200" u="sng">
              <a:solidFill>
                <a:srgbClr val="467886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, 2017,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1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8, 18, 42, 45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47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https://</a:t>
            </a:r>
            <a:r>
              <a:rPr lang="en-US" sz="12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/capabilities/operations/our-insights/reinventing-construction-through-a-productivity-revolution</a:t>
            </a:r>
            <a:endParaRPr lang="en-US" sz="1200" u="sng">
              <a:solidFill>
                <a:srgbClr val="467886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  <a:hlinkClick r:id="rId4"/>
            </a:endParaRPr>
          </a:p>
          <a:p>
            <a:r>
              <a:rPr lang="en-US" sz="12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, 2020,</a:t>
            </a:r>
            <a:r>
              <a:rPr lang="ru-RU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стр. 6, 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20, 23, 36</a:t>
            </a:r>
            <a:r>
              <a:rPr lang="en-KZ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https://</a:t>
            </a:r>
            <a:r>
              <a:rPr lang="en-US" sz="12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www.mckinsey.com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/capabilities/operations/our-insights/the-next-normal-in-construction-how-disruption-is-reshaping-the-worlds-largest-ecosystem#/</a:t>
            </a:r>
            <a:endParaRPr lang="ru-RU" sz="120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, 2024,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13</a:t>
            </a:r>
            <a:r>
              <a:rPr lang="en-KZ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/capabilities/operations/our-insights/delivering-on-construction-productivity-is-no-longer-optional#/</a:t>
            </a:r>
          </a:p>
          <a:p>
            <a:r>
              <a:rPr lang="kk-KZ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Портер</a:t>
            </a:r>
            <a:r>
              <a:rPr lang="kk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, 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2008, </a:t>
            </a:r>
            <a:r>
              <a:rPr lang="kk-KZ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kk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8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The Five Competitive Forces That Shape Strategy</a:t>
            </a:r>
            <a:endParaRPr lang="en-US"/>
          </a:p>
          <a:p>
            <a:r>
              <a:rPr lang="en-US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McKinsey, 2016,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ru-RU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4, 10</a:t>
            </a:r>
            <a:r>
              <a:rPr lang="en-KZ">
                <a:effectLst/>
              </a:rPr>
              <a:t>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/capabilities/operations/our-insights/imagining-constructions-digital-future#/</a:t>
            </a:r>
            <a:endParaRPr lang="ru-RU"/>
          </a:p>
          <a:p>
            <a:r>
              <a:rPr lang="en-US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7"/>
              </a:rPr>
              <a:t>McKinsey, 2016,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ru-RU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4, 5</a:t>
            </a:r>
            <a:r>
              <a:rPr lang="en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/capabilities/operations/our-insights/beating-the-low-productivity-trap-how-to-transform-construction-operations#/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4CA0E-55E3-1F7C-794F-DB76CF136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34970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015E-4672-DAFA-2ACE-390B414B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C73C5-A7A0-FA26-4FC7-6175C6BC0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FFD98-65B7-E999-BF51-FEC79FF2C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, 2017,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1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8, 18, 42, 45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47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https://</a:t>
            </a:r>
            <a:r>
              <a:rPr lang="en-US" sz="12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/capabilities/operations/our-insights/reinventing-construction-through-a-productivity-revolution</a:t>
            </a:r>
            <a:endParaRPr lang="en-US" sz="1200" u="sng">
              <a:solidFill>
                <a:srgbClr val="467886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  <a:hlinkClick r:id="rId4"/>
            </a:endParaRPr>
          </a:p>
          <a:p>
            <a:r>
              <a:rPr lang="en-US" sz="12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, 2020,</a:t>
            </a:r>
            <a:r>
              <a:rPr lang="ru-RU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стр. 6, 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20, 23, 36</a:t>
            </a:r>
            <a:r>
              <a:rPr lang="en-KZ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https://</a:t>
            </a:r>
            <a:r>
              <a:rPr lang="en-US" sz="12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www.mckinsey.com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/capabilities/operations/our-insights/the-next-normal-in-construction-how-disruption-is-reshaping-the-worlds-largest-ecosystem#/</a:t>
            </a:r>
            <a:endParaRPr lang="ru-RU" sz="120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r>
              <a:rPr lang="en-US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McKinsey</a:t>
            </a:r>
            <a:r>
              <a:rPr lang="ru-RU" sz="12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, 2024,</a:t>
            </a:r>
            <a:r>
              <a:rPr lang="ru-RU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</a:t>
            </a:r>
            <a:r>
              <a:rPr lang="en-US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13</a:t>
            </a:r>
            <a:r>
              <a:rPr lang="en-KZ" sz="12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/capabilities/operations/our-insights/delivering-on-construction-productivity-is-no-longer-optional#/</a:t>
            </a:r>
          </a:p>
          <a:p>
            <a:r>
              <a:rPr lang="kk-KZ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Портер</a:t>
            </a:r>
            <a:r>
              <a:rPr lang="kk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, 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2008, </a:t>
            </a:r>
            <a:r>
              <a:rPr lang="kk-KZ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kk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8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The Five Competitive Forces That Shape Strategy</a:t>
            </a:r>
            <a:endParaRPr lang="en-US"/>
          </a:p>
          <a:p>
            <a:r>
              <a:rPr lang="en-US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McKinsey, 2016,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ru-RU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4, 10</a:t>
            </a:r>
            <a:r>
              <a:rPr lang="en-KZ">
                <a:effectLst/>
              </a:rPr>
              <a:t>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/capabilities/operations/our-insights/imagining-constructions-digital-future#/</a:t>
            </a:r>
            <a:endParaRPr lang="ru-RU"/>
          </a:p>
          <a:p>
            <a:r>
              <a:rPr lang="en-US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7"/>
              </a:rPr>
              <a:t>McKinsey, 2016,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ru-RU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4, 5</a:t>
            </a:r>
            <a:r>
              <a:rPr lang="en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/capabilities/operations/our-insights/beating-the-low-productivity-trap-how-to-transform-construction-operations#/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C0AD7-D629-96AF-D39C-D52680BBD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82707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672B-15C3-CBCC-FC9A-FCCAAE10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A719C-A535-A06F-1EBA-2821CB591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67C2E-4A77-E0EE-5109-F2B07EB4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Всемирный банк, 2023</a:t>
            </a:r>
            <a:r>
              <a:rPr lang="en-KZ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https://www.worldbank.org/en/topic/urbandevelopment/overview</a:t>
            </a:r>
            <a:endParaRPr lang="ru-RU"/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BCG, 2024</a:t>
            </a:r>
            <a:r>
              <a:rPr lang="en-KZ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https://www.bcg.com/publications/2024/green-building-regulations-disturb-french-construction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McKinsey, 2020,</a:t>
            </a:r>
            <a:r>
              <a:rPr lang="ru-RU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</a:t>
            </a:r>
            <a:r>
              <a:rPr lang="ru-RU" sz="180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стр</a:t>
            </a:r>
            <a:r>
              <a:rPr lang="en-US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9</a:t>
            </a:r>
            <a:r>
              <a:rPr lang="en-KZ" sz="18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: </a:t>
            </a:r>
            <a:r>
              <a:rPr lang="en-US" sz="120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https://www.mckinsey.com/capabilities/operations/our-insights/the-next-normal-in-construction-how-disruption-is-reshaping-the-worlds-largest-ecosystem#/</a:t>
            </a:r>
            <a:endParaRPr lang="ru-RU" sz="120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1E5AB-D0A9-5D82-2DCC-21CA866DA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72648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711D-D109-4F51-704C-63DF67E3D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46A2B-E699-A4B6-C557-360087962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851AD-7E8A-4218-087D-8EA5540CC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McKinsey, 2016,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10, 11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/capabilities/operations/our-insights/imagining-constructions-digital-future#/</a:t>
            </a:r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McKinsey, 2020,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28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/capabilities/operations/our-insights/the-next-normal-in-construction-how-disruption-is-reshaping-the-worlds-largest-ecosystem#/</a:t>
            </a:r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Bain, 2024</a:t>
            </a:r>
            <a:r>
              <a:rPr lang="en-KZ" sz="2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 sz="2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800" u="sng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www.bain.com</a:t>
            </a:r>
            <a:r>
              <a:rPr lang="en-US" sz="2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/insights/breaking-new-ground-the-efficiency-gains-of-industrialized-design-and-construction/</a:t>
            </a:r>
            <a:endParaRPr lang="en-KZ" sz="2800" u="sng">
              <a:solidFill>
                <a:srgbClr val="467886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 kern="10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McKinsey, 2024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ru-RU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146: https://</a:t>
            </a:r>
            <a:r>
              <a:rPr lang="en-US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/~/media/</a:t>
            </a:r>
            <a:r>
              <a:rPr lang="en-US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mckinsey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/mckinsey%20global%20institute/our%20research/the%20next%20big%20arenas%20of%20competition/the-next-big-arenas-of-</a:t>
            </a:r>
            <a:r>
              <a:rPr lang="en-US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competition_final.pdf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7"/>
              </a:rPr>
              <a:t>McKinsey, 2024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kk-KZ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kk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5, 10</a:t>
            </a:r>
            <a:r>
              <a:rPr lang="en-KZ" sz="2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/capabilities/operations/our-insights/delivering-on-construction-productivity-is-no-longer-optional</a:t>
            </a:r>
            <a:endParaRPr lang="en-KZ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03568-BCB0-497A-2DAD-3CE063989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09476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95E4-F056-4D31-16F5-EF020F06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CABDB-5A69-3D5B-61B0-B556D62FE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9E372-4FCD-3063-3BB7-139A6AB9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McKinsey, 2017,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49, 73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https://www.mckinsey.com/capabilities/operations/our-insights/reinventing-construction-through-a-productivity-revolution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 kern="10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McKinsey, 2023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ru-RU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6</a:t>
            </a:r>
            <a:r>
              <a:rPr lang="en-KZ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/>
              <a:t>https://www.mckinsey.com/industries/private-capital/our-insights/from-start-up-to-scale-up-accelerating-growth-in-construction-technology</a:t>
            </a:r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322E-7A28-62BA-2EC0-2B1E6281B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6421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ACB2-81D5-C49F-3142-67A217B1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DED2C-DA79-5346-9D1D-50CDB2740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8FB18-5F4A-986A-7940-3679D2EE1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 kern="10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McKinsey, 2017,</a:t>
            </a:r>
            <a:r>
              <a:rPr lang="ru-RU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76</a:t>
            </a:r>
            <a:r>
              <a:rPr lang="ru-RU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/capabilities/operations/our-insights/reinventing-construction-through-a-productivity-revolution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Moazzami, Ruwanpura, Jergeas, 2013</a:t>
            </a:r>
            <a:r>
              <a:rPr lang="en-KZ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 sz="1800" u="none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800" u="none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legacy.csce.ca</a:t>
            </a:r>
            <a:r>
              <a:rPr lang="en-US" sz="1800" u="none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/elf/apps/CONFERENCEVIEWER/conferences/2013/pdfs/construction/123.pdf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McKinsey, 2020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</a:t>
            </a:r>
            <a:r>
              <a:rPr lang="kk-KZ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</a:t>
            </a:r>
            <a:r>
              <a:rPr lang="kk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/capabilities/operations/our-insights/collaborative-contracting-moving-from-pilot-to-scale-up</a:t>
            </a:r>
            <a:endParaRPr lang="en-KZ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McKinsey, 2023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6</a:t>
            </a:r>
            <a:r>
              <a:rPr lang="en-KZ">
                <a:effectLst/>
              </a:rPr>
              <a:t> </a:t>
            </a:r>
            <a:r>
              <a:rPr lang="en-US" u="none"/>
              <a:t>https://</a:t>
            </a:r>
            <a:r>
              <a:rPr lang="en-US" u="none" err="1"/>
              <a:t>www.mckinsey.com</a:t>
            </a:r>
            <a:r>
              <a:rPr lang="en-US" u="none"/>
              <a:t>/industries/private-capital/our-insights/from-start-up-to-scale-up-accelerating-growth-in-construction-technology</a:t>
            </a:r>
            <a:endParaRPr lang="ru-RU" u="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6357A-F84B-DCD4-3716-924855294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12992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2331D-2DA4-6CF6-DC05-359F2838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667A5-6EE2-3AC4-BF0C-C54AE2285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96977-E9BA-E03C-29EA-9C3944157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McKinsey, 2017,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47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/capabilities/operations/our-insights/reinventing-construction-through-a-productivity-revolution</a:t>
            </a:r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McKinsey, 2024,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5: https://</a:t>
            </a:r>
            <a:r>
              <a:rPr lang="en-US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/capabilities/operations/our-insights/delivering-on-construction-productivity-is-no-longer-optional#/</a:t>
            </a:r>
            <a:endParaRPr lang="ru-RU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McKinsey</a:t>
            </a:r>
            <a:r>
              <a:rPr lang="ru-RU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, 2020,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стр. 6, 11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https://</a:t>
            </a:r>
            <a:r>
              <a:rPr lang="en-US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www.mckinsey.com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/capabilities/operations/our-insights/the-next-normal-in-construction-how-disruption-is-reshaping-the-worlds-largest-ecosystem#/</a:t>
            </a:r>
            <a:endParaRPr lang="ru-RU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A4E6-AEAC-BDAC-FAB9-67F1B9942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05873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93B5-1184-5C0B-FB41-B13C6F0C8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CE9F4-0469-0054-AA4C-B9EBB1A6F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4D435-E4B4-1027-320A-15D8891AC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Всемирный банк, 2009, стр. 203, 208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McKinsey, 2017,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стр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47</a:t>
            </a:r>
            <a:r>
              <a:rPr lang="en-KZ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r>
              <a:rPr lang="ru-RU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https://</a:t>
            </a:r>
            <a:r>
              <a:rPr lang="en-US" err="1"/>
              <a:t>www.mckinsey.com</a:t>
            </a:r>
            <a:r>
              <a:rPr lang="en-US"/>
              <a:t>/capabilities/operations/our-insights/reinventing-construction-through-a-productivity-revolution</a:t>
            </a:r>
          </a:p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3B8D-7D4F-2306-6178-43C9A8B76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1E615-7CDB-4FAA-9A57-63D328073532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8505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3671438"/>
            <a:ext cx="10363200" cy="709613"/>
          </a:xfrm>
        </p:spPr>
        <p:txBody>
          <a:bodyPr vert="horz" anchor="t">
            <a:normAutofit/>
          </a:bodyPr>
          <a:lstStyle>
            <a:lvl1pPr algn="l">
              <a:defRPr sz="3600" b="1">
                <a:solidFill>
                  <a:srgbClr val="376C8A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846862"/>
            <a:ext cx="9753600" cy="457201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C789F-C872-D746-BBA5-4B4BAA949B72}" type="datetime1">
              <a:rPr lang="en-US" smtClean="0"/>
              <a:t>4/2/26</a:t>
            </a:fld>
            <a:endParaRPr lang="x-none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1BAC14A0-66DD-4D81-905F-A3B37F3F28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2067533"/>
              </p:ext>
            </p:ext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73" imgH="473" progId="TCLayout.ActiveDocument.1">
                  <p:embed/>
                </p:oleObj>
              </mc:Choice>
              <mc:Fallback>
                <p:oleObj name="Слайд think-cell" r:id="rId3" imgW="473" imgH="47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1BAC14A0-66DD-4D81-905F-A3B37F3F28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274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2AAAEFFE-BE63-466C-811F-48C75C6936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8595855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73" imgH="473" progId="TCLayout.ActiveDocument.1">
                  <p:embed/>
                </p:oleObj>
              </mc:Choice>
              <mc:Fallback>
                <p:oleObj name="Слайд think-cell" r:id="rId3" imgW="473" imgH="47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2AAAEFFE-BE63-466C-811F-48C75C693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49" y="159862"/>
            <a:ext cx="11115675" cy="830738"/>
          </a:xfrm>
        </p:spPr>
        <p:txBody>
          <a:bodyPr vert="horz">
            <a:noAutofit/>
          </a:bodyPr>
          <a:lstStyle>
            <a:lvl1pPr algn="ctr">
              <a:defRPr sz="24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5156" y="6537327"/>
            <a:ext cx="1144070" cy="253998"/>
          </a:xfrm>
        </p:spPr>
        <p:txBody>
          <a:bodyPr anchor="t"/>
          <a:lstStyle>
            <a:lvl1pPr algn="r">
              <a:defRPr sz="1000"/>
            </a:lvl1pPr>
          </a:lstStyle>
          <a:p>
            <a:fld id="{6ADB4463-4234-9644-AC54-667A756266D4}" type="datetime1">
              <a:rPr lang="en-US" smtClean="0"/>
              <a:t>4/2/26</a:t>
            </a:fld>
            <a:endParaRPr lang="x-none"/>
          </a:p>
        </p:txBody>
      </p:sp>
      <p:sp>
        <p:nvSpPr>
          <p:cNvPr id="9" name="Номер слайда 16">
            <a:extLst>
              <a:ext uri="{FF2B5EF4-FFF2-40B4-BE49-F238E27FC236}">
                <a16:creationId xmlns:a16="http://schemas.microsoft.com/office/drawing/2014/main" id="{756FABB1-2B38-4CC6-9B9F-D5279B2BB2FE}"/>
              </a:ext>
            </a:extLst>
          </p:cNvPr>
          <p:cNvSpPr txBox="1">
            <a:spLocks/>
          </p:cNvSpPr>
          <p:nvPr/>
        </p:nvSpPr>
        <p:spPr>
          <a:xfrm>
            <a:off x="10255376" y="6537328"/>
            <a:ext cx="1012341" cy="25399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Gotham Pro" panose="02000503040000020004" pitchFamily="2" charset="0"/>
              </a:rPr>
              <a:t>DESHT</a:t>
            </a:r>
            <a:endParaRPr lang="x-none" sz="1000">
              <a:solidFill>
                <a:schemeClr val="tx1">
                  <a:lumMod val="50000"/>
                  <a:lumOff val="50000"/>
                </a:schemeClr>
              </a:solidFill>
              <a:latin typeface="+mj-lt"/>
              <a:cs typeface="Gotham Pro" panose="02000503040000020004" pitchFamily="2" charset="0"/>
            </a:endParaRP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48631C17-C229-4860-967E-979C65BEF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472" y="6310882"/>
            <a:ext cx="1879600" cy="186284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ru-RU"/>
              <a:t>Источники: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2DAD389E-D3EA-45B3-8E4F-3FB6901076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2209801"/>
            <a:ext cx="2171700" cy="485775"/>
          </a:xfrm>
        </p:spPr>
        <p:txBody>
          <a:bodyPr>
            <a:noAutofit/>
          </a:bodyPr>
          <a:lstStyle>
            <a:lvl1pPr marL="180975" indent="-180975">
              <a:buFont typeface="Wingdings" panose="05000000000000000000" pitchFamily="2" charset="2"/>
              <a:buChar char="§"/>
              <a:defRPr sz="1600"/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100326B6-A3CA-402F-BD4D-05A0934836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800227"/>
            <a:ext cx="2171700" cy="407427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ru-RU"/>
              <a:t>Заголовок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3709C0D-E0EF-AB4A-2FE2-A56BFAB0361B}"/>
              </a:ext>
            </a:extLst>
          </p:cNvPr>
          <p:cNvCxnSpPr>
            <a:cxnSpLocks/>
          </p:cNvCxnSpPr>
          <p:nvPr userDrawn="1"/>
        </p:nvCxnSpPr>
        <p:spPr>
          <a:xfrm>
            <a:off x="0" y="992743"/>
            <a:ext cx="12192000" cy="0"/>
          </a:xfrm>
          <a:prstGeom prst="line">
            <a:avLst/>
          </a:prstGeom>
          <a:ln w="12700">
            <a:solidFill>
              <a:srgbClr val="346784"/>
            </a:solidFill>
            <a:prstDash val="solid"/>
          </a:ln>
          <a:effectLst>
            <a:outerShdw blurRad="63500" sx="102000" sy="102000" algn="ctr" rotWithShape="0">
              <a:srgbClr val="346784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E46FB51-6337-3315-D5C6-5670A9ACE60B}"/>
              </a:ext>
            </a:extLst>
          </p:cNvPr>
          <p:cNvCxnSpPr>
            <a:cxnSpLocks/>
            <a:stCxn id="4" idx="3"/>
          </p:cNvCxnSpPr>
          <p:nvPr userDrawn="1"/>
        </p:nvCxnSpPr>
        <p:spPr>
          <a:xfrm>
            <a:off x="1419226" y="6664326"/>
            <a:ext cx="8985884" cy="0"/>
          </a:xfrm>
          <a:prstGeom prst="line">
            <a:avLst/>
          </a:prstGeom>
          <a:ln w="12700">
            <a:solidFill>
              <a:srgbClr val="346784"/>
            </a:solidFill>
            <a:prstDash val="solid"/>
          </a:ln>
          <a:effectLst>
            <a:outerShdw blurRad="63500" sx="102000" sy="102000" algn="ctr" rotWithShape="0">
              <a:srgbClr val="346784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 descr="Водолей со сплошной заливкой">
            <a:extLst>
              <a:ext uri="{FF2B5EF4-FFF2-40B4-BE49-F238E27FC236}">
                <a16:creationId xmlns:a16="http://schemas.microsoft.com/office/drawing/2014/main" id="{B472A7A1-F159-E56D-D05B-668F5A738E7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094" r="39397" b="15515"/>
          <a:stretch/>
        </p:blipFill>
        <p:spPr>
          <a:xfrm rot="5400000">
            <a:off x="11095318" y="6585477"/>
            <a:ext cx="143592" cy="157699"/>
          </a:xfrm>
          <a:prstGeom prst="rect">
            <a:avLst/>
          </a:prstGeom>
          <a:effectLst>
            <a:outerShdw blurRad="25400" sx="101000" sy="101000" algn="ctr" rotWithShape="0">
              <a:srgbClr val="376C8A">
                <a:alpha val="20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AECFB-6D8E-5462-A140-D89705D2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6003" y="6537326"/>
            <a:ext cx="716597" cy="320669"/>
          </a:xfrm>
        </p:spPr>
        <p:txBody>
          <a:bodyPr anchor="t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C1BF337-9E29-4E92-919C-571149AA1FA7}" type="slidenum">
              <a:rPr lang="x-none" smtClean="0"/>
              <a:pPr/>
              <a:t>‹#›</a:t>
            </a:fld>
            <a:r>
              <a:rPr lang="en-US" dirty="0"/>
              <a:t> / </a:t>
            </a:r>
            <a:r>
              <a:rPr lang="ru-RU" dirty="0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41448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36C8-C3CE-DE46-9FD1-48623D7B83F3}" type="datetime1">
              <a:rPr lang="en-US" smtClean="0"/>
              <a:t>4/2/26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BF337-9E29-4E92-919C-571149AA1FA7}" type="slidenum">
              <a:rPr lang="x-none" smtClean="0"/>
              <a:t>‹#›</a:t>
            </a:fld>
            <a:endParaRPr lang="x-none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9CFDFF31-B4F4-48C6-BBB1-95809C89BFB3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89235640"/>
              </p:ext>
            </p:extLst>
          </p:nvPr>
        </p:nvGraphicFramePr>
        <p:xfrm>
          <a:off x="1591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473" imgH="473" progId="TCLayout.ActiveDocument.1">
                  <p:embed/>
                </p:oleObj>
              </mc:Choice>
              <mc:Fallback>
                <p:oleObj name="Слайд think-cell" r:id="rId5" imgW="473" imgH="47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9CFDFF31-B4F4-48C6-BBB1-95809C89BF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1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62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chart" Target="../charts/chart1.xml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4" Type="http://schemas.openxmlformats.org/officeDocument/2006/relationships/chart" Target="../charts/chart2.xml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chart" Target="../charts/chart3.xml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chart" Target="../charts/chart4.xml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10" Type="http://schemas.openxmlformats.org/officeDocument/2006/relationships/image" Target="../media/image16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карта, Аэрофотосъемка, Земля, вода&#10;&#10;Автоматически созданное описание">
            <a:extLst>
              <a:ext uri="{FF2B5EF4-FFF2-40B4-BE49-F238E27FC236}">
                <a16:creationId xmlns:a16="http://schemas.microsoft.com/office/drawing/2014/main" id="{731DA7FB-A9B8-3CB0-2E18-9CB386BF3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7095516-D5D2-C8BF-A804-4630BB826F13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376C8A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14165-AE27-437B-C3E0-A72A235883F1}"/>
              </a:ext>
            </a:extLst>
          </p:cNvPr>
          <p:cNvSpPr txBox="1"/>
          <p:nvPr/>
        </p:nvSpPr>
        <p:spPr>
          <a:xfrm>
            <a:off x="681036" y="6340268"/>
            <a:ext cx="2071399" cy="35559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ru-RU" sz="1600">
                <a:solidFill>
                  <a:schemeClr val="bg1"/>
                </a:solidFill>
              </a:rPr>
              <a:t>Март 2025</a:t>
            </a:r>
            <a:endParaRPr lang="x-none" sz="1600">
              <a:solidFill>
                <a:schemeClr val="bg1"/>
              </a:solidFill>
            </a:endParaRP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EBB6973D-DC84-10EC-C09F-17A8DA177AA4}"/>
              </a:ext>
            </a:extLst>
          </p:cNvPr>
          <p:cNvSpPr txBox="1">
            <a:spLocks/>
          </p:cNvSpPr>
          <p:nvPr/>
        </p:nvSpPr>
        <p:spPr>
          <a:xfrm>
            <a:off x="9613045" y="6340268"/>
            <a:ext cx="2663190" cy="467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chemeClr val="bg1"/>
                </a:solidFill>
                <a:ea typeface="Arial" charset="0"/>
                <a:cs typeface="Gotham Pro" panose="02000503040000020004" pitchFamily="2" charset="0"/>
              </a:rPr>
              <a:t>desht.org</a:t>
            </a:r>
            <a:endParaRPr lang="nn-NO" sz="1600">
              <a:solidFill>
                <a:schemeClr val="bg1"/>
              </a:solidFill>
              <a:ea typeface="Arial" charset="0"/>
              <a:cs typeface="Gotham Pro" panose="02000503040000020004" pitchFamily="2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EEBF0C3-9CEE-E889-9C10-A72EE49D2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035" y="2280973"/>
            <a:ext cx="11031503" cy="1808144"/>
          </a:xfrm>
        </p:spPr>
        <p:txBody>
          <a:bodyPr vert="horz">
            <a:noAutofit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solidFill>
                  <a:schemeClr val="bg1"/>
                </a:solidFill>
                <a:cs typeface="Gotham" pitchFamily="2" charset="0"/>
              </a:rPr>
              <a:t>Погружение в </a:t>
            </a:r>
            <a:r>
              <a:rPr lang="ru-RU" sz="4000" dirty="0" err="1">
                <a:solidFill>
                  <a:schemeClr val="bg1"/>
                </a:solidFill>
                <a:cs typeface="Gotham" pitchFamily="2" charset="0"/>
              </a:rPr>
              <a:t>таргет</a:t>
            </a:r>
            <a:r>
              <a:rPr lang="ru-RU" sz="4000" dirty="0">
                <a:solidFill>
                  <a:schemeClr val="bg1"/>
                </a:solidFill>
                <a:cs typeface="Gotham" pitchFamily="2" charset="0"/>
              </a:rPr>
              <a:t> отрасли</a:t>
            </a:r>
            <a:br>
              <a:rPr lang="ru-RU" sz="4000" dirty="0">
                <a:solidFill>
                  <a:schemeClr val="bg1"/>
                </a:solidFill>
                <a:cs typeface="Gotham" pitchFamily="2" charset="0"/>
              </a:rPr>
            </a:br>
            <a:r>
              <a:rPr lang="ru-RU" sz="2800" dirty="0">
                <a:solidFill>
                  <a:srgbClr val="E5B983"/>
                </a:solidFill>
                <a:ea typeface="+mn-ea"/>
                <a:cs typeface="+mn-cs"/>
              </a:rPr>
              <a:t>строительство</a:t>
            </a:r>
            <a:endParaRPr lang="ru-RU" sz="2000" dirty="0">
              <a:solidFill>
                <a:srgbClr val="E5B983"/>
              </a:solidFill>
              <a:ea typeface="+mn-ea"/>
              <a:cs typeface="+mn-cs"/>
            </a:endParaRPr>
          </a:p>
        </p:txBody>
      </p:sp>
      <p:pic>
        <p:nvPicPr>
          <p:cNvPr id="6" name="Рисунок 5" descr="Изображение выглядит как Шрифт, логотип, Графи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0C66CCF-DFDA-764D-51EB-584521E20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9" y="438620"/>
            <a:ext cx="3102042" cy="55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6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D112-988D-9330-1B47-53248C5B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56">
            <a:extLst>
              <a:ext uri="{FF2B5EF4-FFF2-40B4-BE49-F238E27FC236}">
                <a16:creationId xmlns:a16="http://schemas.microsoft.com/office/drawing/2014/main" id="{D740D79B-A3DF-D0AD-712F-6057BE55BC66}"/>
              </a:ext>
            </a:extLst>
          </p:cNvPr>
          <p:cNvSpPr/>
          <p:nvPr/>
        </p:nvSpPr>
        <p:spPr>
          <a:xfrm>
            <a:off x="1228240" y="2538318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52CCB4-8064-82FA-D0BF-C82FC6047B1F}"/>
              </a:ext>
            </a:extLst>
          </p:cNvPr>
          <p:cNvSpPr/>
          <p:nvPr/>
        </p:nvSpPr>
        <p:spPr>
          <a:xfrm>
            <a:off x="1912266" y="2538337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C9664A3-6EFC-D0B1-D64C-0EB55E11960A}"/>
              </a:ext>
            </a:extLst>
          </p:cNvPr>
          <p:cNvSpPr/>
          <p:nvPr/>
        </p:nvSpPr>
        <p:spPr>
          <a:xfrm>
            <a:off x="2596292" y="2539046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DB6553-9BAE-0BFD-1F8C-6D5B7EA9BAF3}"/>
              </a:ext>
            </a:extLst>
          </p:cNvPr>
          <p:cNvSpPr/>
          <p:nvPr/>
        </p:nvSpPr>
        <p:spPr>
          <a:xfrm>
            <a:off x="3280318" y="2536172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F5737E3-ADEE-007B-3AC5-F80F900595F1}"/>
              </a:ext>
            </a:extLst>
          </p:cNvPr>
          <p:cNvSpPr/>
          <p:nvPr/>
        </p:nvSpPr>
        <p:spPr>
          <a:xfrm>
            <a:off x="3964344" y="2536881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660A00C-7416-1C0F-D657-4173A1F40ABE}"/>
              </a:ext>
            </a:extLst>
          </p:cNvPr>
          <p:cNvSpPr/>
          <p:nvPr/>
        </p:nvSpPr>
        <p:spPr>
          <a:xfrm>
            <a:off x="4648370" y="2536900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5C3ED52-9FC7-07B2-4DE6-361D2FD70FB9}"/>
              </a:ext>
            </a:extLst>
          </p:cNvPr>
          <p:cNvSpPr/>
          <p:nvPr/>
        </p:nvSpPr>
        <p:spPr>
          <a:xfrm>
            <a:off x="5332396" y="2537609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D025A1-7101-7562-7CF9-F7997CB1AB41}"/>
              </a:ext>
            </a:extLst>
          </p:cNvPr>
          <p:cNvSpPr/>
          <p:nvPr/>
        </p:nvSpPr>
        <p:spPr>
          <a:xfrm>
            <a:off x="6016422" y="2535444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2B5DA38-E271-B810-5E4C-123147268727}"/>
              </a:ext>
            </a:extLst>
          </p:cNvPr>
          <p:cNvSpPr/>
          <p:nvPr/>
        </p:nvSpPr>
        <p:spPr>
          <a:xfrm>
            <a:off x="6700448" y="2535463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76433BC-D18C-638A-A45B-9B57397D89A0}"/>
              </a:ext>
            </a:extLst>
          </p:cNvPr>
          <p:cNvSpPr/>
          <p:nvPr/>
        </p:nvSpPr>
        <p:spPr>
          <a:xfrm>
            <a:off x="7384474" y="2536172"/>
            <a:ext cx="605953" cy="60595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59BE57F-E59C-C98C-5374-CEA82B9ED99E}"/>
              </a:ext>
            </a:extLst>
          </p:cNvPr>
          <p:cNvSpPr/>
          <p:nvPr/>
        </p:nvSpPr>
        <p:spPr>
          <a:xfrm>
            <a:off x="544214" y="2537609"/>
            <a:ext cx="605953" cy="60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7C2DB1-7355-4A52-270C-6A221435BA9E}"/>
              </a:ext>
            </a:extLst>
          </p:cNvPr>
          <p:cNvSpPr txBox="1"/>
          <p:nvPr/>
        </p:nvSpPr>
        <p:spPr>
          <a:xfrm>
            <a:off x="428882" y="6271197"/>
            <a:ext cx="252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Источник: 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McKinsey Global Institute</a:t>
            </a:r>
          </a:p>
        </p:txBody>
      </p:sp>
      <p:sp>
        <p:nvSpPr>
          <p:cNvPr id="17" name="Прямоугольник 6">
            <a:extLst>
              <a:ext uri="{FF2B5EF4-FFF2-40B4-BE49-F238E27FC236}">
                <a16:creationId xmlns:a16="http://schemas.microsoft.com/office/drawing/2014/main" id="{7B85314B-56E7-FA05-042C-7B2D08CD3159}"/>
              </a:ext>
            </a:extLst>
          </p:cNvPr>
          <p:cNvSpPr/>
          <p:nvPr/>
        </p:nvSpPr>
        <p:spPr>
          <a:xfrm>
            <a:off x="8649730" y="1730077"/>
            <a:ext cx="3276022" cy="4589191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Границы сектора – от </a:t>
            </a:r>
            <a:r>
              <a:rPr lang="ru-RU" sz="1200" b="1"/>
              <a:t>подготовки специализированного ПО</a:t>
            </a:r>
            <a:r>
              <a:rPr lang="ru-RU" sz="1200"/>
              <a:t> </a:t>
            </a:r>
            <a:r>
              <a:rPr lang="ru-RU" sz="1100" i="1"/>
              <a:t>(планирование, чертежи, проектное управление) </a:t>
            </a:r>
            <a:r>
              <a:rPr lang="ru-RU" sz="1200"/>
              <a:t>до </a:t>
            </a:r>
            <a:r>
              <a:rPr lang="ru-RU" sz="1200" b="1"/>
              <a:t>продажи и управления готовой</a:t>
            </a:r>
            <a:r>
              <a:rPr lang="en-US" sz="1200" b="1"/>
              <a:t> </a:t>
            </a:r>
            <a:r>
              <a:rPr lang="ru-RU" sz="1200" b="1"/>
              <a:t>недвижимостью</a:t>
            </a:r>
            <a:endParaRPr lang="en-US" sz="1200" b="1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Высокая </a:t>
            </a:r>
            <a:r>
              <a:rPr lang="ru-RU" sz="1200" b="1"/>
              <a:t>фрагментация</a:t>
            </a:r>
            <a:r>
              <a:rPr lang="ru-RU" sz="1200"/>
              <a:t> </a:t>
            </a:r>
            <a:r>
              <a:rPr lang="ru-RU" sz="1100" i="1"/>
              <a:t>(множество игроков на разных этапах) </a:t>
            </a:r>
            <a:r>
              <a:rPr lang="ru-RU" sz="1200"/>
              <a:t>и значительная </a:t>
            </a:r>
            <a:r>
              <a:rPr lang="ru-RU" sz="1200" b="1"/>
              <a:t>географическая</a:t>
            </a:r>
            <a:r>
              <a:rPr lang="ru-RU" sz="1200"/>
              <a:t> </a:t>
            </a:r>
            <a:r>
              <a:rPr lang="ru-RU" sz="1200" b="1"/>
              <a:t>рассредоточенность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 b="1"/>
              <a:t>Самая крупная отрасль </a:t>
            </a:r>
            <a:r>
              <a:rPr lang="ru-RU" sz="1200"/>
              <a:t>в мире – </a:t>
            </a:r>
            <a:r>
              <a:rPr lang="ru-RU" sz="1200" b="1"/>
              <a:t>1</a:t>
            </a:r>
            <a:r>
              <a:rPr lang="en-US" sz="1200" b="1"/>
              <a:t>3%</a:t>
            </a:r>
            <a:r>
              <a:rPr lang="ru-RU" sz="1200" b="1"/>
              <a:t> мирового </a:t>
            </a:r>
            <a:r>
              <a:rPr lang="ru-RU" sz="1200"/>
              <a:t>ВВП </a:t>
            </a:r>
            <a:r>
              <a:rPr lang="en-US" sz="1100" i="1"/>
              <a:t>(</a:t>
            </a:r>
            <a:r>
              <a:rPr lang="ru-RU" sz="1100" i="1"/>
              <a:t>вся экосистема, кроме операций с недв.</a:t>
            </a:r>
            <a:r>
              <a:rPr lang="en-US" sz="1100" i="1"/>
              <a:t>)</a:t>
            </a:r>
            <a:r>
              <a:rPr lang="ru-RU" sz="1100" i="1"/>
              <a:t> </a:t>
            </a:r>
            <a:endParaRPr lang="ru-RU" sz="1200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 b="1"/>
              <a:t>Строительство недвижимости </a:t>
            </a:r>
            <a:r>
              <a:rPr lang="ru-RU" sz="1100" i="1"/>
              <a:t>(жилая, коммерческая, стадионы) </a:t>
            </a:r>
            <a:r>
              <a:rPr lang="ru-RU" sz="1200"/>
              <a:t>– наиболее крупная подотрасль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Ожидаемый рост </a:t>
            </a:r>
            <a:r>
              <a:rPr lang="ru-RU" sz="1200" b="1"/>
              <a:t>глобальных расходов на строительство </a:t>
            </a:r>
            <a:r>
              <a:rPr lang="ru-RU" sz="1200"/>
              <a:t>– с </a:t>
            </a:r>
            <a:r>
              <a:rPr lang="en-US" sz="1200"/>
              <a:t>$</a:t>
            </a:r>
            <a:r>
              <a:rPr lang="ru-RU" sz="1200"/>
              <a:t>13</a:t>
            </a:r>
            <a:r>
              <a:rPr lang="en-US" sz="1200"/>
              <a:t> </a:t>
            </a:r>
            <a:r>
              <a:rPr lang="ru-RU" sz="1200"/>
              <a:t>трлн в 2023 г. </a:t>
            </a:r>
            <a:r>
              <a:rPr lang="ru-RU" sz="1200" b="1"/>
              <a:t>до </a:t>
            </a:r>
            <a:br>
              <a:rPr lang="ru-RU" sz="1200" b="1"/>
            </a:br>
            <a:r>
              <a:rPr lang="en-US" sz="1200" b="1"/>
              <a:t>$</a:t>
            </a:r>
            <a:r>
              <a:rPr lang="ru-RU" sz="1200" b="1"/>
              <a:t>22</a:t>
            </a:r>
            <a:r>
              <a:rPr lang="en-US" sz="1200" b="1"/>
              <a:t> </a:t>
            </a:r>
            <a:r>
              <a:rPr lang="ru-RU" sz="1200" b="1"/>
              <a:t>трлн в 2040 г</a:t>
            </a:r>
            <a:r>
              <a:rPr lang="ru-RU" sz="1200"/>
              <a:t>. </a:t>
            </a:r>
            <a:r>
              <a:rPr lang="ru-RU" sz="1100" i="1"/>
              <a:t>(</a:t>
            </a:r>
            <a:r>
              <a:rPr lang="en-US" sz="1100" i="1"/>
              <a:t>CAGR 3,1</a:t>
            </a:r>
            <a:r>
              <a:rPr lang="ru-RU" sz="1100" i="1"/>
              <a:t>4</a:t>
            </a:r>
            <a:r>
              <a:rPr lang="en-US" sz="1100" i="1"/>
              <a:t>%)</a:t>
            </a:r>
            <a:endParaRPr lang="ru-RU" sz="1200" i="1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51D1340-45AC-6F4E-1F09-802670B4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границы и размеры</a:t>
            </a:r>
            <a:endParaRPr lang="ru-KZ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00275-B2A3-47B4-9C49-9C71E887B653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C061D-C21F-7C86-0A22-BCE20DC636DA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95D698-72BB-5E83-257C-C7FF2D536E8C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2FBE95-56DB-0033-8496-4185CE14179A}"/>
              </a:ext>
            </a:extLst>
          </p:cNvPr>
          <p:cNvSpPr/>
          <p:nvPr/>
        </p:nvSpPr>
        <p:spPr>
          <a:xfrm>
            <a:off x="244233" y="1731504"/>
            <a:ext cx="8034793" cy="20517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235FB3-9CBA-B3F5-CE53-68F8C15D4CEE}"/>
              </a:ext>
            </a:extLst>
          </p:cNvPr>
          <p:cNvSpPr/>
          <p:nvPr/>
        </p:nvSpPr>
        <p:spPr>
          <a:xfrm>
            <a:off x="244232" y="4251206"/>
            <a:ext cx="8034793" cy="20517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960D72-D0E0-2574-9A2D-EC2DCE891881}"/>
              </a:ext>
            </a:extLst>
          </p:cNvPr>
          <p:cNvSpPr txBox="1"/>
          <p:nvPr/>
        </p:nvSpPr>
        <p:spPr>
          <a:xfrm>
            <a:off x="3575914" y="1560800"/>
            <a:ext cx="137143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Границы</a:t>
            </a:r>
            <a:endParaRPr lang="en-US" sz="16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0C52B8-806A-132E-944C-CD195DE4C6F2}"/>
              </a:ext>
            </a:extLst>
          </p:cNvPr>
          <p:cNvSpPr txBox="1"/>
          <p:nvPr/>
        </p:nvSpPr>
        <p:spPr>
          <a:xfrm>
            <a:off x="3282297" y="4081929"/>
            <a:ext cx="195866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Отрасль в мире</a:t>
            </a:r>
            <a:endParaRPr lang="en-US" sz="1600" b="1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3CB8624-9DB2-389D-EB5B-227767E54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585649"/>
              </p:ext>
            </p:extLst>
          </p:nvPr>
        </p:nvGraphicFramePr>
        <p:xfrm>
          <a:off x="513076" y="4587684"/>
          <a:ext cx="2323442" cy="1640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E451E42-8BB5-536B-7994-3A02E1CAA948}"/>
              </a:ext>
            </a:extLst>
          </p:cNvPr>
          <p:cNvSpPr txBox="1"/>
          <p:nvPr/>
        </p:nvSpPr>
        <p:spPr>
          <a:xfrm>
            <a:off x="612743" y="4427794"/>
            <a:ext cx="2124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/>
              <a:t>Доля в глобальном ВВП</a:t>
            </a:r>
            <a:endParaRPr lang="en-KZ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353C1-3358-D992-6729-17A17593C68E}"/>
              </a:ext>
            </a:extLst>
          </p:cNvPr>
          <p:cNvSpPr txBox="1"/>
          <p:nvPr/>
        </p:nvSpPr>
        <p:spPr>
          <a:xfrm>
            <a:off x="1952269" y="5269549"/>
            <a:ext cx="4796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/>
              <a:t>1</a:t>
            </a:r>
            <a:r>
              <a:rPr lang="en-US" sz="1200" b="1"/>
              <a:t>3%</a:t>
            </a:r>
            <a:endParaRPr lang="en-KZ" sz="1200" b="1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854BE85-0E39-D347-2824-04CF34AA8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2942261"/>
              </p:ext>
            </p:extLst>
          </p:nvPr>
        </p:nvGraphicFramePr>
        <p:xfrm>
          <a:off x="3350526" y="4744124"/>
          <a:ext cx="4733303" cy="1341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DE83E90-A586-9EE5-908A-BA24D3DEB0CB}"/>
              </a:ext>
            </a:extLst>
          </p:cNvPr>
          <p:cNvSpPr txBox="1"/>
          <p:nvPr/>
        </p:nvSpPr>
        <p:spPr>
          <a:xfrm>
            <a:off x="4272711" y="4427794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noProof="1"/>
              <a:t>Структура отрасли </a:t>
            </a:r>
            <a:r>
              <a:rPr lang="ru-RU" sz="1100" i="1" noProof="1"/>
              <a:t>(кап. расходы)</a:t>
            </a:r>
            <a:endParaRPr lang="ru-RU" sz="1200" i="1" noProof="1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9C22E6-37B5-85F4-EAA9-6BB3BC08EABC}"/>
              </a:ext>
            </a:extLst>
          </p:cNvPr>
          <p:cNvCxnSpPr>
            <a:cxnSpLocks/>
          </p:cNvCxnSpPr>
          <p:nvPr/>
        </p:nvCxnSpPr>
        <p:spPr>
          <a:xfrm>
            <a:off x="2636322" y="5408048"/>
            <a:ext cx="6283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Computer with solid fill">
            <a:extLst>
              <a:ext uri="{FF2B5EF4-FFF2-40B4-BE49-F238E27FC236}">
                <a16:creationId xmlns:a16="http://schemas.microsoft.com/office/drawing/2014/main" id="{E58B2B0D-CEA7-F4BF-EA6B-B4BA96A51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928" y="2602877"/>
            <a:ext cx="471600" cy="471600"/>
          </a:xfrm>
          <a:prstGeom prst="rect">
            <a:avLst/>
          </a:prstGeom>
        </p:spPr>
      </p:pic>
      <p:pic>
        <p:nvPicPr>
          <p:cNvPr id="70" name="Graphic 69" descr="Blueprint outline">
            <a:extLst>
              <a:ext uri="{FF2B5EF4-FFF2-40B4-BE49-F238E27FC236}">
                <a16:creationId xmlns:a16="http://schemas.microsoft.com/office/drawing/2014/main" id="{0813D11D-123E-5E28-456F-842E8CBAA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7574" y="2560752"/>
            <a:ext cx="555336" cy="555336"/>
          </a:xfrm>
          <a:prstGeom prst="rect">
            <a:avLst/>
          </a:prstGeom>
        </p:spPr>
      </p:pic>
      <p:pic>
        <p:nvPicPr>
          <p:cNvPr id="72" name="Graphic 71" descr="List with solid fill">
            <a:extLst>
              <a:ext uri="{FF2B5EF4-FFF2-40B4-BE49-F238E27FC236}">
                <a16:creationId xmlns:a16="http://schemas.microsoft.com/office/drawing/2014/main" id="{980D43D3-89BF-4F44-E59D-AAED730E4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5416" y="2602877"/>
            <a:ext cx="471600" cy="471600"/>
          </a:xfrm>
          <a:prstGeom prst="rect">
            <a:avLst/>
          </a:prstGeom>
        </p:spPr>
      </p:pic>
      <p:pic>
        <p:nvPicPr>
          <p:cNvPr id="76" name="Graphic 75" descr="Excavator outline">
            <a:extLst>
              <a:ext uri="{FF2B5EF4-FFF2-40B4-BE49-F238E27FC236}">
                <a16:creationId xmlns:a16="http://schemas.microsoft.com/office/drawing/2014/main" id="{46595CB3-0BAA-E276-05AA-12C5A8E58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25828" y="2607976"/>
            <a:ext cx="471600" cy="471600"/>
          </a:xfrm>
          <a:prstGeom prst="rect">
            <a:avLst/>
          </a:prstGeom>
        </p:spPr>
      </p:pic>
      <p:pic>
        <p:nvPicPr>
          <p:cNvPr id="78" name="Graphic 77" descr="Construction Barricade outline">
            <a:extLst>
              <a:ext uri="{FF2B5EF4-FFF2-40B4-BE49-F238E27FC236}">
                <a16:creationId xmlns:a16="http://schemas.microsoft.com/office/drawing/2014/main" id="{2247849A-361B-1F26-476D-912F5A2C3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7624" y="2597050"/>
            <a:ext cx="471600" cy="471600"/>
          </a:xfrm>
          <a:prstGeom prst="rect">
            <a:avLst/>
          </a:prstGeom>
        </p:spPr>
      </p:pic>
      <p:pic>
        <p:nvPicPr>
          <p:cNvPr id="82" name="Graphic 81" descr="Building Brick Wall outline">
            <a:extLst>
              <a:ext uri="{FF2B5EF4-FFF2-40B4-BE49-F238E27FC236}">
                <a16:creationId xmlns:a16="http://schemas.microsoft.com/office/drawing/2014/main" id="{781C7AB8-60C7-0B68-C92A-5042A380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5218" y="2597050"/>
            <a:ext cx="471600" cy="471600"/>
          </a:xfrm>
          <a:prstGeom prst="rect">
            <a:avLst/>
          </a:prstGeom>
        </p:spPr>
      </p:pic>
      <p:pic>
        <p:nvPicPr>
          <p:cNvPr id="84" name="Graphic 83" descr="Puzzle pieces outline">
            <a:extLst>
              <a:ext uri="{FF2B5EF4-FFF2-40B4-BE49-F238E27FC236}">
                <a16:creationId xmlns:a16="http://schemas.microsoft.com/office/drawing/2014/main" id="{F27B805D-7497-4A84-D6F2-0C3B71EEB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0527" y="2604057"/>
            <a:ext cx="471600" cy="471600"/>
          </a:xfrm>
          <a:prstGeom prst="rect">
            <a:avLst/>
          </a:prstGeom>
        </p:spPr>
      </p:pic>
      <p:pic>
        <p:nvPicPr>
          <p:cNvPr id="86" name="Graphic 85" descr="Dump truck outline">
            <a:extLst>
              <a:ext uri="{FF2B5EF4-FFF2-40B4-BE49-F238E27FC236}">
                <a16:creationId xmlns:a16="http://schemas.microsoft.com/office/drawing/2014/main" id="{42CF636E-7E84-0E66-27A3-C1DD1E452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3383" y="2624695"/>
            <a:ext cx="471600" cy="471600"/>
          </a:xfrm>
          <a:prstGeom prst="rect">
            <a:avLst/>
          </a:prstGeom>
        </p:spPr>
      </p:pic>
      <p:pic>
        <p:nvPicPr>
          <p:cNvPr id="88" name="Graphic 87" descr="Key outline">
            <a:extLst>
              <a:ext uri="{FF2B5EF4-FFF2-40B4-BE49-F238E27FC236}">
                <a16:creationId xmlns:a16="http://schemas.microsoft.com/office/drawing/2014/main" id="{426CFA95-69DD-CF6C-5BC9-5EDA91E52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99572" y="2604057"/>
            <a:ext cx="471600" cy="471600"/>
          </a:xfrm>
          <a:prstGeom prst="rect">
            <a:avLst/>
          </a:prstGeom>
        </p:spPr>
      </p:pic>
      <p:pic>
        <p:nvPicPr>
          <p:cNvPr id="90" name="Graphic 89" descr="Modern architecture outline">
            <a:extLst>
              <a:ext uri="{FF2B5EF4-FFF2-40B4-BE49-F238E27FC236}">
                <a16:creationId xmlns:a16="http://schemas.microsoft.com/office/drawing/2014/main" id="{2A419F09-0D54-F956-75AC-7F00A8298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00327" y="2605981"/>
            <a:ext cx="471600" cy="471600"/>
          </a:xfrm>
          <a:prstGeom prst="rect">
            <a:avLst/>
          </a:prstGeom>
        </p:spPr>
      </p:pic>
      <p:pic>
        <p:nvPicPr>
          <p:cNvPr id="92" name="Graphic 91" descr="Remote work outline">
            <a:extLst>
              <a:ext uri="{FF2B5EF4-FFF2-40B4-BE49-F238E27FC236}">
                <a16:creationId xmlns:a16="http://schemas.microsoft.com/office/drawing/2014/main" id="{54F8A84E-95C8-72F9-9F91-849CDD7FF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51650" y="2600266"/>
            <a:ext cx="471600" cy="471600"/>
          </a:xfrm>
          <a:prstGeom prst="rect">
            <a:avLst/>
          </a:prstGeom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24E68BE-6A56-1CDE-40E9-B1FA04414092}"/>
              </a:ext>
            </a:extLst>
          </p:cNvPr>
          <p:cNvCxnSpPr>
            <a:cxnSpLocks/>
          </p:cNvCxnSpPr>
          <p:nvPr/>
        </p:nvCxnSpPr>
        <p:spPr>
          <a:xfrm flipV="1">
            <a:off x="847191" y="2377171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63CCD6F-654A-69F5-C48B-56D884206459}"/>
              </a:ext>
            </a:extLst>
          </p:cNvPr>
          <p:cNvSpPr txBox="1"/>
          <p:nvPr/>
        </p:nvSpPr>
        <p:spPr>
          <a:xfrm>
            <a:off x="244232" y="1953620"/>
            <a:ext cx="1124003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ПО и технологии</a:t>
            </a:r>
            <a:endParaRPr lang="en-KZ" sz="120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CF4BCF6-0727-FD99-B35E-A8B0C56AECAA}"/>
              </a:ext>
            </a:extLst>
          </p:cNvPr>
          <p:cNvCxnSpPr>
            <a:cxnSpLocks/>
          </p:cNvCxnSpPr>
          <p:nvPr/>
        </p:nvCxnSpPr>
        <p:spPr>
          <a:xfrm flipV="1">
            <a:off x="2215242" y="2377171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92DCACC9-E227-48EB-67DD-1A228D36A685}"/>
              </a:ext>
            </a:extLst>
          </p:cNvPr>
          <p:cNvSpPr txBox="1"/>
          <p:nvPr/>
        </p:nvSpPr>
        <p:spPr>
          <a:xfrm>
            <a:off x="1607232" y="1953620"/>
            <a:ext cx="1216019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Дизайн и инжиниринг</a:t>
            </a:r>
            <a:endParaRPr lang="en-KZ" sz="1200" err="1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B480047-9C14-07D0-8039-E483A5F3BB58}"/>
              </a:ext>
            </a:extLst>
          </p:cNvPr>
          <p:cNvCxnSpPr>
            <a:cxnSpLocks/>
          </p:cNvCxnSpPr>
          <p:nvPr/>
        </p:nvCxnSpPr>
        <p:spPr>
          <a:xfrm flipV="1">
            <a:off x="3583294" y="2377171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6B3D11A-159D-364F-F97E-FFD6E550B1A9}"/>
              </a:ext>
            </a:extLst>
          </p:cNvPr>
          <p:cNvCxnSpPr>
            <a:cxnSpLocks/>
          </p:cNvCxnSpPr>
          <p:nvPr/>
        </p:nvCxnSpPr>
        <p:spPr>
          <a:xfrm flipV="1">
            <a:off x="4951346" y="2377171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6086DC9-347D-17C7-437B-15D7C1C33135}"/>
              </a:ext>
            </a:extLst>
          </p:cNvPr>
          <p:cNvCxnSpPr>
            <a:cxnSpLocks/>
          </p:cNvCxnSpPr>
          <p:nvPr/>
        </p:nvCxnSpPr>
        <p:spPr>
          <a:xfrm flipV="1">
            <a:off x="6319398" y="2377171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ABAD8D9-18B5-D76A-9836-C13B9A01F5DD}"/>
              </a:ext>
            </a:extLst>
          </p:cNvPr>
          <p:cNvCxnSpPr>
            <a:cxnSpLocks/>
          </p:cNvCxnSpPr>
          <p:nvPr/>
        </p:nvCxnSpPr>
        <p:spPr>
          <a:xfrm flipV="1">
            <a:off x="7687450" y="2377171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CE9CCC9-DDD0-C9AE-3983-A7E93263467C}"/>
              </a:ext>
            </a:extLst>
          </p:cNvPr>
          <p:cNvSpPr txBox="1"/>
          <p:nvPr/>
        </p:nvSpPr>
        <p:spPr>
          <a:xfrm>
            <a:off x="2924738" y="1958881"/>
            <a:ext cx="1346801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Производство компонентов</a:t>
            </a:r>
            <a:endParaRPr lang="en-KZ" sz="1200" err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CFBAD22-F198-9530-5469-AA7593065FC8}"/>
              </a:ext>
            </a:extLst>
          </p:cNvPr>
          <p:cNvSpPr txBox="1"/>
          <p:nvPr/>
        </p:nvSpPr>
        <p:spPr>
          <a:xfrm>
            <a:off x="4318064" y="1953620"/>
            <a:ext cx="1266563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Дистрибуция и логистика</a:t>
            </a:r>
            <a:endParaRPr lang="en-KZ" sz="12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D9F16BA-BD91-A661-24E7-39AA71A9125A}"/>
              </a:ext>
            </a:extLst>
          </p:cNvPr>
          <p:cNvSpPr txBox="1"/>
          <p:nvPr/>
        </p:nvSpPr>
        <p:spPr>
          <a:xfrm>
            <a:off x="5652102" y="1953620"/>
            <a:ext cx="1368050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/>
              <a:t>Off-site</a:t>
            </a:r>
            <a:r>
              <a:rPr lang="ru-RU" sz="1200"/>
              <a:t>  строительство</a:t>
            </a:r>
            <a:endParaRPr lang="en-KZ" sz="1200" err="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EB0A200-693B-CF10-156D-4600D12FBCD9}"/>
              </a:ext>
            </a:extLst>
          </p:cNvPr>
          <p:cNvSpPr txBox="1"/>
          <p:nvPr/>
        </p:nvSpPr>
        <p:spPr>
          <a:xfrm>
            <a:off x="7125559" y="1953620"/>
            <a:ext cx="1124003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Операции с недв.</a:t>
            </a:r>
            <a:endParaRPr lang="en-KZ" sz="120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38C0007-2F2F-EB14-CFE7-2FC7984E7C55}"/>
              </a:ext>
            </a:extLst>
          </p:cNvPr>
          <p:cNvCxnSpPr>
            <a:cxnSpLocks/>
          </p:cNvCxnSpPr>
          <p:nvPr/>
        </p:nvCxnSpPr>
        <p:spPr>
          <a:xfrm flipV="1">
            <a:off x="1531216" y="3141397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BDB1EE6-9DD4-1985-E6D2-1BD8CAD40116}"/>
              </a:ext>
            </a:extLst>
          </p:cNvPr>
          <p:cNvCxnSpPr>
            <a:cxnSpLocks/>
          </p:cNvCxnSpPr>
          <p:nvPr/>
        </p:nvCxnSpPr>
        <p:spPr>
          <a:xfrm flipV="1">
            <a:off x="2899268" y="3141397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E071C43-D5B0-A0C3-DA92-E9AD06DEDE43}"/>
              </a:ext>
            </a:extLst>
          </p:cNvPr>
          <p:cNvCxnSpPr>
            <a:cxnSpLocks/>
          </p:cNvCxnSpPr>
          <p:nvPr/>
        </p:nvCxnSpPr>
        <p:spPr>
          <a:xfrm flipV="1">
            <a:off x="4267320" y="3141397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63E0477-9C2A-D8CA-FDEF-6F0B93CCE54D}"/>
              </a:ext>
            </a:extLst>
          </p:cNvPr>
          <p:cNvCxnSpPr>
            <a:cxnSpLocks/>
          </p:cNvCxnSpPr>
          <p:nvPr/>
        </p:nvCxnSpPr>
        <p:spPr>
          <a:xfrm flipV="1">
            <a:off x="5635372" y="3141397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1F4DF77-7957-6206-DE5C-C8D918C84455}"/>
              </a:ext>
            </a:extLst>
          </p:cNvPr>
          <p:cNvCxnSpPr>
            <a:cxnSpLocks/>
          </p:cNvCxnSpPr>
          <p:nvPr/>
        </p:nvCxnSpPr>
        <p:spPr>
          <a:xfrm flipV="1">
            <a:off x="7003424" y="3141397"/>
            <a:ext cx="0" cy="160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9BE1D94-92D8-F407-F345-5191B78DC04B}"/>
              </a:ext>
            </a:extLst>
          </p:cNvPr>
          <p:cNvSpPr txBox="1"/>
          <p:nvPr/>
        </p:nvSpPr>
        <p:spPr>
          <a:xfrm>
            <a:off x="828351" y="3276648"/>
            <a:ext cx="1403104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Девелопмент и планирование</a:t>
            </a:r>
            <a:endParaRPr lang="en-KZ" sz="1200" err="1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681030-4927-B40B-EEEA-19C5C0A0DE17}"/>
              </a:ext>
            </a:extLst>
          </p:cNvPr>
          <p:cNvSpPr txBox="1"/>
          <p:nvPr/>
        </p:nvSpPr>
        <p:spPr>
          <a:xfrm>
            <a:off x="2222129" y="3276648"/>
            <a:ext cx="1342775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Производство материалов </a:t>
            </a:r>
            <a:endParaRPr lang="en-KZ" sz="1200" err="1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78D48CC-EF9F-AD6D-DCE8-7B33DF88023D}"/>
              </a:ext>
            </a:extLst>
          </p:cNvPr>
          <p:cNvSpPr txBox="1"/>
          <p:nvPr/>
        </p:nvSpPr>
        <p:spPr>
          <a:xfrm>
            <a:off x="3608764" y="3281909"/>
            <a:ext cx="1346801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Производство оборудования</a:t>
            </a:r>
            <a:endParaRPr lang="en-KZ" sz="12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0AB2390-5D2E-9796-99D1-2ECE079806B9}"/>
              </a:ext>
            </a:extLst>
          </p:cNvPr>
          <p:cNvSpPr txBox="1"/>
          <p:nvPr/>
        </p:nvSpPr>
        <p:spPr>
          <a:xfrm>
            <a:off x="4966190" y="3276648"/>
            <a:ext cx="1346800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Аренда оборудования</a:t>
            </a:r>
            <a:endParaRPr lang="en-KZ" sz="1200" err="1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1505437-DAF6-31FF-132C-79481462233E}"/>
              </a:ext>
            </a:extLst>
          </p:cNvPr>
          <p:cNvSpPr txBox="1"/>
          <p:nvPr/>
        </p:nvSpPr>
        <p:spPr>
          <a:xfrm>
            <a:off x="6161860" y="3276648"/>
            <a:ext cx="1716584" cy="436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1200"/>
              <a:t>Строительство </a:t>
            </a:r>
            <a:r>
              <a:rPr lang="ru-RU" sz="1100" i="1"/>
              <a:t>(подрядчик и </a:t>
            </a:r>
            <a:r>
              <a:rPr lang="ru-RU" sz="1100" i="1" err="1"/>
              <a:t>суб</a:t>
            </a:r>
            <a:r>
              <a:rPr lang="ru-RU" sz="1100" i="1"/>
              <a:t>.)</a:t>
            </a:r>
            <a:endParaRPr lang="en-KZ" sz="1200" i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4D0605-3A15-1E86-E802-953502EFCC90}"/>
              </a:ext>
            </a:extLst>
          </p:cNvPr>
          <p:cNvSpPr txBox="1"/>
          <p:nvPr/>
        </p:nvSpPr>
        <p:spPr>
          <a:xfrm>
            <a:off x="4988656" y="5963181"/>
            <a:ext cx="151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/>
              <a:t>Инфраструктура</a:t>
            </a:r>
            <a:endParaRPr lang="en-KZ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8D1479-8A25-0EDE-889A-14AC7FEBAFE0}"/>
              </a:ext>
            </a:extLst>
          </p:cNvPr>
          <p:cNvSpPr txBox="1"/>
          <p:nvPr/>
        </p:nvSpPr>
        <p:spPr>
          <a:xfrm>
            <a:off x="6554951" y="5958633"/>
            <a:ext cx="1286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/>
              <a:t>Пром. объекты</a:t>
            </a:r>
            <a:endParaRPr lang="en-KZ" sz="1000"/>
          </a:p>
        </p:txBody>
      </p:sp>
      <p:sp>
        <p:nvSpPr>
          <p:cNvPr id="18" name="Дата 17">
            <a:extLst>
              <a:ext uri="{FF2B5EF4-FFF2-40B4-BE49-F238E27FC236}">
                <a16:creationId xmlns:a16="http://schemas.microsoft.com/office/drawing/2014/main" id="{DE0BC21A-05B1-51C6-CBDB-EB036934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6E9A-B54B-BB42-94C9-18E7BA106BB8}" type="datetime1">
              <a:rPr lang="en-US" smtClean="0"/>
              <a:t>4/2/26</a:t>
            </a:fld>
            <a:endParaRPr lang="x-non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7DC818-DD9C-3485-A312-FC1E7225E298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34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B35336A5-FC46-D63B-5929-00217DCBAAA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35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8DCA5AFE-B46E-0D2A-BCF4-25A19B73724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174132-A35C-F729-1980-9111DC31BF0D}"/>
              </a:ext>
            </a:extLst>
          </p:cNvPr>
          <p:cNvSpPr txBox="1"/>
          <p:nvPr/>
        </p:nvSpPr>
        <p:spPr>
          <a:xfrm>
            <a:off x="3619567" y="5968249"/>
            <a:ext cx="1311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/>
              <a:t>Недвижимость</a:t>
            </a:r>
            <a:endParaRPr lang="en-KZ" sz="1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C58C22-FB3D-33FB-745D-ED85C900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2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228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1117-5E71-7244-51AB-F1B0DE06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70131718-DF48-69B0-C506-9C68057C7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05561"/>
              </p:ext>
            </p:extLst>
          </p:nvPr>
        </p:nvGraphicFramePr>
        <p:xfrm>
          <a:off x="275157" y="1448558"/>
          <a:ext cx="11637447" cy="3675898"/>
        </p:xfrm>
        <a:graphic>
          <a:graphicData uri="http://schemas.openxmlformats.org/drawingml/2006/table">
            <a:tbl>
              <a:tblPr firstRow="1"/>
              <a:tblGrid>
                <a:gridCol w="1628947">
                  <a:extLst>
                    <a:ext uri="{9D8B030D-6E8A-4147-A177-3AD203B41FA5}">
                      <a16:colId xmlns:a16="http://schemas.microsoft.com/office/drawing/2014/main" val="361745517"/>
                    </a:ext>
                  </a:extLst>
                </a:gridCol>
                <a:gridCol w="2502125">
                  <a:extLst>
                    <a:ext uri="{9D8B030D-6E8A-4147-A177-3AD203B41FA5}">
                      <a16:colId xmlns:a16="http://schemas.microsoft.com/office/drawing/2014/main" val="504911059"/>
                    </a:ext>
                  </a:extLst>
                </a:gridCol>
                <a:gridCol w="2502125">
                  <a:extLst>
                    <a:ext uri="{9D8B030D-6E8A-4147-A177-3AD203B41FA5}">
                      <a16:colId xmlns:a16="http://schemas.microsoft.com/office/drawing/2014/main" val="2000911816"/>
                    </a:ext>
                  </a:extLst>
                </a:gridCol>
                <a:gridCol w="2502125">
                  <a:extLst>
                    <a:ext uri="{9D8B030D-6E8A-4147-A177-3AD203B41FA5}">
                      <a16:colId xmlns:a16="http://schemas.microsoft.com/office/drawing/2014/main" val="995763216"/>
                    </a:ext>
                  </a:extLst>
                </a:gridCol>
                <a:gridCol w="2502125">
                  <a:extLst>
                    <a:ext uri="{9D8B030D-6E8A-4147-A177-3AD203B41FA5}">
                      <a16:colId xmlns:a16="http://schemas.microsoft.com/office/drawing/2014/main" val="151977691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72000" algn="ctr" fontAlgn="ctr"/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До индустриализации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Индустриализация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ХХ век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Наше время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33788"/>
                  </a:ext>
                </a:extLst>
              </a:tr>
              <a:tr h="603220"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/>
                        <a:t>Главное</a:t>
                      </a:r>
                      <a:endParaRPr lang="en-US" sz="11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/>
                        <a:t>Основная цель – </a:t>
                      </a:r>
                      <a:r>
                        <a:rPr lang="ru-RU" sz="1100" b="1"/>
                        <a:t>укрытие</a:t>
                      </a:r>
                      <a:r>
                        <a:rPr lang="ru-RU" sz="1100"/>
                        <a:t> от природных явлений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/>
                        <a:t>Рост спроса </a:t>
                      </a:r>
                      <a:r>
                        <a:rPr lang="ru-RU" sz="1100"/>
                        <a:t>на жилье и инфраструктуру</a:t>
                      </a:r>
                      <a:endParaRPr lang="ru-RU" sz="1050" i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/>
                        <a:t>Строительство </a:t>
                      </a:r>
                      <a:r>
                        <a:rPr lang="ru-RU" sz="1100" b="1"/>
                        <a:t>современных мегаполисов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/>
                        <a:t>Технологии, устойчивость и цифровизация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424438"/>
                  </a:ext>
                </a:extLst>
              </a:tr>
              <a:tr h="1673065"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/>
                        <a:t>Ключевые характеристики</a:t>
                      </a:r>
                      <a:endParaRPr lang="en-US" sz="11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algn="just">
                        <a:buFont typeface="Wingdings" pitchFamily="2" charset="2"/>
                        <a:buChar char="§"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 noProof="0"/>
                        <a:t>ручное строительство</a:t>
                      </a:r>
                    </a:p>
                    <a:p>
                      <a:pPr marL="180000" indent="-180000" algn="just">
                        <a:buFont typeface="Wingdings" pitchFamily="2" charset="2"/>
                        <a:buChar char="§"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 noProof="0"/>
                        <a:t>местные материалы</a:t>
                      </a:r>
                    </a:p>
                    <a:p>
                      <a:pPr marL="180000" indent="-180000" algn="just">
                        <a:buFont typeface="Wingdings" pitchFamily="2" charset="2"/>
                        <a:buChar char="§"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 noProof="0"/>
                        <a:t>долгий процесс</a:t>
                      </a:r>
                    </a:p>
                    <a:p>
                      <a:pPr marL="180000" indent="-180000" algn="just">
                        <a:buFont typeface="Wingdings" pitchFamily="2" charset="2"/>
                        <a:buChar char="§"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 noProof="0"/>
                        <a:t>считалось ремеслом</a:t>
                      </a:r>
                    </a:p>
                    <a:p>
                      <a:pPr marL="180000" indent="-180000" algn="just">
                        <a:buFont typeface="Wingdings" pitchFamily="2" charset="2"/>
                        <a:buChar char="§"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 noProof="0"/>
                        <a:t>основные проекты – </a:t>
                      </a:r>
                      <a:r>
                        <a:rPr lang="ru-RU" sz="1100" b="1" noProof="0"/>
                        <a:t>защитные</a:t>
                      </a:r>
                      <a:r>
                        <a:rPr lang="ru-RU" sz="1100" noProof="0"/>
                        <a:t> и </a:t>
                      </a:r>
                      <a:r>
                        <a:rPr lang="ru-RU" sz="1100" b="1" noProof="0"/>
                        <a:t>религиозные</a:t>
                      </a:r>
                      <a:r>
                        <a:rPr lang="ru-RU" sz="1100" noProof="0"/>
                        <a:t> сооружения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прокладка</a:t>
                      </a:r>
                      <a:r>
                        <a:rPr lang="ru-RU" sz="1100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дорог, труб и каналов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>
                          <a:solidFill>
                            <a:prstClr val="black"/>
                          </a:solidFill>
                          <a:latin typeface="+mn-lt"/>
                        </a:rPr>
                        <a:t>промышленное производство материалов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использование машин и оборудования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>
                          <a:solidFill>
                            <a:prstClr val="black"/>
                          </a:solidFill>
                          <a:latin typeface="+mn-lt"/>
                        </a:rPr>
                        <a:t>градостроительные нормы</a:t>
                      </a:r>
                      <a:r>
                        <a:rPr lang="en-US" sz="1100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r>
                        <a:rPr lang="en-US" sz="1050" i="1">
                          <a:solidFill>
                            <a:prstClr val="black"/>
                          </a:solidFill>
                          <a:latin typeface="+mn-lt"/>
                        </a:rPr>
                        <a:t>(</a:t>
                      </a:r>
                      <a:r>
                        <a:rPr lang="ru-RU" sz="1050" i="1">
                          <a:solidFill>
                            <a:prstClr val="black"/>
                          </a:solidFill>
                          <a:latin typeface="+mn-lt"/>
                        </a:rPr>
                        <a:t>в ответ на пожары)</a:t>
                      </a:r>
                      <a:endParaRPr kumimoji="0" lang="ru-RU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использование тяжелой техники</a:t>
                      </a:r>
                      <a:r>
                        <a:rPr lang="ru-RU" sz="1100">
                          <a:solidFill>
                            <a:prstClr val="black"/>
                          </a:solidFill>
                          <a:latin typeface="+mn-lt"/>
                        </a:rPr>
                        <a:t>, </a:t>
                      </a: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кранов и лифтов</a:t>
                      </a:r>
                      <a:endParaRPr kumimoji="0" lang="ru-RU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>
                          <a:solidFill>
                            <a:prstClr val="black"/>
                          </a:solidFill>
                          <a:latin typeface="+mn-lt"/>
                        </a:rPr>
                        <a:t>первые типовые дома, офисы, ТРЦ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развитие ипотеки и др.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lang="ru-RU" sz="1100">
                          <a:solidFill>
                            <a:prstClr val="black"/>
                          </a:solidFill>
                          <a:latin typeface="+mn-lt"/>
                        </a:rPr>
                        <a:t>глобализация рынка недвижимости</a:t>
                      </a:r>
                      <a:endParaRPr lang="ru-RU" sz="1100" b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перемены в потребительских предпочтениях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«умные дома»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цифровые двойники зданий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модульное строительство</a:t>
                      </a:r>
                    </a:p>
                    <a:p>
                      <a:pPr marL="180000" marR="0" lvl="0" indent="-18000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 sz="1800" b="0" i="0" u="none" strike="noStrike" kern="1200" spc="0" baseline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экологичность и устойчивое развитие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987720"/>
                  </a:ext>
                </a:extLst>
              </a:tr>
              <a:tr h="1093613"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/>
                        <a:t>Влияние на отрасль</a:t>
                      </a:r>
                      <a:endParaRPr lang="en-US" sz="11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/>
                        <a:t>Большую часть истории строительство оставалось </a:t>
                      </a:r>
                      <a:r>
                        <a:rPr lang="ru-RU" sz="1100" b="1"/>
                        <a:t>примитивным</a:t>
                      </a:r>
                      <a:r>
                        <a:rPr lang="ru-RU" sz="1100"/>
                        <a:t>, города – сравнительно </a:t>
                      </a:r>
                      <a:r>
                        <a:rPr lang="ru-RU" sz="1100" b="1"/>
                        <a:t>небольшими</a:t>
                      </a:r>
                      <a:r>
                        <a:rPr lang="ru-RU" sz="1100"/>
                        <a:t>, а спрос – </a:t>
                      </a:r>
                      <a:r>
                        <a:rPr lang="ru-RU" sz="1100" b="1"/>
                        <a:t>рассредоточенным</a:t>
                      </a:r>
                      <a:endParaRPr lang="ru-RU" sz="11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/>
                        <a:t>Рост городского населения. </a:t>
                      </a:r>
                      <a:r>
                        <a:rPr lang="ru-RU" sz="1100" b="1"/>
                        <a:t>Индустриализация</a:t>
                      </a:r>
                      <a:r>
                        <a:rPr lang="ru-RU" sz="1100"/>
                        <a:t> повышает  </a:t>
                      </a:r>
                      <a:r>
                        <a:rPr lang="ru-RU" sz="1100" b="1"/>
                        <a:t>продуктивность</a:t>
                      </a:r>
                      <a:r>
                        <a:rPr lang="ru-RU" sz="1100"/>
                        <a:t> </a:t>
                      </a:r>
                      <a:r>
                        <a:rPr lang="ru-RU" sz="1100" b="1"/>
                        <a:t>отрасли</a:t>
                      </a:r>
                      <a:r>
                        <a:rPr lang="ru-RU" sz="1100"/>
                        <a:t> и создает </a:t>
                      </a:r>
                      <a:r>
                        <a:rPr lang="ru-RU" sz="1100" b="1"/>
                        <a:t>спрос</a:t>
                      </a:r>
                      <a:r>
                        <a:rPr lang="ru-RU" sz="1100"/>
                        <a:t>. Возникновение скученности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100" b="1"/>
                        <a:t>Рост городов </a:t>
                      </a:r>
                      <a:r>
                        <a:rPr lang="ru-RU" sz="1100"/>
                        <a:t>и их </a:t>
                      </a:r>
                      <a:r>
                        <a:rPr lang="ru-RU" sz="1100" b="1"/>
                        <a:t>эффективности.</a:t>
                      </a:r>
                      <a:r>
                        <a:rPr lang="ru-RU" sz="1100"/>
                        <a:t> </a:t>
                      </a:r>
                      <a:r>
                        <a:rPr lang="ru-RU" sz="1100" b="1"/>
                        <a:t>Глобализация</a:t>
                      </a:r>
                      <a:r>
                        <a:rPr lang="ru-RU" sz="1100"/>
                        <a:t> отрасли. Развитые страны </a:t>
                      </a:r>
                      <a:r>
                        <a:rPr lang="ru-RU" sz="1100" b="1"/>
                        <a:t>решают проблемы скученности</a:t>
                      </a:r>
                      <a:endParaRPr lang="ru-RU" sz="11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100" b="1"/>
                        <a:t>Стагнация</a:t>
                      </a:r>
                      <a:r>
                        <a:rPr lang="ru-RU" sz="1100"/>
                        <a:t> продуктивности в отрасли. Развитие </a:t>
                      </a:r>
                      <a:r>
                        <a:rPr lang="ru-RU" sz="1100" b="1"/>
                        <a:t>новых</a:t>
                      </a:r>
                      <a:r>
                        <a:rPr lang="ru-RU" sz="1100"/>
                        <a:t> </a:t>
                      </a:r>
                      <a:r>
                        <a:rPr lang="ru-RU" sz="1100" b="1"/>
                        <a:t>технологий</a:t>
                      </a:r>
                      <a:r>
                        <a:rPr lang="ru-RU" sz="1100"/>
                        <a:t>. Рост разрывов </a:t>
                      </a:r>
                      <a:r>
                        <a:rPr lang="ru-RU" sz="1100" b="1"/>
                        <a:t>между</a:t>
                      </a:r>
                      <a:r>
                        <a:rPr lang="ru-RU" sz="1100"/>
                        <a:t> </a:t>
                      </a:r>
                      <a:r>
                        <a:rPr lang="ru-RU" sz="1100" b="1"/>
                        <a:t>развитыми</a:t>
                      </a:r>
                      <a:r>
                        <a:rPr lang="ru-RU" sz="1100"/>
                        <a:t> и </a:t>
                      </a:r>
                      <a:r>
                        <a:rPr lang="ru-RU" sz="1100" b="1"/>
                        <a:t>развивающимися </a:t>
                      </a:r>
                      <a:r>
                        <a:rPr lang="ru-RU" sz="1100"/>
                        <a:t>странами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5077"/>
                  </a:ext>
                </a:extLst>
              </a:tr>
            </a:tbl>
          </a:graphicData>
        </a:graphic>
      </p:graphicFrame>
      <p:sp>
        <p:nvSpPr>
          <p:cNvPr id="19" name="Title 8">
            <a:extLst>
              <a:ext uri="{FF2B5EF4-FFF2-40B4-BE49-F238E27FC236}">
                <a16:creationId xmlns:a16="http://schemas.microsoft.com/office/drawing/2014/main" id="{3B8818E2-5F6B-6BB6-A9B5-655243FD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9" y="159862"/>
            <a:ext cx="11115675" cy="830738"/>
          </a:xfrm>
        </p:spPr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логика развития</a:t>
            </a:r>
            <a:endParaRPr lang="ru-KZ" sz="3200" i="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164BE4-C15E-4398-FDFD-8BB15451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E99D-132F-A54C-AD25-EBB86B085007}" type="datetime1">
              <a:rPr lang="en-US" smtClean="0"/>
              <a:t>4/2/26</a:t>
            </a:fld>
            <a:endParaRPr lang="x-none"/>
          </a:p>
        </p:txBody>
      </p:sp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827FF2C0-E324-BA4C-0606-4C532E163193}"/>
              </a:ext>
            </a:extLst>
          </p:cNvPr>
          <p:cNvSpPr/>
          <p:nvPr/>
        </p:nvSpPr>
        <p:spPr>
          <a:xfrm>
            <a:off x="244233" y="5300564"/>
            <a:ext cx="11681519" cy="921225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Перспективы отрасли тесно связаны </a:t>
            </a:r>
            <a:r>
              <a:rPr lang="ru-RU" sz="1200" b="1"/>
              <a:t>с развитием городов </a:t>
            </a:r>
            <a:r>
              <a:rPr lang="ru-RU" sz="1200"/>
              <a:t>– они источники изначального роста и долгосрочного спроса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Города будут расти </a:t>
            </a:r>
            <a:r>
              <a:rPr lang="ru-RU" sz="1200" b="1"/>
              <a:t>там, где будет расти экономика, </a:t>
            </a:r>
            <a:r>
              <a:rPr lang="ru-RU" sz="1200"/>
              <a:t>но для этого требуются </a:t>
            </a:r>
            <a:r>
              <a:rPr lang="ru-RU" sz="1200" b="1"/>
              <a:t>эффективные институты </a:t>
            </a:r>
            <a:r>
              <a:rPr lang="ru-RU" sz="1100" i="1"/>
              <a:t>(рынки земли, исполнение договоров) </a:t>
            </a:r>
            <a:r>
              <a:rPr lang="ru-RU" sz="1200"/>
              <a:t>и </a:t>
            </a:r>
            <a:r>
              <a:rPr lang="ru-RU" sz="1200" b="1"/>
              <a:t>гибкое регулирование</a:t>
            </a:r>
            <a:endParaRPr lang="ru-RU" sz="1200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Именно поэтому многие города в развивающихся странах отстали от глобальных мегаполисов развитых стран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F216D-752B-9D0E-E9CA-EEA9F9B5ED7E}"/>
              </a:ext>
            </a:extLst>
          </p:cNvPr>
          <p:cNvSpPr txBox="1"/>
          <p:nvPr/>
        </p:nvSpPr>
        <p:spPr>
          <a:xfrm>
            <a:off x="428882" y="6271197"/>
            <a:ext cx="41046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Источники: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Университет Роуэна, Всемирный Банк</a:t>
            </a:r>
            <a:endParaRPr lang="en-US" sz="10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03119-7B4C-BB29-273A-ED5A3E7CB7ED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8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3FDCF53C-0533-DC15-53D8-A0848A6DE26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9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DEBB1F66-63FB-76A4-E2FB-8254131998D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B2B62-831D-13B7-4D2A-A1185569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3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582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4A1B-8CFE-BA17-9B59-3D4A742A1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583DD90D-B01E-C896-D409-0A8E1F13E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914356"/>
              </p:ext>
            </p:extLst>
          </p:nvPr>
        </p:nvGraphicFramePr>
        <p:xfrm>
          <a:off x="275157" y="1448558"/>
          <a:ext cx="11637442" cy="4852017"/>
        </p:xfrm>
        <a:graphic>
          <a:graphicData uri="http://schemas.openxmlformats.org/drawingml/2006/table">
            <a:tbl>
              <a:tblPr firstRow="1"/>
              <a:tblGrid>
                <a:gridCol w="1865615">
                  <a:extLst>
                    <a:ext uri="{9D8B030D-6E8A-4147-A177-3AD203B41FA5}">
                      <a16:colId xmlns:a16="http://schemas.microsoft.com/office/drawing/2014/main" val="361745517"/>
                    </a:ext>
                  </a:extLst>
                </a:gridCol>
                <a:gridCol w="4797910">
                  <a:extLst>
                    <a:ext uri="{9D8B030D-6E8A-4147-A177-3AD203B41FA5}">
                      <a16:colId xmlns:a16="http://schemas.microsoft.com/office/drawing/2014/main" val="504911059"/>
                    </a:ext>
                  </a:extLst>
                </a:gridCol>
                <a:gridCol w="4973917">
                  <a:extLst>
                    <a:ext uri="{9D8B030D-6E8A-4147-A177-3AD203B41FA5}">
                      <a16:colId xmlns:a16="http://schemas.microsoft.com/office/drawing/2014/main" val="1519776917"/>
                    </a:ext>
                  </a:extLst>
                </a:gridCol>
              </a:tblGrid>
              <a:tr h="302337"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Факторы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Причины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Нюансы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33788"/>
                  </a:ext>
                </a:extLst>
              </a:tr>
              <a:tr h="1179111">
                <a:tc rowSpan="2"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Угроза появления заменителей </a:t>
                      </a:r>
                      <a:r>
                        <a:rPr lang="ru-RU" sz="1100" b="0" i="1">
                          <a:solidFill>
                            <a:schemeClr val="tx1"/>
                          </a:solidFill>
                        </a:rPr>
                        <a:t>(вторичный рынок и рынок аренды)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– умеренная</a:t>
                      </a: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Умеренное </a:t>
                      </a:r>
                      <a:r>
                        <a:rPr lang="ru-RU" sz="1200" b="0"/>
                        <a:t>влияние</a:t>
                      </a:r>
                      <a:r>
                        <a:rPr lang="ru-RU" sz="1200" b="1"/>
                        <a:t> вторичного рынка жилья </a:t>
                      </a:r>
                      <a:r>
                        <a:rPr lang="ru-RU" sz="1200" b="0"/>
                        <a:t>связано с зависимостью отрасли от </a:t>
                      </a:r>
                      <a:r>
                        <a:rPr lang="ru-RU" sz="1200" b="1"/>
                        <a:t>долгосрочного спроса </a:t>
                      </a:r>
                      <a:r>
                        <a:rPr lang="ru-RU" sz="1100" b="0" i="1"/>
                        <a:t>(размер пирога) </a:t>
                      </a:r>
                      <a:r>
                        <a:rPr lang="ru-RU" sz="1200"/>
                        <a:t>на </a:t>
                      </a:r>
                      <a:r>
                        <a:rPr lang="ru-RU" sz="1200" b="1"/>
                        <a:t>новое</a:t>
                      </a:r>
                      <a:r>
                        <a:rPr lang="ru-RU" sz="1200"/>
                        <a:t> строительство, который определяется </a:t>
                      </a:r>
                      <a:r>
                        <a:rPr lang="ru-RU" sz="1200" b="1"/>
                        <a:t>экономическим ростом, демографией и урбанизацией</a:t>
                      </a:r>
                      <a:r>
                        <a:rPr lang="ru-RU" sz="1200"/>
                        <a:t>. При его снижении вторичное жилье становится </a:t>
                      </a:r>
                      <a:r>
                        <a:rPr lang="ru-RU" sz="1200" b="1"/>
                        <a:t>привлекательнее</a:t>
                      </a:r>
                      <a:endParaRPr lang="ru-RU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 b="1"/>
                        <a:t>Расположение </a:t>
                      </a:r>
                      <a:r>
                        <a:rPr lang="ru-RU" sz="1200" b="0"/>
                        <a:t>–</a:t>
                      </a:r>
                      <a:r>
                        <a:rPr lang="ru-RU" sz="1200" b="1"/>
                        <a:t> </a:t>
                      </a:r>
                      <a:r>
                        <a:rPr lang="ru-RU" sz="1200" b="0"/>
                        <a:t>главное преимущество вторичного рынка,</a:t>
                      </a:r>
                      <a:r>
                        <a:rPr lang="ru-RU" sz="1200" b="1"/>
                        <a:t> </a:t>
                      </a:r>
                      <a:r>
                        <a:rPr lang="ru-RU" sz="1200" b="0"/>
                        <a:t>но часто требует </a:t>
                      </a:r>
                      <a:r>
                        <a:rPr lang="ru-RU" sz="1200" b="1"/>
                        <a:t>дополнительных</a:t>
                      </a:r>
                      <a:r>
                        <a:rPr lang="ru-RU" sz="1200" b="0"/>
                        <a:t> вложений</a:t>
                      </a:r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 b="0"/>
                        <a:t>В Казахстане </a:t>
                      </a:r>
                      <a:r>
                        <a:rPr lang="ru-RU" sz="1200" b="1"/>
                        <a:t>культурные нормы </a:t>
                      </a:r>
                      <a:r>
                        <a:rPr lang="ru-RU" sz="1200" b="0"/>
                        <a:t>ставят </a:t>
                      </a:r>
                      <a:r>
                        <a:rPr lang="ru-RU" sz="1200" b="1"/>
                        <a:t>владение</a:t>
                      </a:r>
                      <a:r>
                        <a:rPr lang="ru-RU" sz="1200" b="0"/>
                        <a:t> жильем </a:t>
                      </a:r>
                      <a:r>
                        <a:rPr lang="ru-RU" sz="1200" b="1"/>
                        <a:t>выше</a:t>
                      </a:r>
                      <a:r>
                        <a:rPr lang="ru-RU" sz="1200" b="0"/>
                        <a:t> аренды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038494"/>
                  </a:ext>
                </a:extLst>
              </a:tr>
              <a:tr h="709939">
                <a:tc vMerge="1"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Слабое</a:t>
                      </a:r>
                      <a:r>
                        <a:rPr lang="ru-RU" sz="1200"/>
                        <a:t> влияние </a:t>
                      </a:r>
                      <a:r>
                        <a:rPr lang="ru-RU" sz="1200" b="1"/>
                        <a:t>рынка аренды </a:t>
                      </a:r>
                      <a:r>
                        <a:rPr lang="ru-RU" sz="1200"/>
                        <a:t>как </a:t>
                      </a:r>
                      <a:r>
                        <a:rPr lang="ru-RU" sz="1200" b="1"/>
                        <a:t>функционального</a:t>
                      </a:r>
                      <a:r>
                        <a:rPr lang="ru-RU" sz="1200"/>
                        <a:t> заменителя первичного рынка обусловлено различиями </a:t>
                      </a:r>
                      <a:r>
                        <a:rPr lang="ru-RU" sz="1200" b="1"/>
                        <a:t>в целевых сегментах </a:t>
                      </a:r>
                      <a:r>
                        <a:rPr lang="ru-RU" sz="1100" b="0" i="1"/>
                        <a:t>(для покупки не хватает средств</a:t>
                      </a:r>
                      <a:r>
                        <a:rPr lang="ru-RU" sz="1100" i="1"/>
                        <a:t>)</a:t>
                      </a:r>
                      <a:endParaRPr lang="ru-RU" sz="1200" b="1" i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endParaRPr lang="ru-RU" sz="1200" b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699434"/>
                  </a:ext>
                </a:extLst>
              </a:tr>
              <a:tr h="634906">
                <a:tc rowSpan="4"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Рыночная власть поставщиков </a:t>
                      </a:r>
                      <a:r>
                        <a:rPr lang="ru-RU" sz="1100" b="0" i="1"/>
                        <a:t>(земли, стройматериалов, труда, подрядчиков) </a:t>
                      </a:r>
                      <a:r>
                        <a:rPr lang="ru-RU" sz="1200" b="1"/>
                        <a:t>–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умеренная</a:t>
                      </a: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Сильная </a:t>
                      </a:r>
                      <a:r>
                        <a:rPr lang="ru-RU" sz="1200"/>
                        <a:t>переговорная позиция владельцев </a:t>
                      </a:r>
                      <a:r>
                        <a:rPr lang="ru-RU" sz="1200" b="1"/>
                        <a:t>земельных участков </a:t>
                      </a:r>
                      <a:r>
                        <a:rPr lang="ru-RU" sz="1100" i="1"/>
                        <a:t>(ключевой ресурс) </a:t>
                      </a:r>
                      <a:r>
                        <a:rPr lang="ru-RU" sz="1200"/>
                        <a:t>– хорошая локация гарантирует высокую доходность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 b="1"/>
                        <a:t>Издержки регулирования</a:t>
                      </a:r>
                      <a:r>
                        <a:rPr lang="ru-RU" sz="1200"/>
                        <a:t> </a:t>
                      </a:r>
                      <a:r>
                        <a:rPr lang="ru-RU" sz="1100" i="1"/>
                        <a:t>(нормы, согласования)</a:t>
                      </a:r>
                      <a:endParaRPr lang="ru-RU" sz="1400"/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 b="1"/>
                        <a:t>Неэффективность рынков</a:t>
                      </a:r>
                      <a:endParaRPr lang="ru-RU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60410"/>
                  </a:ext>
                </a:extLst>
              </a:tr>
              <a:tr h="816309">
                <a:tc vMerge="1">
                  <a:txBody>
                    <a:bodyPr/>
                    <a:lstStyle/>
                    <a:p>
                      <a:pPr marL="72000" algn="just" fontAlgn="ctr"/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Относительно сильная </a:t>
                      </a:r>
                      <a:r>
                        <a:rPr lang="ru-RU" sz="1200"/>
                        <a:t>переговорная позиция поставщиков </a:t>
                      </a:r>
                      <a:r>
                        <a:rPr lang="ru-RU" sz="1200" b="1"/>
                        <a:t>стройматериалов</a:t>
                      </a:r>
                      <a:r>
                        <a:rPr lang="ru-RU" sz="1200"/>
                        <a:t> – их сравнительная малочисленность при преобладании материалов в стоимости проектов</a:t>
                      </a:r>
                      <a:r>
                        <a:rPr lang="ru-RU" sz="1100" i="1"/>
                        <a:t> (</a:t>
                      </a:r>
                      <a:r>
                        <a:rPr lang="en-KZ" sz="1100" i="1"/>
                        <a:t>≈5</a:t>
                      </a:r>
                      <a:r>
                        <a:rPr lang="ru-RU" sz="1100" i="1"/>
                        <a:t>0</a:t>
                      </a:r>
                      <a:r>
                        <a:rPr lang="en-KZ" sz="1100" i="1"/>
                        <a:t>%</a:t>
                      </a:r>
                      <a:r>
                        <a:rPr lang="ru-RU" sz="1100" i="1"/>
                        <a:t>)</a:t>
                      </a:r>
                      <a:endParaRPr lang="en-US" sz="1100" i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-1800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ru-RU" sz="1200"/>
                        <a:t>Ограниченность географии поставок из-за характеристик </a:t>
                      </a:r>
                      <a:r>
                        <a:rPr lang="ru-RU" sz="1200" b="1"/>
                        <a:t>объемов</a:t>
                      </a:r>
                      <a:r>
                        <a:rPr lang="ru-RU" sz="1200"/>
                        <a:t> и </a:t>
                      </a:r>
                      <a:r>
                        <a:rPr lang="ru-RU" sz="1200" b="1"/>
                        <a:t>веса</a:t>
                      </a:r>
                      <a:endParaRPr lang="ru-RU" sz="1200"/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Поставщики </a:t>
                      </a:r>
                      <a:r>
                        <a:rPr lang="ru-RU" sz="1200" b="1"/>
                        <a:t>встроены</a:t>
                      </a:r>
                      <a:r>
                        <a:rPr lang="ru-RU" sz="1200"/>
                        <a:t> в глобальные рынки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55895"/>
                  </a:ext>
                </a:extLst>
              </a:tr>
              <a:tr h="672698">
                <a:tc vMerge="1"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Слабая </a:t>
                      </a:r>
                      <a:r>
                        <a:rPr lang="ru-RU" sz="1200"/>
                        <a:t>переговорная позиция </a:t>
                      </a:r>
                      <a:r>
                        <a:rPr lang="ru-RU" sz="1200" b="1"/>
                        <a:t>рабочих</a:t>
                      </a:r>
                      <a:r>
                        <a:rPr lang="ru-RU" sz="1200"/>
                        <a:t> при </a:t>
                      </a:r>
                      <a:r>
                        <a:rPr lang="ru-RU" sz="1200" b="1"/>
                        <a:t>отсутствии кадрового дефицита</a:t>
                      </a:r>
                      <a:r>
                        <a:rPr lang="ru-RU" sz="1200"/>
                        <a:t>, низком влиянии </a:t>
                      </a:r>
                      <a:r>
                        <a:rPr lang="ru-RU" sz="1200" b="1"/>
                        <a:t>профсоюзов</a:t>
                      </a:r>
                      <a:r>
                        <a:rPr lang="ru-RU" sz="1200"/>
                        <a:t> и </a:t>
                      </a:r>
                      <a:r>
                        <a:rPr lang="ru-RU" sz="1200" b="1"/>
                        <a:t>высокой доле неформальной </a:t>
                      </a:r>
                      <a:r>
                        <a:rPr lang="ru-RU" sz="1200"/>
                        <a:t>занятости</a:t>
                      </a:r>
                      <a:endParaRPr 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Часто </a:t>
                      </a:r>
                      <a:r>
                        <a:rPr lang="ru-RU" sz="1200" b="1"/>
                        <a:t>низкоквал.</a:t>
                      </a:r>
                      <a:r>
                        <a:rPr lang="ru-RU" sz="1200"/>
                        <a:t> и </a:t>
                      </a:r>
                      <a:r>
                        <a:rPr lang="ru-RU" sz="1200" b="1"/>
                        <a:t>временная занятость</a:t>
                      </a:r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 b="1"/>
                        <a:t>Развитые страны</a:t>
                      </a:r>
                      <a:r>
                        <a:rPr lang="ru-RU" sz="1200"/>
                        <a:t>: </a:t>
                      </a:r>
                      <a:r>
                        <a:rPr lang="ru-RU" sz="1200" b="1"/>
                        <a:t>20%</a:t>
                      </a:r>
                      <a:r>
                        <a:rPr lang="ru-RU" sz="1200"/>
                        <a:t> рабочих отрасли в пяти штатах </a:t>
                      </a:r>
                      <a:r>
                        <a:rPr lang="ru-RU" sz="1200" b="1"/>
                        <a:t>США</a:t>
                      </a:r>
                      <a:r>
                        <a:rPr lang="ru-RU" sz="1200"/>
                        <a:t> трудоустроены </a:t>
                      </a:r>
                      <a:r>
                        <a:rPr lang="ru-RU" sz="1200" b="1"/>
                        <a:t>неофициально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7703"/>
                  </a:ext>
                </a:extLst>
              </a:tr>
              <a:tr h="507338">
                <a:tc vMerge="1"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Слабая </a:t>
                      </a:r>
                      <a:r>
                        <a:rPr lang="ru-RU" sz="1200"/>
                        <a:t>переговорная позиция</a:t>
                      </a:r>
                      <a:r>
                        <a:rPr lang="ru-RU" sz="1200" b="1"/>
                        <a:t> подрядчиков и субподрядчиков </a:t>
                      </a:r>
                      <a:r>
                        <a:rPr lang="ru-RU" sz="1200"/>
                        <a:t>из-за их </a:t>
                      </a:r>
                      <a:r>
                        <a:rPr lang="ru-RU" sz="1200" b="1"/>
                        <a:t>многочисленности</a:t>
                      </a:r>
                      <a:endParaRPr lang="en-US" sz="1200" b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Подверженность проблеме </a:t>
                      </a:r>
                      <a:r>
                        <a:rPr lang="ru-RU" sz="1200" b="1"/>
                        <a:t>принципала-агента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905233"/>
                  </a:ext>
                </a:extLst>
              </a:tr>
            </a:tbl>
          </a:graphicData>
        </a:graphic>
      </p:graphicFrame>
      <p:sp>
        <p:nvSpPr>
          <p:cNvPr id="19" name="Title 8">
            <a:extLst>
              <a:ext uri="{FF2B5EF4-FFF2-40B4-BE49-F238E27FC236}">
                <a16:creationId xmlns:a16="http://schemas.microsoft.com/office/drawing/2014/main" id="{E841C193-C996-5907-102A-52B77DF3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9" y="159862"/>
            <a:ext cx="11115675" cy="830738"/>
          </a:xfrm>
        </p:spPr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ключевые факторы успеха </a:t>
            </a:r>
            <a:r>
              <a:rPr lang="ru-RU" i="1"/>
              <a:t>(1/2)</a:t>
            </a:r>
            <a:endParaRPr lang="ru-KZ" sz="3200" i="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17071D-47BD-6066-3E77-A8A958BF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F041-F583-E349-9B5B-61A174A313FF}" type="datetime1">
              <a:rPr lang="en-US" smtClean="0"/>
              <a:t>4/2/26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820E34-AF16-9431-5A0C-A7A35BAD1681}"/>
              </a:ext>
            </a:extLst>
          </p:cNvPr>
          <p:cNvSpPr txBox="1"/>
          <p:nvPr/>
        </p:nvSpPr>
        <p:spPr>
          <a:xfrm>
            <a:off x="428881" y="6271197"/>
            <a:ext cx="45495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Источники: 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McKinsey Global Institute</a:t>
            </a:r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, Всемирный Банк</a:t>
            </a:r>
            <a:endParaRPr lang="en-US" sz="10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C9A5E-8851-5F95-50C8-C97FE94EBEED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8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51AB0644-59A0-8B13-5E1D-44A50320D07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9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1B4A36E1-672D-043F-035B-17DB18098B2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2A176-AD90-1E61-E46F-045CBF9E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4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3463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DF64-4010-202D-E27E-F4B70C12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55067DFD-E108-469A-D0B5-6D11D2D32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22556"/>
              </p:ext>
            </p:extLst>
          </p:nvPr>
        </p:nvGraphicFramePr>
        <p:xfrm>
          <a:off x="275157" y="1448559"/>
          <a:ext cx="11637442" cy="4942498"/>
        </p:xfrm>
        <a:graphic>
          <a:graphicData uri="http://schemas.openxmlformats.org/drawingml/2006/table">
            <a:tbl>
              <a:tblPr firstRow="1"/>
              <a:tblGrid>
                <a:gridCol w="1865615">
                  <a:extLst>
                    <a:ext uri="{9D8B030D-6E8A-4147-A177-3AD203B41FA5}">
                      <a16:colId xmlns:a16="http://schemas.microsoft.com/office/drawing/2014/main" val="361745517"/>
                    </a:ext>
                  </a:extLst>
                </a:gridCol>
                <a:gridCol w="4797910">
                  <a:extLst>
                    <a:ext uri="{9D8B030D-6E8A-4147-A177-3AD203B41FA5}">
                      <a16:colId xmlns:a16="http://schemas.microsoft.com/office/drawing/2014/main" val="504911059"/>
                    </a:ext>
                  </a:extLst>
                </a:gridCol>
                <a:gridCol w="4973917">
                  <a:extLst>
                    <a:ext uri="{9D8B030D-6E8A-4147-A177-3AD203B41FA5}">
                      <a16:colId xmlns:a16="http://schemas.microsoft.com/office/drawing/2014/main" val="1519776917"/>
                    </a:ext>
                  </a:extLst>
                </a:gridCol>
              </a:tblGrid>
              <a:tr h="283007"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Факторы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Причины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Нюансы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33788"/>
                  </a:ext>
                </a:extLst>
              </a:tr>
              <a:tr h="1273533"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Внутриотраслевая конкуренция – умеренная</a:t>
                      </a: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Обратная зависимость </a:t>
                      </a:r>
                      <a:r>
                        <a:rPr lang="ru-RU" sz="1200" b="0"/>
                        <a:t>конкуренции в сегментах рынка </a:t>
                      </a:r>
                      <a:r>
                        <a:rPr lang="ru-RU" sz="1200" b="1"/>
                        <a:t>от размера участников </a:t>
                      </a:r>
                      <a:r>
                        <a:rPr lang="ru-RU" sz="1200" b="0"/>
                        <a:t>– наиболее конкурентная среда у малых компаний, подрядчиков и субподрядчиков</a:t>
                      </a:r>
                    </a:p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/>
                    </a:p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/>
                        <a:t>Распределение конкурентных усилий помимо цен, на такие факторы, как </a:t>
                      </a:r>
                      <a:r>
                        <a:rPr lang="ru-RU" sz="1200" b="1"/>
                        <a:t>таргетируемая группа </a:t>
                      </a:r>
                      <a:r>
                        <a:rPr lang="ru-RU" sz="1200"/>
                        <a:t>и </a:t>
                      </a:r>
                      <a:r>
                        <a:rPr lang="ru-RU" sz="1200" b="1"/>
                        <a:t>расположение</a:t>
                      </a:r>
                      <a:endParaRPr lang="en-US" sz="1200" b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Низкая </a:t>
                      </a:r>
                      <a:r>
                        <a:rPr lang="ru-RU" sz="1200" b="1"/>
                        <a:t>концентрация </a:t>
                      </a:r>
                      <a:r>
                        <a:rPr lang="ru-RU" sz="1200" b="0"/>
                        <a:t>отрасли:</a:t>
                      </a:r>
                      <a:r>
                        <a:rPr lang="en-US" sz="1200" b="0"/>
                        <a:t> </a:t>
                      </a:r>
                      <a:r>
                        <a:rPr lang="ru-RU" sz="1200" b="0"/>
                        <a:t>много мелких игроков</a:t>
                      </a:r>
                      <a:endParaRPr lang="kk-KZ" sz="1200" b="0"/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В </a:t>
                      </a:r>
                      <a:r>
                        <a:rPr lang="ru-RU" sz="1200" b="1"/>
                        <a:t>плотных</a:t>
                      </a:r>
                      <a:r>
                        <a:rPr lang="ru-RU" sz="1200"/>
                        <a:t> городских центрах конкуренция </a:t>
                      </a:r>
                      <a:r>
                        <a:rPr lang="ru-RU" sz="1200" b="1"/>
                        <a:t>наиболее</a:t>
                      </a:r>
                      <a:r>
                        <a:rPr lang="ru-RU" sz="1200"/>
                        <a:t> </a:t>
                      </a:r>
                      <a:r>
                        <a:rPr lang="ru-RU" sz="1200" b="1"/>
                        <a:t>интенсивна</a:t>
                      </a:r>
                      <a:endParaRPr lang="ru-RU" sz="1200" b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360410"/>
                  </a:ext>
                </a:extLst>
              </a:tr>
              <a:tr h="1070572">
                <a:tc rowSpan="2"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/>
                        <a:t>Рыночная власть покупателей – слабая</a:t>
                      </a: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Слабая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переговорная позиция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физических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лиц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из-за их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многочисленности, 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особенно в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локациях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с высоким спросом</a:t>
                      </a:r>
                      <a:endParaRPr lang="en-US" sz="1200" b="0" i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000" marR="0" lvl="0" indent="-1800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ru-RU" sz="1200" b="1"/>
                        <a:t>Фрагментированный</a:t>
                      </a:r>
                      <a:r>
                        <a:rPr lang="ru-RU" sz="1200"/>
                        <a:t> и </a:t>
                      </a:r>
                      <a:r>
                        <a:rPr lang="ru-RU" sz="1200" b="1"/>
                        <a:t>географически разбросанный</a:t>
                      </a:r>
                      <a:r>
                        <a:rPr lang="ru-RU" sz="1200"/>
                        <a:t> рынок покупателей </a:t>
                      </a:r>
                      <a:r>
                        <a:rPr lang="ru-RU" sz="1100" i="1"/>
                        <a:t>(от частных лиц до акиматов)</a:t>
                      </a:r>
                      <a:endParaRPr lang="ru-RU" sz="1200"/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Чувствительность</a:t>
                      </a:r>
                      <a:r>
                        <a:rPr lang="ru-RU" sz="1200" b="1"/>
                        <a:t> к бизнес-циклам</a:t>
                      </a:r>
                    </a:p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/>
                        <a:t>Высокий запрос на </a:t>
                      </a:r>
                      <a:r>
                        <a:rPr lang="ru-RU" sz="1200" b="1"/>
                        <a:t>уникальные</a:t>
                      </a:r>
                      <a:r>
                        <a:rPr lang="ru-RU" sz="1200"/>
                        <a:t> решения </a:t>
                      </a:r>
                      <a:r>
                        <a:rPr lang="ru-RU" sz="1100" i="1"/>
                        <a:t>(ограничивает стандартизацию и масштабирование)</a:t>
                      </a:r>
                    </a:p>
                    <a:p>
                      <a:pPr marL="180000" marR="0" lvl="0" indent="-1800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ru-RU" sz="1200" i="0"/>
                        <a:t>Чем выше </a:t>
                      </a:r>
                      <a:r>
                        <a:rPr lang="ru-RU" sz="1200" b="1" i="0"/>
                        <a:t>сегмент</a:t>
                      </a:r>
                      <a:r>
                        <a:rPr lang="ru-RU" sz="1200" i="0"/>
                        <a:t>, тем </a:t>
                      </a:r>
                      <a:r>
                        <a:rPr lang="ru-RU" sz="1200" b="1" i="0"/>
                        <a:t>ниже чувствительность к цене</a:t>
                      </a:r>
                      <a:endParaRPr lang="ru-RU" sz="1200" i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424438"/>
                  </a:ext>
                </a:extLst>
              </a:tr>
              <a:tr h="1070572">
                <a:tc vMerge="1">
                  <a:txBody>
                    <a:bodyPr/>
                    <a:lstStyle/>
                    <a:p>
                      <a:pPr marL="72000" algn="just" fontAlgn="ctr"/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Сильная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переговорная позиция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крупных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заказчиков </a:t>
                      </a:r>
                      <a:r>
                        <a:rPr lang="ru-RU" sz="1100" b="0" i="1">
                          <a:solidFill>
                            <a:schemeClr val="tx1"/>
                          </a:solidFill>
                        </a:rPr>
                        <a:t>(тендеры) 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из-за их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малочисленности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и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больших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объемов</a:t>
                      </a:r>
                      <a:endParaRPr lang="en-US" sz="1200" b="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endParaRPr lang="ru-RU" sz="1200" b="1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987720"/>
                  </a:ext>
                </a:extLst>
              </a:tr>
              <a:tr h="1124954"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Угроза появления новых игроков - слабая</a:t>
                      </a:r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Для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крупных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 компаний наиболее критичны привлечение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инвестиций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, соблюдение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 регуляторных </a:t>
                      </a:r>
                      <a:r>
                        <a:rPr lang="ru-RU" sz="1200" b="0" i="0">
                          <a:solidFill>
                            <a:schemeClr val="tx1"/>
                          </a:solidFill>
                        </a:rPr>
                        <a:t>требований и отношения с </a:t>
                      </a:r>
                      <a:r>
                        <a:rPr lang="ru-RU" sz="1200" b="1" i="0">
                          <a:solidFill>
                            <a:schemeClr val="tx1"/>
                          </a:solidFill>
                        </a:rPr>
                        <a:t>поставщиками и государством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algn="just">
                        <a:spcAft>
                          <a:spcPts val="300"/>
                        </a:spcAft>
                        <a:buFont typeface="Wingdings" pitchFamily="2" charset="2"/>
                        <a:buChar char="§"/>
                      </a:pPr>
                      <a:r>
                        <a:rPr lang="ru-RU" sz="1200" b="1" i="0"/>
                        <a:t>Господдержка</a:t>
                      </a:r>
                      <a:r>
                        <a:rPr lang="ru-RU" sz="1200" i="0"/>
                        <a:t>, обусловленная </a:t>
                      </a:r>
                      <a:r>
                        <a:rPr lang="ru-RU" sz="1200" b="1" i="0"/>
                        <a:t>размером</a:t>
                      </a:r>
                      <a:r>
                        <a:rPr lang="ru-RU" sz="1200" i="0"/>
                        <a:t> и </a:t>
                      </a:r>
                      <a:r>
                        <a:rPr lang="ru-RU" sz="1200" b="1" i="0"/>
                        <a:t>социальной значимостью</a:t>
                      </a:r>
                      <a:r>
                        <a:rPr lang="ru-RU" sz="1200" i="0"/>
                        <a:t> отрасли, способствует притоку новых участников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81077"/>
                  </a:ext>
                </a:extLst>
              </a:tr>
            </a:tbl>
          </a:graphicData>
        </a:graphic>
      </p:graphicFrame>
      <p:sp>
        <p:nvSpPr>
          <p:cNvPr id="19" name="Title 8">
            <a:extLst>
              <a:ext uri="{FF2B5EF4-FFF2-40B4-BE49-F238E27FC236}">
                <a16:creationId xmlns:a16="http://schemas.microsoft.com/office/drawing/2014/main" id="{CDF400A4-8D8E-6C72-505F-B5C34D39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9" y="159862"/>
            <a:ext cx="11115675" cy="830738"/>
          </a:xfrm>
        </p:spPr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ключевые факторы успеха </a:t>
            </a:r>
            <a:r>
              <a:rPr lang="ru-RU" i="1"/>
              <a:t>(2/2)</a:t>
            </a:r>
            <a:endParaRPr lang="ru-KZ" sz="3200" i="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15F14-6A23-2154-A1CA-03DD0C99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A386C-9A70-3649-A0FF-B24B57A8897F}" type="datetime1">
              <a:rPr lang="en-US" smtClean="0"/>
              <a:t>4/2/26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1C56A-B2DC-DE47-7DF1-7828DB0D421F}"/>
              </a:ext>
            </a:extLst>
          </p:cNvPr>
          <p:cNvSpPr txBox="1"/>
          <p:nvPr/>
        </p:nvSpPr>
        <p:spPr>
          <a:xfrm>
            <a:off x="428881" y="6271197"/>
            <a:ext cx="45495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Источники: 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McKinsey Global Institute</a:t>
            </a:r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, М. Портер</a:t>
            </a:r>
            <a:endParaRPr lang="en-US" sz="10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EA76A-3BD1-A652-11F3-BFB913C246BD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8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98126A51-8D03-D227-F9BE-66529C321CD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9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E89CFA65-A083-5978-40AF-6A03BDB662C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38364E-6EC2-66B5-897F-E120EF1E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5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7603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646E-C6D6-B4B7-2706-1894F314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0C8B7DC3-78D2-A75A-F1BD-BB56393ED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008521"/>
              </p:ext>
            </p:extLst>
          </p:nvPr>
        </p:nvGraphicFramePr>
        <p:xfrm>
          <a:off x="4386510" y="2848732"/>
          <a:ext cx="1983600" cy="24235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E0D4836-4DFD-A495-B54C-E2E0575AD279}"/>
              </a:ext>
            </a:extLst>
          </p:cNvPr>
          <p:cNvSpPr txBox="1"/>
          <p:nvPr/>
        </p:nvSpPr>
        <p:spPr>
          <a:xfrm>
            <a:off x="428881" y="6271197"/>
            <a:ext cx="4126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Источники: Всемирный Банк, 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BCG, McKinsey Global Institute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CE277C0-42AC-BA22-4A0A-30395785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тренды </a:t>
            </a:r>
            <a:r>
              <a:rPr lang="ru-RU" i="1"/>
              <a:t>(1</a:t>
            </a:r>
            <a:r>
              <a:rPr lang="en-US" i="1"/>
              <a:t>/4)</a:t>
            </a:r>
            <a:endParaRPr lang="ru-KZ" sz="32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EEBA0-2D69-9DDD-62F1-584FD3E1C2A4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A873F-0EBC-5CF9-51C0-195D67E7C2C6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663E6E-2741-5B95-BB0C-F29D9CCFBCE3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ED9619-1931-34C9-2651-79751A3CAA55}"/>
              </a:ext>
            </a:extLst>
          </p:cNvPr>
          <p:cNvSpPr/>
          <p:nvPr/>
        </p:nvSpPr>
        <p:spPr>
          <a:xfrm>
            <a:off x="244233" y="1650223"/>
            <a:ext cx="3736800" cy="45871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2C447-6F40-50F5-E31C-C470F7B69D78}"/>
              </a:ext>
            </a:extLst>
          </p:cNvPr>
          <p:cNvSpPr txBox="1"/>
          <p:nvPr/>
        </p:nvSpPr>
        <p:spPr>
          <a:xfrm>
            <a:off x="1262908" y="1489285"/>
            <a:ext cx="169945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>
                <a:solidFill>
                  <a:prstClr val="black"/>
                </a:solidFill>
              </a:rPr>
              <a:t>Урбанизация</a:t>
            </a:r>
            <a:endParaRPr lang="en-US" sz="1600" b="1">
              <a:solidFill>
                <a:prstClr val="black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509B81-291B-483A-BDD4-6BF1743BC2DB}"/>
              </a:ext>
            </a:extLst>
          </p:cNvPr>
          <p:cNvSpPr/>
          <p:nvPr/>
        </p:nvSpPr>
        <p:spPr>
          <a:xfrm>
            <a:off x="8177033" y="1650223"/>
            <a:ext cx="3736800" cy="45871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31373-A3E8-03B0-431F-BE351A73504B}"/>
              </a:ext>
            </a:extLst>
          </p:cNvPr>
          <p:cNvSpPr/>
          <p:nvPr/>
        </p:nvSpPr>
        <p:spPr>
          <a:xfrm>
            <a:off x="4210633" y="1650224"/>
            <a:ext cx="3736800" cy="458776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A4929-0C7A-5B9C-52B5-3F308018AF64}"/>
              </a:ext>
            </a:extLst>
          </p:cNvPr>
          <p:cNvSpPr txBox="1"/>
          <p:nvPr/>
        </p:nvSpPr>
        <p:spPr>
          <a:xfrm>
            <a:off x="4796283" y="1479520"/>
            <a:ext cx="256550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Устойчивое развитие</a:t>
            </a:r>
            <a:endParaRPr lang="en-US" sz="16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E7FB60-F9CC-8713-7E58-9E735F9BD597}"/>
              </a:ext>
            </a:extLst>
          </p:cNvPr>
          <p:cNvSpPr txBox="1"/>
          <p:nvPr/>
        </p:nvSpPr>
        <p:spPr>
          <a:xfrm>
            <a:off x="8815855" y="1479520"/>
            <a:ext cx="245915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Вкусы потребителей</a:t>
            </a:r>
            <a:endParaRPr lang="en-US" sz="16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A62E13-98D1-801E-D66F-E0FC9DB67D41}"/>
              </a:ext>
            </a:extLst>
          </p:cNvPr>
          <p:cNvSpPr txBox="1"/>
          <p:nvPr/>
        </p:nvSpPr>
        <p:spPr>
          <a:xfrm>
            <a:off x="414794" y="1850277"/>
            <a:ext cx="3385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7 из 10 </a:t>
            </a:r>
            <a:r>
              <a:rPr lang="ru-RU" sz="1200"/>
              <a:t>жителей планеты к 2050 году будут проживать в городах</a:t>
            </a:r>
            <a:endParaRPr 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AA3A9-B1CA-2B2A-C321-3B5E667212D3}"/>
              </a:ext>
            </a:extLst>
          </p:cNvPr>
          <p:cNvSpPr txBox="1"/>
          <p:nvPr/>
        </p:nvSpPr>
        <p:spPr>
          <a:xfrm>
            <a:off x="4386509" y="1832237"/>
            <a:ext cx="3385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Здания генерируют </a:t>
            </a:r>
            <a:r>
              <a:rPr lang="ru-RU" sz="1200" b="1"/>
              <a:t>треть</a:t>
            </a:r>
            <a:r>
              <a:rPr lang="ru-RU" sz="1200"/>
              <a:t> мировых парниковых выбросов</a:t>
            </a:r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5F493E-C8B3-2E71-2484-6342B5E4C40D}"/>
              </a:ext>
            </a:extLst>
          </p:cNvPr>
          <p:cNvSpPr txBox="1"/>
          <p:nvPr/>
        </p:nvSpPr>
        <p:spPr>
          <a:xfrm>
            <a:off x="8352910" y="1850277"/>
            <a:ext cx="3385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Становятся более </a:t>
            </a:r>
            <a:r>
              <a:rPr lang="ru-RU" sz="1200" b="1"/>
              <a:t>утонченными </a:t>
            </a:r>
            <a:r>
              <a:rPr lang="ru-RU" sz="1200"/>
              <a:t>и</a:t>
            </a:r>
            <a:r>
              <a:rPr lang="ru-RU" sz="1200" b="1"/>
              <a:t> сложными</a:t>
            </a:r>
            <a:endParaRPr lang="en-US" sz="12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36B57BC-6BF2-8D22-0942-E978AD001D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4787055"/>
              </p:ext>
            </p:extLst>
          </p:nvPr>
        </p:nvGraphicFramePr>
        <p:xfrm>
          <a:off x="424319" y="2848732"/>
          <a:ext cx="3375520" cy="2252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279C509-3586-79B9-2446-DDFB157272B5}"/>
              </a:ext>
            </a:extLst>
          </p:cNvPr>
          <p:cNvSpPr txBox="1"/>
          <p:nvPr/>
        </p:nvSpPr>
        <p:spPr>
          <a:xfrm>
            <a:off x="444251" y="2496608"/>
            <a:ext cx="3326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noProof="1"/>
              <a:t>Городское население мира</a:t>
            </a:r>
            <a:r>
              <a:rPr lang="ru-RU" sz="1200" noProof="1"/>
              <a:t>, млрд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A501FE9-2F16-1134-F45B-4AF498EDCB0E}"/>
              </a:ext>
            </a:extLst>
          </p:cNvPr>
          <p:cNvCxnSpPr>
            <a:cxnSpLocks/>
          </p:cNvCxnSpPr>
          <p:nvPr/>
        </p:nvCxnSpPr>
        <p:spPr>
          <a:xfrm flipV="1">
            <a:off x="1345474" y="3007719"/>
            <a:ext cx="1216737" cy="655687"/>
          </a:xfrm>
          <a:prstGeom prst="bentConnector3">
            <a:avLst>
              <a:gd name="adj1" fmla="val -101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B9AA42A-E931-559B-6B0D-148E90F8EF17}"/>
              </a:ext>
            </a:extLst>
          </p:cNvPr>
          <p:cNvSpPr txBox="1"/>
          <p:nvPr/>
        </p:nvSpPr>
        <p:spPr>
          <a:xfrm>
            <a:off x="1922008" y="2848732"/>
            <a:ext cx="37061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ru-RU" sz="1200" b="1"/>
              <a:t>х2</a:t>
            </a:r>
            <a:endParaRPr lang="en-KZ" sz="1200"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86A290-CA5B-DC89-0C4C-4D02C7D0E61C}"/>
              </a:ext>
            </a:extLst>
          </p:cNvPr>
          <p:cNvSpPr txBox="1"/>
          <p:nvPr/>
        </p:nvSpPr>
        <p:spPr>
          <a:xfrm>
            <a:off x="1052765" y="4995286"/>
            <a:ext cx="585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2023</a:t>
            </a:r>
            <a:endParaRPr lang="en-KZ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2207EB-AED0-87BA-ACBC-8F4FC1E421A7}"/>
              </a:ext>
            </a:extLst>
          </p:cNvPr>
          <p:cNvSpPr txBox="1"/>
          <p:nvPr/>
        </p:nvSpPr>
        <p:spPr>
          <a:xfrm>
            <a:off x="2587770" y="4995286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20</a:t>
            </a:r>
            <a:r>
              <a:rPr lang="ru-RU" sz="1200"/>
              <a:t>50</a:t>
            </a:r>
            <a:endParaRPr lang="en-KZ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E6550D-B070-C357-8481-5B32119AEB88}"/>
              </a:ext>
            </a:extLst>
          </p:cNvPr>
          <p:cNvSpPr txBox="1"/>
          <p:nvPr/>
        </p:nvSpPr>
        <p:spPr>
          <a:xfrm>
            <a:off x="446626" y="5284724"/>
            <a:ext cx="338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Рост </a:t>
            </a:r>
            <a:r>
              <a:rPr lang="ru-RU" sz="1200" b="1"/>
              <a:t>спроса на доступное жилье</a:t>
            </a:r>
            <a:r>
              <a:rPr lang="ru-RU" sz="1200"/>
              <a:t> и </a:t>
            </a:r>
            <a:r>
              <a:rPr lang="ru-RU" sz="1200" b="1"/>
              <a:t>городскую инфраструктуру, </a:t>
            </a:r>
            <a:r>
              <a:rPr lang="ru-RU" sz="1200"/>
              <a:t>особенно</a:t>
            </a:r>
            <a:r>
              <a:rPr lang="ru-RU" sz="1200" b="1"/>
              <a:t> </a:t>
            </a:r>
            <a:r>
              <a:rPr lang="ru-RU" sz="1200"/>
              <a:t>в</a:t>
            </a:r>
            <a:r>
              <a:rPr lang="ru-RU" sz="1200" b="1"/>
              <a:t> развивающихся </a:t>
            </a:r>
            <a:r>
              <a:rPr lang="ru-RU" sz="1200"/>
              <a:t>странах</a:t>
            </a:r>
            <a:endParaRPr lang="en-US" sz="1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97A0A1-8C90-8457-B746-56CDDC7C4343}"/>
              </a:ext>
            </a:extLst>
          </p:cNvPr>
          <p:cNvSpPr txBox="1"/>
          <p:nvPr/>
        </p:nvSpPr>
        <p:spPr>
          <a:xfrm>
            <a:off x="4403477" y="5284723"/>
            <a:ext cx="338504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Новая волна регулирования </a:t>
            </a:r>
            <a:r>
              <a:rPr lang="ru-RU" sz="1200"/>
              <a:t>с охватом </a:t>
            </a:r>
            <a:r>
              <a:rPr lang="ru-RU" sz="1200" b="1"/>
              <a:t>всех</a:t>
            </a:r>
            <a:r>
              <a:rPr lang="ru-RU" sz="1200"/>
              <a:t> стадий строительства</a:t>
            </a:r>
            <a:r>
              <a:rPr lang="ru-RU" sz="1200" b="1"/>
              <a:t> </a:t>
            </a:r>
            <a:r>
              <a:rPr lang="ru-RU" sz="1100" i="1"/>
              <a:t>(шум, пыль, отходы, новые материалы, энергоэффективность, т. д.)</a:t>
            </a:r>
            <a:endParaRPr 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B42D60-1365-37C2-1F64-522DC0E8A3D0}"/>
              </a:ext>
            </a:extLst>
          </p:cNvPr>
          <p:cNvSpPr txBox="1"/>
          <p:nvPr/>
        </p:nvSpPr>
        <p:spPr>
          <a:xfrm>
            <a:off x="4415968" y="2496608"/>
            <a:ext cx="3326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noProof="1"/>
              <a:t>Распределение выбросов в здании</a:t>
            </a:r>
            <a:endParaRPr lang="ru-RU" sz="1200" noProof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271D8F-0E97-FFF9-B191-68AEF4370147}"/>
              </a:ext>
            </a:extLst>
          </p:cNvPr>
          <p:cNvSpPr txBox="1"/>
          <p:nvPr/>
        </p:nvSpPr>
        <p:spPr>
          <a:xfrm>
            <a:off x="5943600" y="2914346"/>
            <a:ext cx="1827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5</a:t>
            </a:r>
            <a:r>
              <a:rPr lang="en-US" sz="1200" b="1"/>
              <a:t>% </a:t>
            </a:r>
            <a:r>
              <a:rPr lang="ru-RU" sz="1200"/>
              <a:t>строительство</a:t>
            </a:r>
            <a:endParaRPr lang="en-US" sz="12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D29470-80FE-6344-2082-7340EAB5904C}"/>
              </a:ext>
            </a:extLst>
          </p:cNvPr>
          <p:cNvCxnSpPr>
            <a:endCxn id="43" idx="1"/>
          </p:cNvCxnSpPr>
          <p:nvPr/>
        </p:nvCxnSpPr>
        <p:spPr>
          <a:xfrm>
            <a:off x="5801710" y="3052845"/>
            <a:ext cx="14189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01005B2-AEF9-220B-4650-69E5861F01C2}"/>
              </a:ext>
            </a:extLst>
          </p:cNvPr>
          <p:cNvSpPr txBox="1"/>
          <p:nvPr/>
        </p:nvSpPr>
        <p:spPr>
          <a:xfrm>
            <a:off x="5943600" y="3191344"/>
            <a:ext cx="1827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20</a:t>
            </a:r>
            <a:r>
              <a:rPr lang="en-US" sz="1200" b="1"/>
              <a:t>% </a:t>
            </a:r>
            <a:r>
              <a:rPr lang="ru-RU" sz="1200"/>
              <a:t>материалы</a:t>
            </a:r>
            <a:endParaRPr lang="en-US" sz="120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CB56F0-BFFC-4B56-91BB-D38CB0F0266E}"/>
              </a:ext>
            </a:extLst>
          </p:cNvPr>
          <p:cNvCxnSpPr>
            <a:endCxn id="46" idx="1"/>
          </p:cNvCxnSpPr>
          <p:nvPr/>
        </p:nvCxnSpPr>
        <p:spPr>
          <a:xfrm>
            <a:off x="5804198" y="3329843"/>
            <a:ext cx="13940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AADC139-5757-0FBE-63AD-4E664704A3AE}"/>
              </a:ext>
            </a:extLst>
          </p:cNvPr>
          <p:cNvSpPr txBox="1"/>
          <p:nvPr/>
        </p:nvSpPr>
        <p:spPr>
          <a:xfrm>
            <a:off x="5943600" y="3839399"/>
            <a:ext cx="1827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75</a:t>
            </a:r>
            <a:r>
              <a:rPr lang="en-US" sz="1200" b="1"/>
              <a:t>% </a:t>
            </a:r>
            <a:r>
              <a:rPr lang="ru-RU" sz="1200"/>
              <a:t>эксплуатация и обслуживание</a:t>
            </a:r>
            <a:r>
              <a:rPr lang="en-US" sz="1200"/>
              <a:t>:</a:t>
            </a:r>
          </a:p>
          <a:p>
            <a:pPr marL="180000" indent="-180000" algn="just">
              <a:buFont typeface="Wingdings" panose="05000000000000000000" pitchFamily="2" charset="2"/>
              <a:buChar char="§"/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40% </a:t>
            </a:r>
            <a:r>
              <a:rPr lang="ru-RU" sz="1200"/>
              <a:t>отопление</a:t>
            </a:r>
          </a:p>
          <a:p>
            <a:pPr marL="180000" indent="-180000" algn="just">
              <a:buFont typeface="Wingdings" panose="05000000000000000000" pitchFamily="2" charset="2"/>
              <a:buChar char="§"/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30</a:t>
            </a:r>
            <a:r>
              <a:rPr lang="en-US" sz="1200"/>
              <a:t>% </a:t>
            </a:r>
            <a:r>
              <a:rPr lang="ru-RU" sz="1200"/>
              <a:t>техника</a:t>
            </a:r>
          </a:p>
          <a:p>
            <a:pPr marL="180000" indent="-180000" algn="just">
              <a:buFont typeface="Wingdings" panose="05000000000000000000" pitchFamily="2" charset="2"/>
              <a:buChar char="§"/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20</a:t>
            </a:r>
            <a:r>
              <a:rPr lang="en-US" sz="1200"/>
              <a:t>% </a:t>
            </a:r>
            <a:r>
              <a:rPr lang="ru-RU" sz="1200"/>
              <a:t>нагрев воды</a:t>
            </a:r>
          </a:p>
          <a:p>
            <a:pPr marL="180000" indent="-180000" algn="just">
              <a:buFont typeface="Wingdings" panose="05000000000000000000" pitchFamily="2" charset="2"/>
              <a:buChar char="§"/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10</a:t>
            </a:r>
            <a:r>
              <a:rPr lang="en-US" sz="1200"/>
              <a:t>% </a:t>
            </a:r>
            <a:r>
              <a:rPr lang="ru-RU" sz="1200"/>
              <a:t>остальное</a:t>
            </a:r>
            <a:endParaRPr lang="en-US" sz="120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3C42970-2B96-4F5F-DAD2-C5892E3C007E}"/>
              </a:ext>
            </a:extLst>
          </p:cNvPr>
          <p:cNvCxnSpPr/>
          <p:nvPr/>
        </p:nvCxnSpPr>
        <p:spPr>
          <a:xfrm>
            <a:off x="5804198" y="3975194"/>
            <a:ext cx="13940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2A9B0FF-F69E-13C0-E719-321C1F019225}"/>
              </a:ext>
            </a:extLst>
          </p:cNvPr>
          <p:cNvSpPr>
            <a:spLocks/>
          </p:cNvSpPr>
          <p:nvPr/>
        </p:nvSpPr>
        <p:spPr>
          <a:xfrm>
            <a:off x="8452819" y="2532927"/>
            <a:ext cx="572400" cy="5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71BC63A-47D3-2A06-98C0-C1D0ABD7C77D}"/>
              </a:ext>
            </a:extLst>
          </p:cNvPr>
          <p:cNvSpPr/>
          <p:nvPr/>
        </p:nvSpPr>
        <p:spPr>
          <a:xfrm>
            <a:off x="8452819" y="3226597"/>
            <a:ext cx="572400" cy="5714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1D43A47-1BF0-EBAC-A273-A89BAC5E9581}"/>
              </a:ext>
            </a:extLst>
          </p:cNvPr>
          <p:cNvSpPr/>
          <p:nvPr/>
        </p:nvSpPr>
        <p:spPr>
          <a:xfrm>
            <a:off x="8452819" y="3920266"/>
            <a:ext cx="572400" cy="5714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3D13C9C-764C-48FE-773F-1DAA9207EBEB}"/>
              </a:ext>
            </a:extLst>
          </p:cNvPr>
          <p:cNvSpPr/>
          <p:nvPr/>
        </p:nvSpPr>
        <p:spPr>
          <a:xfrm>
            <a:off x="8456398" y="4613934"/>
            <a:ext cx="572400" cy="5714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20A015-C2AD-A4E2-0ED2-5E57AB898E64}"/>
              </a:ext>
            </a:extLst>
          </p:cNvPr>
          <p:cNvSpPr txBox="1"/>
          <p:nvPr/>
        </p:nvSpPr>
        <p:spPr>
          <a:xfrm>
            <a:off x="9171007" y="2582817"/>
            <a:ext cx="2497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Умные здания</a:t>
            </a:r>
            <a:r>
              <a:rPr lang="en-US" sz="1200" b="1"/>
              <a:t>: </a:t>
            </a:r>
            <a:r>
              <a:rPr lang="ru-RU" sz="1200"/>
              <a:t>улучшенный опыт проживания</a:t>
            </a:r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C89F20-A96E-EEAA-E9EF-8E1CC48651E9}"/>
              </a:ext>
            </a:extLst>
          </p:cNvPr>
          <p:cNvSpPr txBox="1"/>
          <p:nvPr/>
        </p:nvSpPr>
        <p:spPr>
          <a:xfrm>
            <a:off x="8352910" y="5284724"/>
            <a:ext cx="338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Растущий спрос на </a:t>
            </a:r>
            <a:r>
              <a:rPr lang="ru-RU" sz="1200" b="1"/>
              <a:t>более качественные, экономные, «умные» </a:t>
            </a:r>
            <a:r>
              <a:rPr lang="ru-RU" sz="1200"/>
              <a:t>и</a:t>
            </a:r>
            <a:r>
              <a:rPr lang="ru-RU" sz="1200" b="1"/>
              <a:t> «зеленые» дома</a:t>
            </a:r>
            <a:endParaRPr lang="en-US" sz="12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24F01-22B2-EC21-2158-11F59E5CF793}"/>
              </a:ext>
            </a:extLst>
          </p:cNvPr>
          <p:cNvSpPr txBox="1"/>
          <p:nvPr/>
        </p:nvSpPr>
        <p:spPr>
          <a:xfrm>
            <a:off x="9171007" y="3189132"/>
            <a:ext cx="2497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Энергоэффективность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сокращение расходов и выбросов</a:t>
            </a:r>
            <a:endParaRPr lang="en-US" sz="12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4C146B-FDD2-629F-BCEC-04A2CF2564A4}"/>
              </a:ext>
            </a:extLst>
          </p:cNvPr>
          <p:cNvSpPr txBox="1"/>
          <p:nvPr/>
        </p:nvSpPr>
        <p:spPr>
          <a:xfrm>
            <a:off x="9171007" y="3845008"/>
            <a:ext cx="24971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Оперэффективность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меньшее потребление, обслуживание, повышенная безопасность</a:t>
            </a:r>
            <a:endParaRPr lang="en-US" sz="1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17F2EB-4FCF-B0E8-F68B-27352CD2B6E0}"/>
              </a:ext>
            </a:extLst>
          </p:cNvPr>
          <p:cNvSpPr txBox="1"/>
          <p:nvPr/>
        </p:nvSpPr>
        <p:spPr>
          <a:xfrm>
            <a:off x="9171007" y="4668803"/>
            <a:ext cx="2497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Гибкость конструкций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адаптация под свои нужды</a:t>
            </a:r>
            <a:endParaRPr lang="en-US" sz="1200"/>
          </a:p>
        </p:txBody>
      </p:sp>
      <p:pic>
        <p:nvPicPr>
          <p:cNvPr id="70" name="Graphic 69" descr="Brain outline">
            <a:extLst>
              <a:ext uri="{FF2B5EF4-FFF2-40B4-BE49-F238E27FC236}">
                <a16:creationId xmlns:a16="http://schemas.microsoft.com/office/drawing/2014/main" id="{65F2B60F-91C8-8C63-AEF1-4F0F1B8653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0084" y="2600192"/>
            <a:ext cx="437870" cy="437870"/>
          </a:xfrm>
          <a:prstGeom prst="rect">
            <a:avLst/>
          </a:prstGeom>
        </p:spPr>
      </p:pic>
      <p:pic>
        <p:nvPicPr>
          <p:cNvPr id="72" name="Graphic 71" descr="Renewable Energy outline">
            <a:extLst>
              <a:ext uri="{FF2B5EF4-FFF2-40B4-BE49-F238E27FC236}">
                <a16:creationId xmlns:a16="http://schemas.microsoft.com/office/drawing/2014/main" id="{C2FF244E-7171-92CB-84DE-2F5BE11D7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9419" y="3292698"/>
            <a:ext cx="439200" cy="439200"/>
          </a:xfrm>
          <a:prstGeom prst="rect">
            <a:avLst/>
          </a:prstGeom>
        </p:spPr>
      </p:pic>
      <p:pic>
        <p:nvPicPr>
          <p:cNvPr id="74" name="Graphic 73" descr="Arrow circle outline">
            <a:extLst>
              <a:ext uri="{FF2B5EF4-FFF2-40B4-BE49-F238E27FC236}">
                <a16:creationId xmlns:a16="http://schemas.microsoft.com/office/drawing/2014/main" id="{C2161E83-3761-F131-573A-5C78E2953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9419" y="3986367"/>
            <a:ext cx="439200" cy="439200"/>
          </a:xfrm>
          <a:prstGeom prst="rect">
            <a:avLst/>
          </a:prstGeom>
        </p:spPr>
      </p:pic>
      <p:pic>
        <p:nvPicPr>
          <p:cNvPr id="78" name="Graphic 77" descr="Architecture outline">
            <a:extLst>
              <a:ext uri="{FF2B5EF4-FFF2-40B4-BE49-F238E27FC236}">
                <a16:creationId xmlns:a16="http://schemas.microsoft.com/office/drawing/2014/main" id="{3B3785ED-967D-FD2D-72E0-4A6EE19BD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2998" y="4680035"/>
            <a:ext cx="439200" cy="439200"/>
          </a:xfrm>
          <a:prstGeom prst="rect">
            <a:avLst/>
          </a:prstGeom>
        </p:spPr>
      </p:pic>
      <p:sp>
        <p:nvSpPr>
          <p:cNvPr id="20" name="Дата 19">
            <a:extLst>
              <a:ext uri="{FF2B5EF4-FFF2-40B4-BE49-F238E27FC236}">
                <a16:creationId xmlns:a16="http://schemas.microsoft.com/office/drawing/2014/main" id="{789C77AD-0D5B-410A-FB02-E497074C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016-5218-384D-8A85-38ED8E6D4A68}" type="datetime1">
              <a:rPr lang="en-US" smtClean="0"/>
              <a:t>4/2/26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3BEB8-3D87-32DB-32D7-29A20BBC01AE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19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C5401100-B47C-8880-197F-9C53274A525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26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7488E572-857F-C298-883F-B8C3E08CC52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C91A6-32E8-2161-B6EC-C519A028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6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507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0" grpId="0">
        <p:bldAsOne/>
      </p:bldGraphic>
      <p:bldP spid="2" grpId="0" animBg="1"/>
      <p:bldP spid="5" grpId="0" animBg="1"/>
      <p:bldP spid="10" grpId="0" animBg="1"/>
      <p:bldP spid="11" grpId="0" animBg="1"/>
      <p:bldP spid="15" grpId="0" animBg="1"/>
      <p:bldP spid="21" grpId="0" animBg="1"/>
      <p:bldP spid="22" grpId="0"/>
      <p:bldP spid="23" grpId="0"/>
      <p:bldP spid="24" grpId="0"/>
      <p:bldGraphic spid="6" grpId="0">
        <p:bldAsOne/>
      </p:bldGraphic>
      <p:bldP spid="17" grpId="0"/>
      <p:bldP spid="28" grpId="0" animBg="1"/>
      <p:bldP spid="29" grpId="0"/>
      <p:bldP spid="30" grpId="0"/>
      <p:bldP spid="33" grpId="0"/>
      <p:bldP spid="36" grpId="0"/>
      <p:bldP spid="42" grpId="0"/>
      <p:bldP spid="43" grpId="0"/>
      <p:bldP spid="46" grpId="0"/>
      <p:bldP spid="49" grpId="0"/>
      <p:bldP spid="55" grpId="0" animBg="1"/>
      <p:bldP spid="61" grpId="0" animBg="1"/>
      <p:bldP spid="62" grpId="0" animBg="1"/>
      <p:bldP spid="63" grpId="0" animBg="1"/>
      <p:bldP spid="64" grpId="0"/>
      <p:bldP spid="65" grpId="0"/>
      <p:bldP spid="66" grpId="0"/>
      <p:bldP spid="67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82D9-E7CE-BC51-35E7-63C991469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26BD148-D39E-9C73-5AEC-4A2D1C149FBC}"/>
              </a:ext>
            </a:extLst>
          </p:cNvPr>
          <p:cNvSpPr txBox="1"/>
          <p:nvPr/>
        </p:nvSpPr>
        <p:spPr>
          <a:xfrm>
            <a:off x="428882" y="6271197"/>
            <a:ext cx="28987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Источники: 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Bain, McKinsey Global Institute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1659EDD-6DE4-A5FD-0272-0586CEF6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тренды </a:t>
            </a:r>
            <a:r>
              <a:rPr lang="ru-RU" i="1"/>
              <a:t>(2</a:t>
            </a:r>
            <a:r>
              <a:rPr lang="en-US" i="1"/>
              <a:t>/4)</a:t>
            </a:r>
            <a:endParaRPr lang="ru-KZ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8D69A-4C28-5219-9D1D-E5BF2715CC67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75205-8E4F-6D48-560E-09FBAD70EE9A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10917-4E74-6A99-82F6-DCE388270A3A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CA99C1-55B4-9C4B-965D-5367CCB039AC}"/>
              </a:ext>
            </a:extLst>
          </p:cNvPr>
          <p:cNvSpPr/>
          <p:nvPr/>
        </p:nvSpPr>
        <p:spPr>
          <a:xfrm>
            <a:off x="244233" y="1650223"/>
            <a:ext cx="3736800" cy="45871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6C179-DF06-2692-AD1C-1501C09DF23A}"/>
              </a:ext>
            </a:extLst>
          </p:cNvPr>
          <p:cNvSpPr txBox="1"/>
          <p:nvPr/>
        </p:nvSpPr>
        <p:spPr>
          <a:xfrm>
            <a:off x="1030908" y="1489285"/>
            <a:ext cx="216345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Новые материалы</a:t>
            </a:r>
            <a:endParaRPr lang="en-US" sz="16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1777E8-893D-6CDE-269C-81BF3F6AB43E}"/>
              </a:ext>
            </a:extLst>
          </p:cNvPr>
          <p:cNvSpPr/>
          <p:nvPr/>
        </p:nvSpPr>
        <p:spPr>
          <a:xfrm>
            <a:off x="8177033" y="1650223"/>
            <a:ext cx="3736800" cy="45871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8F6AC8-C147-28BC-18A2-C2027E883342}"/>
              </a:ext>
            </a:extLst>
          </p:cNvPr>
          <p:cNvSpPr/>
          <p:nvPr/>
        </p:nvSpPr>
        <p:spPr>
          <a:xfrm>
            <a:off x="4210633" y="1650224"/>
            <a:ext cx="3736800" cy="458776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90181-9E10-F3E6-90F1-309058866B38}"/>
              </a:ext>
            </a:extLst>
          </p:cNvPr>
          <p:cNvSpPr txBox="1"/>
          <p:nvPr/>
        </p:nvSpPr>
        <p:spPr>
          <a:xfrm>
            <a:off x="4951160" y="1479520"/>
            <a:ext cx="225574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Индустриализация</a:t>
            </a:r>
            <a:endParaRPr lang="en-US" sz="16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89F516-45EB-FCA9-CD82-5814F19E0FFC}"/>
              </a:ext>
            </a:extLst>
          </p:cNvPr>
          <p:cNvSpPr txBox="1"/>
          <p:nvPr/>
        </p:nvSpPr>
        <p:spPr>
          <a:xfrm>
            <a:off x="9052212" y="1479520"/>
            <a:ext cx="198644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Constructiontech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5639E4-EC67-3AD5-7B5E-CC8A170572E9}"/>
              </a:ext>
            </a:extLst>
          </p:cNvPr>
          <p:cNvSpPr txBox="1"/>
          <p:nvPr/>
        </p:nvSpPr>
        <p:spPr>
          <a:xfrm>
            <a:off x="414794" y="1850277"/>
            <a:ext cx="338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Более</a:t>
            </a:r>
            <a:r>
              <a:rPr lang="ru-RU" sz="1200" b="1"/>
              <a:t> легкие и прочные </a:t>
            </a:r>
            <a:r>
              <a:rPr lang="ru-RU" sz="1200"/>
              <a:t>материалы</a:t>
            </a:r>
            <a:r>
              <a:rPr lang="ru-RU" sz="1200" b="1"/>
              <a:t> </a:t>
            </a:r>
            <a:r>
              <a:rPr lang="ru-RU" sz="1200"/>
              <a:t>меняют традиционное представление о строительстве</a:t>
            </a:r>
            <a:endParaRPr 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1DB473-07D1-997B-9E82-2EF05C57DBF2}"/>
              </a:ext>
            </a:extLst>
          </p:cNvPr>
          <p:cNvSpPr txBox="1"/>
          <p:nvPr/>
        </p:nvSpPr>
        <p:spPr>
          <a:xfrm>
            <a:off x="4386510" y="1850277"/>
            <a:ext cx="338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Возведение стандартных </a:t>
            </a:r>
            <a:r>
              <a:rPr lang="ru-RU" sz="1200" b="1"/>
              <a:t>2</a:t>
            </a:r>
            <a:r>
              <a:rPr lang="en-US" sz="1200" b="1"/>
              <a:t>D</a:t>
            </a:r>
            <a:r>
              <a:rPr lang="en-US" sz="1200"/>
              <a:t> </a:t>
            </a:r>
            <a:r>
              <a:rPr lang="ru-RU" sz="1200"/>
              <a:t>или </a:t>
            </a:r>
            <a:r>
              <a:rPr lang="ru-RU" sz="1200" b="1"/>
              <a:t>3</a:t>
            </a:r>
            <a:r>
              <a:rPr lang="en-US" sz="1200" b="1"/>
              <a:t>D</a:t>
            </a:r>
            <a:r>
              <a:rPr lang="en-US" sz="1200"/>
              <a:t> </a:t>
            </a:r>
            <a:r>
              <a:rPr lang="ru-RU" sz="1200"/>
              <a:t>модулей </a:t>
            </a:r>
            <a:r>
              <a:rPr lang="ru-RU" sz="1200" b="1"/>
              <a:t>на заводе </a:t>
            </a:r>
            <a:r>
              <a:rPr lang="ru-RU" sz="1200"/>
              <a:t>с последующей </a:t>
            </a:r>
            <a:r>
              <a:rPr lang="ru-RU" sz="1200" b="1"/>
              <a:t>сборкой </a:t>
            </a:r>
            <a:r>
              <a:rPr lang="ru-RU" sz="1200"/>
              <a:t>на стройплощадке</a:t>
            </a:r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8556C2-9AAE-89B3-84CA-1854FB4EB7F5}"/>
              </a:ext>
            </a:extLst>
          </p:cNvPr>
          <p:cNvSpPr txBox="1"/>
          <p:nvPr/>
        </p:nvSpPr>
        <p:spPr>
          <a:xfrm>
            <a:off x="8352910" y="1850277"/>
            <a:ext cx="3385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Процесс строительства становится все более </a:t>
            </a:r>
            <a:r>
              <a:rPr lang="ru-RU" sz="1200" b="1"/>
              <a:t>технологичным</a:t>
            </a:r>
            <a:endParaRPr lang="en-US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C95770-5610-05FD-48CA-F1A4117BEF76}"/>
              </a:ext>
            </a:extLst>
          </p:cNvPr>
          <p:cNvSpPr txBox="1"/>
          <p:nvPr/>
        </p:nvSpPr>
        <p:spPr>
          <a:xfrm>
            <a:off x="446626" y="5289273"/>
            <a:ext cx="3385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Расширение географии </a:t>
            </a:r>
            <a:r>
              <a:rPr lang="ru-RU" sz="1200"/>
              <a:t>поставок. Увеличение скорости строительства и снижение затрат</a:t>
            </a:r>
            <a:endParaRPr lang="en-US" sz="1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69AE57-7617-B89C-AB7C-6529D80A1E83}"/>
              </a:ext>
            </a:extLst>
          </p:cNvPr>
          <p:cNvSpPr txBox="1"/>
          <p:nvPr/>
        </p:nvSpPr>
        <p:spPr>
          <a:xfrm>
            <a:off x="4386509" y="5289273"/>
            <a:ext cx="33850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Нестабильный спрос </a:t>
            </a:r>
            <a:r>
              <a:rPr lang="ru-RU" sz="1200"/>
              <a:t>и </a:t>
            </a:r>
            <a:r>
              <a:rPr lang="ru-RU" sz="1200" b="1"/>
              <a:t>логистика</a:t>
            </a:r>
            <a:r>
              <a:rPr lang="ru-RU" sz="1200"/>
              <a:t> сдерживают рост, но </a:t>
            </a:r>
            <a:r>
              <a:rPr lang="ru-RU" sz="1200" b="1"/>
              <a:t>дефицит жилья </a:t>
            </a:r>
            <a:r>
              <a:rPr lang="ru-RU" sz="1200"/>
              <a:t>и </a:t>
            </a:r>
            <a:r>
              <a:rPr lang="ru-RU" sz="1200" b="1"/>
              <a:t>рабочей силы </a:t>
            </a:r>
            <a:r>
              <a:rPr lang="ru-RU" sz="1200"/>
              <a:t>может увеличить рынок с $180 млрд в 2022 </a:t>
            </a:r>
            <a:r>
              <a:rPr lang="ru-RU" sz="1200" b="1"/>
              <a:t>до $540 млрд </a:t>
            </a:r>
            <a:r>
              <a:rPr lang="ru-RU" sz="1200"/>
              <a:t>в 2040 </a:t>
            </a:r>
            <a:r>
              <a:rPr lang="ru-RU" sz="1100" i="1"/>
              <a:t>(консервативный</a:t>
            </a:r>
            <a:r>
              <a:rPr lang="en-US" sz="1100" i="1"/>
              <a:t>: CAGR 6%)</a:t>
            </a:r>
            <a:endParaRPr lang="en-US" sz="1200" i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C3EAE6-3441-C830-D6D2-2C972DB6EDA4}"/>
              </a:ext>
            </a:extLst>
          </p:cNvPr>
          <p:cNvSpPr txBox="1"/>
          <p:nvPr/>
        </p:nvSpPr>
        <p:spPr>
          <a:xfrm>
            <a:off x="4415968" y="2496608"/>
            <a:ext cx="3326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noProof="1"/>
              <a:t>Опыт использования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8E0253-72FF-C30E-7820-47CB639E03B8}"/>
              </a:ext>
            </a:extLst>
          </p:cNvPr>
          <p:cNvSpPr txBox="1"/>
          <p:nvPr/>
        </p:nvSpPr>
        <p:spPr>
          <a:xfrm>
            <a:off x="8976646" y="2768793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Цифровая документация</a:t>
            </a:r>
            <a:endParaRPr 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B821AB-E156-CFD7-4BB8-3E5D5B685EB9}"/>
              </a:ext>
            </a:extLst>
          </p:cNvPr>
          <p:cNvSpPr txBox="1"/>
          <p:nvPr/>
        </p:nvSpPr>
        <p:spPr>
          <a:xfrm>
            <a:off x="8352910" y="5289273"/>
            <a:ext cx="33850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Наиболее</a:t>
            </a:r>
            <a:r>
              <a:rPr lang="ru-RU" sz="1200"/>
              <a:t> </a:t>
            </a:r>
            <a:r>
              <a:rPr lang="ru-RU" sz="1200" b="1"/>
              <a:t>зрелые </a:t>
            </a:r>
            <a:r>
              <a:rPr lang="ru-RU" sz="1200"/>
              <a:t>–</a:t>
            </a:r>
            <a:r>
              <a:rPr lang="ru-RU" sz="1200" b="1"/>
              <a:t> </a:t>
            </a:r>
            <a:r>
              <a:rPr lang="ru-RU" sz="1200"/>
              <a:t>цифровая документация, цифровые модели зданий </a:t>
            </a:r>
            <a:r>
              <a:rPr lang="ru-RU" sz="1100" i="1"/>
              <a:t>(</a:t>
            </a:r>
            <a:r>
              <a:rPr lang="en-US" sz="1100" i="1"/>
              <a:t>BIM:</a:t>
            </a:r>
            <a:r>
              <a:rPr lang="ru-RU" sz="1100" i="1"/>
              <a:t> </a:t>
            </a:r>
            <a:r>
              <a:rPr lang="en-US" sz="1100" i="1"/>
              <a:t>3D-</a:t>
            </a:r>
            <a:r>
              <a:rPr lang="ru-RU" sz="1100" i="1"/>
              <a:t>модель с бюджетом и сроками</a:t>
            </a:r>
            <a:r>
              <a:rPr lang="en-US" sz="1100" i="1"/>
              <a:t>)</a:t>
            </a:r>
            <a:r>
              <a:rPr lang="ru-RU" sz="1100" i="1"/>
              <a:t> </a:t>
            </a:r>
            <a:r>
              <a:rPr lang="ru-RU" sz="1200"/>
              <a:t>и модульное строительство.</a:t>
            </a:r>
            <a:r>
              <a:rPr lang="en-US" sz="1200"/>
              <a:t> </a:t>
            </a:r>
            <a:r>
              <a:rPr lang="ru-RU" sz="1200"/>
              <a:t>Остальные </a:t>
            </a:r>
            <a:r>
              <a:rPr lang="ru-RU" sz="1200" b="1"/>
              <a:t>пока не готовы</a:t>
            </a:r>
            <a:endParaRPr lang="en-US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777E40-C48A-73FC-E116-4EA7A0D4F37E}"/>
              </a:ext>
            </a:extLst>
          </p:cNvPr>
          <p:cNvSpPr txBox="1"/>
          <p:nvPr/>
        </p:nvSpPr>
        <p:spPr>
          <a:xfrm>
            <a:off x="4981907" y="2944311"/>
            <a:ext cx="2760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Сингапур: </a:t>
            </a:r>
            <a:r>
              <a:rPr lang="ru-RU" sz="1200"/>
              <a:t>с 2014 года модульное строительство </a:t>
            </a:r>
            <a:r>
              <a:rPr lang="ru-RU" sz="1200" b="1"/>
              <a:t>обязательно</a:t>
            </a:r>
            <a:r>
              <a:rPr lang="ru-RU" sz="1200"/>
              <a:t> для соцжилья, </a:t>
            </a:r>
            <a:r>
              <a:rPr lang="ru-RU" sz="1200" b="1"/>
              <a:t>охват</a:t>
            </a:r>
            <a:r>
              <a:rPr lang="ru-RU" sz="1200"/>
              <a:t> достиг </a:t>
            </a:r>
            <a:r>
              <a:rPr lang="ru-RU" sz="1200" b="1"/>
              <a:t>39%</a:t>
            </a:r>
            <a:r>
              <a:rPr lang="ru-RU" sz="1200"/>
              <a:t> нового жилья к 2020 году. </a:t>
            </a:r>
            <a:r>
              <a:rPr lang="ru-RU" sz="1200" b="1"/>
              <a:t>Продуктивность</a:t>
            </a:r>
            <a:r>
              <a:rPr lang="ru-RU" sz="1200"/>
              <a:t> выше на </a:t>
            </a:r>
            <a:r>
              <a:rPr lang="en-US" sz="1200" b="1"/>
              <a:t>50%</a:t>
            </a:r>
            <a:endParaRPr lang="ru-RU" sz="12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E36D74-2C56-F773-5638-D9539760FB36}"/>
              </a:ext>
            </a:extLst>
          </p:cNvPr>
          <p:cNvSpPr txBox="1"/>
          <p:nvPr/>
        </p:nvSpPr>
        <p:spPr>
          <a:xfrm>
            <a:off x="4981908" y="4296200"/>
            <a:ext cx="27601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Швеция: более 30% </a:t>
            </a:r>
            <a:r>
              <a:rPr lang="ru-RU" sz="1200"/>
              <a:t>нового жилья – модульное, </a:t>
            </a:r>
            <a:r>
              <a:rPr lang="ru-RU" sz="1200" b="1"/>
              <a:t>расходы</a:t>
            </a:r>
            <a:r>
              <a:rPr lang="ru-RU" sz="1200"/>
              <a:t> снижены на </a:t>
            </a:r>
            <a:r>
              <a:rPr lang="ru-RU" sz="1200" b="1"/>
              <a:t>19%</a:t>
            </a:r>
            <a:r>
              <a:rPr lang="ru-RU" sz="1200"/>
              <a:t>, строительство </a:t>
            </a:r>
            <a:r>
              <a:rPr lang="ru-RU" sz="1200" b="1"/>
              <a:t>не зависит </a:t>
            </a:r>
            <a:r>
              <a:rPr lang="ru-RU" sz="1200"/>
              <a:t>от </a:t>
            </a:r>
            <a:r>
              <a:rPr lang="ru-RU" sz="1200" b="1"/>
              <a:t>погоды</a:t>
            </a:r>
            <a:endParaRPr lang="en-US" sz="12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514D0CE-D790-4233-1BE3-EEFBBBDA1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2" t="7806" r="7591" b="6336"/>
          <a:stretch/>
        </p:blipFill>
        <p:spPr>
          <a:xfrm>
            <a:off x="4509693" y="2988369"/>
            <a:ext cx="406799" cy="4067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502A913-C069-F1C1-64EC-8162E634A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692" y="4296200"/>
            <a:ext cx="406799" cy="40679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6157070-CFDF-E2A0-E437-257D1EFED4FC}"/>
              </a:ext>
            </a:extLst>
          </p:cNvPr>
          <p:cNvSpPr txBox="1"/>
          <p:nvPr/>
        </p:nvSpPr>
        <p:spPr>
          <a:xfrm>
            <a:off x="8562138" y="3042172"/>
            <a:ext cx="3326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0"/>
              <a:t>Цифровые модели зданий </a:t>
            </a:r>
            <a:r>
              <a:rPr lang="ru-RU" sz="1100" i="1" noProof="0"/>
              <a:t>(</a:t>
            </a:r>
            <a:r>
              <a:rPr lang="en-US" sz="1100" i="1" noProof="0"/>
              <a:t>BIM)</a:t>
            </a:r>
            <a:endParaRPr lang="ru-RU" sz="1200" i="1" noProof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484E6D-329D-27BA-5D55-5711EFF3A079}"/>
              </a:ext>
            </a:extLst>
          </p:cNvPr>
          <p:cNvSpPr txBox="1"/>
          <p:nvPr/>
        </p:nvSpPr>
        <p:spPr>
          <a:xfrm>
            <a:off x="8976646" y="3315551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Модульное строительство</a:t>
            </a:r>
            <a:endParaRPr lang="ru-RU" sz="1200" noProof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EDC60C-F333-45E5-6B06-90AF9ED0D07B}"/>
              </a:ext>
            </a:extLst>
          </p:cNvPr>
          <p:cNvSpPr txBox="1"/>
          <p:nvPr/>
        </p:nvSpPr>
        <p:spPr>
          <a:xfrm>
            <a:off x="8976645" y="3588930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/>
              <a:t>Интернет вещей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6F2ADD-648A-8630-6825-A90F201AB270}"/>
              </a:ext>
            </a:extLst>
          </p:cNvPr>
          <p:cNvSpPr txBox="1"/>
          <p:nvPr/>
        </p:nvSpPr>
        <p:spPr>
          <a:xfrm>
            <a:off x="8976646" y="3862309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0"/>
              <a:t>3-D печать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B53806-E9BF-7960-4513-FAE9162FB032}"/>
              </a:ext>
            </a:extLst>
          </p:cNvPr>
          <p:cNvSpPr txBox="1"/>
          <p:nvPr/>
        </p:nvSpPr>
        <p:spPr>
          <a:xfrm>
            <a:off x="8976646" y="4135688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Искусственный интеллект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2D3F89-A49F-7EC9-B974-5C4B4AF4B8BB}"/>
              </a:ext>
            </a:extLst>
          </p:cNvPr>
          <p:cNvSpPr txBox="1"/>
          <p:nvPr/>
        </p:nvSpPr>
        <p:spPr>
          <a:xfrm>
            <a:off x="8976646" y="4409067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Автоматизация и роботы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D76526-497E-E8E5-4D18-AE66D74A9011}"/>
              </a:ext>
            </a:extLst>
          </p:cNvPr>
          <p:cNvSpPr txBox="1"/>
          <p:nvPr/>
        </p:nvSpPr>
        <p:spPr>
          <a:xfrm>
            <a:off x="8976646" y="4682446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Цифровые платформы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C785D4-2887-57C5-4203-55E28A81B895}"/>
              </a:ext>
            </a:extLst>
          </p:cNvPr>
          <p:cNvSpPr txBox="1"/>
          <p:nvPr/>
        </p:nvSpPr>
        <p:spPr>
          <a:xfrm>
            <a:off x="8976646" y="4955827"/>
            <a:ext cx="2497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Виртуальная реальность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41C1D0-A102-1C4B-EEE5-796A1CDB65A3}"/>
              </a:ext>
            </a:extLst>
          </p:cNvPr>
          <p:cNvSpPr txBox="1"/>
          <p:nvPr/>
        </p:nvSpPr>
        <p:spPr>
          <a:xfrm>
            <a:off x="8352910" y="2496608"/>
            <a:ext cx="3326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noProof="1"/>
              <a:t> Распространненость инноваций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275A67A-405D-A9EE-44BD-CB78198B058E}"/>
              </a:ext>
            </a:extLst>
          </p:cNvPr>
          <p:cNvSpPr/>
          <p:nvPr/>
        </p:nvSpPr>
        <p:spPr>
          <a:xfrm>
            <a:off x="8351598" y="2848732"/>
            <a:ext cx="118448" cy="743818"/>
          </a:xfrm>
          <a:prstGeom prst="rect">
            <a:avLst/>
          </a:prstGeom>
          <a:solidFill>
            <a:srgbClr val="376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279F4E-4F8A-0096-4BF7-CDF118DD275C}"/>
              </a:ext>
            </a:extLst>
          </p:cNvPr>
          <p:cNvSpPr txBox="1"/>
          <p:nvPr/>
        </p:nvSpPr>
        <p:spPr>
          <a:xfrm rot="16200000">
            <a:off x="8141911" y="3086602"/>
            <a:ext cx="9332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Часто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D446C5-C4C6-C6B7-8B65-8A1461060619}"/>
              </a:ext>
            </a:extLst>
          </p:cNvPr>
          <p:cNvSpPr/>
          <p:nvPr/>
        </p:nvSpPr>
        <p:spPr>
          <a:xfrm>
            <a:off x="8351598" y="3588930"/>
            <a:ext cx="118448" cy="8555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FED56D-B2F0-07EB-4A53-DBF0388ECB66}"/>
              </a:ext>
            </a:extLst>
          </p:cNvPr>
          <p:cNvSpPr txBox="1"/>
          <p:nvPr/>
        </p:nvSpPr>
        <p:spPr>
          <a:xfrm rot="16200000">
            <a:off x="8141911" y="3883096"/>
            <a:ext cx="9332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Точечно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0C13A0-5378-CC61-5475-8D31BDE7AC6A}"/>
              </a:ext>
            </a:extLst>
          </p:cNvPr>
          <p:cNvSpPr/>
          <p:nvPr/>
        </p:nvSpPr>
        <p:spPr>
          <a:xfrm>
            <a:off x="8351598" y="4437645"/>
            <a:ext cx="118448" cy="743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5F7034-A361-E89F-42B3-DEBEC8447F6D}"/>
              </a:ext>
            </a:extLst>
          </p:cNvPr>
          <p:cNvSpPr txBox="1"/>
          <p:nvPr/>
        </p:nvSpPr>
        <p:spPr>
          <a:xfrm rot="16200000">
            <a:off x="8220361" y="4674475"/>
            <a:ext cx="776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noProof="1"/>
              <a:t>Редко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9B20F4-0E76-CF3D-AA57-5EBA9CF1BFEF}"/>
              </a:ext>
            </a:extLst>
          </p:cNvPr>
          <p:cNvCxnSpPr>
            <a:cxnSpLocks/>
          </p:cNvCxnSpPr>
          <p:nvPr/>
        </p:nvCxnSpPr>
        <p:spPr>
          <a:xfrm>
            <a:off x="8470046" y="3588930"/>
            <a:ext cx="31049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93A4645-D978-C892-C939-74F6DC46B23F}"/>
              </a:ext>
            </a:extLst>
          </p:cNvPr>
          <p:cNvCxnSpPr>
            <a:cxnSpLocks/>
          </p:cNvCxnSpPr>
          <p:nvPr/>
        </p:nvCxnSpPr>
        <p:spPr>
          <a:xfrm>
            <a:off x="8470046" y="4437645"/>
            <a:ext cx="31049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D18F6EA0-E4A6-902E-ABE3-CB1B44356558}"/>
              </a:ext>
            </a:extLst>
          </p:cNvPr>
          <p:cNvSpPr>
            <a:spLocks/>
          </p:cNvSpPr>
          <p:nvPr/>
        </p:nvSpPr>
        <p:spPr>
          <a:xfrm>
            <a:off x="517953" y="2562948"/>
            <a:ext cx="483394" cy="48339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5454C2-EAE8-C3E9-1DF6-48B5A67F6A3B}"/>
              </a:ext>
            </a:extLst>
          </p:cNvPr>
          <p:cNvSpPr/>
          <p:nvPr/>
        </p:nvSpPr>
        <p:spPr>
          <a:xfrm>
            <a:off x="517953" y="3113279"/>
            <a:ext cx="483394" cy="4825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5EFD20-D35F-AE47-9153-63C186BCEB53}"/>
              </a:ext>
            </a:extLst>
          </p:cNvPr>
          <p:cNvSpPr/>
          <p:nvPr/>
        </p:nvSpPr>
        <p:spPr>
          <a:xfrm>
            <a:off x="517953" y="3662768"/>
            <a:ext cx="483394" cy="4825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5DE42F5-F8CF-6B49-57AC-4C93431D6874}"/>
              </a:ext>
            </a:extLst>
          </p:cNvPr>
          <p:cNvSpPr/>
          <p:nvPr/>
        </p:nvSpPr>
        <p:spPr>
          <a:xfrm>
            <a:off x="521532" y="4212257"/>
            <a:ext cx="479815" cy="4789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8A1A6D-A0A0-E1D1-58FA-D0DA9A8137D6}"/>
              </a:ext>
            </a:extLst>
          </p:cNvPr>
          <p:cNvSpPr txBox="1"/>
          <p:nvPr/>
        </p:nvSpPr>
        <p:spPr>
          <a:xfrm>
            <a:off x="1118483" y="2545524"/>
            <a:ext cx="26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Бетонное полотно</a:t>
            </a:r>
            <a:r>
              <a:rPr lang="ru-RU" sz="1200"/>
              <a:t>: застывает с водой, в продаже</a:t>
            </a:r>
            <a:endParaRPr lang="en-US" sz="120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530765D-0AC6-D77A-1E7A-ED1ADFEB71EF}"/>
              </a:ext>
            </a:extLst>
          </p:cNvPr>
          <p:cNvSpPr/>
          <p:nvPr/>
        </p:nvSpPr>
        <p:spPr>
          <a:xfrm>
            <a:off x="517953" y="4758171"/>
            <a:ext cx="479815" cy="4789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2AB446-A282-7D71-4AC4-58D608293816}"/>
              </a:ext>
            </a:extLst>
          </p:cNvPr>
          <p:cNvSpPr txBox="1"/>
          <p:nvPr/>
        </p:nvSpPr>
        <p:spPr>
          <a:xfrm>
            <a:off x="1118483" y="3016466"/>
            <a:ext cx="26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Аэрогель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теплоизоляция, ультралегкий, в продаже</a:t>
            </a:r>
            <a:endParaRPr lang="en-US" sz="12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C74915-3FA0-1B88-16BF-A5D24F28B791}"/>
              </a:ext>
            </a:extLst>
          </p:cNvPr>
          <p:cNvSpPr txBox="1"/>
          <p:nvPr/>
        </p:nvSpPr>
        <p:spPr>
          <a:xfrm>
            <a:off x="1118483" y="3487408"/>
            <a:ext cx="2614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Водопроницаемый бетон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впитывает 4 000 л/мин, раннее внедрение</a:t>
            </a:r>
            <a:endParaRPr lang="en-US" sz="12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C170AE-C908-7179-D172-7E973D41A344}"/>
              </a:ext>
            </a:extLst>
          </p:cNvPr>
          <p:cNvSpPr txBox="1"/>
          <p:nvPr/>
        </p:nvSpPr>
        <p:spPr>
          <a:xfrm>
            <a:off x="1118483" y="4143016"/>
            <a:ext cx="2614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Самовосстанавливающийся бетон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бактерии заживляют трещины, прототип</a:t>
            </a:r>
            <a:endParaRPr lang="en-US" sz="12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9AC9AD-401B-B1E3-49E7-830D0BBA1E8F}"/>
              </a:ext>
            </a:extLst>
          </p:cNvPr>
          <p:cNvSpPr txBox="1"/>
          <p:nvPr/>
        </p:nvSpPr>
        <p:spPr>
          <a:xfrm>
            <a:off x="1118483" y="4798625"/>
            <a:ext cx="2614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Наноматериалы</a:t>
            </a:r>
            <a:r>
              <a:rPr lang="en-US" sz="1200" b="1"/>
              <a:t>: </a:t>
            </a:r>
            <a:r>
              <a:rPr lang="ru-RU" sz="1200"/>
              <a:t>прочные, ультралегкие, исследуются</a:t>
            </a:r>
            <a:endParaRPr lang="en-US" sz="1200"/>
          </a:p>
        </p:txBody>
      </p:sp>
      <p:pic>
        <p:nvPicPr>
          <p:cNvPr id="76" name="Graphic 75" descr="Water outline">
            <a:extLst>
              <a:ext uri="{FF2B5EF4-FFF2-40B4-BE49-F238E27FC236}">
                <a16:creationId xmlns:a16="http://schemas.microsoft.com/office/drawing/2014/main" id="{F45CFCAD-92C0-780A-276D-9E54642D8A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450" y="3680844"/>
            <a:ext cx="446400" cy="446400"/>
          </a:xfrm>
          <a:prstGeom prst="rect">
            <a:avLst/>
          </a:prstGeom>
        </p:spPr>
      </p:pic>
      <p:pic>
        <p:nvPicPr>
          <p:cNvPr id="78" name="Graphic 77" descr="Stop outline">
            <a:extLst>
              <a:ext uri="{FF2B5EF4-FFF2-40B4-BE49-F238E27FC236}">
                <a16:creationId xmlns:a16="http://schemas.microsoft.com/office/drawing/2014/main" id="{E0D0AE33-0C04-DB3E-15A4-3550F3EAE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387" y="3172292"/>
            <a:ext cx="364527" cy="364527"/>
          </a:xfrm>
          <a:prstGeom prst="rect">
            <a:avLst/>
          </a:prstGeom>
        </p:spPr>
      </p:pic>
      <p:pic>
        <p:nvPicPr>
          <p:cNvPr id="80" name="Graphic 79" descr="Watering pot outline">
            <a:extLst>
              <a:ext uri="{FF2B5EF4-FFF2-40B4-BE49-F238E27FC236}">
                <a16:creationId xmlns:a16="http://schemas.microsoft.com/office/drawing/2014/main" id="{34C2A45F-0182-A7B0-06EA-B056EA1DF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338" y="2623333"/>
            <a:ext cx="362624" cy="362624"/>
          </a:xfrm>
          <a:prstGeom prst="rect">
            <a:avLst/>
          </a:prstGeom>
        </p:spPr>
      </p:pic>
      <p:pic>
        <p:nvPicPr>
          <p:cNvPr id="82" name="Graphic 81" descr="Medical outline">
            <a:extLst>
              <a:ext uri="{FF2B5EF4-FFF2-40B4-BE49-F238E27FC236}">
                <a16:creationId xmlns:a16="http://schemas.microsoft.com/office/drawing/2014/main" id="{FBBF75C8-CA49-B05B-522D-5C50801C6D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239" y="4228546"/>
            <a:ext cx="446400" cy="446400"/>
          </a:xfrm>
          <a:prstGeom prst="rect">
            <a:avLst/>
          </a:prstGeom>
        </p:spPr>
      </p:pic>
      <p:pic>
        <p:nvPicPr>
          <p:cNvPr id="84" name="Graphic 83" descr="Blueberry outline">
            <a:extLst>
              <a:ext uri="{FF2B5EF4-FFF2-40B4-BE49-F238E27FC236}">
                <a16:creationId xmlns:a16="http://schemas.microsoft.com/office/drawing/2014/main" id="{E6599C38-96E9-A862-A8DF-635CAD19C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2600" y="4812400"/>
            <a:ext cx="370521" cy="370521"/>
          </a:xfrm>
          <a:prstGeom prst="rect">
            <a:avLst/>
          </a:prstGeom>
        </p:spPr>
      </p:pic>
      <p:sp>
        <p:nvSpPr>
          <p:cNvPr id="17" name="Дата 16">
            <a:extLst>
              <a:ext uri="{FF2B5EF4-FFF2-40B4-BE49-F238E27FC236}">
                <a16:creationId xmlns:a16="http://schemas.microsoft.com/office/drawing/2014/main" id="{16839AC5-F6C4-D620-4A17-D05C1E46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919B-B55B-B24E-BF9D-6814A5F8D658}" type="datetime1">
              <a:rPr lang="en-US" smtClean="0"/>
              <a:t>4/2/26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DE21A-C20E-3393-71E3-5941A2F960F2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6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E746098B-CCD2-8A1A-FB56-8CE4B26F5D7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28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DAC5454E-B389-87FE-6995-16115DA5890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FD6B0-F911-926F-3894-0BB26682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7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5493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  <p:bldP spid="11" grpId="0" animBg="1"/>
      <p:bldP spid="15" grpId="0" animBg="1"/>
      <p:bldP spid="21" grpId="0" animBg="1"/>
      <p:bldP spid="22" grpId="0"/>
      <p:bldP spid="23" grpId="0"/>
      <p:bldP spid="24" grpId="0"/>
      <p:bldP spid="33" grpId="0"/>
      <p:bldP spid="36" grpId="0"/>
      <p:bldP spid="42" grpId="0"/>
      <p:bldP spid="64" grpId="0"/>
      <p:bldP spid="65" grpId="0"/>
      <p:bldP spid="25" grpId="0"/>
      <p:bldP spid="26" grpId="0"/>
      <p:bldP spid="51" grpId="0"/>
      <p:bldP spid="52" grpId="0"/>
      <p:bldP spid="53" grpId="0"/>
      <p:bldP spid="56" grpId="0"/>
      <p:bldP spid="57" grpId="0"/>
      <p:bldP spid="59" grpId="0"/>
      <p:bldP spid="60" grpId="0"/>
      <p:bldP spid="69" grpId="0"/>
      <p:bldP spid="73" grpId="0"/>
      <p:bldP spid="75" grpId="0" animBg="1"/>
      <p:bldP spid="19" grpId="0"/>
      <p:bldP spid="20" grpId="0" animBg="1"/>
      <p:bldP spid="31" grpId="0"/>
      <p:bldP spid="32" grpId="0" animBg="1"/>
      <p:bldP spid="34" grpId="0"/>
      <p:bldP spid="43" grpId="0" animBg="1"/>
      <p:bldP spid="44" grpId="0" animBg="1"/>
      <p:bldP spid="47" grpId="0" animBg="1"/>
      <p:bldP spid="48" grpId="0" animBg="1"/>
      <p:bldP spid="49" grpId="0"/>
      <p:bldP spid="67" grpId="0" animBg="1"/>
      <p:bldP spid="68" grpId="0"/>
      <p:bldP spid="70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1DAA-9A2C-41E8-1239-F27E1A44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A98E7C-ABA8-01A7-4496-1D2D55960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34561"/>
              </p:ext>
            </p:extLst>
          </p:nvPr>
        </p:nvGraphicFramePr>
        <p:xfrm>
          <a:off x="244233" y="1709759"/>
          <a:ext cx="8034794" cy="4605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18">
                  <a:extLst>
                    <a:ext uri="{9D8B030D-6E8A-4147-A177-3AD203B41FA5}">
                      <a16:colId xmlns:a16="http://schemas.microsoft.com/office/drawing/2014/main" val="329117001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88679688"/>
                    </a:ext>
                  </a:extLst>
                </a:gridCol>
                <a:gridCol w="4373776">
                  <a:extLst>
                    <a:ext uri="{9D8B030D-6E8A-4147-A177-3AD203B41FA5}">
                      <a16:colId xmlns:a16="http://schemas.microsoft.com/office/drawing/2014/main" val="759637450"/>
                    </a:ext>
                  </a:extLst>
                </a:gridCol>
              </a:tblGrid>
              <a:tr h="303458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Игроки</a:t>
                      </a:r>
                      <a:endParaRPr lang="en-KZ" sz="14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Мотивация</a:t>
                      </a:r>
                      <a:endParaRPr lang="en-KZ" sz="14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Конфликты</a:t>
                      </a:r>
                      <a:endParaRPr lang="en-KZ" sz="14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2770113"/>
                  </a:ext>
                </a:extLst>
              </a:tr>
              <a:tr h="409668">
                <a:tc rowSpan="3">
                  <a:txBody>
                    <a:bodyPr/>
                    <a:lstStyle/>
                    <a:p>
                      <a:r>
                        <a:rPr lang="ru-RU" sz="1050" b="1"/>
                        <a:t>Владельцы проекта</a:t>
                      </a:r>
                      <a:endParaRPr lang="en-KZ" sz="1050" b="1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Закончить проект </a:t>
                      </a:r>
                      <a:r>
                        <a:rPr lang="ru-RU" sz="1050" b="0"/>
                        <a:t>качественно</a:t>
                      </a:r>
                      <a:r>
                        <a:rPr lang="ru-RU" sz="1050"/>
                        <a:t> и в </a:t>
                      </a:r>
                      <a:r>
                        <a:rPr lang="ru-RU" sz="1050" b="0"/>
                        <a:t>срок</a:t>
                      </a:r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Постоянно </a:t>
                      </a:r>
                      <a:r>
                        <a:rPr lang="ru-RU" sz="1050" b="1"/>
                        <a:t>подталкивают</a:t>
                      </a:r>
                      <a:r>
                        <a:rPr lang="ru-RU" sz="1050"/>
                        <a:t> подрядчиков и поставщиков </a:t>
                      </a:r>
                      <a:r>
                        <a:rPr lang="ru-RU" sz="1050" b="1"/>
                        <a:t>к ускорению</a:t>
                      </a:r>
                      <a:endParaRPr lang="en-KZ" sz="1050" b="1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587349"/>
                  </a:ext>
                </a:extLst>
              </a:tr>
              <a:tr h="346803">
                <a:tc vMerge="1">
                  <a:txBody>
                    <a:bodyPr/>
                    <a:lstStyle/>
                    <a:p>
                      <a:endParaRPr lang="en-KZ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Получить </a:t>
                      </a:r>
                      <a:r>
                        <a:rPr lang="ru-RU" sz="1050" b="0"/>
                        <a:t>выгоду</a:t>
                      </a:r>
                      <a:endParaRPr lang="en-KZ" sz="1050" b="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Стараются </a:t>
                      </a:r>
                      <a:r>
                        <a:rPr lang="ru-RU" sz="1050" b="1"/>
                        <a:t>экономить</a:t>
                      </a:r>
                      <a:r>
                        <a:rPr lang="ru-RU" sz="1050"/>
                        <a:t> </a:t>
                      </a:r>
                      <a:r>
                        <a:rPr lang="ru-RU" sz="1000" i="1"/>
                        <a:t>(на подрядчиках, материалах, т. д.)</a:t>
                      </a:r>
                      <a:endParaRPr lang="en-KZ" sz="1050" i="1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470082"/>
                  </a:ext>
                </a:extLst>
              </a:tr>
              <a:tr h="409668">
                <a:tc vMerge="1">
                  <a:txBody>
                    <a:bodyPr/>
                    <a:lstStyle/>
                    <a:p>
                      <a:endParaRPr lang="en-KZ" sz="1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Избежать </a:t>
                      </a:r>
                      <a:r>
                        <a:rPr lang="ru-RU" sz="1050" b="0"/>
                        <a:t>больших неудач</a:t>
                      </a:r>
                      <a:endParaRPr lang="en-KZ" sz="1050" b="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Привлекают лучших возможных подрядчиков и </a:t>
                      </a:r>
                      <a:r>
                        <a:rPr lang="ru-RU" sz="1050" b="1"/>
                        <a:t>переносят все риски </a:t>
                      </a:r>
                      <a:r>
                        <a:rPr lang="ru-RU" sz="1050"/>
                        <a:t>на них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29221"/>
                  </a:ext>
                </a:extLst>
              </a:tr>
              <a:tr h="409668">
                <a:tc rowSpan="2">
                  <a:txBody>
                    <a:bodyPr/>
                    <a:lstStyle/>
                    <a:p>
                      <a:r>
                        <a:rPr lang="ru-RU" sz="1050" b="1"/>
                        <a:t>Главный подрядчик</a:t>
                      </a:r>
                      <a:endParaRPr lang="en-KZ" sz="1050" b="1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/>
                        <a:t>Максимизировать</a:t>
                      </a:r>
                      <a:r>
                        <a:rPr lang="ru-RU" sz="1050"/>
                        <a:t> маржу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Взимают плату за </a:t>
                      </a:r>
                      <a:r>
                        <a:rPr lang="ru-RU" sz="1050" b="1"/>
                        <a:t>любые</a:t>
                      </a:r>
                      <a:r>
                        <a:rPr lang="ru-RU" sz="1050"/>
                        <a:t> изменения объема, подают заявки на </a:t>
                      </a:r>
                      <a:r>
                        <a:rPr lang="ru-RU" sz="1050" b="1"/>
                        <a:t>вариации</a:t>
                      </a:r>
                      <a:r>
                        <a:rPr lang="ru-RU" sz="1050"/>
                        <a:t> и продление </a:t>
                      </a:r>
                      <a:r>
                        <a:rPr lang="ru-RU" sz="1050" b="1"/>
                        <a:t>сроков</a:t>
                      </a:r>
                      <a:endParaRPr lang="en-KZ" sz="1050" b="1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016934"/>
                  </a:ext>
                </a:extLst>
              </a:tr>
              <a:tr h="409668">
                <a:tc vMerge="1">
                  <a:txBody>
                    <a:bodyPr/>
                    <a:lstStyle/>
                    <a:p>
                      <a:endParaRPr lang="en-KZ" sz="12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Финансовая </a:t>
                      </a:r>
                      <a:r>
                        <a:rPr lang="ru-RU" sz="1050" b="0"/>
                        <a:t>стабильность</a:t>
                      </a:r>
                      <a:endParaRPr lang="en-KZ" sz="1050" b="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Получают платежи </a:t>
                      </a:r>
                      <a:r>
                        <a:rPr lang="ru-RU" sz="1050" b="1"/>
                        <a:t>по этапам</a:t>
                      </a:r>
                      <a:r>
                        <a:rPr lang="en-US" sz="1050"/>
                        <a:t>;</a:t>
                      </a:r>
                      <a:r>
                        <a:rPr lang="ru-RU" sz="1050"/>
                        <a:t> </a:t>
                      </a:r>
                      <a:r>
                        <a:rPr lang="ru-RU" sz="1050" b="1"/>
                        <a:t>тормозят</a:t>
                      </a:r>
                      <a:r>
                        <a:rPr lang="ru-RU" sz="1050"/>
                        <a:t> работу, если не получают оплату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48687"/>
                  </a:ext>
                </a:extLst>
              </a:tr>
              <a:tr h="502267">
                <a:tc rowSpan="2">
                  <a:txBody>
                    <a:bodyPr/>
                    <a:lstStyle/>
                    <a:p>
                      <a:r>
                        <a:rPr lang="ru-RU" sz="1050" b="1"/>
                        <a:t>Дизайнер / архитектор</a:t>
                      </a:r>
                      <a:endParaRPr lang="en-KZ" sz="1050" b="1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Показать свои </a:t>
                      </a:r>
                      <a:r>
                        <a:rPr lang="ru-RU" sz="1050" b="0"/>
                        <a:t>способности</a:t>
                      </a:r>
                      <a:r>
                        <a:rPr lang="ru-RU" sz="1050"/>
                        <a:t> и поднять </a:t>
                      </a:r>
                      <a:r>
                        <a:rPr lang="ru-RU" sz="1050" b="0"/>
                        <a:t>репутацию</a:t>
                      </a:r>
                      <a:endParaRPr lang="en-KZ" sz="1050" b="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Предоставляет части дизайна в </a:t>
                      </a:r>
                      <a:r>
                        <a:rPr lang="ru-RU" sz="1050" b="1"/>
                        <a:t>случайном</a:t>
                      </a:r>
                      <a:r>
                        <a:rPr lang="ru-RU" sz="1050"/>
                        <a:t> порядке, а не так, как нужно подрядчику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114347"/>
                  </a:ext>
                </a:extLst>
              </a:tr>
              <a:tr h="409668">
                <a:tc vMerge="1">
                  <a:txBody>
                    <a:bodyPr/>
                    <a:lstStyle/>
                    <a:p>
                      <a:endParaRPr lang="en-KZ" sz="12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 b="0"/>
                        <a:t>Минимизировать</a:t>
                      </a:r>
                      <a:r>
                        <a:rPr lang="ru-RU" sz="1050"/>
                        <a:t> старания и ресурсы</a:t>
                      </a:r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Работает в соответствии со </a:t>
                      </a:r>
                      <a:r>
                        <a:rPr lang="ru-RU" sz="1050" b="1"/>
                        <a:t>своими</a:t>
                      </a:r>
                      <a:r>
                        <a:rPr lang="ru-RU" sz="1050"/>
                        <a:t> ресурсами и графиком, а не проекта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766632"/>
                  </a:ext>
                </a:extLst>
              </a:tr>
              <a:tr h="409668">
                <a:tc>
                  <a:txBody>
                    <a:bodyPr/>
                    <a:lstStyle/>
                    <a:p>
                      <a:r>
                        <a:rPr lang="ru-RU" sz="1050" b="1"/>
                        <a:t>Субподрядчик</a:t>
                      </a:r>
                      <a:endParaRPr lang="en-KZ" sz="1050" b="1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Оптимизировать ресурсы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Использовать </a:t>
                      </a:r>
                      <a:r>
                        <a:rPr lang="ru-RU" sz="1050" b="1"/>
                        <a:t>самый дешевый</a:t>
                      </a:r>
                      <a:r>
                        <a:rPr lang="ru-RU" sz="1050"/>
                        <a:t> труд и материалы;</a:t>
                      </a:r>
                      <a:r>
                        <a:rPr lang="en-US" sz="1050"/>
                        <a:t> </a:t>
                      </a:r>
                      <a:r>
                        <a:rPr lang="ru-RU" sz="1050"/>
                        <a:t>подавать заявки, если что-то не так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646546"/>
                  </a:ext>
                </a:extLst>
              </a:tr>
              <a:tr h="409668">
                <a:tc>
                  <a:txBody>
                    <a:bodyPr/>
                    <a:lstStyle/>
                    <a:p>
                      <a:r>
                        <a:rPr lang="ru-RU" sz="1050" b="1"/>
                        <a:t>Поставщик материалов</a:t>
                      </a:r>
                      <a:endParaRPr lang="en-KZ" sz="1050" b="1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50"/>
                        <a:t>Финансовая стабильность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Увеличить свою маржу на </a:t>
                      </a:r>
                      <a:r>
                        <a:rPr lang="ru-RU" sz="1050" b="1"/>
                        <a:t>материалах</a:t>
                      </a:r>
                      <a:r>
                        <a:rPr lang="ru-RU" sz="1050"/>
                        <a:t> и </a:t>
                      </a:r>
                      <a:r>
                        <a:rPr lang="ru-RU" sz="1050" b="1"/>
                        <a:t>поставках</a:t>
                      </a:r>
                      <a:endParaRPr lang="en-KZ" sz="1050" b="1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513839"/>
                  </a:ext>
                </a:extLst>
              </a:tr>
              <a:tr h="568984">
                <a:tc>
                  <a:txBody>
                    <a:bodyPr/>
                    <a:lstStyle/>
                    <a:p>
                      <a:r>
                        <a:rPr lang="ru-RU" sz="1050" b="1"/>
                        <a:t>Поставщики оборудования</a:t>
                      </a:r>
                      <a:endParaRPr lang="en-KZ" sz="1050" b="1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/>
                        <a:t>Максимизировать</a:t>
                      </a:r>
                      <a:r>
                        <a:rPr lang="ru-RU" sz="1050"/>
                        <a:t> маржу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50"/>
                        <a:t>Продать или сдать в аренду </a:t>
                      </a:r>
                      <a:r>
                        <a:rPr lang="ru-RU" sz="1050" b="1"/>
                        <a:t>наиболее дорогую </a:t>
                      </a:r>
                      <a:r>
                        <a:rPr lang="ru-RU" sz="1050"/>
                        <a:t>технологию или продукт, а не наиболее подходящую под нужды владельца</a:t>
                      </a:r>
                      <a:endParaRPr lang="en-KZ" sz="1050"/>
                    </a:p>
                  </a:txBody>
                  <a:tcPr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272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3DDADC-53D7-64AC-AAA4-29612E4C8CD3}"/>
              </a:ext>
            </a:extLst>
          </p:cNvPr>
          <p:cNvSpPr txBox="1"/>
          <p:nvPr/>
        </p:nvSpPr>
        <p:spPr>
          <a:xfrm>
            <a:off x="428882" y="6271197"/>
            <a:ext cx="252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Источник: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 McKinsey Global Institute</a:t>
            </a:r>
          </a:p>
        </p:txBody>
      </p:sp>
      <p:sp>
        <p:nvSpPr>
          <p:cNvPr id="17" name="Прямоугольник 6">
            <a:extLst>
              <a:ext uri="{FF2B5EF4-FFF2-40B4-BE49-F238E27FC236}">
                <a16:creationId xmlns:a16="http://schemas.microsoft.com/office/drawing/2014/main" id="{AE7B3785-39B5-5B08-8464-996EC23438DB}"/>
              </a:ext>
            </a:extLst>
          </p:cNvPr>
          <p:cNvSpPr/>
          <p:nvPr/>
        </p:nvSpPr>
        <p:spPr>
          <a:xfrm>
            <a:off x="8649730" y="1709757"/>
            <a:ext cx="3276022" cy="4589191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Стимулы участников </a:t>
            </a:r>
            <a:r>
              <a:rPr lang="ru-RU" sz="1200" b="1"/>
              <a:t>не совпадают </a:t>
            </a:r>
            <a:r>
              <a:rPr lang="ru-RU" sz="1200"/>
              <a:t>и их </a:t>
            </a:r>
            <a:r>
              <a:rPr lang="ru-RU" sz="1200" b="1"/>
              <a:t>во многом </a:t>
            </a:r>
            <a:r>
              <a:rPr lang="ru-RU" sz="1200"/>
              <a:t>определяют условия </a:t>
            </a:r>
            <a:r>
              <a:rPr lang="ru-RU" sz="1200" b="1"/>
              <a:t>контрактов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Традиционные контракты распределяют наказания, награды и риски </a:t>
            </a:r>
            <a:r>
              <a:rPr lang="ru-RU" sz="1200" b="1"/>
              <a:t>неравномерно</a:t>
            </a:r>
            <a:r>
              <a:rPr lang="en-US" sz="1200" b="1"/>
              <a:t>: </a:t>
            </a:r>
            <a:endParaRPr lang="ru-RU" sz="1200" b="1"/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b="1"/>
              <a:t>модель компенсирования расходов </a:t>
            </a:r>
            <a:r>
              <a:rPr lang="ru-RU" sz="1200"/>
              <a:t>полностью переносит риски на владельца</a:t>
            </a:r>
            <a:endParaRPr lang="ru-RU" sz="1200" b="1"/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b="1"/>
              <a:t>модель одноразовой оплаты – </a:t>
            </a:r>
            <a:r>
              <a:rPr lang="ru-RU" sz="1200"/>
              <a:t>наоборот,</a:t>
            </a:r>
            <a:r>
              <a:rPr lang="ru-RU" sz="1200" b="1"/>
              <a:t> </a:t>
            </a:r>
            <a:r>
              <a:rPr lang="ru-RU" sz="1200"/>
              <a:t>на подрядчика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 noProof="0"/>
              <a:t>В </a:t>
            </a:r>
            <a:r>
              <a:rPr lang="ru-RU" sz="1200"/>
              <a:t>среднем на строительном проекте работают </a:t>
            </a:r>
            <a:r>
              <a:rPr lang="ru-RU" sz="1200" b="1"/>
              <a:t>около 100 </a:t>
            </a:r>
            <a:r>
              <a:rPr lang="ru-RU" sz="1200"/>
              <a:t>различных субподрядчиков и поставщиков</a:t>
            </a:r>
            <a:r>
              <a:rPr lang="ru-RU" sz="1200" b="1"/>
              <a:t> – «каждый тянет в свою сторону»</a:t>
            </a:r>
            <a:endParaRPr lang="ru-RU" sz="1200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Влияние на результаты</a:t>
            </a:r>
            <a:r>
              <a:rPr lang="en-US" sz="1200"/>
              <a:t>:</a:t>
            </a:r>
            <a:r>
              <a:rPr lang="ru-RU" sz="1200"/>
              <a:t> изменения по ходу проекта приводят </a:t>
            </a:r>
            <a:r>
              <a:rPr lang="ru-RU" sz="1200" b="1"/>
              <a:t>к превышениям бюджета </a:t>
            </a:r>
            <a:r>
              <a:rPr lang="ru-RU" sz="1200"/>
              <a:t>в среднем на </a:t>
            </a:r>
            <a:r>
              <a:rPr lang="ru-RU" sz="1200" b="1"/>
              <a:t>80%</a:t>
            </a:r>
            <a:endParaRPr lang="en-US" sz="1200" b="1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Спрос на </a:t>
            </a:r>
            <a:r>
              <a:rPr lang="ru-RU" sz="1200" b="1"/>
              <a:t>новые виды контрактов</a:t>
            </a:r>
            <a:endParaRPr lang="ru-RU" sz="1200" b="1">
              <a:solidFill>
                <a:srgbClr val="D645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E9C86-9A6D-7A47-DE82-B59D6B4C206F}"/>
              </a:ext>
            </a:extLst>
          </p:cNvPr>
          <p:cNvSpPr txBox="1"/>
          <p:nvPr/>
        </p:nvSpPr>
        <p:spPr>
          <a:xfrm>
            <a:off x="244232" y="1345482"/>
            <a:ext cx="8034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Разные стимулы участников процесса</a:t>
            </a:r>
            <a:endParaRPr lang="en-US" sz="16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98E28-1A85-DFD9-58A5-B105592037F2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311EB-2E42-4BE8-1576-6D5C92C339A6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D1B30-CA07-3C99-DD7A-631129032576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0" name="Дата 9">
            <a:extLst>
              <a:ext uri="{FF2B5EF4-FFF2-40B4-BE49-F238E27FC236}">
                <a16:creationId xmlns:a16="http://schemas.microsoft.com/office/drawing/2014/main" id="{38D8FB43-9495-7D5D-D5F0-7826F4AD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B88A-8B1C-7747-BE9B-A66247A5B681}" type="datetime1">
              <a:rPr lang="en-US" smtClean="0"/>
              <a:t>4/2/26</a:t>
            </a:fld>
            <a:endParaRPr lang="x-none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E4E9A5FE-111D-B4D7-E0BE-ADFDA83E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60338"/>
            <a:ext cx="11115675" cy="830262"/>
          </a:xfrm>
        </p:spPr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тренды </a:t>
            </a:r>
            <a:r>
              <a:rPr lang="ru-RU" i="1"/>
              <a:t>(3</a:t>
            </a:r>
            <a:r>
              <a:rPr lang="en-US" i="1"/>
              <a:t>/4)</a:t>
            </a:r>
            <a:endParaRPr lang="ru-KZ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7F936-4E02-F256-3109-FF25AB891A52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5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748E103C-A39F-94AE-3C6F-FC4839A9C83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9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B50B782B-09E4-9031-A2D0-B03A4376DBE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7FF33-5599-C5A6-EBC2-B054C373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8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773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45AA0-6738-EDBC-4100-AC7395D7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E4EE717-1B42-CF2B-691C-5DBB1492FE9A}"/>
              </a:ext>
            </a:extLst>
          </p:cNvPr>
          <p:cNvSpPr txBox="1"/>
          <p:nvPr/>
        </p:nvSpPr>
        <p:spPr>
          <a:xfrm>
            <a:off x="428882" y="6271197"/>
            <a:ext cx="252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Источник: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 McKinsey Global Institute</a:t>
            </a:r>
          </a:p>
        </p:txBody>
      </p:sp>
      <p:sp>
        <p:nvSpPr>
          <p:cNvPr id="17" name="Прямоугольник 6">
            <a:extLst>
              <a:ext uri="{FF2B5EF4-FFF2-40B4-BE49-F238E27FC236}">
                <a16:creationId xmlns:a16="http://schemas.microsoft.com/office/drawing/2014/main" id="{488C2372-E8DE-9632-3497-07DEBA30E407}"/>
              </a:ext>
            </a:extLst>
          </p:cNvPr>
          <p:cNvSpPr/>
          <p:nvPr/>
        </p:nvSpPr>
        <p:spPr>
          <a:xfrm>
            <a:off x="8649730" y="1699597"/>
            <a:ext cx="3276022" cy="4589191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Пилотные проекты в </a:t>
            </a:r>
            <a:r>
              <a:rPr lang="ru-RU" sz="1200" b="1"/>
              <a:t>нефтегазе</a:t>
            </a:r>
            <a:r>
              <a:rPr lang="ru-RU" sz="1200"/>
              <a:t> и </a:t>
            </a:r>
            <a:r>
              <a:rPr lang="ru-RU" sz="1200" b="1"/>
              <a:t>здравоохранении</a:t>
            </a:r>
            <a:r>
              <a:rPr lang="ru-RU" sz="1200"/>
              <a:t> снизили </a:t>
            </a:r>
            <a:r>
              <a:rPr lang="ru-RU" sz="1200" b="1"/>
              <a:t>затраты</a:t>
            </a:r>
            <a:r>
              <a:rPr lang="ru-RU" sz="1200"/>
              <a:t> и </a:t>
            </a:r>
            <a:r>
              <a:rPr lang="ru-RU" sz="1200" b="1"/>
              <a:t>сроки</a:t>
            </a:r>
            <a:r>
              <a:rPr lang="ru-RU" sz="1200"/>
              <a:t> на </a:t>
            </a:r>
            <a:r>
              <a:rPr lang="ru-RU" sz="1200" b="1"/>
              <a:t>15–20%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Однако такие контракты требуют </a:t>
            </a:r>
            <a:r>
              <a:rPr lang="ru-RU" sz="1200" b="1"/>
              <a:t>высокой</a:t>
            </a:r>
            <a:r>
              <a:rPr lang="ru-RU" sz="1200"/>
              <a:t> </a:t>
            </a:r>
            <a:r>
              <a:rPr lang="ru-RU" sz="1200" b="1"/>
              <a:t>организационной</a:t>
            </a:r>
            <a:r>
              <a:rPr lang="ru-RU" sz="1200"/>
              <a:t> </a:t>
            </a:r>
            <a:r>
              <a:rPr lang="ru-RU" sz="1200" b="1"/>
              <a:t>зрелости</a:t>
            </a:r>
            <a:r>
              <a:rPr lang="ru-RU" sz="1200"/>
              <a:t>, </a:t>
            </a:r>
            <a:r>
              <a:rPr lang="ru-RU" sz="1200" b="1"/>
              <a:t>доверия</a:t>
            </a:r>
            <a:r>
              <a:rPr lang="ru-RU" sz="1200"/>
              <a:t> и </a:t>
            </a:r>
            <a:r>
              <a:rPr lang="ru-RU" sz="1200" b="1"/>
              <a:t>стабильной правовой среды</a:t>
            </a:r>
            <a:endParaRPr lang="ru-RU" sz="1200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Возможно </a:t>
            </a:r>
            <a:r>
              <a:rPr lang="ru-RU" sz="1200" b="1"/>
              <a:t>частичное применение</a:t>
            </a:r>
            <a:r>
              <a:rPr lang="en-US" sz="1200" b="1"/>
              <a:t>:</a:t>
            </a:r>
            <a:r>
              <a:rPr lang="ru-RU" sz="1200" b="1"/>
              <a:t> </a:t>
            </a:r>
            <a:r>
              <a:rPr lang="ru-RU" sz="1200"/>
              <a:t>минимизировать </a:t>
            </a:r>
            <a:r>
              <a:rPr lang="ru-RU" sz="1200" b="1"/>
              <a:t>проблемы принципала-агента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Принципалы </a:t>
            </a:r>
            <a:r>
              <a:rPr lang="ru-RU" sz="1200" b="1"/>
              <a:t>ограничены в информации </a:t>
            </a:r>
            <a:r>
              <a:rPr lang="ru-RU" sz="1100" i="1"/>
              <a:t>(о реальных затратах, сроках, качестве, т. д.), </a:t>
            </a:r>
            <a:r>
              <a:rPr lang="ru-RU" sz="1200"/>
              <a:t>поэтому агенты пользуются этим </a:t>
            </a:r>
            <a:r>
              <a:rPr lang="ru-RU" sz="1200" b="1"/>
              <a:t>преимуществом</a:t>
            </a:r>
            <a:r>
              <a:rPr lang="ru-RU" sz="1200"/>
              <a:t> и преследуют </a:t>
            </a:r>
            <a:r>
              <a:rPr lang="ru-RU" sz="1200" b="1"/>
              <a:t>свои интересы </a:t>
            </a:r>
            <a:r>
              <a:rPr lang="ru-RU" sz="1100" i="1"/>
              <a:t>(завышают смету, скрывают проблемы, затягивают сроки, т. д.)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Решение</a:t>
            </a:r>
            <a:r>
              <a:rPr lang="en-US" sz="1200"/>
              <a:t>: </a:t>
            </a:r>
            <a:r>
              <a:rPr lang="ru-RU" sz="1200" b="1"/>
              <a:t>согласование стимулов. Совместно</a:t>
            </a:r>
            <a:r>
              <a:rPr lang="ru-RU" sz="1200"/>
              <a:t> разработать </a:t>
            </a:r>
            <a:r>
              <a:rPr lang="ru-RU" sz="1200" b="1"/>
              <a:t>привлекательную</a:t>
            </a:r>
            <a:r>
              <a:rPr lang="ru-RU" sz="1200"/>
              <a:t> и </a:t>
            </a:r>
            <a:r>
              <a:rPr lang="ru-RU" sz="1200" b="1"/>
              <a:t>самоокупаемую</a:t>
            </a:r>
            <a:r>
              <a:rPr lang="ru-RU" sz="1200"/>
              <a:t> систему стимулов и механизмов разделения выгоды </a:t>
            </a:r>
            <a:r>
              <a:rPr lang="ru-RU" sz="1200" b="1"/>
              <a:t>от экономии, </a:t>
            </a:r>
            <a:r>
              <a:rPr lang="ru-RU" sz="1200"/>
              <a:t>исключая риски снижения качества ради </a:t>
            </a:r>
            <a:r>
              <a:rPr lang="en-US" sz="1200"/>
              <a:t>KPI</a:t>
            </a:r>
            <a:endParaRPr lang="ru-RU" sz="1100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791801-04E4-8A06-A60C-6FDD2583DAE8}"/>
              </a:ext>
            </a:extLst>
          </p:cNvPr>
          <p:cNvSpPr txBox="1"/>
          <p:nvPr/>
        </p:nvSpPr>
        <p:spPr>
          <a:xfrm>
            <a:off x="244232" y="1345482"/>
            <a:ext cx="8034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Новые контракты</a:t>
            </a:r>
            <a:endParaRPr lang="en-US" sz="16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BBF93-FF7A-3945-3118-AB81E29E6B13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A93ED-6E25-4098-ED50-AFF1B3AA7824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A136F7-C85B-D4B4-F42F-4EA3BCA8AA5F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C6E71C-64B9-089F-D6B7-7D30E54C0A0E}"/>
              </a:ext>
            </a:extLst>
          </p:cNvPr>
          <p:cNvSpPr/>
          <p:nvPr/>
        </p:nvSpPr>
        <p:spPr>
          <a:xfrm>
            <a:off x="244233" y="1699598"/>
            <a:ext cx="8034793" cy="457286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E44876-26CD-913C-892C-9A8CC475E19A}"/>
              </a:ext>
            </a:extLst>
          </p:cNvPr>
          <p:cNvSpPr txBox="1"/>
          <p:nvPr/>
        </p:nvSpPr>
        <p:spPr>
          <a:xfrm>
            <a:off x="278497" y="2259981"/>
            <a:ext cx="1278841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err="1"/>
              <a:t>Традицион-ные</a:t>
            </a:r>
            <a:endParaRPr lang="ru-RU" sz="1200" b="1"/>
          </a:p>
          <a:p>
            <a:pPr algn="ctr"/>
            <a:r>
              <a:rPr lang="ru-RU" sz="1100" i="1"/>
              <a:t>(одноразовая оплата, компенсиро-вание</a:t>
            </a:r>
          </a:p>
          <a:p>
            <a:pPr algn="ctr"/>
            <a:r>
              <a:rPr lang="ru-RU" sz="1100" i="1"/>
              <a:t> расходов)</a:t>
            </a:r>
            <a:endParaRPr lang="en-KZ" sz="1200" i="1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05254AA6-2B9B-41E4-7AEC-2B231EDA4FB2}"/>
              </a:ext>
            </a:extLst>
          </p:cNvPr>
          <p:cNvSpPr/>
          <p:nvPr/>
        </p:nvSpPr>
        <p:spPr>
          <a:xfrm>
            <a:off x="414795" y="1823880"/>
            <a:ext cx="7693522" cy="370800"/>
          </a:xfrm>
          <a:prstGeom prst="rightArrow">
            <a:avLst/>
          </a:prstGeom>
          <a:gradFill flip="none" rotWithShape="1">
            <a:gsLst>
              <a:gs pos="4000">
                <a:schemeClr val="accent1">
                  <a:lumMod val="5000"/>
                  <a:lumOff val="95000"/>
                </a:schemeClr>
              </a:gs>
              <a:gs pos="58000">
                <a:schemeClr val="accent1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>
                <a:solidFill>
                  <a:schemeClr val="bg1"/>
                </a:solidFill>
              </a:rPr>
              <a:t>Уровень кооперации и разделения рисков</a:t>
            </a:r>
            <a:endParaRPr lang="en-KZ" sz="1200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EC1BE-2019-A38A-0E0D-0A21039AEC52}"/>
              </a:ext>
            </a:extLst>
          </p:cNvPr>
          <p:cNvSpPr txBox="1"/>
          <p:nvPr/>
        </p:nvSpPr>
        <p:spPr>
          <a:xfrm>
            <a:off x="-669851" y="388088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30" name="Дата 29">
            <a:extLst>
              <a:ext uri="{FF2B5EF4-FFF2-40B4-BE49-F238E27FC236}">
                <a16:creationId xmlns:a16="http://schemas.microsoft.com/office/drawing/2014/main" id="{33D3C2BA-CAD1-219C-DBB7-B187DCA4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6C3-5D74-5A4B-AA17-2F883561961B}" type="datetime1">
              <a:rPr lang="en-US" smtClean="0"/>
              <a:t>4/2/26</a:t>
            </a:fld>
            <a:endParaRPr lang="x-none"/>
          </a:p>
        </p:txBody>
      </p:sp>
      <p:sp>
        <p:nvSpPr>
          <p:cNvPr id="33" name="Title 8">
            <a:extLst>
              <a:ext uri="{FF2B5EF4-FFF2-40B4-BE49-F238E27FC236}">
                <a16:creationId xmlns:a16="http://schemas.microsoft.com/office/drawing/2014/main" id="{8A5A80E8-0A72-2430-352B-2ED8BE90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60338"/>
            <a:ext cx="11115675" cy="830262"/>
          </a:xfrm>
        </p:spPr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тренды </a:t>
            </a:r>
            <a:r>
              <a:rPr lang="ru-RU" i="1"/>
              <a:t>(4</a:t>
            </a:r>
            <a:r>
              <a:rPr lang="en-US" i="1"/>
              <a:t>/4)</a:t>
            </a:r>
            <a:endParaRPr lang="ru-KZ" sz="3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842B05-6E9C-8162-AFCA-92EC1D124AF7}"/>
              </a:ext>
            </a:extLst>
          </p:cNvPr>
          <p:cNvSpPr txBox="1"/>
          <p:nvPr/>
        </p:nvSpPr>
        <p:spPr>
          <a:xfrm>
            <a:off x="1441402" y="2259981"/>
            <a:ext cx="17724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Front-end engineering design</a:t>
            </a:r>
            <a:br>
              <a:rPr lang="ru-RU" sz="1200" b="1"/>
            </a:br>
            <a:r>
              <a:rPr lang="ru-RU" sz="1200"/>
              <a:t>планирование с подрядчиком, затем  тендер с фиксированной ценой и маржой</a:t>
            </a:r>
            <a:endParaRPr lang="en-KZ" sz="1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1E1343-BDA7-3513-1394-A8CF31398320}"/>
              </a:ext>
            </a:extLst>
          </p:cNvPr>
          <p:cNvSpPr txBox="1"/>
          <p:nvPr/>
        </p:nvSpPr>
        <p:spPr>
          <a:xfrm>
            <a:off x="3097912" y="2259981"/>
            <a:ext cx="1648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/>
              <a:t>Конвертируемые</a:t>
            </a:r>
            <a:r>
              <a:rPr lang="en-US" sz="1200" b="1"/>
              <a:t> </a:t>
            </a:r>
            <a:br>
              <a:rPr lang="ru-RU" sz="1200" b="1"/>
            </a:br>
            <a:r>
              <a:rPr lang="ru-RU" sz="1200"/>
              <a:t>применение</a:t>
            </a:r>
            <a:r>
              <a:rPr lang="ru-RU" sz="1200" b="1"/>
              <a:t> </a:t>
            </a:r>
            <a:r>
              <a:rPr lang="ru-RU" sz="1200"/>
              <a:t>разных моделей контрактов на разных </a:t>
            </a:r>
          </a:p>
          <a:p>
            <a:pPr algn="ctr"/>
            <a:r>
              <a:rPr lang="ru-RU" sz="1200"/>
              <a:t>этапах </a:t>
            </a:r>
          </a:p>
          <a:p>
            <a:pPr algn="ctr"/>
            <a:r>
              <a:rPr lang="ru-RU" sz="1200"/>
              <a:t>проекта</a:t>
            </a:r>
            <a:endParaRPr lang="en-KZ"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1DCBEF-F7D7-4BF0-FC52-8646371D8A52}"/>
              </a:ext>
            </a:extLst>
          </p:cNvPr>
          <p:cNvSpPr txBox="1"/>
          <p:nvPr/>
        </p:nvSpPr>
        <p:spPr>
          <a:xfrm>
            <a:off x="4630096" y="2259981"/>
            <a:ext cx="18988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/>
              <a:t>Партнерство</a:t>
            </a:r>
            <a:r>
              <a:rPr lang="en-US" sz="1200" b="1"/>
              <a:t> </a:t>
            </a:r>
            <a:br>
              <a:rPr lang="ru-RU" sz="1200" b="1"/>
            </a:br>
            <a:r>
              <a:rPr lang="ru-RU" sz="1200"/>
              <a:t>создание одной совместной компании подрядчиками</a:t>
            </a:r>
            <a:r>
              <a:rPr lang="en-US" sz="1200"/>
              <a:t>: </a:t>
            </a:r>
            <a:r>
              <a:rPr lang="ru-RU" sz="1200"/>
              <a:t>общее управление, риски и прибыль</a:t>
            </a:r>
            <a:endParaRPr lang="en-KZ" sz="120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551607-4B2E-7DF6-A2EE-D1DF6AEB2915}"/>
              </a:ext>
            </a:extLst>
          </p:cNvPr>
          <p:cNvSpPr txBox="1"/>
          <p:nvPr/>
        </p:nvSpPr>
        <p:spPr>
          <a:xfrm>
            <a:off x="6412967" y="2259981"/>
            <a:ext cx="17814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Integrated project delivery</a:t>
            </a:r>
            <a:br>
              <a:rPr lang="ru-RU" sz="1200" b="1"/>
            </a:br>
            <a:r>
              <a:rPr lang="ru-RU" sz="1200"/>
              <a:t>один контракт для всех, единое управление, разделение рисков и прибыли</a:t>
            </a:r>
            <a:endParaRPr lang="en-KZ" sz="1200"/>
          </a:p>
        </p:txBody>
      </p:sp>
      <p:sp>
        <p:nvSpPr>
          <p:cNvPr id="51" name="Равнобедренный треугольник 4">
            <a:extLst>
              <a:ext uri="{FF2B5EF4-FFF2-40B4-BE49-F238E27FC236}">
                <a16:creationId xmlns:a16="http://schemas.microsoft.com/office/drawing/2014/main" id="{DA8EAC4D-1B04-28F4-00E0-67A1173FD623}"/>
              </a:ext>
            </a:extLst>
          </p:cNvPr>
          <p:cNvSpPr>
            <a:spLocks/>
          </p:cNvSpPr>
          <p:nvPr/>
        </p:nvSpPr>
        <p:spPr>
          <a:xfrm rot="10800000">
            <a:off x="4136219" y="3797942"/>
            <a:ext cx="250819" cy="108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C00838-0E61-2206-9E8D-49784FD5D298}"/>
              </a:ext>
            </a:extLst>
          </p:cNvPr>
          <p:cNvGrpSpPr/>
          <p:nvPr/>
        </p:nvGrpSpPr>
        <p:grpSpPr>
          <a:xfrm>
            <a:off x="1290155" y="4465283"/>
            <a:ext cx="5942946" cy="1327902"/>
            <a:chOff x="1266940" y="4475784"/>
            <a:chExt cx="5942946" cy="1327902"/>
          </a:xfrm>
        </p:grpSpPr>
        <p:pic>
          <p:nvPicPr>
            <p:cNvPr id="53" name="Graphic 52" descr="Construction worker male outline">
              <a:extLst>
                <a:ext uri="{FF2B5EF4-FFF2-40B4-BE49-F238E27FC236}">
                  <a16:creationId xmlns:a16="http://schemas.microsoft.com/office/drawing/2014/main" id="{0427AC7C-C5B7-6A3F-3D13-4B74F8AD08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56105" y="4837472"/>
              <a:ext cx="503228" cy="503228"/>
            </a:xfrm>
            <a:prstGeom prst="rect">
              <a:avLst/>
            </a:prstGeom>
          </p:spPr>
        </p:pic>
        <p:pic>
          <p:nvPicPr>
            <p:cNvPr id="54" name="Graphic 53" descr="User outline">
              <a:extLst>
                <a:ext uri="{FF2B5EF4-FFF2-40B4-BE49-F238E27FC236}">
                  <a16:creationId xmlns:a16="http://schemas.microsoft.com/office/drawing/2014/main" id="{0E3712ED-DD58-F83D-9957-BA969169C3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17602" y="4837472"/>
              <a:ext cx="503228" cy="503228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F678A5E-CD05-1E28-457A-159A7374D1DB}"/>
                </a:ext>
              </a:extLst>
            </p:cNvPr>
            <p:cNvSpPr txBox="1"/>
            <p:nvPr/>
          </p:nvSpPr>
          <p:spPr>
            <a:xfrm>
              <a:off x="1419226" y="5326621"/>
              <a:ext cx="109998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b="1"/>
                <a:t>Владелец</a:t>
              </a:r>
            </a:p>
            <a:p>
              <a:pPr algn="ctr"/>
              <a:r>
                <a:rPr lang="ru-RU" sz="1100" i="1"/>
                <a:t>(принципал)</a:t>
              </a:r>
              <a:endParaRPr lang="en-KZ" sz="1100" i="1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342C733-65C7-F2A7-6F4D-C8E1C2CB3F9C}"/>
                </a:ext>
              </a:extLst>
            </p:cNvPr>
            <p:cNvSpPr txBox="1"/>
            <p:nvPr/>
          </p:nvSpPr>
          <p:spPr>
            <a:xfrm>
              <a:off x="5962430" y="5342021"/>
              <a:ext cx="10903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b="1"/>
                <a:t>Подрядчик</a:t>
              </a:r>
            </a:p>
            <a:p>
              <a:pPr algn="ctr"/>
              <a:r>
                <a:rPr lang="ru-RU" sz="1100" i="1"/>
                <a:t>(агент)</a:t>
              </a:r>
              <a:endParaRPr lang="en-KZ" sz="1100" i="1"/>
            </a:p>
          </p:txBody>
        </p:sp>
        <p:sp>
          <p:nvSpPr>
            <p:cNvPr id="57" name="Right Arrow 56">
              <a:extLst>
                <a:ext uri="{FF2B5EF4-FFF2-40B4-BE49-F238E27FC236}">
                  <a16:creationId xmlns:a16="http://schemas.microsoft.com/office/drawing/2014/main" id="{7EBED915-B77B-3D76-E102-4C132715B2C8}"/>
                </a:ext>
              </a:extLst>
            </p:cNvPr>
            <p:cNvSpPr/>
            <p:nvPr/>
          </p:nvSpPr>
          <p:spPr>
            <a:xfrm>
              <a:off x="2747309" y="4819368"/>
              <a:ext cx="3028638" cy="298800"/>
            </a:xfrm>
            <a:prstGeom prst="rightArrow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>
                  <a:solidFill>
                    <a:schemeClr val="tx1"/>
                  </a:solidFill>
                </a:rPr>
                <a:t>нанимает</a:t>
              </a:r>
              <a:endParaRPr lang="en-KZ" sz="1200">
                <a:solidFill>
                  <a:schemeClr val="tx1"/>
                </a:solidFill>
              </a:endParaRPr>
            </a:p>
          </p:txBody>
        </p:sp>
        <p:sp>
          <p:nvSpPr>
            <p:cNvPr id="58" name="Right Arrow 57">
              <a:extLst>
                <a:ext uri="{FF2B5EF4-FFF2-40B4-BE49-F238E27FC236}">
                  <a16:creationId xmlns:a16="http://schemas.microsoft.com/office/drawing/2014/main" id="{137BA96A-8710-1236-55F9-D4322E6890E7}"/>
                </a:ext>
              </a:extLst>
            </p:cNvPr>
            <p:cNvSpPr/>
            <p:nvPr/>
          </p:nvSpPr>
          <p:spPr>
            <a:xfrm flipH="1">
              <a:off x="2747828" y="5143121"/>
              <a:ext cx="3027600" cy="298800"/>
            </a:xfrm>
            <a:prstGeom prst="rightArrow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>
                  <a:solidFill>
                    <a:schemeClr val="tx1"/>
                  </a:solidFill>
                </a:rPr>
                <a:t>исполняет</a:t>
              </a:r>
              <a:endParaRPr lang="en-KZ" sz="1200">
                <a:solidFill>
                  <a:schemeClr val="tx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31B522A-E82C-8ECC-8DDA-637C50B4B8A6}"/>
                </a:ext>
              </a:extLst>
            </p:cNvPr>
            <p:cNvSpPr txBox="1"/>
            <p:nvPr/>
          </p:nvSpPr>
          <p:spPr>
            <a:xfrm>
              <a:off x="5805334" y="4475784"/>
              <a:ext cx="14045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b="1">
                  <a:solidFill>
                    <a:srgbClr val="366C8A"/>
                  </a:solidFill>
                </a:rPr>
                <a:t>свои интересы</a:t>
              </a:r>
              <a:endParaRPr lang="en-KZ" sz="1200" b="1">
                <a:solidFill>
                  <a:srgbClr val="366C8A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CE39532-3DDD-80CA-A6A6-7D359BA7DE8D}"/>
                </a:ext>
              </a:extLst>
            </p:cNvPr>
            <p:cNvCxnSpPr>
              <a:cxnSpLocks/>
            </p:cNvCxnSpPr>
            <p:nvPr/>
          </p:nvCxnSpPr>
          <p:spPr>
            <a:xfrm>
              <a:off x="5940637" y="4768190"/>
              <a:ext cx="1146038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6CCEE8E-0918-C426-ABC0-DD9BD2AEC8BE}"/>
                </a:ext>
              </a:extLst>
            </p:cNvPr>
            <p:cNvSpPr txBox="1"/>
            <p:nvPr/>
          </p:nvSpPr>
          <p:spPr>
            <a:xfrm>
              <a:off x="1266940" y="4475784"/>
              <a:ext cx="14045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b="1">
                  <a:solidFill>
                    <a:srgbClr val="366C8A"/>
                  </a:solidFill>
                </a:rPr>
                <a:t>свои интересы</a:t>
              </a:r>
              <a:endParaRPr lang="en-KZ" sz="1200" b="1">
                <a:solidFill>
                  <a:srgbClr val="366C8A"/>
                </a:solidFill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FE056E3-00C0-88D9-A411-AFFCC31D3EC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396197" y="4768190"/>
              <a:ext cx="1146038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696540B2-B851-A022-7C6E-E008C92B7395}"/>
              </a:ext>
            </a:extLst>
          </p:cNvPr>
          <p:cNvSpPr txBox="1"/>
          <p:nvPr/>
        </p:nvSpPr>
        <p:spPr>
          <a:xfrm>
            <a:off x="7209886" y="5019902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noProof="1"/>
              <a:t>х100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7ACA5D-AFD9-F994-FC97-265076159315}"/>
              </a:ext>
            </a:extLst>
          </p:cNvPr>
          <p:cNvSpPr txBox="1"/>
          <p:nvPr/>
        </p:nvSpPr>
        <p:spPr>
          <a:xfrm>
            <a:off x="2232868" y="3940064"/>
            <a:ext cx="4057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noProof="1"/>
              <a:t>Частичное применение</a:t>
            </a:r>
            <a:r>
              <a:rPr lang="en-US" sz="1200" b="1" noProof="1"/>
              <a:t>: </a:t>
            </a:r>
            <a:endParaRPr lang="ru-RU" sz="1200" b="1" noProof="1"/>
          </a:p>
          <a:p>
            <a:pPr algn="ctr"/>
            <a:r>
              <a:rPr lang="ru-RU" sz="1200" noProof="1"/>
              <a:t>минимизировать проблемы принципала-агента</a:t>
            </a:r>
          </a:p>
        </p:txBody>
      </p:sp>
      <p:sp>
        <p:nvSpPr>
          <p:cNvPr id="64" name="Равнобедренный треугольник 4">
            <a:extLst>
              <a:ext uri="{FF2B5EF4-FFF2-40B4-BE49-F238E27FC236}">
                <a16:creationId xmlns:a16="http://schemas.microsoft.com/office/drawing/2014/main" id="{E05300C2-CDAA-C559-01D8-6E7592DDEF07}"/>
              </a:ext>
            </a:extLst>
          </p:cNvPr>
          <p:cNvSpPr>
            <a:spLocks/>
          </p:cNvSpPr>
          <p:nvPr/>
        </p:nvSpPr>
        <p:spPr>
          <a:xfrm rot="10800000">
            <a:off x="4136219" y="5584855"/>
            <a:ext cx="250819" cy="108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CB4ED2-DD35-28E2-6A60-429960B72882}"/>
              </a:ext>
            </a:extLst>
          </p:cNvPr>
          <p:cNvSpPr txBox="1"/>
          <p:nvPr/>
        </p:nvSpPr>
        <p:spPr>
          <a:xfrm>
            <a:off x="1663801" y="5775503"/>
            <a:ext cx="5195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noProof="1"/>
              <a:t>Согласование стимулов</a:t>
            </a:r>
            <a:r>
              <a:rPr lang="en-US" sz="1200" b="1" noProof="1"/>
              <a:t>: </a:t>
            </a:r>
            <a:endParaRPr lang="ru-RU" sz="1200" b="1" noProof="1"/>
          </a:p>
          <a:p>
            <a:pPr algn="ctr"/>
            <a:r>
              <a:rPr lang="ru-RU" sz="1200" noProof="1"/>
              <a:t>разработанные совместно, привлекательные, самоокупаемые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9D2C8-28C3-21B4-7911-765A7A232040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9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97331B3A-D9CD-3BC1-A978-D4A1B1DAED7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10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9D854157-975A-9BBD-F0E7-5971E19FDE8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98728-7897-A46F-50E3-DA91AFBB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9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4184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/>
      <p:bldP spid="24" grpId="0" animBg="1"/>
      <p:bldP spid="11" grpId="0"/>
      <p:bldP spid="40" grpId="0" animBg="1"/>
      <p:bldP spid="46" grpId="0"/>
      <p:bldP spid="47" grpId="0"/>
      <p:bldP spid="48" grpId="0"/>
      <p:bldP spid="50" grpId="0"/>
      <p:bldP spid="51" grpId="0" animBg="1"/>
      <p:bldP spid="63" grpId="0"/>
      <p:bldP spid="52" grpId="0"/>
      <p:bldP spid="64" grpId="0" animBg="1"/>
      <p:bldP spid="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30728-7779-7765-72C2-9EBE6213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88D2EA7-D8F6-88E2-9279-DCDFB3A516D7}"/>
              </a:ext>
            </a:extLst>
          </p:cNvPr>
          <p:cNvSpPr txBox="1"/>
          <p:nvPr/>
        </p:nvSpPr>
        <p:spPr>
          <a:xfrm>
            <a:off x="428882" y="6271197"/>
            <a:ext cx="252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Источник: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 McKinsey Global Institute</a:t>
            </a:r>
          </a:p>
        </p:txBody>
      </p:sp>
      <p:sp>
        <p:nvSpPr>
          <p:cNvPr id="17" name="Прямоугольник 6">
            <a:extLst>
              <a:ext uri="{FF2B5EF4-FFF2-40B4-BE49-F238E27FC236}">
                <a16:creationId xmlns:a16="http://schemas.microsoft.com/office/drawing/2014/main" id="{9D03E521-7E00-249C-8417-486A9A0F21D0}"/>
              </a:ext>
            </a:extLst>
          </p:cNvPr>
          <p:cNvSpPr/>
          <p:nvPr/>
        </p:nvSpPr>
        <p:spPr>
          <a:xfrm>
            <a:off x="8639570" y="1628477"/>
            <a:ext cx="3276022" cy="4589191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endParaRPr lang="ru-RU" sz="1200" b="1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 b="1"/>
              <a:t>Очень</a:t>
            </a:r>
            <a:r>
              <a:rPr lang="ru-RU" sz="1200"/>
              <a:t> </a:t>
            </a:r>
            <a:r>
              <a:rPr lang="ru-RU" sz="1200" b="1"/>
              <a:t>зрелая</a:t>
            </a:r>
            <a:r>
              <a:rPr lang="ru-RU" sz="1200"/>
              <a:t> индустрия</a:t>
            </a:r>
            <a:r>
              <a:rPr lang="en-US" sz="1200"/>
              <a:t>:</a:t>
            </a:r>
            <a:endParaRPr lang="ru-RU" sz="1200"/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/>
              <a:t>фрагментированный и конкурентный  рынок</a:t>
            </a:r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/>
              <a:t>относительно стабильная</a:t>
            </a:r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Большинство новых технологий и продуктов находятся на </a:t>
            </a:r>
            <a:r>
              <a:rPr lang="ru-RU" sz="1200" b="1"/>
              <a:t>стадии зарождения</a:t>
            </a:r>
            <a:endParaRPr lang="en-US" sz="1200" b="1"/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/>
              <a:t>отсутствие единого дизайна</a:t>
            </a:r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/>
              <a:t>множество стартапов и экспериментов</a:t>
            </a:r>
          </a:p>
          <a:p>
            <a:pPr marL="636588" lvl="1" indent="-280988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/>
              <a:t>отсутствие широкого спроса</a:t>
            </a:r>
            <a:r>
              <a:rPr lang="en-US" sz="1200"/>
              <a:t> </a:t>
            </a:r>
            <a:endParaRPr lang="ru-RU" sz="1200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Только </a:t>
            </a:r>
            <a:r>
              <a:rPr lang="en-US" sz="1200" b="1" err="1"/>
              <a:t>constructiontech</a:t>
            </a:r>
            <a:r>
              <a:rPr lang="en-US" sz="1200"/>
              <a:t> </a:t>
            </a:r>
            <a:r>
              <a:rPr lang="ru-RU" sz="1200"/>
              <a:t>входит </a:t>
            </a:r>
            <a:r>
              <a:rPr lang="ru-RU" sz="1200" b="1"/>
              <a:t>в фазу роста </a:t>
            </a:r>
            <a:r>
              <a:rPr lang="ru-RU" sz="1200"/>
              <a:t>благодаря распространению </a:t>
            </a:r>
            <a:r>
              <a:rPr lang="ru-RU" sz="1200" b="1"/>
              <a:t>некоторых</a:t>
            </a:r>
            <a:r>
              <a:rPr lang="ru-RU" sz="1200"/>
              <a:t> технологий </a:t>
            </a:r>
            <a:r>
              <a:rPr lang="ru-RU" sz="1100" i="1"/>
              <a:t>(цифровая документация, цифровое моделирование зданий)</a:t>
            </a:r>
            <a:endParaRPr lang="ru-RU" sz="1200" i="1"/>
          </a:p>
          <a:p>
            <a:pPr marL="180000" indent="-180000" algn="just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ru-RU" sz="1200"/>
              <a:t>Большие изменения ожидаются в течение </a:t>
            </a:r>
            <a:r>
              <a:rPr lang="ru-RU" sz="1200" b="1"/>
              <a:t>20 лет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1C9FB01-6CA6-09B0-64A3-BAFECA06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жизненный цикл индустрии</a:t>
            </a:r>
            <a:endParaRPr lang="ru-KZ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663DDB-4C55-55D0-F6F4-BA3256E34A8E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1271B9-7A76-A227-D8FB-B08D40614DCD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0FE00B-E3BA-E696-67BE-E66588BB20E6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6F42CF-66CB-F5FC-7577-9AC63D8E3741}"/>
              </a:ext>
            </a:extLst>
          </p:cNvPr>
          <p:cNvSpPr/>
          <p:nvPr/>
        </p:nvSpPr>
        <p:spPr>
          <a:xfrm>
            <a:off x="234073" y="1628478"/>
            <a:ext cx="8034793" cy="457286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sz="1600">
              <a:solidFill>
                <a:srgbClr val="FF0000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579836C-4B2E-0D14-9699-6762D7399988}"/>
              </a:ext>
            </a:extLst>
          </p:cNvPr>
          <p:cNvSpPr/>
          <p:nvPr/>
        </p:nvSpPr>
        <p:spPr>
          <a:xfrm>
            <a:off x="723265" y="2225351"/>
            <a:ext cx="7549477" cy="3626174"/>
          </a:xfrm>
          <a:custGeom>
            <a:avLst/>
            <a:gdLst>
              <a:gd name="connsiteX0" fmla="*/ 0 w 7549477"/>
              <a:gd name="connsiteY0" fmla="*/ 3626174 h 3626174"/>
              <a:gd name="connsiteX1" fmla="*/ 2800350 w 7549477"/>
              <a:gd name="connsiteY1" fmla="*/ 2978474 h 3626174"/>
              <a:gd name="connsiteX2" fmla="*/ 3933825 w 7549477"/>
              <a:gd name="connsiteY2" fmla="*/ 625799 h 3626174"/>
              <a:gd name="connsiteX3" fmla="*/ 7172325 w 7549477"/>
              <a:gd name="connsiteY3" fmla="*/ 44774 h 3626174"/>
              <a:gd name="connsiteX4" fmla="*/ 7353300 w 7549477"/>
              <a:gd name="connsiteY4" fmla="*/ 82874 h 362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49477" h="3626174">
                <a:moveTo>
                  <a:pt x="0" y="3626174"/>
                </a:moveTo>
                <a:cubicBezTo>
                  <a:pt x="1072356" y="3552355"/>
                  <a:pt x="2144713" y="3478536"/>
                  <a:pt x="2800350" y="2978474"/>
                </a:cubicBezTo>
                <a:cubicBezTo>
                  <a:pt x="3455987" y="2478412"/>
                  <a:pt x="3205163" y="1114749"/>
                  <a:pt x="3933825" y="625799"/>
                </a:cubicBezTo>
                <a:cubicBezTo>
                  <a:pt x="4662488" y="136849"/>
                  <a:pt x="6602413" y="135261"/>
                  <a:pt x="7172325" y="44774"/>
                </a:cubicBezTo>
                <a:cubicBezTo>
                  <a:pt x="7742237" y="-45713"/>
                  <a:pt x="7547768" y="18580"/>
                  <a:pt x="7353300" y="82874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BC89C8FB-EC8E-C807-0CEE-3F4A6862E9A4}"/>
              </a:ext>
            </a:extLst>
          </p:cNvPr>
          <p:cNvSpPr/>
          <p:nvPr/>
        </p:nvSpPr>
        <p:spPr>
          <a:xfrm>
            <a:off x="876508" y="2363918"/>
            <a:ext cx="6858135" cy="3392266"/>
          </a:xfrm>
          <a:custGeom>
            <a:avLst/>
            <a:gdLst>
              <a:gd name="connsiteX0" fmla="*/ 0 w 6419850"/>
              <a:gd name="connsiteY0" fmla="*/ 3392266 h 3392266"/>
              <a:gd name="connsiteX1" fmla="*/ 1847850 w 6419850"/>
              <a:gd name="connsiteY1" fmla="*/ 2877916 h 3392266"/>
              <a:gd name="connsiteX2" fmla="*/ 3990975 w 6419850"/>
              <a:gd name="connsiteY2" fmla="*/ 439516 h 3392266"/>
              <a:gd name="connsiteX3" fmla="*/ 6419850 w 6419850"/>
              <a:gd name="connsiteY3" fmla="*/ 10891 h 339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19850" h="3392266">
                <a:moveTo>
                  <a:pt x="0" y="3392266"/>
                </a:moveTo>
                <a:cubicBezTo>
                  <a:pt x="591344" y="3381153"/>
                  <a:pt x="1182688" y="3370041"/>
                  <a:pt x="1847850" y="2877916"/>
                </a:cubicBezTo>
                <a:cubicBezTo>
                  <a:pt x="2513012" y="2385791"/>
                  <a:pt x="3228975" y="917354"/>
                  <a:pt x="3990975" y="439516"/>
                </a:cubicBezTo>
                <a:cubicBezTo>
                  <a:pt x="4752975" y="-38322"/>
                  <a:pt x="5586412" y="-13716"/>
                  <a:pt x="6419850" y="108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498206-FBAE-A19A-9584-00C4CC2A39BF}"/>
              </a:ext>
            </a:extLst>
          </p:cNvPr>
          <p:cNvCxnSpPr/>
          <p:nvPr/>
        </p:nvCxnSpPr>
        <p:spPr>
          <a:xfrm flipV="1">
            <a:off x="867355" y="5744269"/>
            <a:ext cx="6925209" cy="8672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D224CC-500C-90E4-5EDE-E0085CCEC21B}"/>
              </a:ext>
            </a:extLst>
          </p:cNvPr>
          <p:cNvCxnSpPr>
            <a:cxnSpLocks/>
          </p:cNvCxnSpPr>
          <p:nvPr/>
        </p:nvCxnSpPr>
        <p:spPr>
          <a:xfrm flipV="1">
            <a:off x="873510" y="2125133"/>
            <a:ext cx="0" cy="363429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704A58-134D-1F09-CCF9-E626309E25F3}"/>
              </a:ext>
            </a:extLst>
          </p:cNvPr>
          <p:cNvSpPr txBox="1"/>
          <p:nvPr/>
        </p:nvSpPr>
        <p:spPr>
          <a:xfrm>
            <a:off x="1480530" y="5808022"/>
            <a:ext cx="5541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Время</a:t>
            </a:r>
            <a:endParaRPr lang="en-US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9AF8C9-92BE-FF84-4B32-985EE1648BA5}"/>
              </a:ext>
            </a:extLst>
          </p:cNvPr>
          <p:cNvSpPr txBox="1"/>
          <p:nvPr/>
        </p:nvSpPr>
        <p:spPr>
          <a:xfrm rot="16200000">
            <a:off x="-1212447" y="3803674"/>
            <a:ext cx="3634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/>
              <a:t>Доходы</a:t>
            </a:r>
            <a:endParaRPr lang="en-US" sz="1200" b="1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2284CB-F42C-E1F0-FEF3-2C3EB071D4D4}"/>
              </a:ext>
            </a:extLst>
          </p:cNvPr>
          <p:cNvCxnSpPr/>
          <p:nvPr/>
        </p:nvCxnSpPr>
        <p:spPr>
          <a:xfrm flipH="1">
            <a:off x="3174868" y="2140290"/>
            <a:ext cx="0" cy="36191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08F26B-2EAD-4EBA-215B-97E4E0CA8988}"/>
              </a:ext>
            </a:extLst>
          </p:cNvPr>
          <p:cNvCxnSpPr/>
          <p:nvPr/>
        </p:nvCxnSpPr>
        <p:spPr>
          <a:xfrm flipH="1">
            <a:off x="5486471" y="2140290"/>
            <a:ext cx="0" cy="36191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вал 4">
            <a:extLst>
              <a:ext uri="{FF2B5EF4-FFF2-40B4-BE49-F238E27FC236}">
                <a16:creationId xmlns:a16="http://schemas.microsoft.com/office/drawing/2014/main" id="{84D4E3FD-3B1D-A853-D0CB-EA4019D7E850}"/>
              </a:ext>
            </a:extLst>
          </p:cNvPr>
          <p:cNvSpPr>
            <a:spLocks noChangeAspect="1"/>
          </p:cNvSpPr>
          <p:nvPr/>
        </p:nvSpPr>
        <p:spPr>
          <a:xfrm>
            <a:off x="6256580" y="2312080"/>
            <a:ext cx="187362" cy="187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74DC3-AAA3-9856-8EC6-91BB09186D31}"/>
              </a:ext>
            </a:extLst>
          </p:cNvPr>
          <p:cNvSpPr txBox="1"/>
          <p:nvPr/>
        </p:nvSpPr>
        <p:spPr>
          <a:xfrm>
            <a:off x="5740158" y="2052131"/>
            <a:ext cx="1220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000" b="1"/>
              <a:t>Строительство</a:t>
            </a:r>
            <a:endParaRPr lang="en-KZ" sz="1000" b="1"/>
          </a:p>
        </p:txBody>
      </p:sp>
      <p:sp>
        <p:nvSpPr>
          <p:cNvPr id="10" name="Овал 4">
            <a:extLst>
              <a:ext uri="{FF2B5EF4-FFF2-40B4-BE49-F238E27FC236}">
                <a16:creationId xmlns:a16="http://schemas.microsoft.com/office/drawing/2014/main" id="{95A19CE9-90CA-7EE8-7110-2ACD8F2EC6DC}"/>
              </a:ext>
            </a:extLst>
          </p:cNvPr>
          <p:cNvSpPr>
            <a:spLocks noChangeAspect="1"/>
          </p:cNvSpPr>
          <p:nvPr/>
        </p:nvSpPr>
        <p:spPr>
          <a:xfrm>
            <a:off x="2094368" y="5461566"/>
            <a:ext cx="187362" cy="187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9DB34-B715-A56C-43CF-D1C50B4F8CD1}"/>
              </a:ext>
            </a:extLst>
          </p:cNvPr>
          <p:cNvSpPr txBox="1"/>
          <p:nvPr/>
        </p:nvSpPr>
        <p:spPr>
          <a:xfrm>
            <a:off x="2258984" y="5463055"/>
            <a:ext cx="1409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/>
              <a:t>Новые материалы</a:t>
            </a:r>
            <a:endParaRPr lang="en-KZ" sz="1000"/>
          </a:p>
        </p:txBody>
      </p:sp>
      <p:sp>
        <p:nvSpPr>
          <p:cNvPr id="15" name="Овал 4">
            <a:extLst>
              <a:ext uri="{FF2B5EF4-FFF2-40B4-BE49-F238E27FC236}">
                <a16:creationId xmlns:a16="http://schemas.microsoft.com/office/drawing/2014/main" id="{9F1B7F95-3E46-B703-670B-019F2F4DF10F}"/>
              </a:ext>
            </a:extLst>
          </p:cNvPr>
          <p:cNvSpPr>
            <a:spLocks noChangeAspect="1"/>
          </p:cNvSpPr>
          <p:nvPr/>
        </p:nvSpPr>
        <p:spPr>
          <a:xfrm>
            <a:off x="2540937" y="5260237"/>
            <a:ext cx="187362" cy="187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3949F6-A4D9-5B05-973C-F52DBACEDAF4}"/>
              </a:ext>
            </a:extLst>
          </p:cNvPr>
          <p:cNvSpPr txBox="1"/>
          <p:nvPr/>
        </p:nvSpPr>
        <p:spPr>
          <a:xfrm>
            <a:off x="2666696" y="5236604"/>
            <a:ext cx="1459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000"/>
              <a:t>Индустриализация</a:t>
            </a:r>
            <a:endParaRPr lang="en-KZ" sz="1000"/>
          </a:p>
        </p:txBody>
      </p:sp>
      <p:sp>
        <p:nvSpPr>
          <p:cNvPr id="29" name="Овал 4">
            <a:extLst>
              <a:ext uri="{FF2B5EF4-FFF2-40B4-BE49-F238E27FC236}">
                <a16:creationId xmlns:a16="http://schemas.microsoft.com/office/drawing/2014/main" id="{115E35D8-41C9-6C70-842E-51C130057363}"/>
              </a:ext>
            </a:extLst>
          </p:cNvPr>
          <p:cNvSpPr>
            <a:spLocks noChangeAspect="1"/>
          </p:cNvSpPr>
          <p:nvPr/>
        </p:nvSpPr>
        <p:spPr>
          <a:xfrm>
            <a:off x="3274599" y="4636934"/>
            <a:ext cx="187362" cy="187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3B4C58-7ACA-3578-8292-09A286A97F8D}"/>
              </a:ext>
            </a:extLst>
          </p:cNvPr>
          <p:cNvSpPr txBox="1"/>
          <p:nvPr/>
        </p:nvSpPr>
        <p:spPr>
          <a:xfrm>
            <a:off x="3432040" y="4627589"/>
            <a:ext cx="1309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/>
              <a:t>Constructiontech</a:t>
            </a:r>
            <a:endParaRPr lang="en-KZ" sz="1000"/>
          </a:p>
        </p:txBody>
      </p:sp>
      <p:sp>
        <p:nvSpPr>
          <p:cNvPr id="31" name="Овал 4">
            <a:extLst>
              <a:ext uri="{FF2B5EF4-FFF2-40B4-BE49-F238E27FC236}">
                <a16:creationId xmlns:a16="http://schemas.microsoft.com/office/drawing/2014/main" id="{2FD14814-2432-61ED-89CF-E58876C16D74}"/>
              </a:ext>
            </a:extLst>
          </p:cNvPr>
          <p:cNvSpPr>
            <a:spLocks noChangeAspect="1"/>
          </p:cNvSpPr>
          <p:nvPr/>
        </p:nvSpPr>
        <p:spPr>
          <a:xfrm>
            <a:off x="1434051" y="5625421"/>
            <a:ext cx="187362" cy="187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04EACF-E066-2A4F-6A6B-0DB1D9F1E5A6}"/>
              </a:ext>
            </a:extLst>
          </p:cNvPr>
          <p:cNvSpPr txBox="1"/>
          <p:nvPr/>
        </p:nvSpPr>
        <p:spPr>
          <a:xfrm>
            <a:off x="818587" y="5309916"/>
            <a:ext cx="1409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/>
              <a:t>Новые контракты</a:t>
            </a:r>
            <a:endParaRPr lang="en-KZ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133112-18A1-3F9B-0816-1C86A8AAF3C2}"/>
              </a:ext>
            </a:extLst>
          </p:cNvPr>
          <p:cNvSpPr txBox="1"/>
          <p:nvPr/>
        </p:nvSpPr>
        <p:spPr>
          <a:xfrm>
            <a:off x="4049518" y="1742262"/>
            <a:ext cx="566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/>
              <a:t>Рост</a:t>
            </a:r>
            <a:endParaRPr lang="en-KZ" sz="120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67703C-3F71-8C11-0B0C-EBE291623E06}"/>
              </a:ext>
            </a:extLst>
          </p:cNvPr>
          <p:cNvSpPr txBox="1"/>
          <p:nvPr/>
        </p:nvSpPr>
        <p:spPr>
          <a:xfrm>
            <a:off x="6176417" y="1736971"/>
            <a:ext cx="933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/>
              <a:t>Зрелость</a:t>
            </a:r>
            <a:endParaRPr lang="en-KZ" sz="1200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0BE392-A781-12E9-021A-957BC9C70DD2}"/>
              </a:ext>
            </a:extLst>
          </p:cNvPr>
          <p:cNvSpPr txBox="1"/>
          <p:nvPr/>
        </p:nvSpPr>
        <p:spPr>
          <a:xfrm>
            <a:off x="1420880" y="1746151"/>
            <a:ext cx="1189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200"/>
              <a:t>Зарождение</a:t>
            </a:r>
            <a:endParaRPr lang="en-KZ" sz="1200" err="1"/>
          </a:p>
        </p:txBody>
      </p:sp>
      <p:sp>
        <p:nvSpPr>
          <p:cNvPr id="23" name="Дата 22">
            <a:extLst>
              <a:ext uri="{FF2B5EF4-FFF2-40B4-BE49-F238E27FC236}">
                <a16:creationId xmlns:a16="http://schemas.microsoft.com/office/drawing/2014/main" id="{C6DBE953-E902-760B-564F-9E514A544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55CE-51B7-C14D-8E68-CFF8482A14D7}" type="datetime1">
              <a:rPr lang="en-US" smtClean="0"/>
              <a:t>4/2/26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4B813-7641-1F5F-80DE-A04F8ADBF240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6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654EDD00-68D8-BF05-4014-30DF639F1D4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25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2EF304E5-C5F9-4DDB-3593-212C1DCE00E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CC3C-4F75-8768-934A-028FEDE5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10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3176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AF75-3451-0C4F-A7C6-0BAB4DA6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7C7C57C-EAE7-E591-2CB2-91D803644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9" y="159862"/>
            <a:ext cx="11115675" cy="830738"/>
          </a:xfrm>
        </p:spPr>
        <p:txBody>
          <a:bodyPr/>
          <a:lstStyle/>
          <a:p>
            <a:r>
              <a:rPr lang="ru-RU" sz="3200" b="1">
                <a:solidFill>
                  <a:srgbClr val="376C8A"/>
                </a:solidFill>
              </a:rPr>
              <a:t>Отрасли </a:t>
            </a:r>
            <a:r>
              <a:rPr lang="en-US" sz="3200" b="1">
                <a:solidFill>
                  <a:srgbClr val="376C8A"/>
                </a:solidFill>
              </a:rPr>
              <a:t>|</a:t>
            </a:r>
            <a:r>
              <a:rPr lang="ru-RU" sz="3200" b="1"/>
              <a:t> институты</a:t>
            </a:r>
            <a:endParaRPr lang="ru-KZ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F8E34-0386-DE32-61C0-43EA87BCA099}"/>
              </a:ext>
            </a:extLst>
          </p:cNvPr>
          <p:cNvSpPr txBox="1"/>
          <p:nvPr/>
        </p:nvSpPr>
        <p:spPr>
          <a:xfrm>
            <a:off x="3325061" y="1280455"/>
            <a:ext cx="554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600" b="1"/>
              <a:t>Что нужно от государства?</a:t>
            </a:r>
            <a:endParaRPr lang="en-US" sz="16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05013-F730-C98D-DEF0-C37E4B64DCA7}"/>
              </a:ext>
            </a:extLst>
          </p:cNvPr>
          <p:cNvSpPr txBox="1"/>
          <p:nvPr/>
        </p:nvSpPr>
        <p:spPr>
          <a:xfrm>
            <a:off x="8567803" y="-12526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C0E2E-2250-C095-04E8-6DD9F0B2039F}"/>
              </a:ext>
            </a:extLst>
          </p:cNvPr>
          <p:cNvSpPr txBox="1"/>
          <p:nvPr/>
        </p:nvSpPr>
        <p:spPr>
          <a:xfrm>
            <a:off x="9256734" y="-41335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DFF4B2-B84A-CC68-74DB-E10E0F7B1DF5}"/>
              </a:ext>
            </a:extLst>
          </p:cNvPr>
          <p:cNvSpPr txBox="1"/>
          <p:nvPr/>
        </p:nvSpPr>
        <p:spPr>
          <a:xfrm>
            <a:off x="17086997" y="-1296537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80975" indent="-180975" algn="l">
              <a:buFont typeface="Wingdings" panose="05000000000000000000" pitchFamily="2" charset="2"/>
              <a:buChar char="§"/>
            </a:pPr>
            <a:endParaRPr lang="en-KZ" sz="1600" err="1"/>
          </a:p>
        </p:txBody>
      </p:sp>
      <p:sp>
        <p:nvSpPr>
          <p:cNvPr id="41" name="Прямоугольник 8">
            <a:extLst>
              <a:ext uri="{FF2B5EF4-FFF2-40B4-BE49-F238E27FC236}">
                <a16:creationId xmlns:a16="http://schemas.microsoft.com/office/drawing/2014/main" id="{E548D6DD-E6A0-FF5A-8636-56F9C9290D3B}"/>
              </a:ext>
            </a:extLst>
          </p:cNvPr>
          <p:cNvSpPr/>
          <p:nvPr/>
        </p:nvSpPr>
        <p:spPr>
          <a:xfrm>
            <a:off x="601089" y="1698840"/>
            <a:ext cx="540000" cy="504000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BF4301-F52A-2959-AB4F-03CAB253EB7E}"/>
              </a:ext>
            </a:extLst>
          </p:cNvPr>
          <p:cNvSpPr txBox="1"/>
          <p:nvPr/>
        </p:nvSpPr>
        <p:spPr>
          <a:xfrm>
            <a:off x="1310158" y="2282671"/>
            <a:ext cx="10254153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Эффективный рынок земли требует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кадастра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надежных механизмов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исполнения договоров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разрешения споров </a:t>
            </a:r>
            <a:r>
              <a:rPr lang="ru-RU" sz="1200" i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(суды)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гибкого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зонирования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регулирования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упрощающего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смену назначения земель</a:t>
            </a:r>
            <a:endParaRPr lang="ru-RU" sz="1200" b="1">
              <a:solidFill>
                <a:srgbClr val="D645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Самый важный институт для развития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городов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строительства</a:t>
            </a:r>
            <a:endParaRPr lang="ru-RU" sz="12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Прямоугольник 17">
            <a:extLst>
              <a:ext uri="{FF2B5EF4-FFF2-40B4-BE49-F238E27FC236}">
                <a16:creationId xmlns:a16="http://schemas.microsoft.com/office/drawing/2014/main" id="{CD284181-2ED0-DE3F-A85F-02810501FB60}"/>
              </a:ext>
            </a:extLst>
          </p:cNvPr>
          <p:cNvSpPr/>
          <p:nvPr/>
        </p:nvSpPr>
        <p:spPr>
          <a:xfrm>
            <a:off x="1310157" y="1698840"/>
            <a:ext cx="10357967" cy="504000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Эффективные рынки земли</a:t>
            </a:r>
            <a:r>
              <a:rPr lang="ru-RU" sz="160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600" b="1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Позволяет оптимально распределять городское пространство</a:t>
            </a:r>
            <a:endParaRPr lang="ru-RU" sz="140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Прямоугольник 8">
            <a:extLst>
              <a:ext uri="{FF2B5EF4-FFF2-40B4-BE49-F238E27FC236}">
                <a16:creationId xmlns:a16="http://schemas.microsoft.com/office/drawing/2014/main" id="{2283B986-20F2-1BF6-0111-D77ABE36E886}"/>
              </a:ext>
            </a:extLst>
          </p:cNvPr>
          <p:cNvSpPr/>
          <p:nvPr/>
        </p:nvSpPr>
        <p:spPr>
          <a:xfrm>
            <a:off x="601089" y="3390959"/>
            <a:ext cx="540000" cy="504000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Прямоугольник 17">
            <a:extLst>
              <a:ext uri="{FF2B5EF4-FFF2-40B4-BE49-F238E27FC236}">
                <a16:creationId xmlns:a16="http://schemas.microsoft.com/office/drawing/2014/main" id="{03156F79-8636-CD3C-FA4B-0697BDBDF4A4}"/>
              </a:ext>
            </a:extLst>
          </p:cNvPr>
          <p:cNvSpPr/>
          <p:nvPr/>
        </p:nvSpPr>
        <p:spPr>
          <a:xfrm>
            <a:off x="1310157" y="3390959"/>
            <a:ext cx="10357967" cy="504000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Гибкое регулирование</a:t>
            </a:r>
            <a:r>
              <a:rPr lang="ru-RU" sz="160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600" b="1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Позволяет городам своевременно адаптироваться под возникающие вызовы</a:t>
            </a:r>
            <a:endParaRPr lang="ru-RU" sz="140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Прямоугольник 8">
            <a:extLst>
              <a:ext uri="{FF2B5EF4-FFF2-40B4-BE49-F238E27FC236}">
                <a16:creationId xmlns:a16="http://schemas.microsoft.com/office/drawing/2014/main" id="{143646A1-F5EF-5D76-822F-E775A0BF8BF6}"/>
              </a:ext>
            </a:extLst>
          </p:cNvPr>
          <p:cNvSpPr/>
          <p:nvPr/>
        </p:nvSpPr>
        <p:spPr>
          <a:xfrm>
            <a:off x="601089" y="5072425"/>
            <a:ext cx="540000" cy="504000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Прямоугольник 17">
            <a:extLst>
              <a:ext uri="{FF2B5EF4-FFF2-40B4-BE49-F238E27FC236}">
                <a16:creationId xmlns:a16="http://schemas.microsoft.com/office/drawing/2014/main" id="{E22FA0D4-EE47-F4EF-4291-8967E1280AAC}"/>
              </a:ext>
            </a:extLst>
          </p:cNvPr>
          <p:cNvSpPr/>
          <p:nvPr/>
        </p:nvSpPr>
        <p:spPr>
          <a:xfrm>
            <a:off x="1310157" y="5072425"/>
            <a:ext cx="10357967" cy="504000"/>
          </a:xfrm>
          <a:prstGeom prst="rect">
            <a:avLst/>
          </a:prstGeom>
          <a:solidFill>
            <a:srgbClr val="F2E4D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Не препятствовать урбанизации</a:t>
            </a:r>
            <a:r>
              <a:rPr lang="ru-RU" sz="160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Источник долгосрочного спроса отрасли</a:t>
            </a:r>
            <a:endParaRPr lang="ru-RU" sz="140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31B526-8A83-54FD-A5C7-C460E06B6ABD}"/>
              </a:ext>
            </a:extLst>
          </p:cNvPr>
          <p:cNvSpPr txBox="1"/>
          <p:nvPr/>
        </p:nvSpPr>
        <p:spPr>
          <a:xfrm>
            <a:off x="1310158" y="3965591"/>
            <a:ext cx="10254153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Особенно важно в свете возможной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новой волны регулирования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– вопросы шума, пыли, отходов, использования новых материалов и технологий, </a:t>
            </a:r>
            <a:r>
              <a:rPr lang="ru-RU" sz="1400">
                <a:ea typeface="Calibri" panose="020F0502020204030204" pitchFamily="34" charset="0"/>
                <a:cs typeface="Times New Roman" panose="02020603050405020304" pitchFamily="18" charset="0"/>
              </a:rPr>
              <a:t>«зеленых» норм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1400">
                <a:ea typeface="Calibri" panose="020F0502020204030204" pitchFamily="34" charset="0"/>
                <a:cs typeface="Times New Roman" panose="02020603050405020304" pitchFamily="18" charset="0"/>
              </a:rPr>
              <a:t>других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градостроительных норм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Чрезмерное регулирование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плодит коррупцию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увеличивает себестоимость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замедляет внедрение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инновации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препятствует масштабированию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из-за различий в </a:t>
            </a:r>
            <a:r>
              <a:rPr lang="ru-RU" sz="1400">
                <a:ea typeface="Calibri" panose="020F0502020204030204" pitchFamily="34" charset="0"/>
                <a:cs typeface="Times New Roman" panose="02020603050405020304" pitchFamily="18" charset="0"/>
              </a:rPr>
              <a:t>регулировании 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между городами</a:t>
            </a:r>
            <a:endParaRPr lang="ru-RU" sz="12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032DAC-D863-0C7B-DA4F-8E9ED413F21F}"/>
              </a:ext>
            </a:extLst>
          </p:cNvPr>
          <p:cNvSpPr txBox="1"/>
          <p:nvPr/>
        </p:nvSpPr>
        <p:spPr>
          <a:xfrm>
            <a:off x="1310158" y="5672194"/>
            <a:ext cx="102541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Вместо этого рекомендуется улучшать мобильность населения за счет развития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межгородской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внутригородской</a:t>
            </a:r>
            <a:r>
              <a:rPr lang="ru-RU" sz="14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инфраструктуры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BB07A-8AF5-0F3D-9C4E-D132E1D67D67}"/>
              </a:ext>
            </a:extLst>
          </p:cNvPr>
          <p:cNvSpPr txBox="1"/>
          <p:nvPr/>
        </p:nvSpPr>
        <p:spPr>
          <a:xfrm>
            <a:off x="428880" y="6271197"/>
            <a:ext cx="4239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Источники: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Всемирный Банк (2009), </a:t>
            </a:r>
            <a:r>
              <a:rPr lang="en-US" sz="1000" i="1">
                <a:solidFill>
                  <a:schemeClr val="tx1">
                    <a:lumMod val="50000"/>
                    <a:lumOff val="50000"/>
                  </a:schemeClr>
                </a:solidFill>
              </a:rPr>
              <a:t>McKinsey Global Institute</a:t>
            </a:r>
          </a:p>
        </p:txBody>
      </p:sp>
      <p:sp>
        <p:nvSpPr>
          <p:cNvPr id="10" name="Дата 9">
            <a:extLst>
              <a:ext uri="{FF2B5EF4-FFF2-40B4-BE49-F238E27FC236}">
                <a16:creationId xmlns:a16="http://schemas.microsoft.com/office/drawing/2014/main" id="{C22FBD54-BAE6-96E2-718F-3BB73215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402BE-0825-8146-ADFC-453BACE00C11}" type="datetime1">
              <a:rPr lang="en-US" smtClean="0"/>
              <a:t>4/2/26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A08CC0-38CE-0ED0-7F3D-9EBB22DD8E29}"/>
              </a:ext>
            </a:extLst>
          </p:cNvPr>
          <p:cNvSpPr txBox="1"/>
          <p:nvPr/>
        </p:nvSpPr>
        <p:spPr>
          <a:xfrm>
            <a:off x="-8626" y="1008888"/>
            <a:ext cx="3448512" cy="307777"/>
          </a:xfrm>
          <a:prstGeom prst="rect">
            <a:avLst/>
          </a:prstGeom>
          <a:gradFill flip="none" rotWithShape="1">
            <a:gsLst>
              <a:gs pos="0">
                <a:srgbClr val="376C8A"/>
              </a:gs>
              <a:gs pos="92000">
                <a:srgbClr val="376C8A">
                  <a:lumMod val="20000"/>
                  <a:lumOff val="80000"/>
                </a:srgbClr>
              </a:gs>
              <a:gs pos="33000">
                <a:srgbClr val="376C8A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>
            <a:defPPr>
              <a:defRPr lang="ru-KZ"/>
            </a:defPPr>
            <a:lvl1pPr algn="ctr">
              <a:defRPr sz="2000" b="1">
                <a:solidFill>
                  <a:schemeClr val="bg1"/>
                </a:solidFill>
                <a:latin typeface="Gotham Pro" panose="02000503040000020004" pitchFamily="50" charset="0"/>
                <a:cs typeface="Gotham Pro" panose="02000503040000020004" pitchFamily="50" charset="0"/>
              </a:defRPr>
            </a:lvl1pPr>
          </a:lstStyle>
          <a:p>
            <a:pPr marL="520700" algn="l"/>
            <a:r>
              <a:rPr lang="ru-RU" sz="1400">
                <a:latin typeface="+mj-lt"/>
              </a:rPr>
              <a:t>Жилищное строительство</a:t>
            </a:r>
          </a:p>
        </p:txBody>
      </p:sp>
      <p:pic>
        <p:nvPicPr>
          <p:cNvPr id="3" name="Рисунок 3" descr="Водолей со сплошной заливкой">
            <a:extLst>
              <a:ext uri="{FF2B5EF4-FFF2-40B4-BE49-F238E27FC236}">
                <a16:creationId xmlns:a16="http://schemas.microsoft.com/office/drawing/2014/main" id="{3C79E097-C818-9443-767C-DF565FEAC81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9870" y="980514"/>
            <a:ext cx="307778" cy="341120"/>
          </a:xfrm>
          <a:prstGeom prst="rect">
            <a:avLst/>
          </a:prstGeom>
        </p:spPr>
      </p:pic>
      <p:pic>
        <p:nvPicPr>
          <p:cNvPr id="14" name="Рисунок 4" descr="Водолей со сплошной заливкой">
            <a:extLst>
              <a:ext uri="{FF2B5EF4-FFF2-40B4-BE49-F238E27FC236}">
                <a16:creationId xmlns:a16="http://schemas.microsoft.com/office/drawing/2014/main" id="{79D0C5EF-CE47-0561-4E94-E965E71D203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094" r="39397" b="15515"/>
          <a:stretch/>
        </p:blipFill>
        <p:spPr>
          <a:xfrm rot="5400000">
            <a:off x="90346" y="986661"/>
            <a:ext cx="307777" cy="3411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A67A8-738D-7219-A95A-DED63C16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BF337-9E29-4E92-919C-571149AA1FA7}" type="slidenum">
              <a:rPr lang="x-none" smtClean="0"/>
              <a:pPr/>
              <a:t>11</a:t>
            </a:fld>
            <a:r>
              <a:rPr lang="en-US"/>
              <a:t> / </a:t>
            </a:r>
            <a:r>
              <a:rPr lang="ru-RU"/>
              <a:t>12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3907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4F05BD-45E8-35BB-09F0-DC275BE1AD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6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BA37A6-1F7B-F81F-AFD0-39B96858CA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6892" y="2221902"/>
            <a:ext cx="1729540" cy="2131965"/>
          </a:xfrm>
          <a:prstGeom prst="roundRect">
            <a:avLst>
              <a:gd name="adj" fmla="val 6506"/>
            </a:avLst>
          </a:prstGeom>
        </p:spPr>
      </p:pic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825FE661-F564-37D7-8C99-39DFD22A2349}"/>
              </a:ext>
            </a:extLst>
          </p:cNvPr>
          <p:cNvSpPr txBox="1">
            <a:spLocks/>
          </p:cNvSpPr>
          <p:nvPr/>
        </p:nvSpPr>
        <p:spPr>
          <a:xfrm>
            <a:off x="1604237" y="3488586"/>
            <a:ext cx="2236142" cy="443699"/>
          </a:xfrm>
          <a:prstGeom prst="rect">
            <a:avLst/>
          </a:prstGeom>
        </p:spPr>
        <p:txBody>
          <a:bodyPr vert="horz" lIns="86871" tIns="43435" rIns="86871" bIns="43435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>
                <a:solidFill>
                  <a:schemeClr val="bg1"/>
                </a:solidFill>
                <a:latin typeface="Gotham" pitchFamily="2" charset="0"/>
                <a:ea typeface="Arial" charset="0"/>
                <a:cs typeface="Gotham" pitchFamily="2" charset="0"/>
              </a:rPr>
              <a:t>t.me/</a:t>
            </a:r>
            <a:r>
              <a:rPr lang="en-US" sz="1900" err="1">
                <a:solidFill>
                  <a:schemeClr val="bg1"/>
                </a:solidFill>
                <a:latin typeface="Gotham" pitchFamily="2" charset="0"/>
                <a:ea typeface="Arial" charset="0"/>
                <a:cs typeface="Gotham" pitchFamily="2" charset="0"/>
              </a:rPr>
              <a:t>Desht_ITG</a:t>
            </a:r>
            <a:endParaRPr lang="nn-NO" sz="1900">
              <a:solidFill>
                <a:schemeClr val="bg1"/>
              </a:solidFill>
              <a:latin typeface="Gotham" pitchFamily="2" charset="0"/>
              <a:ea typeface="Arial" charset="0"/>
              <a:cs typeface="Gotham" pitchFamily="2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2A6F46E-62F5-0C3B-308D-9B4F29305E10}"/>
              </a:ext>
            </a:extLst>
          </p:cNvPr>
          <p:cNvSpPr txBox="1">
            <a:spLocks/>
          </p:cNvSpPr>
          <p:nvPr/>
        </p:nvSpPr>
        <p:spPr>
          <a:xfrm>
            <a:off x="1604236" y="2986451"/>
            <a:ext cx="3483349" cy="443699"/>
          </a:xfrm>
          <a:prstGeom prst="rect">
            <a:avLst/>
          </a:prstGeom>
        </p:spPr>
        <p:txBody>
          <a:bodyPr vert="horz" lIns="86871" tIns="43435" rIns="86871" bIns="43435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>
                <a:solidFill>
                  <a:schemeClr val="bg1"/>
                </a:solidFill>
                <a:latin typeface="Gotham" pitchFamily="2" charset="0"/>
                <a:ea typeface="Arial" charset="0"/>
                <a:cs typeface="Gotham" pitchFamily="2" charset="0"/>
              </a:rPr>
              <a:t>www.desht.org</a:t>
            </a:r>
            <a:endParaRPr lang="nn-NO" sz="1900">
              <a:solidFill>
                <a:schemeClr val="bg1"/>
              </a:solidFill>
              <a:latin typeface="Gotham" pitchFamily="2" charset="0"/>
              <a:ea typeface="Arial" charset="0"/>
              <a:cs typeface="Gotham" pitchFamily="2" charset="0"/>
            </a:endParaRP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CFA77A90-1EC0-27EC-1E0C-FFAA9E5C4212}"/>
              </a:ext>
            </a:extLst>
          </p:cNvPr>
          <p:cNvSpPr txBox="1">
            <a:spLocks/>
          </p:cNvSpPr>
          <p:nvPr/>
        </p:nvSpPr>
        <p:spPr>
          <a:xfrm>
            <a:off x="1579284" y="4588279"/>
            <a:ext cx="3508302" cy="443699"/>
          </a:xfrm>
          <a:prstGeom prst="rect">
            <a:avLst/>
          </a:prstGeom>
        </p:spPr>
        <p:txBody>
          <a:bodyPr vert="horz" lIns="86871" tIns="43435" rIns="86871" bIns="43435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>
                <a:solidFill>
                  <a:schemeClr val="bg1"/>
                </a:solidFill>
                <a:latin typeface="Gotham" pitchFamily="2" charset="0"/>
                <a:ea typeface="Arial" charset="0"/>
                <a:cs typeface="Gotham" pitchFamily="2" charset="0"/>
              </a:rPr>
              <a:t>info@desht.org</a:t>
            </a:r>
            <a:endParaRPr lang="nn-NO" sz="1900">
              <a:solidFill>
                <a:schemeClr val="bg1"/>
              </a:solidFill>
              <a:latin typeface="Gotham" pitchFamily="2" charset="0"/>
              <a:ea typeface="Arial" charset="0"/>
              <a:cs typeface="Gotham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7CA50EC-635E-046F-B483-2F1D02FB40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D5D4DA"/>
              </a:clrFrom>
              <a:clrTo>
                <a:srgbClr val="D5D4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21" y="3488520"/>
            <a:ext cx="498485" cy="49848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BAFF928-CE55-0AF0-B90A-CB3E1435106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3" t="20421" r="13985" b="17276"/>
          <a:stretch/>
        </p:blipFill>
        <p:spPr>
          <a:xfrm>
            <a:off x="1155571" y="4676697"/>
            <a:ext cx="286587" cy="249960"/>
          </a:xfrm>
          <a:prstGeom prst="rect">
            <a:avLst/>
          </a:prstGeom>
        </p:spPr>
      </p:pic>
      <p:sp>
        <p:nvSpPr>
          <p:cNvPr id="16" name="Овал 15">
            <a:extLst>
              <a:ext uri="{FF2B5EF4-FFF2-40B4-BE49-F238E27FC236}">
                <a16:creationId xmlns:a16="http://schemas.microsoft.com/office/drawing/2014/main" id="{4E73A589-8B54-8599-E1C1-3B9C510EEB27}"/>
              </a:ext>
            </a:extLst>
          </p:cNvPr>
          <p:cNvSpPr/>
          <p:nvPr/>
        </p:nvSpPr>
        <p:spPr>
          <a:xfrm>
            <a:off x="1094452" y="3526401"/>
            <a:ext cx="412576" cy="40588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>
              <a:solidFill>
                <a:schemeClr val="bg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311AC2B-F011-FCB9-40B4-D1971C158C4E}"/>
              </a:ext>
            </a:extLst>
          </p:cNvPr>
          <p:cNvSpPr/>
          <p:nvPr/>
        </p:nvSpPr>
        <p:spPr>
          <a:xfrm>
            <a:off x="1228586" y="4196059"/>
            <a:ext cx="153153" cy="148218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>
              <a:solidFill>
                <a:schemeClr val="bg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B1CA307-3B4F-3E48-D883-72A793744ED8}"/>
              </a:ext>
            </a:extLst>
          </p:cNvPr>
          <p:cNvSpPr/>
          <p:nvPr/>
        </p:nvSpPr>
        <p:spPr>
          <a:xfrm>
            <a:off x="1101481" y="4063771"/>
            <a:ext cx="412576" cy="40588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>
              <a:solidFill>
                <a:schemeClr val="bg1"/>
              </a:solidFill>
            </a:endParaRPr>
          </a:p>
        </p:txBody>
      </p:sp>
      <p:sp>
        <p:nvSpPr>
          <p:cNvPr id="19" name="Прямоугольник: скругленные углы 22">
            <a:extLst>
              <a:ext uri="{FF2B5EF4-FFF2-40B4-BE49-F238E27FC236}">
                <a16:creationId xmlns:a16="http://schemas.microsoft.com/office/drawing/2014/main" id="{ED72A5D9-BFEC-DDFD-56F0-B4C792A3C8DF}"/>
              </a:ext>
            </a:extLst>
          </p:cNvPr>
          <p:cNvSpPr/>
          <p:nvPr/>
        </p:nvSpPr>
        <p:spPr>
          <a:xfrm>
            <a:off x="1168889" y="4143007"/>
            <a:ext cx="273269" cy="247412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463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5674776-89E7-D32F-2A11-DD4CB7FCF26B}"/>
              </a:ext>
            </a:extLst>
          </p:cNvPr>
          <p:cNvSpPr/>
          <p:nvPr/>
        </p:nvSpPr>
        <p:spPr>
          <a:xfrm>
            <a:off x="1092575" y="4598734"/>
            <a:ext cx="412576" cy="40588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>
              <a:solidFill>
                <a:schemeClr val="bg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86DEDB0-ED99-B818-0C20-5D42038D8170}"/>
              </a:ext>
            </a:extLst>
          </p:cNvPr>
          <p:cNvSpPr/>
          <p:nvPr/>
        </p:nvSpPr>
        <p:spPr>
          <a:xfrm>
            <a:off x="1380542" y="4174734"/>
            <a:ext cx="37147" cy="3714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>
              <a:solidFill>
                <a:schemeClr val="bg1"/>
              </a:solidFill>
            </a:endParaRP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3E62A2E-1735-CD68-5E59-F5DE671CD99E}"/>
              </a:ext>
            </a:extLst>
          </p:cNvPr>
          <p:cNvSpPr txBox="1">
            <a:spLocks/>
          </p:cNvSpPr>
          <p:nvPr/>
        </p:nvSpPr>
        <p:spPr>
          <a:xfrm>
            <a:off x="1604237" y="4044862"/>
            <a:ext cx="3508302" cy="443699"/>
          </a:xfrm>
          <a:prstGeom prst="rect">
            <a:avLst/>
          </a:prstGeom>
        </p:spPr>
        <p:txBody>
          <a:bodyPr vert="horz" lIns="86871" tIns="43435" rIns="86871" bIns="43435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>
                <a:solidFill>
                  <a:schemeClr val="bg1"/>
                </a:solidFill>
                <a:latin typeface="Gotham" pitchFamily="2" charset="0"/>
                <a:ea typeface="Arial" charset="0"/>
                <a:cs typeface="Gotham" pitchFamily="2" charset="0"/>
              </a:rPr>
              <a:t>instagram.com/</a:t>
            </a:r>
            <a:r>
              <a:rPr lang="en-US" sz="1900" err="1">
                <a:solidFill>
                  <a:schemeClr val="bg1"/>
                </a:solidFill>
                <a:latin typeface="Gotham" pitchFamily="2" charset="0"/>
                <a:ea typeface="Arial" charset="0"/>
                <a:cs typeface="Gotham" pitchFamily="2" charset="0"/>
              </a:rPr>
              <a:t>desht_itg</a:t>
            </a:r>
            <a:endParaRPr lang="nn-NO" sz="1900">
              <a:solidFill>
                <a:schemeClr val="bg1"/>
              </a:solidFill>
              <a:latin typeface="Gotham" pitchFamily="2" charset="0"/>
              <a:ea typeface="Arial" charset="0"/>
              <a:cs typeface="Gotham" pitchFamily="2" charset="0"/>
            </a:endParaRPr>
          </a:p>
        </p:txBody>
      </p:sp>
      <p:pic>
        <p:nvPicPr>
          <p:cNvPr id="23" name="Picture 2" descr="Веб-сайт – Бесплатные иконки: мультимедиа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212" y="2887825"/>
            <a:ext cx="612770" cy="61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Шрифт, логотип, Графи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4E0CAC0-655B-F07D-80BD-3E18107E98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21" y="1100175"/>
            <a:ext cx="5015824" cy="90214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1066D-4F49-2C04-EC61-F27891F4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33886-681B-9D4A-A834-C260421B6E1F}" type="datetime1">
              <a:rPr lang="en-US" smtClean="0"/>
              <a:t>4/2/26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827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Gotham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76C8A"/>
      </a:accent1>
      <a:accent2>
        <a:srgbClr val="E5B983"/>
      </a:accent2>
      <a:accent3>
        <a:srgbClr val="A5A5A5"/>
      </a:accent3>
      <a:accent4>
        <a:srgbClr val="C00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Gotham"/>
        <a:ea typeface=""/>
        <a:cs typeface=""/>
      </a:majorFont>
      <a:minorFont>
        <a:latin typeface="Gotham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376C8A"/>
        </a:solidFill>
        <a:ln>
          <a:noFill/>
        </a:ln>
      </a:spPr>
      <a:bodyPr rtlCol="0" anchor="ctr"/>
      <a:lstStyle>
        <a:defPPr algn="ctr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marL="180975" indent="-180975" algn="l">
          <a:buFont typeface="Wingdings" panose="05000000000000000000" pitchFamily="2" charset="2"/>
          <a:buChar char="§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otham" id="{7B617D25-F134-4FFF-9C0E-38C62A942CD8}" vid="{604131FF-AF5A-44D0-839B-677F2AC5830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2921</Words>
  <Application>Microsoft Macintosh PowerPoint</Application>
  <PresentationFormat>Widescreen</PresentationFormat>
  <Paragraphs>358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Gotham</vt:lpstr>
      <vt:lpstr>Wingdings</vt:lpstr>
      <vt:lpstr>1_Gotham</vt:lpstr>
      <vt:lpstr>Слайд think-cell</vt:lpstr>
      <vt:lpstr>Погружение в таргет отрасли строительство</vt:lpstr>
      <vt:lpstr>Отрасли | границы и размеры</vt:lpstr>
      <vt:lpstr>Отрасли | логика развития</vt:lpstr>
      <vt:lpstr>Отрасли | ключевые факторы успеха (1/2)</vt:lpstr>
      <vt:lpstr>Отрасли | ключевые факторы успеха (2/2)</vt:lpstr>
      <vt:lpstr>Отрасли | тренды (1/4)</vt:lpstr>
      <vt:lpstr>Отрасли | тренды (2/4)</vt:lpstr>
      <vt:lpstr>Отрасли | тренды (3/4)</vt:lpstr>
      <vt:lpstr>Отрасли | тренды (4/4)</vt:lpstr>
      <vt:lpstr>Отрасли | жизненный цикл индустрии</vt:lpstr>
      <vt:lpstr>Отрасли | институты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 A</dc:creator>
  <cp:lastModifiedBy>Нурлан Муратбек</cp:lastModifiedBy>
  <cp:revision>3</cp:revision>
  <cp:lastPrinted>2024-09-13T05:40:30Z</cp:lastPrinted>
  <dcterms:created xsi:type="dcterms:W3CDTF">2022-05-13T04:44:39Z</dcterms:created>
  <dcterms:modified xsi:type="dcterms:W3CDTF">2026-04-02T08:54:46Z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2026-04-02T08:48:05Z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bb5bd523-e97a-4c5c-8224-c9b1fb3a9659</vt:lpwstr>
  </property>
  <property fmtid="{D5CDD505-2E9C-101B-9397-08002B2CF9AE}" pid="7" name="MSIP_Label_defa4170-0d19-0005-0004-bc88714345d2_ActionId">
    <vt:lpwstr>9652ef4a-83a3-4b84-a1b0-fab208be0f76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