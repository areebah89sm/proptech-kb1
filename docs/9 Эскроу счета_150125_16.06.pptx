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98" r:id="rId2"/>
    <p:sldId id="400" r:id="rId3"/>
    <p:sldId id="411" r:id="rId4"/>
    <p:sldId id="417" r:id="rId5"/>
    <p:sldId id="414" r:id="rId6"/>
    <p:sldId id="416" r:id="rId7"/>
    <p:sldId id="405" r:id="rId8"/>
    <p:sldId id="409" r:id="rId9"/>
    <p:sldId id="413" r:id="rId10"/>
    <p:sldId id="412" r:id="rId11"/>
    <p:sldId id="404" r:id="rId12"/>
    <p:sldId id="408" r:id="rId13"/>
    <p:sldId id="403"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209"/>
    <a:srgbClr val="F5C725"/>
    <a:srgbClr val="FFBF00"/>
    <a:srgbClr val="FCB60F"/>
    <a:srgbClr val="21261E"/>
    <a:srgbClr val="EDCB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374" autoAdjust="0"/>
  </p:normalViewPr>
  <p:slideViewPr>
    <p:cSldViewPr snapToGrid="0" showGuides="1">
      <p:cViewPr varScale="1">
        <p:scale>
          <a:sx n="107" d="100"/>
          <a:sy n="107" d="100"/>
        </p:scale>
        <p:origin x="61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1\Desktop\&#1069;&#1089;&#1082;&#1088;&#1086;&#1091;%20&#1057;&#1064;&#1040;.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1\Desktop\&#1069;&#1089;&#1082;&#1088;&#1086;&#1091;%20&#1057;&#1064;&#1040;.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usan%20User\Desktop\Jusan\&#1080;&#1089;&#1089;&#1083;&#1077;&#1076;&#1086;&#1074;&#1072;&#1085;&#1080;&#1103;%20&#1086;&#1076;&#1085;&#1086;&#1088;&#1072;&#1079;&#1082;&#1080;\&#1057;&#1090;&#1088;&#1086;&#1080;&#1090;&#1077;&#1083;&#1100;&#1085;&#1099;&#1081;%20&#1073;&#1072;&#1085;&#1082;\13.01.25\&#1058;&#1072;&#1073;&#1083;&#1080;&#1094;&#1099;.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ru-RU" sz="1200" dirty="0">
                <a:solidFill>
                  <a:schemeClr val="tx1"/>
                </a:solidFill>
              </a:rPr>
              <a:t>Рост</a:t>
            </a:r>
            <a:r>
              <a:rPr lang="ru-RU" sz="1200" baseline="0" dirty="0">
                <a:solidFill>
                  <a:schemeClr val="tx1"/>
                </a:solidFill>
              </a:rPr>
              <a:t> доходов населения повышает цены на недвижимость</a:t>
            </a:r>
            <a:endParaRPr lang="ru-RU" sz="1200" dirty="0">
              <a:solidFill>
                <a:schemeClr val="tx1"/>
              </a:solidFill>
            </a:endParaRPr>
          </a:p>
        </c:rich>
      </c:tx>
      <c:layout>
        <c:manualLayout>
          <c:xMode val="edge"/>
          <c:yMode val="edge"/>
          <c:x val="0.17357442891278735"/>
          <c:y val="1.296542706408216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ru-RU"/>
        </a:p>
      </c:txPr>
    </c:title>
    <c:autoTitleDeleted val="0"/>
    <c:plotArea>
      <c:layout>
        <c:manualLayout>
          <c:layoutTarget val="inner"/>
          <c:xMode val="edge"/>
          <c:yMode val="edge"/>
          <c:x val="9.0040786996808717E-2"/>
          <c:y val="0.11654803838894297"/>
          <c:w val="0.78904500899456709"/>
          <c:h val="0.61896363783644848"/>
        </c:manualLayout>
      </c:layout>
      <c:lineChart>
        <c:grouping val="standard"/>
        <c:varyColors val="0"/>
        <c:ser>
          <c:idx val="0"/>
          <c:order val="0"/>
          <c:tx>
            <c:strRef>
              <c:f>Sheet1!$A$20</c:f>
              <c:strCache>
                <c:ptCount val="1"/>
                <c:pt idx="0">
                  <c:v>Индекс Шиллера</c:v>
                </c:pt>
              </c:strCache>
            </c:strRef>
          </c:tx>
          <c:spPr>
            <a:ln w="28575" cap="rnd">
              <a:solidFill>
                <a:srgbClr val="FCB60F"/>
              </a:solidFill>
              <a:round/>
            </a:ln>
            <a:effectLst/>
          </c:spPr>
          <c:marker>
            <c:symbol val="none"/>
          </c:marker>
          <c:dLbls>
            <c:dLbl>
              <c:idx val="0"/>
              <c:layout>
                <c:manualLayout>
                  <c:x val="-3.844534666887648E-2"/>
                  <c:y val="-1.88475096231493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98-47C7-9A5F-227592A1F83D}"/>
                </c:ext>
              </c:extLst>
            </c:dLbl>
            <c:dLbl>
              <c:idx val="24"/>
              <c:layout>
                <c:manualLayout>
                  <c:x val="-3.7811385693005475E-2"/>
                  <c:y val="-3.24239562485942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A98-47C7-9A5F-227592A1F83D}"/>
                </c:ext>
              </c:extLst>
            </c:dLbl>
            <c:spPr>
              <a:solidFill>
                <a:srgbClr val="F5C725"/>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Sheet1!$B$19:$Z$19</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cat>
          <c:val>
            <c:numRef>
              <c:f>Sheet1!$B$20:$Z$20</c:f>
              <c:numCache>
                <c:formatCode>General</c:formatCode>
                <c:ptCount val="25"/>
                <c:pt idx="0">
                  <c:v>100</c:v>
                </c:pt>
                <c:pt idx="1">
                  <c:v>112</c:v>
                </c:pt>
                <c:pt idx="2">
                  <c:v>120</c:v>
                </c:pt>
                <c:pt idx="3">
                  <c:v>135</c:v>
                </c:pt>
                <c:pt idx="4">
                  <c:v>152</c:v>
                </c:pt>
                <c:pt idx="5">
                  <c:v>176</c:v>
                </c:pt>
                <c:pt idx="6">
                  <c:v>202</c:v>
                </c:pt>
                <c:pt idx="7">
                  <c:v>202</c:v>
                </c:pt>
                <c:pt idx="8">
                  <c:v>180</c:v>
                </c:pt>
                <c:pt idx="9">
                  <c:v>146</c:v>
                </c:pt>
                <c:pt idx="10">
                  <c:v>145</c:v>
                </c:pt>
                <c:pt idx="11">
                  <c:v>140</c:v>
                </c:pt>
                <c:pt idx="12">
                  <c:v>135</c:v>
                </c:pt>
                <c:pt idx="13">
                  <c:v>146</c:v>
                </c:pt>
                <c:pt idx="14">
                  <c:v>165</c:v>
                </c:pt>
                <c:pt idx="15">
                  <c:v>172</c:v>
                </c:pt>
                <c:pt idx="16">
                  <c:v>182</c:v>
                </c:pt>
                <c:pt idx="17">
                  <c:v>193</c:v>
                </c:pt>
                <c:pt idx="18">
                  <c:v>205</c:v>
                </c:pt>
                <c:pt idx="19">
                  <c:v>212</c:v>
                </c:pt>
                <c:pt idx="20">
                  <c:v>219</c:v>
                </c:pt>
                <c:pt idx="21">
                  <c:v>246</c:v>
                </c:pt>
                <c:pt idx="22">
                  <c:v>289</c:v>
                </c:pt>
                <c:pt idx="23">
                  <c:v>297</c:v>
                </c:pt>
                <c:pt idx="24">
                  <c:v>333</c:v>
                </c:pt>
              </c:numCache>
            </c:numRef>
          </c:val>
          <c:smooth val="0"/>
          <c:extLst>
            <c:ext xmlns:c16="http://schemas.microsoft.com/office/drawing/2014/chart" uri="{C3380CC4-5D6E-409C-BE32-E72D297353CC}">
              <c16:uniqueId val="{00000002-1A98-47C7-9A5F-227592A1F83D}"/>
            </c:ext>
          </c:extLst>
        </c:ser>
        <c:dLbls>
          <c:showLegendKey val="0"/>
          <c:showVal val="0"/>
          <c:showCatName val="0"/>
          <c:showSerName val="0"/>
          <c:showPercent val="0"/>
          <c:showBubbleSize val="0"/>
        </c:dLbls>
        <c:marker val="1"/>
        <c:smooth val="0"/>
        <c:axId val="2037665855"/>
        <c:axId val="2038095599"/>
      </c:lineChart>
      <c:lineChart>
        <c:grouping val="standard"/>
        <c:varyColors val="0"/>
        <c:ser>
          <c:idx val="1"/>
          <c:order val="1"/>
          <c:tx>
            <c:strRef>
              <c:f>Sheet1!$A$21</c:f>
              <c:strCache>
                <c:ptCount val="1"/>
                <c:pt idx="0">
                  <c:v>Средний доход домохозяйств; долларов</c:v>
                </c:pt>
              </c:strCache>
            </c:strRef>
          </c:tx>
          <c:spPr>
            <a:ln w="28575" cap="rnd">
              <a:solidFill>
                <a:schemeClr val="tx1"/>
              </a:solidFill>
              <a:round/>
            </a:ln>
            <a:effectLst/>
          </c:spPr>
          <c:marker>
            <c:symbol val="none"/>
          </c:marker>
          <c:dLbls>
            <c:dLbl>
              <c:idx val="0"/>
              <c:layout>
                <c:manualLayout>
                  <c:x val="-4.200358662330432E-2"/>
                  <c:y val="-3.1858707121551852E-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fld id="{9BD271FB-F900-4619-B071-85794F5A6F01}" type="VALUE">
                      <a:rPr lang="en-US" b="1">
                        <a:solidFill>
                          <a:schemeClr val="bg1"/>
                        </a:solidFill>
                      </a:rPr>
                      <a:pPr>
                        <a:defRPr b="1">
                          <a:solidFill>
                            <a:schemeClr val="bg1"/>
                          </a:solidFill>
                        </a:defRPr>
                      </a:pPr>
                      <a:t>[ЗНАЧЕНИЕ]</a:t>
                    </a:fld>
                    <a:endParaRPr lang="ru-RU"/>
                  </a:p>
                </c:rich>
              </c:tx>
              <c:spPr>
                <a:solidFill>
                  <a:srgbClr val="21261E"/>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A98-47C7-9A5F-227592A1F83D}"/>
                </c:ext>
              </c:extLst>
            </c:dLbl>
            <c:dLbl>
              <c:idx val="23"/>
              <c:layout>
                <c:manualLayout>
                  <c:x val="-9.8089879946369363E-2"/>
                  <c:y val="-3.0639106814468846E-2"/>
                </c:manualLayout>
              </c:layout>
              <c:spPr>
                <a:solidFill>
                  <a:srgbClr val="21261E"/>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A98-47C7-9A5F-227592A1F83D}"/>
                </c:ext>
              </c:extLst>
            </c:dLbl>
            <c:spPr>
              <a:solidFill>
                <a:srgbClr val="21261E"/>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Sheet1!$B$19:$Z$19</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cat>
          <c:val>
            <c:numRef>
              <c:f>Sheet1!$B$21:$Z$21</c:f>
              <c:numCache>
                <c:formatCode>_-* #,##0\ _₽_-;\-* #,##0\ _₽_-;_-* "-"??\ _₽_-;_-@_-</c:formatCode>
                <c:ptCount val="25"/>
                <c:pt idx="0">
                  <c:v>70020</c:v>
                </c:pt>
                <c:pt idx="1">
                  <c:v>68870</c:v>
                </c:pt>
                <c:pt idx="2">
                  <c:v>68310</c:v>
                </c:pt>
                <c:pt idx="3">
                  <c:v>68350</c:v>
                </c:pt>
                <c:pt idx="4">
                  <c:v>68250</c:v>
                </c:pt>
                <c:pt idx="5">
                  <c:v>69310</c:v>
                </c:pt>
                <c:pt idx="6">
                  <c:v>70080</c:v>
                </c:pt>
                <c:pt idx="7">
                  <c:v>71210</c:v>
                </c:pt>
                <c:pt idx="8">
                  <c:v>68780</c:v>
                </c:pt>
                <c:pt idx="9">
                  <c:v>68340</c:v>
                </c:pt>
                <c:pt idx="10">
                  <c:v>66730</c:v>
                </c:pt>
                <c:pt idx="11">
                  <c:v>65750</c:v>
                </c:pt>
                <c:pt idx="12">
                  <c:v>65740</c:v>
                </c:pt>
                <c:pt idx="13">
                  <c:v>68220</c:v>
                </c:pt>
                <c:pt idx="14">
                  <c:v>67360</c:v>
                </c:pt>
                <c:pt idx="15">
                  <c:v>71000</c:v>
                </c:pt>
                <c:pt idx="16">
                  <c:v>73520</c:v>
                </c:pt>
                <c:pt idx="17">
                  <c:v>74810</c:v>
                </c:pt>
                <c:pt idx="18">
                  <c:v>75790</c:v>
                </c:pt>
                <c:pt idx="19">
                  <c:v>81210</c:v>
                </c:pt>
                <c:pt idx="20">
                  <c:v>79560</c:v>
                </c:pt>
                <c:pt idx="21">
                  <c:v>79260</c:v>
                </c:pt>
                <c:pt idx="22">
                  <c:v>77540</c:v>
                </c:pt>
                <c:pt idx="23">
                  <c:v>80610</c:v>
                </c:pt>
              </c:numCache>
            </c:numRef>
          </c:val>
          <c:smooth val="0"/>
          <c:extLst>
            <c:ext xmlns:c16="http://schemas.microsoft.com/office/drawing/2014/chart" uri="{C3380CC4-5D6E-409C-BE32-E72D297353CC}">
              <c16:uniqueId val="{00000005-1A98-47C7-9A5F-227592A1F83D}"/>
            </c:ext>
          </c:extLst>
        </c:ser>
        <c:dLbls>
          <c:showLegendKey val="0"/>
          <c:showVal val="0"/>
          <c:showCatName val="0"/>
          <c:showSerName val="0"/>
          <c:showPercent val="0"/>
          <c:showBubbleSize val="0"/>
        </c:dLbls>
        <c:marker val="1"/>
        <c:smooth val="0"/>
        <c:axId val="1962318223"/>
        <c:axId val="2038075871"/>
      </c:lineChart>
      <c:catAx>
        <c:axId val="2037665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2038095599"/>
        <c:crosses val="autoZero"/>
        <c:auto val="1"/>
        <c:lblAlgn val="ctr"/>
        <c:lblOffset val="100"/>
        <c:noMultiLvlLbl val="0"/>
      </c:catAx>
      <c:valAx>
        <c:axId val="2038095599"/>
        <c:scaling>
          <c:orientation val="minMax"/>
          <c:min val="5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2037665855"/>
        <c:crosses val="autoZero"/>
        <c:crossBetween val="between"/>
      </c:valAx>
      <c:valAx>
        <c:axId val="2038075871"/>
        <c:scaling>
          <c:orientation val="minMax"/>
          <c:min val="50000"/>
        </c:scaling>
        <c:delete val="0"/>
        <c:axPos val="r"/>
        <c:numFmt formatCode="_-* #,##0\ _₽_-;\-* #,##0\ _₽_-;_-* &quot;-&quot;??\ _₽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962318223"/>
        <c:crosses val="max"/>
        <c:crossBetween val="between"/>
      </c:valAx>
      <c:catAx>
        <c:axId val="1962318223"/>
        <c:scaling>
          <c:orientation val="minMax"/>
        </c:scaling>
        <c:delete val="1"/>
        <c:axPos val="b"/>
        <c:numFmt formatCode="General" sourceLinked="1"/>
        <c:majorTickMark val="out"/>
        <c:minorTickMark val="none"/>
        <c:tickLblPos val="nextTo"/>
        <c:crossAx val="2038075871"/>
        <c:crosses val="autoZero"/>
        <c:auto val="1"/>
        <c:lblAlgn val="ctr"/>
        <c:lblOffset val="100"/>
        <c:noMultiLvlLbl val="0"/>
      </c:catAx>
      <c:spPr>
        <a:noFill/>
        <a:ln>
          <a:noFill/>
        </a:ln>
        <a:effectLst/>
      </c:spPr>
    </c:plotArea>
    <c:legend>
      <c:legendPos val="b"/>
      <c:layout>
        <c:manualLayout>
          <c:xMode val="edge"/>
          <c:yMode val="edge"/>
          <c:x val="5.986377826056824E-2"/>
          <c:y val="0.88340973497443265"/>
          <c:w val="0.87548890067406526"/>
          <c:h val="6.798746787718672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ru-RU" sz="1200" dirty="0">
                <a:solidFill>
                  <a:schemeClr val="tx1"/>
                </a:solidFill>
              </a:rPr>
              <a:t>Снижение процентной</a:t>
            </a:r>
            <a:r>
              <a:rPr lang="ru-RU" sz="1200" baseline="0" dirty="0">
                <a:solidFill>
                  <a:schemeClr val="tx1"/>
                </a:solidFill>
              </a:rPr>
              <a:t> ставки повышает цены на недвижимость</a:t>
            </a:r>
            <a:endParaRPr lang="ru-RU" sz="1200" dirty="0">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ru-RU"/>
        </a:p>
      </c:txPr>
    </c:title>
    <c:autoTitleDeleted val="0"/>
    <c:plotArea>
      <c:layout/>
      <c:lineChart>
        <c:grouping val="standard"/>
        <c:varyColors val="0"/>
        <c:ser>
          <c:idx val="0"/>
          <c:order val="0"/>
          <c:tx>
            <c:strRef>
              <c:f>Sheet1!$A$7</c:f>
              <c:strCache>
                <c:ptCount val="1"/>
                <c:pt idx="0">
                  <c:v>Индекс Шиллера</c:v>
                </c:pt>
              </c:strCache>
            </c:strRef>
          </c:tx>
          <c:spPr>
            <a:ln w="28575" cap="rnd">
              <a:solidFill>
                <a:srgbClr val="FFC209"/>
              </a:solidFill>
              <a:round/>
            </a:ln>
            <a:effectLst/>
          </c:spPr>
          <c:marker>
            <c:symbol val="none"/>
          </c:marker>
          <c:dLbls>
            <c:dLbl>
              <c:idx val="0"/>
              <c:layout>
                <c:manualLayout>
                  <c:x val="-2.4096385542168676E-2"/>
                  <c:y val="-3.90830468584664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859-409E-A396-9C982967EEFB}"/>
                </c:ext>
              </c:extLst>
            </c:dLbl>
            <c:dLbl>
              <c:idx val="24"/>
              <c:layout>
                <c:manualLayout>
                  <c:x val="-2.2949853486587062E-2"/>
                  <c:y val="1.46595533077422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59-409E-A396-9C982967EEFB}"/>
                </c:ext>
              </c:extLst>
            </c:dLbl>
            <c:spPr>
              <a:solidFill>
                <a:srgbClr val="FFC209"/>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chemeClr val="tx1"/>
                    </a:solidFill>
                    <a:latin typeface="Inter" panose="02000503000000020004" pitchFamily="2" charset="0"/>
                    <a:ea typeface="Inter" panose="02000503000000020004" pitchFamily="2" charset="0"/>
                    <a:cs typeface="+mn-cs"/>
                  </a:defRPr>
                </a:pPr>
                <a:endParaRPr lang="ru-RU"/>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Sheet1!$B$6:$Z$6</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cat>
          <c:val>
            <c:numRef>
              <c:f>Sheet1!$B$7:$Z$7</c:f>
              <c:numCache>
                <c:formatCode>General</c:formatCode>
                <c:ptCount val="25"/>
                <c:pt idx="0">
                  <c:v>100</c:v>
                </c:pt>
                <c:pt idx="1">
                  <c:v>112</c:v>
                </c:pt>
                <c:pt idx="2">
                  <c:v>120</c:v>
                </c:pt>
                <c:pt idx="3">
                  <c:v>135</c:v>
                </c:pt>
                <c:pt idx="4">
                  <c:v>152</c:v>
                </c:pt>
                <c:pt idx="5">
                  <c:v>176</c:v>
                </c:pt>
                <c:pt idx="6">
                  <c:v>202</c:v>
                </c:pt>
                <c:pt idx="7">
                  <c:v>202</c:v>
                </c:pt>
                <c:pt idx="8">
                  <c:v>180</c:v>
                </c:pt>
                <c:pt idx="9">
                  <c:v>146</c:v>
                </c:pt>
                <c:pt idx="10">
                  <c:v>145</c:v>
                </c:pt>
                <c:pt idx="11">
                  <c:v>140</c:v>
                </c:pt>
                <c:pt idx="12">
                  <c:v>135</c:v>
                </c:pt>
                <c:pt idx="13">
                  <c:v>146</c:v>
                </c:pt>
                <c:pt idx="14">
                  <c:v>165</c:v>
                </c:pt>
                <c:pt idx="15">
                  <c:v>172</c:v>
                </c:pt>
                <c:pt idx="16">
                  <c:v>182</c:v>
                </c:pt>
                <c:pt idx="17">
                  <c:v>193</c:v>
                </c:pt>
                <c:pt idx="18">
                  <c:v>205</c:v>
                </c:pt>
                <c:pt idx="19">
                  <c:v>212</c:v>
                </c:pt>
                <c:pt idx="20">
                  <c:v>219</c:v>
                </c:pt>
                <c:pt idx="21">
                  <c:v>246</c:v>
                </c:pt>
                <c:pt idx="22">
                  <c:v>289</c:v>
                </c:pt>
                <c:pt idx="23">
                  <c:v>297</c:v>
                </c:pt>
                <c:pt idx="24">
                  <c:v>333</c:v>
                </c:pt>
              </c:numCache>
            </c:numRef>
          </c:val>
          <c:smooth val="0"/>
          <c:extLst>
            <c:ext xmlns:c16="http://schemas.microsoft.com/office/drawing/2014/chart" uri="{C3380CC4-5D6E-409C-BE32-E72D297353CC}">
              <c16:uniqueId val="{00000002-2859-409E-A396-9C982967EEFB}"/>
            </c:ext>
          </c:extLst>
        </c:ser>
        <c:dLbls>
          <c:showLegendKey val="0"/>
          <c:showVal val="0"/>
          <c:showCatName val="0"/>
          <c:showSerName val="0"/>
          <c:showPercent val="0"/>
          <c:showBubbleSize val="0"/>
        </c:dLbls>
        <c:marker val="1"/>
        <c:smooth val="0"/>
        <c:axId val="1802842639"/>
        <c:axId val="2038079615"/>
      </c:lineChart>
      <c:lineChart>
        <c:grouping val="standard"/>
        <c:varyColors val="0"/>
        <c:ser>
          <c:idx val="1"/>
          <c:order val="1"/>
          <c:tx>
            <c:strRef>
              <c:f>Sheet1!$A$8</c:f>
              <c:strCache>
                <c:ptCount val="1"/>
                <c:pt idx="0">
                  <c:v>Ставка по ипотеке на 15 лет</c:v>
                </c:pt>
              </c:strCache>
            </c:strRef>
          </c:tx>
          <c:spPr>
            <a:ln w="28575" cap="rnd">
              <a:solidFill>
                <a:schemeClr val="tx1"/>
              </a:solidFill>
              <a:round/>
            </a:ln>
            <a:effectLst/>
          </c:spPr>
          <c:marker>
            <c:symbol val="none"/>
          </c:marker>
          <c:dLbls>
            <c:dLbl>
              <c:idx val="0"/>
              <c:layout>
                <c:manualLayout>
                  <c:x val="3.8447240093629625E-3"/>
                  <c:y val="1.72328576318322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59-409E-A396-9C982967EEFB}"/>
                </c:ext>
              </c:extLst>
            </c:dLbl>
            <c:dLbl>
              <c:idx val="24"/>
              <c:layout>
                <c:manualLayout>
                  <c:x val="-3.3734939759036145E-2"/>
                  <c:y val="-2.70574939789382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859-409E-A396-9C982967EEFB}"/>
                </c:ext>
              </c:extLst>
            </c:dLbl>
            <c:numFmt formatCode="0.0%" sourceLinked="0"/>
            <c:spPr>
              <a:solidFill>
                <a:schemeClr val="tx1"/>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Inter" panose="02000503000000020004" pitchFamily="2" charset="0"/>
                    <a:ea typeface="Inter" panose="02000503000000020004" pitchFamily="2" charset="0"/>
                    <a:cs typeface="+mn-cs"/>
                  </a:defRPr>
                </a:pPr>
                <a:endParaRPr lang="ru-RU"/>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Sheet1!$B$6:$Z$6</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cat>
          <c:val>
            <c:numRef>
              <c:f>Sheet1!$B$8:$Z$8</c:f>
              <c:numCache>
                <c:formatCode>General</c:formatCode>
                <c:ptCount val="25"/>
                <c:pt idx="0">
                  <c:v>7.6999999999999999E-2</c:v>
                </c:pt>
                <c:pt idx="1">
                  <c:v>6.5000000000000002E-2</c:v>
                </c:pt>
                <c:pt idx="2">
                  <c:v>6.3E-2</c:v>
                </c:pt>
                <c:pt idx="3">
                  <c:v>5.2999999999999999E-2</c:v>
                </c:pt>
                <c:pt idx="4">
                  <c:v>5.1999999999999998E-2</c:v>
                </c:pt>
                <c:pt idx="5">
                  <c:v>5.0999999999999997E-2</c:v>
                </c:pt>
                <c:pt idx="6">
                  <c:v>5.7000000000000002E-2</c:v>
                </c:pt>
                <c:pt idx="7">
                  <c:v>0.06</c:v>
                </c:pt>
                <c:pt idx="8">
                  <c:v>4.9000000000000002E-2</c:v>
                </c:pt>
                <c:pt idx="9">
                  <c:v>4.5999999999999999E-2</c:v>
                </c:pt>
                <c:pt idx="10">
                  <c:v>4.3999999999999997E-2</c:v>
                </c:pt>
                <c:pt idx="11">
                  <c:v>0.04</c:v>
                </c:pt>
                <c:pt idx="12">
                  <c:v>3.2000000000000001E-2</c:v>
                </c:pt>
                <c:pt idx="13">
                  <c:v>2.5999999999999999E-2</c:v>
                </c:pt>
                <c:pt idx="14">
                  <c:v>3.5000000000000003E-2</c:v>
                </c:pt>
                <c:pt idx="15">
                  <c:v>0.03</c:v>
                </c:pt>
                <c:pt idx="16">
                  <c:v>0.03</c:v>
                </c:pt>
                <c:pt idx="17">
                  <c:v>3.4000000000000002E-2</c:v>
                </c:pt>
                <c:pt idx="18">
                  <c:v>3.6999999999999998E-2</c:v>
                </c:pt>
                <c:pt idx="19">
                  <c:v>3.8899999999999997E-2</c:v>
                </c:pt>
                <c:pt idx="20">
                  <c:v>0.03</c:v>
                </c:pt>
                <c:pt idx="21">
                  <c:v>2.1999999999999999E-2</c:v>
                </c:pt>
                <c:pt idx="22">
                  <c:v>2.4E-2</c:v>
                </c:pt>
                <c:pt idx="23">
                  <c:v>5.2999999999999999E-2</c:v>
                </c:pt>
                <c:pt idx="24">
                  <c:v>6.2E-2</c:v>
                </c:pt>
              </c:numCache>
            </c:numRef>
          </c:val>
          <c:smooth val="0"/>
          <c:extLst>
            <c:ext xmlns:c16="http://schemas.microsoft.com/office/drawing/2014/chart" uri="{C3380CC4-5D6E-409C-BE32-E72D297353CC}">
              <c16:uniqueId val="{00000005-2859-409E-A396-9C982967EEFB}"/>
            </c:ext>
          </c:extLst>
        </c:ser>
        <c:dLbls>
          <c:showLegendKey val="0"/>
          <c:showVal val="0"/>
          <c:showCatName val="0"/>
          <c:showSerName val="0"/>
          <c:showPercent val="0"/>
          <c:showBubbleSize val="0"/>
        </c:dLbls>
        <c:marker val="1"/>
        <c:smooth val="0"/>
        <c:axId val="2045951983"/>
        <c:axId val="2043318623"/>
      </c:lineChart>
      <c:catAx>
        <c:axId val="1802842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solidFill>
                <a:latin typeface="+mn-lt"/>
                <a:ea typeface="+mn-ea"/>
                <a:cs typeface="+mn-cs"/>
              </a:defRPr>
            </a:pPr>
            <a:endParaRPr lang="ru-RU"/>
          </a:p>
        </c:txPr>
        <c:crossAx val="2038079615"/>
        <c:crosses val="autoZero"/>
        <c:auto val="1"/>
        <c:lblAlgn val="ctr"/>
        <c:lblOffset val="100"/>
        <c:noMultiLvlLbl val="0"/>
      </c:catAx>
      <c:valAx>
        <c:axId val="20380796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802842639"/>
        <c:crosses val="autoZero"/>
        <c:crossBetween val="between"/>
      </c:valAx>
      <c:valAx>
        <c:axId val="2043318623"/>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2045951983"/>
        <c:crosses val="max"/>
        <c:crossBetween val="between"/>
      </c:valAx>
      <c:catAx>
        <c:axId val="2045951983"/>
        <c:scaling>
          <c:orientation val="minMax"/>
        </c:scaling>
        <c:delete val="1"/>
        <c:axPos val="b"/>
        <c:numFmt formatCode="General" sourceLinked="1"/>
        <c:majorTickMark val="out"/>
        <c:minorTickMark val="none"/>
        <c:tickLblPos val="nextTo"/>
        <c:crossAx val="204331862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ru-RU" sz="1400" b="0" i="0" baseline="0" dirty="0">
                <a:effectLst/>
              </a:rPr>
              <a:t>Средние цены на рынке жилья начали расти вместе с выдачей кредитов по госпрограммам</a:t>
            </a:r>
            <a:endParaRPr lang="ru-RU" sz="1400" dirty="0">
              <a:effectLst/>
            </a:endParaRPr>
          </a:p>
        </c:rich>
      </c:tx>
      <c:layout>
        <c:manualLayout>
          <c:xMode val="edge"/>
          <c:yMode val="edge"/>
          <c:x val="0.12621458178668646"/>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ru-RU"/>
        </a:p>
      </c:txPr>
    </c:title>
    <c:autoTitleDeleted val="0"/>
    <c:plotArea>
      <c:layout>
        <c:manualLayout>
          <c:layoutTarget val="inner"/>
          <c:xMode val="edge"/>
          <c:yMode val="edge"/>
          <c:x val="9.7098008229035596E-2"/>
          <c:y val="0.13203919035314385"/>
          <c:w val="0.79606734100470178"/>
          <c:h val="0.64410774410774407"/>
        </c:manualLayout>
      </c:layout>
      <c:areaChart>
        <c:grouping val="standard"/>
        <c:varyColors val="0"/>
        <c:ser>
          <c:idx val="2"/>
          <c:order val="2"/>
          <c:tx>
            <c:strRef>
              <c:f>'ср цены РФ'!$H$4</c:f>
              <c:strCache>
                <c:ptCount val="1"/>
                <c:pt idx="0">
                  <c:v>Объем выдачи кредитов по льготным программам (пр.ось)</c:v>
                </c:pt>
              </c:strCache>
            </c:strRef>
          </c:tx>
          <c:spPr>
            <a:solidFill>
              <a:schemeClr val="accent3"/>
            </a:solidFill>
            <a:ln>
              <a:noFill/>
            </a:ln>
            <a:effectLst/>
          </c:spPr>
          <c:cat>
            <c:numRef>
              <c:f>'ср цены РФ'!$A$23:$A$30</c:f>
              <c:numCache>
                <c:formatCode>General</c:formatCode>
                <c:ptCount val="8"/>
                <c:pt idx="0">
                  <c:v>2016</c:v>
                </c:pt>
                <c:pt idx="1">
                  <c:v>2017</c:v>
                </c:pt>
                <c:pt idx="2">
                  <c:v>2018</c:v>
                </c:pt>
                <c:pt idx="3">
                  <c:v>2019</c:v>
                </c:pt>
                <c:pt idx="4">
                  <c:v>2020</c:v>
                </c:pt>
                <c:pt idx="5">
                  <c:v>2021</c:v>
                </c:pt>
                <c:pt idx="6">
                  <c:v>2022</c:v>
                </c:pt>
                <c:pt idx="7">
                  <c:v>2023</c:v>
                </c:pt>
              </c:numCache>
            </c:numRef>
          </c:cat>
          <c:val>
            <c:numRef>
              <c:f>'ср цены РФ'!$H$23:$H$30</c:f>
              <c:numCache>
                <c:formatCode>General</c:formatCode>
                <c:ptCount val="8"/>
                <c:pt idx="2" formatCode="_-* #,##0\ _₽_-;\-* #,##0\ _₽_-;_-* &quot;-&quot;??\ _₽_-;_-@_-">
                  <c:v>18.3</c:v>
                </c:pt>
                <c:pt idx="3" formatCode="_-* #,##0\ _₽_-;\-* #,##0\ _₽_-;_-* &quot;-&quot;??\ _₽_-;_-@_-">
                  <c:v>144.1</c:v>
                </c:pt>
                <c:pt idx="4" formatCode="_-* #,##0\ _₽_-;\-* #,##0\ _₽_-;_-* &quot;-&quot;??\ _₽_-;_-@_-">
                  <c:v>1325.6</c:v>
                </c:pt>
                <c:pt idx="5" formatCode="_-* #,##0\ _₽_-;\-* #,##0\ _₽_-;_-* &quot;-&quot;??\ _₽_-;_-@_-">
                  <c:v>1608.7</c:v>
                </c:pt>
                <c:pt idx="6" formatCode="_-* #,##0\ _₽_-;\-* #,##0\ _₽_-;_-* &quot;-&quot;??\ _₽_-;_-@_-">
                  <c:v>2323.1</c:v>
                </c:pt>
                <c:pt idx="7" formatCode="_-* #,##0\ _₽_-;\-* #,##0\ _₽_-;_-* &quot;-&quot;??\ _₽_-;_-@_-">
                  <c:v>4797.6000000000004</c:v>
                </c:pt>
              </c:numCache>
            </c:numRef>
          </c:val>
          <c:extLst>
            <c:ext xmlns:c16="http://schemas.microsoft.com/office/drawing/2014/chart" uri="{C3380CC4-5D6E-409C-BE32-E72D297353CC}">
              <c16:uniqueId val="{00000000-397F-4FFC-A7A1-DFC06BFC3014}"/>
            </c:ext>
          </c:extLst>
        </c:ser>
        <c:dLbls>
          <c:showLegendKey val="0"/>
          <c:showVal val="0"/>
          <c:showCatName val="0"/>
          <c:showSerName val="0"/>
          <c:showPercent val="0"/>
          <c:showBubbleSize val="0"/>
        </c:dLbls>
        <c:axId val="1998541311"/>
        <c:axId val="943437807"/>
      </c:areaChart>
      <c:lineChart>
        <c:grouping val="standard"/>
        <c:varyColors val="0"/>
        <c:ser>
          <c:idx val="1"/>
          <c:order val="0"/>
          <c:tx>
            <c:v>Первичный рынок</c:v>
          </c:tx>
          <c:spPr>
            <a:ln w="28575" cap="rnd">
              <a:solidFill>
                <a:srgbClr val="F5C725"/>
              </a:solidFill>
              <a:round/>
            </a:ln>
            <a:effectLst/>
          </c:spPr>
          <c:marker>
            <c:symbol val="circle"/>
            <c:size val="7"/>
            <c:spPr>
              <a:solidFill>
                <a:srgbClr val="F5C725"/>
              </a:solidFill>
              <a:ln w="9525">
                <a:solidFill>
                  <a:srgbClr val="F5C725"/>
                </a:solidFill>
              </a:ln>
              <a:effectLst/>
            </c:spPr>
          </c:marker>
          <c:dLbls>
            <c:dLbl>
              <c:idx val="3"/>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97F-4FFC-A7A1-DFC06BFC3014}"/>
                </c:ext>
              </c:extLst>
            </c:dLbl>
            <c:dLbl>
              <c:idx val="4"/>
              <c:layout>
                <c:manualLayout>
                  <c:x val="-4.1946455085374909E-2"/>
                  <c:y val="-3.29719677394096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97F-4FFC-A7A1-DFC06BFC3014}"/>
                </c:ext>
              </c:extLst>
            </c:dLbl>
            <c:dLbl>
              <c:idx val="5"/>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97F-4FFC-A7A1-DFC06BFC3014}"/>
                </c:ext>
              </c:extLst>
            </c:dLbl>
            <c:dLbl>
              <c:idx val="6"/>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97F-4FFC-A7A1-DFC06BFC3014}"/>
                </c:ext>
              </c:extLst>
            </c:dLbl>
            <c:dLbl>
              <c:idx val="7"/>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97F-4FFC-A7A1-DFC06BFC301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'ср цены РФ'!$A$23:$A$30</c:f>
              <c:numCache>
                <c:formatCode>General</c:formatCode>
                <c:ptCount val="8"/>
                <c:pt idx="0">
                  <c:v>2016</c:v>
                </c:pt>
                <c:pt idx="1">
                  <c:v>2017</c:v>
                </c:pt>
                <c:pt idx="2">
                  <c:v>2018</c:v>
                </c:pt>
                <c:pt idx="3">
                  <c:v>2019</c:v>
                </c:pt>
                <c:pt idx="4">
                  <c:v>2020</c:v>
                </c:pt>
                <c:pt idx="5">
                  <c:v>2021</c:v>
                </c:pt>
                <c:pt idx="6">
                  <c:v>2022</c:v>
                </c:pt>
                <c:pt idx="7">
                  <c:v>2023</c:v>
                </c:pt>
              </c:numCache>
            </c:numRef>
          </c:cat>
          <c:val>
            <c:numRef>
              <c:f>'ср цены РФ'!$B$23:$B$30</c:f>
              <c:numCache>
                <c:formatCode>_-* #,##0\ _₽_-;\-* #,##0\ _₽_-;_-* "-"??\ _₽_-;_-@_-</c:formatCode>
                <c:ptCount val="8"/>
                <c:pt idx="0">
                  <c:v>53286.96</c:v>
                </c:pt>
                <c:pt idx="1">
                  <c:v>56882.19</c:v>
                </c:pt>
                <c:pt idx="2">
                  <c:v>61831.57</c:v>
                </c:pt>
                <c:pt idx="3">
                  <c:v>64059.49</c:v>
                </c:pt>
                <c:pt idx="4">
                  <c:v>79003.429999999993</c:v>
                </c:pt>
                <c:pt idx="5">
                  <c:v>98909</c:v>
                </c:pt>
                <c:pt idx="6">
                  <c:v>122343</c:v>
                </c:pt>
                <c:pt idx="7">
                  <c:v>140370.82</c:v>
                </c:pt>
              </c:numCache>
            </c:numRef>
          </c:val>
          <c:smooth val="0"/>
          <c:extLst>
            <c:ext xmlns:c16="http://schemas.microsoft.com/office/drawing/2014/chart" uri="{C3380CC4-5D6E-409C-BE32-E72D297353CC}">
              <c16:uniqueId val="{00000001-397F-4FFC-A7A1-DFC06BFC3014}"/>
            </c:ext>
          </c:extLst>
        </c:ser>
        <c:ser>
          <c:idx val="0"/>
          <c:order val="1"/>
          <c:tx>
            <c:v>Вторичный рынок</c:v>
          </c:tx>
          <c:spPr>
            <a:ln w="28575" cap="rnd">
              <a:solidFill>
                <a:srgbClr val="21261E"/>
              </a:solidFill>
              <a:round/>
            </a:ln>
            <a:effectLst/>
          </c:spPr>
          <c:marker>
            <c:symbol val="circle"/>
            <c:size val="7"/>
            <c:spPr>
              <a:solidFill>
                <a:schemeClr val="tx1"/>
              </a:solidFill>
              <a:ln w="9525">
                <a:solidFill>
                  <a:schemeClr val="tx1"/>
                </a:solidFill>
              </a:ln>
              <a:effectLst/>
            </c:spPr>
          </c:marker>
          <c:dLbls>
            <c:dLbl>
              <c:idx val="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97F-4FFC-A7A1-DFC06BFC3014}"/>
                </c:ext>
              </c:extLst>
            </c:dLbl>
            <c:dLbl>
              <c:idx val="4"/>
              <c:layout>
                <c:manualLayout>
                  <c:x val="-4.5874938134125215E-2"/>
                  <c:y val="3.048586641609897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97F-4FFC-A7A1-DFC06BFC3014}"/>
                </c:ext>
              </c:extLst>
            </c:dLbl>
            <c:dLbl>
              <c:idx val="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97F-4FFC-A7A1-DFC06BFC3014}"/>
                </c:ext>
              </c:extLst>
            </c:dLbl>
            <c:dLbl>
              <c:idx val="6"/>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97F-4FFC-A7A1-DFC06BFC3014}"/>
                </c:ext>
              </c:extLst>
            </c:dLbl>
            <c:dLbl>
              <c:idx val="7"/>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97F-4FFC-A7A1-DFC06BFC301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dLblPos val="b"/>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'ср цены РФ'!$G$23:$G$30</c:f>
              <c:numCache>
                <c:formatCode>_-* #,##0\ _₽_-;\-* #,##0\ _₽_-;_-* "-"??\ _₽_-;_-@_-</c:formatCode>
                <c:ptCount val="8"/>
                <c:pt idx="0">
                  <c:v>53982.97</c:v>
                </c:pt>
                <c:pt idx="1">
                  <c:v>52349.88</c:v>
                </c:pt>
                <c:pt idx="2">
                  <c:v>54923.93</c:v>
                </c:pt>
                <c:pt idx="3">
                  <c:v>58527.519999999997</c:v>
                </c:pt>
                <c:pt idx="4">
                  <c:v>66711.56</c:v>
                </c:pt>
                <c:pt idx="5">
                  <c:v>76686</c:v>
                </c:pt>
                <c:pt idx="6">
                  <c:v>94363</c:v>
                </c:pt>
                <c:pt idx="7">
                  <c:v>97418.39</c:v>
                </c:pt>
              </c:numCache>
            </c:numRef>
          </c:val>
          <c:smooth val="0"/>
          <c:extLst>
            <c:ext xmlns:c16="http://schemas.microsoft.com/office/drawing/2014/chart" uri="{C3380CC4-5D6E-409C-BE32-E72D297353CC}">
              <c16:uniqueId val="{00000002-397F-4FFC-A7A1-DFC06BFC3014}"/>
            </c:ext>
          </c:extLst>
        </c:ser>
        <c:ser>
          <c:idx val="3"/>
          <c:order val="3"/>
          <c:tx>
            <c:strRef>
              <c:f>'ср цены РФ'!$I$4</c:f>
              <c:strCache>
                <c:ptCount val="1"/>
                <c:pt idx="0">
                  <c:v>Себестоимость строительства</c:v>
                </c:pt>
              </c:strCache>
            </c:strRef>
          </c:tx>
          <c:spPr>
            <a:ln w="28575" cap="rnd">
              <a:solidFill>
                <a:schemeClr val="accent1"/>
              </a:solidFill>
              <a:round/>
            </a:ln>
            <a:effectLst/>
          </c:spPr>
          <c:marker>
            <c:symbol val="circle"/>
            <c:size val="7"/>
            <c:spPr>
              <a:solidFill>
                <a:schemeClr val="accent1"/>
              </a:solidFill>
              <a:ln w="9525">
                <a:solidFill>
                  <a:schemeClr val="accent1"/>
                </a:solidFill>
              </a:ln>
              <a:effectLst/>
            </c:spPr>
          </c:marker>
          <c:dLbls>
            <c:dLbl>
              <c:idx val="4"/>
              <c:layout>
                <c:manualLayout>
                  <c:x val="-3.5356347438752857E-2"/>
                  <c:y val="2.48610132331062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97F-4FFC-A7A1-DFC06BFC3014}"/>
                </c:ext>
              </c:extLst>
            </c:dLbl>
            <c:dLbl>
              <c:idx val="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97F-4FFC-A7A1-DFC06BFC3014}"/>
                </c:ext>
              </c:extLst>
            </c:dLbl>
            <c:dLbl>
              <c:idx val="6"/>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397F-4FFC-A7A1-DFC06BFC3014}"/>
                </c:ext>
              </c:extLst>
            </c:dLbl>
            <c:dLbl>
              <c:idx val="7"/>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97F-4FFC-A7A1-DFC06BFC301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'ср цены РФ'!$I$23:$I$30</c:f>
              <c:numCache>
                <c:formatCode>General</c:formatCode>
                <c:ptCount val="8"/>
                <c:pt idx="4" formatCode="_-* #,##0\ _₽_-;\-* #,##0\ _₽_-;_-* &quot;-&quot;??\ _₽_-;_-@_-">
                  <c:v>31776.525915806898</c:v>
                </c:pt>
                <c:pt idx="5" formatCode="_-* #,##0\ _₽_-;\-* #,##0\ _₽_-;_-* &quot;-&quot;??\ _₽_-;_-@_-">
                  <c:v>34161.265540799715</c:v>
                </c:pt>
                <c:pt idx="6" formatCode="_-* #,##0\ _₽_-;\-* #,##0\ _₽_-;_-* &quot;-&quot;??\ _₽_-;_-@_-">
                  <c:v>42446.765395515111</c:v>
                </c:pt>
                <c:pt idx="7" formatCode="_-* #,##0\ _₽_-;\-* #,##0\ _₽_-;_-* &quot;-&quot;??\ _₽_-;_-@_-">
                  <c:v>50224.177982118897</c:v>
                </c:pt>
              </c:numCache>
            </c:numRef>
          </c:val>
          <c:smooth val="0"/>
          <c:extLst>
            <c:ext xmlns:c16="http://schemas.microsoft.com/office/drawing/2014/chart" uri="{C3380CC4-5D6E-409C-BE32-E72D297353CC}">
              <c16:uniqueId val="{00000003-397F-4FFC-A7A1-DFC06BFC3014}"/>
            </c:ext>
          </c:extLst>
        </c:ser>
        <c:dLbls>
          <c:showLegendKey val="0"/>
          <c:showVal val="0"/>
          <c:showCatName val="0"/>
          <c:showSerName val="0"/>
          <c:showPercent val="0"/>
          <c:showBubbleSize val="0"/>
        </c:dLbls>
        <c:marker val="1"/>
        <c:smooth val="0"/>
        <c:axId val="1665966096"/>
        <c:axId val="1667417984"/>
      </c:lineChart>
      <c:catAx>
        <c:axId val="1665966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ru-RU"/>
          </a:p>
        </c:txPr>
        <c:crossAx val="1667417984"/>
        <c:crosses val="autoZero"/>
        <c:auto val="1"/>
        <c:lblAlgn val="ctr"/>
        <c:lblOffset val="100"/>
        <c:noMultiLvlLbl val="0"/>
      </c:catAx>
      <c:valAx>
        <c:axId val="1667417984"/>
        <c:scaling>
          <c:orientation val="minMax"/>
        </c:scaling>
        <c:delete val="0"/>
        <c:axPos val="l"/>
        <c:title>
          <c:tx>
            <c:rich>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ru-RU" sz="1050"/>
                  <a:t>тыс. руб за 1 кв.м</a:t>
                </a:r>
              </a:p>
            </c:rich>
          </c:tx>
          <c:overlay val="0"/>
          <c:spPr>
            <a:noFill/>
            <a:ln>
              <a:noFill/>
            </a:ln>
            <a:effectLst/>
          </c:spPr>
          <c:txPr>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ru-RU"/>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ru-RU"/>
          </a:p>
        </c:txPr>
        <c:crossAx val="1665966096"/>
        <c:crosses val="autoZero"/>
        <c:crossBetween val="between"/>
        <c:dispUnits>
          <c:builtInUnit val="thousands"/>
        </c:dispUnits>
      </c:valAx>
      <c:valAx>
        <c:axId val="943437807"/>
        <c:scaling>
          <c:orientation val="minMax"/>
        </c:scaling>
        <c:delete val="0"/>
        <c:axPos val="r"/>
        <c:title>
          <c:tx>
            <c:rich>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ru-RU" sz="1050"/>
                  <a:t>млрд.руб</a:t>
                </a:r>
              </a:p>
            </c:rich>
          </c:tx>
          <c:layout>
            <c:manualLayout>
              <c:xMode val="edge"/>
              <c:yMode val="edge"/>
              <c:x val="0.96566861544172233"/>
              <c:y val="0.35066204682483754"/>
            </c:manualLayout>
          </c:layout>
          <c:overlay val="0"/>
          <c:spPr>
            <a:noFill/>
            <a:ln>
              <a:noFill/>
            </a:ln>
            <a:effectLst/>
          </c:spPr>
          <c:txPr>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ru-RU"/>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ru-RU"/>
          </a:p>
        </c:txPr>
        <c:crossAx val="1998541311"/>
        <c:crosses val="max"/>
        <c:crossBetween val="between"/>
      </c:valAx>
      <c:catAx>
        <c:axId val="1998541311"/>
        <c:scaling>
          <c:orientation val="minMax"/>
        </c:scaling>
        <c:delete val="1"/>
        <c:axPos val="b"/>
        <c:numFmt formatCode="General" sourceLinked="1"/>
        <c:majorTickMark val="out"/>
        <c:minorTickMark val="none"/>
        <c:tickLblPos val="nextTo"/>
        <c:crossAx val="943437807"/>
        <c:crosses val="autoZero"/>
        <c:auto val="1"/>
        <c:lblAlgn val="ctr"/>
        <c:lblOffset val="100"/>
        <c:noMultiLvlLbl val="0"/>
      </c:catAx>
      <c:spPr>
        <a:noFill/>
        <a:ln>
          <a:noFill/>
        </a:ln>
        <a:effectLst/>
      </c:spPr>
    </c:plotArea>
    <c:legend>
      <c:legendPos val="b"/>
      <c:layout>
        <c:manualLayout>
          <c:xMode val="edge"/>
          <c:yMode val="edge"/>
          <c:x val="9.9892972036624603E-2"/>
          <c:y val="0.8405864850050897"/>
          <c:w val="0.79341917223459535"/>
          <c:h val="0.14436653355258006"/>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defRPr>
      </a:pPr>
      <a:endParaRPr lang="ru-RU"/>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F95423-1572-40AE-A6EE-DD996ED93D48}"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ru-RU"/>
        </a:p>
      </dgm:t>
    </dgm:pt>
    <dgm:pt modelId="{2A8B690F-47F1-4A73-B9C3-52FA1E4C775F}">
      <dgm:prSet phldrT="[Текст]">
        <dgm:style>
          <a:lnRef idx="1">
            <a:schemeClr val="accent3"/>
          </a:lnRef>
          <a:fillRef idx="2">
            <a:schemeClr val="accent3"/>
          </a:fillRef>
          <a:effectRef idx="1">
            <a:schemeClr val="accent3"/>
          </a:effectRef>
          <a:fontRef idx="minor">
            <a:schemeClr val="dk1"/>
          </a:fontRef>
        </dgm:style>
      </dgm:prSet>
      <dgm:spPr>
        <a:gradFill flip="none" rotWithShape="1">
          <a:gsLst>
            <a:gs pos="0">
              <a:schemeClr val="accent4">
                <a:lumMod val="0"/>
                <a:lumOff val="100000"/>
              </a:schemeClr>
            </a:gs>
            <a:gs pos="23000">
              <a:schemeClr val="accent4">
                <a:lumMod val="0"/>
                <a:lumOff val="100000"/>
              </a:schemeClr>
            </a:gs>
            <a:gs pos="81000">
              <a:schemeClr val="accent4">
                <a:lumMod val="100000"/>
              </a:schemeClr>
            </a:gs>
          </a:gsLst>
          <a:path path="circle">
            <a:fillToRect l="50000" t="-80000" r="50000" b="180000"/>
          </a:path>
          <a:tileRect/>
        </a:gradFill>
      </dgm:spPr>
      <dgm:t>
        <a:bodyPr/>
        <a:lstStyle/>
        <a:p>
          <a:r>
            <a:rPr lang="ru-RU" b="1" dirty="0">
              <a:latin typeface="Inter" panose="02000503000000020004" pitchFamily="2" charset="0"/>
              <a:ea typeface="Inter" panose="02000503000000020004" pitchFamily="2" charset="0"/>
            </a:rPr>
            <a:t>Прямое влияние</a:t>
          </a:r>
        </a:p>
      </dgm:t>
    </dgm:pt>
    <dgm:pt modelId="{633000B7-8D6F-4D37-96BF-209087FE14F7}" type="parTrans" cxnId="{FCA1F943-2588-46EA-BDBF-BD88C9A08671}">
      <dgm:prSet/>
      <dgm:spPr/>
      <dgm:t>
        <a:bodyPr/>
        <a:lstStyle/>
        <a:p>
          <a:endParaRPr lang="ru-RU">
            <a:latin typeface="Inter" panose="02000503000000020004" pitchFamily="2" charset="0"/>
            <a:ea typeface="Inter" panose="02000503000000020004" pitchFamily="2" charset="0"/>
          </a:endParaRPr>
        </a:p>
      </dgm:t>
    </dgm:pt>
    <dgm:pt modelId="{6A03AAEA-0FC5-4A0F-85E3-18112FA1133E}" type="sibTrans" cxnId="{FCA1F943-2588-46EA-BDBF-BD88C9A08671}">
      <dgm:prSet/>
      <dgm:spPr/>
      <dgm:t>
        <a:bodyPr/>
        <a:lstStyle/>
        <a:p>
          <a:endParaRPr lang="ru-RU">
            <a:latin typeface="Inter" panose="02000503000000020004" pitchFamily="2" charset="0"/>
            <a:ea typeface="Inter" panose="02000503000000020004" pitchFamily="2" charset="0"/>
          </a:endParaRPr>
        </a:p>
      </dgm:t>
    </dgm:pt>
    <dgm:pt modelId="{2737B92D-AB4D-4A6A-BE77-0896BE9DBD49}">
      <dgm:prSet phldrT="[Текст]" custT="1">
        <dgm:style>
          <a:lnRef idx="2">
            <a:schemeClr val="dk1"/>
          </a:lnRef>
          <a:fillRef idx="1">
            <a:schemeClr val="lt1"/>
          </a:fillRef>
          <a:effectRef idx="0">
            <a:schemeClr val="dk1"/>
          </a:effectRef>
          <a:fontRef idx="minor">
            <a:schemeClr val="dk1"/>
          </a:fontRef>
        </dgm:style>
      </dgm:prSet>
      <dgm:spPr/>
      <dgm:t>
        <a:bodyPr/>
        <a:lstStyle/>
        <a:p>
          <a:pPr>
            <a:buFont typeface="+mj-lt"/>
            <a:buAutoNum type="arabicPeriod"/>
          </a:pPr>
          <a:r>
            <a:rPr lang="ru-RU" sz="2000" dirty="0">
              <a:latin typeface="Inter" panose="02000503000000020004" pitchFamily="2" charset="0"/>
              <a:ea typeface="Inter" panose="02000503000000020004" pitchFamily="2" charset="0"/>
            </a:rPr>
            <a:t>Гарантия получения  приобретаемой недвижимости (РФ)</a:t>
          </a:r>
        </a:p>
      </dgm:t>
    </dgm:pt>
    <dgm:pt modelId="{332ADDDA-2E2B-484E-8345-2F963848F620}" type="parTrans" cxnId="{51FE9CDC-3E6B-4AB7-80F5-53CE3ED86267}">
      <dgm:prSet/>
      <dgm:spPr/>
      <dgm:t>
        <a:bodyPr/>
        <a:lstStyle/>
        <a:p>
          <a:endParaRPr lang="ru-RU">
            <a:latin typeface="Inter" panose="02000503000000020004" pitchFamily="2" charset="0"/>
            <a:ea typeface="Inter" panose="02000503000000020004" pitchFamily="2" charset="0"/>
          </a:endParaRPr>
        </a:p>
      </dgm:t>
    </dgm:pt>
    <dgm:pt modelId="{08E70A58-1913-440C-AFC1-5DC3EA53D954}" type="sibTrans" cxnId="{51FE9CDC-3E6B-4AB7-80F5-53CE3ED86267}">
      <dgm:prSet/>
      <dgm:spPr/>
      <dgm:t>
        <a:bodyPr/>
        <a:lstStyle/>
        <a:p>
          <a:endParaRPr lang="ru-RU">
            <a:latin typeface="Inter" panose="02000503000000020004" pitchFamily="2" charset="0"/>
            <a:ea typeface="Inter" panose="02000503000000020004" pitchFamily="2" charset="0"/>
          </a:endParaRPr>
        </a:p>
      </dgm:t>
    </dgm:pt>
    <dgm:pt modelId="{6161BF6D-E635-44D7-B85E-85DF7E0AC855}">
      <dgm:prSet phldrT="[Текст]" custT="1">
        <dgm:style>
          <a:lnRef idx="2">
            <a:schemeClr val="dk1"/>
          </a:lnRef>
          <a:fillRef idx="1">
            <a:schemeClr val="lt1"/>
          </a:fillRef>
          <a:effectRef idx="0">
            <a:schemeClr val="dk1"/>
          </a:effectRef>
          <a:fontRef idx="minor">
            <a:schemeClr val="dk1"/>
          </a:fontRef>
        </dgm:style>
      </dgm:prSet>
      <dgm:spPr/>
      <dgm:t>
        <a:bodyPr/>
        <a:lstStyle/>
        <a:p>
          <a:pPr>
            <a:buAutoNum type="arabicPeriod" startAt="2"/>
          </a:pPr>
          <a:r>
            <a:rPr lang="ru-RU" sz="2000" dirty="0">
              <a:latin typeface="Inter" panose="02000503000000020004" pitchFamily="2" charset="0"/>
              <a:ea typeface="Inter" panose="02000503000000020004" pitchFamily="2" charset="0"/>
            </a:rPr>
            <a:t>Прозрачность финансирования</a:t>
          </a:r>
        </a:p>
      </dgm:t>
    </dgm:pt>
    <dgm:pt modelId="{3DE0A09C-08CC-48AE-8085-1BC21464CF08}" type="parTrans" cxnId="{3FA10AEB-1282-4EB3-BEAE-B4270148C781}">
      <dgm:prSet/>
      <dgm:spPr/>
      <dgm:t>
        <a:bodyPr/>
        <a:lstStyle/>
        <a:p>
          <a:endParaRPr lang="ru-RU">
            <a:latin typeface="Inter" panose="02000503000000020004" pitchFamily="2" charset="0"/>
            <a:ea typeface="Inter" panose="02000503000000020004" pitchFamily="2" charset="0"/>
          </a:endParaRPr>
        </a:p>
      </dgm:t>
    </dgm:pt>
    <dgm:pt modelId="{D4955B3D-19DB-4539-BD1B-FD4606C8FC3A}" type="sibTrans" cxnId="{3FA10AEB-1282-4EB3-BEAE-B4270148C781}">
      <dgm:prSet/>
      <dgm:spPr/>
      <dgm:t>
        <a:bodyPr/>
        <a:lstStyle/>
        <a:p>
          <a:endParaRPr lang="ru-RU">
            <a:latin typeface="Inter" panose="02000503000000020004" pitchFamily="2" charset="0"/>
            <a:ea typeface="Inter" panose="02000503000000020004" pitchFamily="2" charset="0"/>
          </a:endParaRPr>
        </a:p>
      </dgm:t>
    </dgm:pt>
    <dgm:pt modelId="{F28702F9-E1A4-4E4A-B47A-8BAC957D8BDC}">
      <dgm:prSet phldrT="[Текст]">
        <dgm:style>
          <a:lnRef idx="1">
            <a:schemeClr val="accent3"/>
          </a:lnRef>
          <a:fillRef idx="2">
            <a:schemeClr val="accent3"/>
          </a:fillRef>
          <a:effectRef idx="1">
            <a:schemeClr val="accent3"/>
          </a:effectRef>
          <a:fontRef idx="minor">
            <a:schemeClr val="dk1"/>
          </a:fontRef>
        </dgm:style>
      </dgm:prSet>
      <dgm:spPr>
        <a:gradFill flip="none" rotWithShape="0">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dgm:spPr>
      <dgm:t>
        <a:bodyPr/>
        <a:lstStyle/>
        <a:p>
          <a:r>
            <a:rPr lang="ru-RU" b="1" dirty="0">
              <a:latin typeface="Inter" panose="02000503000000020004" pitchFamily="2" charset="0"/>
              <a:ea typeface="Inter" panose="02000503000000020004" pitchFamily="2" charset="0"/>
            </a:rPr>
            <a:t>Косвенное влияние</a:t>
          </a:r>
        </a:p>
      </dgm:t>
    </dgm:pt>
    <dgm:pt modelId="{4652B59C-64FF-4101-8DB1-268D4D9ED5BC}" type="parTrans" cxnId="{985EBB93-FB88-4F99-975B-1F8417A788BB}">
      <dgm:prSet/>
      <dgm:spPr/>
      <dgm:t>
        <a:bodyPr/>
        <a:lstStyle/>
        <a:p>
          <a:endParaRPr lang="ru-RU">
            <a:latin typeface="Inter" panose="02000503000000020004" pitchFamily="2" charset="0"/>
            <a:ea typeface="Inter" panose="02000503000000020004" pitchFamily="2" charset="0"/>
          </a:endParaRPr>
        </a:p>
      </dgm:t>
    </dgm:pt>
    <dgm:pt modelId="{B3E3B91C-5420-468E-8B2B-32242FC58E13}" type="sibTrans" cxnId="{985EBB93-FB88-4F99-975B-1F8417A788BB}">
      <dgm:prSet/>
      <dgm:spPr/>
      <dgm:t>
        <a:bodyPr/>
        <a:lstStyle/>
        <a:p>
          <a:endParaRPr lang="ru-RU">
            <a:latin typeface="Inter" panose="02000503000000020004" pitchFamily="2" charset="0"/>
            <a:ea typeface="Inter" panose="02000503000000020004" pitchFamily="2" charset="0"/>
          </a:endParaRPr>
        </a:p>
      </dgm:t>
    </dgm:pt>
    <dgm:pt modelId="{62633159-1AB1-4419-BE27-A6708C5B2A9A}">
      <dgm:prSet phldrT="[Текст]" custT="1">
        <dgm:style>
          <a:lnRef idx="2">
            <a:schemeClr val="dk1"/>
          </a:lnRef>
          <a:fillRef idx="1">
            <a:schemeClr val="lt1"/>
          </a:fillRef>
          <a:effectRef idx="0">
            <a:schemeClr val="dk1"/>
          </a:effectRef>
          <a:fontRef idx="minor">
            <a:schemeClr val="dk1"/>
          </a:fontRef>
        </dgm:style>
      </dgm:prSet>
      <dgm:spPr/>
      <dgm:t>
        <a:bodyPr/>
        <a:lstStyle/>
        <a:p>
          <a:r>
            <a:rPr lang="ru-RU" sz="1800" dirty="0">
              <a:latin typeface="Inter" panose="02000503000000020004" pitchFamily="2" charset="0"/>
              <a:ea typeface="Inter" panose="02000503000000020004" pitchFamily="2" charset="0"/>
            </a:rPr>
            <a:t>Рост спроса и конкуренции </a:t>
          </a:r>
        </a:p>
      </dgm:t>
    </dgm:pt>
    <dgm:pt modelId="{197174D9-ED37-4EE6-9B26-3A50BC1C6A30}" type="parTrans" cxnId="{00F235B5-C472-463C-893C-79FF45470678}">
      <dgm:prSet/>
      <dgm:spPr/>
      <dgm:t>
        <a:bodyPr/>
        <a:lstStyle/>
        <a:p>
          <a:endParaRPr lang="ru-RU">
            <a:latin typeface="Inter" panose="02000503000000020004" pitchFamily="2" charset="0"/>
            <a:ea typeface="Inter" panose="02000503000000020004" pitchFamily="2" charset="0"/>
          </a:endParaRPr>
        </a:p>
      </dgm:t>
    </dgm:pt>
    <dgm:pt modelId="{F3EE4172-9BF8-40A0-9317-C512DAE54680}" type="sibTrans" cxnId="{00F235B5-C472-463C-893C-79FF45470678}">
      <dgm:prSet/>
      <dgm:spPr/>
      <dgm:t>
        <a:bodyPr/>
        <a:lstStyle/>
        <a:p>
          <a:endParaRPr lang="ru-RU">
            <a:latin typeface="Inter" panose="02000503000000020004" pitchFamily="2" charset="0"/>
            <a:ea typeface="Inter" panose="02000503000000020004" pitchFamily="2" charset="0"/>
          </a:endParaRPr>
        </a:p>
      </dgm:t>
    </dgm:pt>
    <dgm:pt modelId="{45581023-0EB9-4F2E-8463-890FDD4AEACF}">
      <dgm:prSet phldrT="[Текст]" custT="1">
        <dgm:style>
          <a:lnRef idx="2">
            <a:schemeClr val="dk1"/>
          </a:lnRef>
          <a:fillRef idx="1">
            <a:schemeClr val="lt1"/>
          </a:fillRef>
          <a:effectRef idx="0">
            <a:schemeClr val="dk1"/>
          </a:effectRef>
          <a:fontRef idx="minor">
            <a:schemeClr val="dk1"/>
          </a:fontRef>
        </dgm:style>
      </dgm:prSet>
      <dgm:spPr/>
      <dgm:t>
        <a:bodyPr/>
        <a:lstStyle/>
        <a:p>
          <a:r>
            <a:rPr lang="ru-RU" sz="2000" dirty="0">
              <a:latin typeface="Inter" panose="02000503000000020004" pitchFamily="2" charset="0"/>
              <a:ea typeface="Inter" panose="02000503000000020004" pitchFamily="2" charset="0"/>
            </a:rPr>
            <a:t>Снижение премии за риск при финансировании застройщика</a:t>
          </a:r>
        </a:p>
      </dgm:t>
    </dgm:pt>
    <dgm:pt modelId="{B765974D-E564-4275-902A-9DB3CC2D2C0D}" type="parTrans" cxnId="{FC449AC1-4C03-48C3-83FA-6F1C95797776}">
      <dgm:prSet/>
      <dgm:spPr/>
      <dgm:t>
        <a:bodyPr/>
        <a:lstStyle/>
        <a:p>
          <a:endParaRPr lang="ru-RU">
            <a:latin typeface="Inter" panose="02000503000000020004" pitchFamily="2" charset="0"/>
            <a:ea typeface="Inter" panose="02000503000000020004" pitchFamily="2" charset="0"/>
          </a:endParaRPr>
        </a:p>
      </dgm:t>
    </dgm:pt>
    <dgm:pt modelId="{0A95E621-D0C4-4B37-864C-33546047DAB3}" type="sibTrans" cxnId="{FC449AC1-4C03-48C3-83FA-6F1C95797776}">
      <dgm:prSet/>
      <dgm:spPr/>
      <dgm:t>
        <a:bodyPr/>
        <a:lstStyle/>
        <a:p>
          <a:endParaRPr lang="ru-RU">
            <a:latin typeface="Inter" panose="02000503000000020004" pitchFamily="2" charset="0"/>
            <a:ea typeface="Inter" panose="02000503000000020004" pitchFamily="2" charset="0"/>
          </a:endParaRPr>
        </a:p>
      </dgm:t>
    </dgm:pt>
    <dgm:pt modelId="{707F5DF5-A631-4031-9962-D0A2BF7A5459}">
      <dgm:prSet phldrT="[Текст]" custT="1">
        <dgm:style>
          <a:lnRef idx="2">
            <a:schemeClr val="dk1"/>
          </a:lnRef>
          <a:fillRef idx="1">
            <a:schemeClr val="lt1"/>
          </a:fillRef>
          <a:effectRef idx="0">
            <a:schemeClr val="dk1"/>
          </a:effectRef>
          <a:fontRef idx="minor">
            <a:schemeClr val="dk1"/>
          </a:fontRef>
        </dgm:style>
      </dgm:prSet>
      <dgm:spPr/>
      <dgm:t>
        <a:bodyPr/>
        <a:lstStyle/>
        <a:p>
          <a:r>
            <a:rPr lang="ru-RU" sz="2000" dirty="0">
              <a:latin typeface="Inter" panose="02000503000000020004" pitchFamily="2" charset="0"/>
              <a:ea typeface="Inter" panose="02000503000000020004" pitchFamily="2" charset="0"/>
            </a:rPr>
            <a:t>Стимулирование строительства </a:t>
          </a:r>
        </a:p>
      </dgm:t>
    </dgm:pt>
    <dgm:pt modelId="{6D055195-E948-4527-82FC-9CB7BAB6B9BA}" type="parTrans" cxnId="{05A762E9-AE56-4426-AC3D-DB138DD3349B}">
      <dgm:prSet/>
      <dgm:spPr/>
      <dgm:t>
        <a:bodyPr/>
        <a:lstStyle/>
        <a:p>
          <a:endParaRPr lang="ru-RU"/>
        </a:p>
      </dgm:t>
    </dgm:pt>
    <dgm:pt modelId="{044B33BE-047E-480E-ACB9-046D8CBC823F}" type="sibTrans" cxnId="{05A762E9-AE56-4426-AC3D-DB138DD3349B}">
      <dgm:prSet/>
      <dgm:spPr/>
      <dgm:t>
        <a:bodyPr/>
        <a:lstStyle/>
        <a:p>
          <a:endParaRPr lang="ru-RU"/>
        </a:p>
      </dgm:t>
    </dgm:pt>
    <dgm:pt modelId="{4BACF4E9-FFFE-47A6-91AF-AFAB95249835}" type="pres">
      <dgm:prSet presAssocID="{08F95423-1572-40AE-A6EE-DD996ED93D48}" presName="list" presStyleCnt="0">
        <dgm:presLayoutVars>
          <dgm:dir/>
          <dgm:animLvl val="lvl"/>
        </dgm:presLayoutVars>
      </dgm:prSet>
      <dgm:spPr/>
    </dgm:pt>
    <dgm:pt modelId="{6259C42B-48CC-41F8-922F-3D5C3EE07F83}" type="pres">
      <dgm:prSet presAssocID="{2A8B690F-47F1-4A73-B9C3-52FA1E4C775F}" presName="posSpace" presStyleCnt="0"/>
      <dgm:spPr/>
    </dgm:pt>
    <dgm:pt modelId="{E4B8ADFD-0D1D-4CD4-8032-0E902244B8C6}" type="pres">
      <dgm:prSet presAssocID="{2A8B690F-47F1-4A73-B9C3-52FA1E4C775F}" presName="vertFlow" presStyleCnt="0"/>
      <dgm:spPr/>
    </dgm:pt>
    <dgm:pt modelId="{02E67D64-D0BB-4310-9203-55901E55916B}" type="pres">
      <dgm:prSet presAssocID="{2A8B690F-47F1-4A73-B9C3-52FA1E4C775F}" presName="topSpace" presStyleCnt="0"/>
      <dgm:spPr/>
    </dgm:pt>
    <dgm:pt modelId="{F9FD38C4-FE5B-4904-8DD4-556DAFA19667}" type="pres">
      <dgm:prSet presAssocID="{2A8B690F-47F1-4A73-B9C3-52FA1E4C775F}" presName="firstComp" presStyleCnt="0"/>
      <dgm:spPr/>
    </dgm:pt>
    <dgm:pt modelId="{E21BFF7D-8FC1-4AE4-9534-1203732A96D4}" type="pres">
      <dgm:prSet presAssocID="{2A8B690F-47F1-4A73-B9C3-52FA1E4C775F}" presName="firstChild" presStyleLbl="bgAccFollowNode1" presStyleIdx="0" presStyleCnt="5" custScaleY="45235"/>
      <dgm:spPr/>
    </dgm:pt>
    <dgm:pt modelId="{0255937F-B963-44C4-B967-CC937BB2E70D}" type="pres">
      <dgm:prSet presAssocID="{2A8B690F-47F1-4A73-B9C3-52FA1E4C775F}" presName="firstChildTx" presStyleLbl="bgAccFollowNode1" presStyleIdx="0" presStyleCnt="5">
        <dgm:presLayoutVars>
          <dgm:bulletEnabled val="1"/>
        </dgm:presLayoutVars>
      </dgm:prSet>
      <dgm:spPr/>
    </dgm:pt>
    <dgm:pt modelId="{ADF59AA3-51D2-481D-BDFD-FEBB6BC75C0A}" type="pres">
      <dgm:prSet presAssocID="{6161BF6D-E635-44D7-B85E-85DF7E0AC855}" presName="comp" presStyleCnt="0"/>
      <dgm:spPr/>
    </dgm:pt>
    <dgm:pt modelId="{54AFABDE-0CCF-4ED0-A6D1-7A52CF8ECF72}" type="pres">
      <dgm:prSet presAssocID="{6161BF6D-E635-44D7-B85E-85DF7E0AC855}" presName="child" presStyleLbl="bgAccFollowNode1" presStyleIdx="1" presStyleCnt="5" custScaleY="74443"/>
      <dgm:spPr/>
    </dgm:pt>
    <dgm:pt modelId="{127CF0C3-1FCF-48FB-9597-D51E7C502094}" type="pres">
      <dgm:prSet presAssocID="{6161BF6D-E635-44D7-B85E-85DF7E0AC855}" presName="childTx" presStyleLbl="bgAccFollowNode1" presStyleIdx="1" presStyleCnt="5">
        <dgm:presLayoutVars>
          <dgm:bulletEnabled val="1"/>
        </dgm:presLayoutVars>
      </dgm:prSet>
      <dgm:spPr/>
    </dgm:pt>
    <dgm:pt modelId="{E2DC88FF-2B05-4C00-AFD1-77F24883D0EB}" type="pres">
      <dgm:prSet presAssocID="{2A8B690F-47F1-4A73-B9C3-52FA1E4C775F}" presName="negSpace" presStyleCnt="0"/>
      <dgm:spPr/>
    </dgm:pt>
    <dgm:pt modelId="{8DF0EB5B-DAED-467A-96A4-24FC8099F57C}" type="pres">
      <dgm:prSet presAssocID="{2A8B690F-47F1-4A73-B9C3-52FA1E4C775F}" presName="circle" presStyleLbl="node1" presStyleIdx="0" presStyleCnt="2"/>
      <dgm:spPr/>
    </dgm:pt>
    <dgm:pt modelId="{9FB00D7B-1F4A-418B-A674-83CE44971A34}" type="pres">
      <dgm:prSet presAssocID="{6A03AAEA-0FC5-4A0F-85E3-18112FA1133E}" presName="transSpace" presStyleCnt="0"/>
      <dgm:spPr/>
    </dgm:pt>
    <dgm:pt modelId="{9A4C1B7E-56C2-4285-83E4-7A3EA27A0500}" type="pres">
      <dgm:prSet presAssocID="{F28702F9-E1A4-4E4A-B47A-8BAC957D8BDC}" presName="posSpace" presStyleCnt="0"/>
      <dgm:spPr/>
    </dgm:pt>
    <dgm:pt modelId="{8E6110C4-16EF-4E10-A04F-3CF8EF97E666}" type="pres">
      <dgm:prSet presAssocID="{F28702F9-E1A4-4E4A-B47A-8BAC957D8BDC}" presName="vertFlow" presStyleCnt="0"/>
      <dgm:spPr/>
    </dgm:pt>
    <dgm:pt modelId="{7F93F764-A010-4A69-A9F4-E95280AD7C71}" type="pres">
      <dgm:prSet presAssocID="{F28702F9-E1A4-4E4A-B47A-8BAC957D8BDC}" presName="topSpace" presStyleCnt="0"/>
      <dgm:spPr/>
    </dgm:pt>
    <dgm:pt modelId="{08EAA88C-596F-4C68-B75C-3F00A870DE82}" type="pres">
      <dgm:prSet presAssocID="{F28702F9-E1A4-4E4A-B47A-8BAC957D8BDC}" presName="firstComp" presStyleCnt="0"/>
      <dgm:spPr/>
    </dgm:pt>
    <dgm:pt modelId="{ED46853A-107D-4A00-A050-B96F47A92752}" type="pres">
      <dgm:prSet presAssocID="{F28702F9-E1A4-4E4A-B47A-8BAC957D8BDC}" presName="firstChild" presStyleLbl="bgAccFollowNode1" presStyleIdx="2" presStyleCnt="5" custScaleY="39001"/>
      <dgm:spPr/>
    </dgm:pt>
    <dgm:pt modelId="{FD337C73-B0B7-442F-989B-A7CC9171DF84}" type="pres">
      <dgm:prSet presAssocID="{F28702F9-E1A4-4E4A-B47A-8BAC957D8BDC}" presName="firstChildTx" presStyleLbl="bgAccFollowNode1" presStyleIdx="2" presStyleCnt="5">
        <dgm:presLayoutVars>
          <dgm:bulletEnabled val="1"/>
        </dgm:presLayoutVars>
      </dgm:prSet>
      <dgm:spPr/>
    </dgm:pt>
    <dgm:pt modelId="{D9440412-02C5-447D-96C7-C05173FFBE46}" type="pres">
      <dgm:prSet presAssocID="{45581023-0EB9-4F2E-8463-890FDD4AEACF}" presName="comp" presStyleCnt="0"/>
      <dgm:spPr/>
    </dgm:pt>
    <dgm:pt modelId="{F10E44C7-4D3A-426B-ADF3-F67F4A06E96A}" type="pres">
      <dgm:prSet presAssocID="{45581023-0EB9-4F2E-8463-890FDD4AEACF}" presName="child" presStyleLbl="bgAccFollowNode1" presStyleIdx="3" presStyleCnt="5" custScaleY="47032"/>
      <dgm:spPr/>
    </dgm:pt>
    <dgm:pt modelId="{D8CB5466-1AF2-4B2E-BE00-9DA033C24D05}" type="pres">
      <dgm:prSet presAssocID="{45581023-0EB9-4F2E-8463-890FDD4AEACF}" presName="childTx" presStyleLbl="bgAccFollowNode1" presStyleIdx="3" presStyleCnt="5">
        <dgm:presLayoutVars>
          <dgm:bulletEnabled val="1"/>
        </dgm:presLayoutVars>
      </dgm:prSet>
      <dgm:spPr/>
    </dgm:pt>
    <dgm:pt modelId="{9E25562C-FD5B-4834-8733-F698605E72A2}" type="pres">
      <dgm:prSet presAssocID="{707F5DF5-A631-4031-9962-D0A2BF7A5459}" presName="comp" presStyleCnt="0"/>
      <dgm:spPr/>
    </dgm:pt>
    <dgm:pt modelId="{F8FF8024-0441-4A36-AD37-6D78AF54634B}" type="pres">
      <dgm:prSet presAssocID="{707F5DF5-A631-4031-9962-D0A2BF7A5459}" presName="child" presStyleLbl="bgAccFollowNode1" presStyleIdx="4" presStyleCnt="5" custScaleY="51053"/>
      <dgm:spPr/>
    </dgm:pt>
    <dgm:pt modelId="{B5F0C1EB-2704-4083-B5E8-A18B29A74B7E}" type="pres">
      <dgm:prSet presAssocID="{707F5DF5-A631-4031-9962-D0A2BF7A5459}" presName="childTx" presStyleLbl="bgAccFollowNode1" presStyleIdx="4" presStyleCnt="5">
        <dgm:presLayoutVars>
          <dgm:bulletEnabled val="1"/>
        </dgm:presLayoutVars>
      </dgm:prSet>
      <dgm:spPr/>
    </dgm:pt>
    <dgm:pt modelId="{50623786-823F-4CDC-8B6C-97223206269D}" type="pres">
      <dgm:prSet presAssocID="{F28702F9-E1A4-4E4A-B47A-8BAC957D8BDC}" presName="negSpace" presStyleCnt="0"/>
      <dgm:spPr/>
    </dgm:pt>
    <dgm:pt modelId="{A80A7E71-43FD-456B-A2D8-F738B739BC87}" type="pres">
      <dgm:prSet presAssocID="{F28702F9-E1A4-4E4A-B47A-8BAC957D8BDC}" presName="circle" presStyleLbl="node1" presStyleIdx="1" presStyleCnt="2"/>
      <dgm:spPr/>
    </dgm:pt>
  </dgm:ptLst>
  <dgm:cxnLst>
    <dgm:cxn modelId="{A63F2F07-2DE9-4048-98E3-43487CB4A339}" type="presOf" srcId="{62633159-1AB1-4419-BE27-A6708C5B2A9A}" destId="{FD337C73-B0B7-442F-989B-A7CC9171DF84}" srcOrd="1" destOrd="0" presId="urn:microsoft.com/office/officeart/2005/8/layout/hList9"/>
    <dgm:cxn modelId="{E6A48C0B-157A-4CE5-B7C0-98A084F565CD}" type="presOf" srcId="{2A8B690F-47F1-4A73-B9C3-52FA1E4C775F}" destId="{8DF0EB5B-DAED-467A-96A4-24FC8099F57C}" srcOrd="0" destOrd="0" presId="urn:microsoft.com/office/officeart/2005/8/layout/hList9"/>
    <dgm:cxn modelId="{7D8E3A12-0047-4243-B5D2-C47244BF69B3}" type="presOf" srcId="{45581023-0EB9-4F2E-8463-890FDD4AEACF}" destId="{D8CB5466-1AF2-4B2E-BE00-9DA033C24D05}" srcOrd="1" destOrd="0" presId="urn:microsoft.com/office/officeart/2005/8/layout/hList9"/>
    <dgm:cxn modelId="{0558CF34-B249-4BF3-BEB0-AB438FA6E8A0}" type="presOf" srcId="{707F5DF5-A631-4031-9962-D0A2BF7A5459}" destId="{B5F0C1EB-2704-4083-B5E8-A18B29A74B7E}" srcOrd="1" destOrd="0" presId="urn:microsoft.com/office/officeart/2005/8/layout/hList9"/>
    <dgm:cxn modelId="{14AD4142-6C94-46D4-8697-680A1681682C}" type="presOf" srcId="{2737B92D-AB4D-4A6A-BE77-0896BE9DBD49}" destId="{0255937F-B963-44C4-B967-CC937BB2E70D}" srcOrd="1" destOrd="0" presId="urn:microsoft.com/office/officeart/2005/8/layout/hList9"/>
    <dgm:cxn modelId="{FCA1F943-2588-46EA-BDBF-BD88C9A08671}" srcId="{08F95423-1572-40AE-A6EE-DD996ED93D48}" destId="{2A8B690F-47F1-4A73-B9C3-52FA1E4C775F}" srcOrd="0" destOrd="0" parTransId="{633000B7-8D6F-4D37-96BF-209087FE14F7}" sibTransId="{6A03AAEA-0FC5-4A0F-85E3-18112FA1133E}"/>
    <dgm:cxn modelId="{A2F6FA56-45C1-46EA-B8D5-835B11A73541}" type="presOf" srcId="{2737B92D-AB4D-4A6A-BE77-0896BE9DBD49}" destId="{E21BFF7D-8FC1-4AE4-9534-1203732A96D4}" srcOrd="0" destOrd="0" presId="urn:microsoft.com/office/officeart/2005/8/layout/hList9"/>
    <dgm:cxn modelId="{68336A90-44CA-4618-991D-6C7203EFE7DE}" type="presOf" srcId="{08F95423-1572-40AE-A6EE-DD996ED93D48}" destId="{4BACF4E9-FFFE-47A6-91AF-AFAB95249835}" srcOrd="0" destOrd="0" presId="urn:microsoft.com/office/officeart/2005/8/layout/hList9"/>
    <dgm:cxn modelId="{985EBB93-FB88-4F99-975B-1F8417A788BB}" srcId="{08F95423-1572-40AE-A6EE-DD996ED93D48}" destId="{F28702F9-E1A4-4E4A-B47A-8BAC957D8BDC}" srcOrd="1" destOrd="0" parTransId="{4652B59C-64FF-4101-8DB1-268D4D9ED5BC}" sibTransId="{B3E3B91C-5420-468E-8B2B-32242FC58E13}"/>
    <dgm:cxn modelId="{00F235B5-C472-463C-893C-79FF45470678}" srcId="{F28702F9-E1A4-4E4A-B47A-8BAC957D8BDC}" destId="{62633159-1AB1-4419-BE27-A6708C5B2A9A}" srcOrd="0" destOrd="0" parTransId="{197174D9-ED37-4EE6-9B26-3A50BC1C6A30}" sibTransId="{F3EE4172-9BF8-40A0-9317-C512DAE54680}"/>
    <dgm:cxn modelId="{BC72BDBC-E2DE-4A72-A17E-5AE38AD83B77}" type="presOf" srcId="{62633159-1AB1-4419-BE27-A6708C5B2A9A}" destId="{ED46853A-107D-4A00-A050-B96F47A92752}" srcOrd="0" destOrd="0" presId="urn:microsoft.com/office/officeart/2005/8/layout/hList9"/>
    <dgm:cxn modelId="{FC449AC1-4C03-48C3-83FA-6F1C95797776}" srcId="{F28702F9-E1A4-4E4A-B47A-8BAC957D8BDC}" destId="{45581023-0EB9-4F2E-8463-890FDD4AEACF}" srcOrd="1" destOrd="0" parTransId="{B765974D-E564-4275-902A-9DB3CC2D2C0D}" sibTransId="{0A95E621-D0C4-4B37-864C-33546047DAB3}"/>
    <dgm:cxn modelId="{8B14A9C6-A5C2-44F8-AC66-AFCFC200DAD1}" type="presOf" srcId="{45581023-0EB9-4F2E-8463-890FDD4AEACF}" destId="{F10E44C7-4D3A-426B-ADF3-F67F4A06E96A}" srcOrd="0" destOrd="0" presId="urn:microsoft.com/office/officeart/2005/8/layout/hList9"/>
    <dgm:cxn modelId="{4FB524CB-CCC5-4987-92D5-76196014F620}" type="presOf" srcId="{6161BF6D-E635-44D7-B85E-85DF7E0AC855}" destId="{54AFABDE-0CCF-4ED0-A6D1-7A52CF8ECF72}" srcOrd="0" destOrd="0" presId="urn:microsoft.com/office/officeart/2005/8/layout/hList9"/>
    <dgm:cxn modelId="{51FE9CDC-3E6B-4AB7-80F5-53CE3ED86267}" srcId="{2A8B690F-47F1-4A73-B9C3-52FA1E4C775F}" destId="{2737B92D-AB4D-4A6A-BE77-0896BE9DBD49}" srcOrd="0" destOrd="0" parTransId="{332ADDDA-2E2B-484E-8345-2F963848F620}" sibTransId="{08E70A58-1913-440C-AFC1-5DC3EA53D954}"/>
    <dgm:cxn modelId="{5FA51BE0-877B-43DC-BF5E-DB44012179B3}" type="presOf" srcId="{707F5DF5-A631-4031-9962-D0A2BF7A5459}" destId="{F8FF8024-0441-4A36-AD37-6D78AF54634B}" srcOrd="0" destOrd="0" presId="urn:microsoft.com/office/officeart/2005/8/layout/hList9"/>
    <dgm:cxn modelId="{05A762E9-AE56-4426-AC3D-DB138DD3349B}" srcId="{F28702F9-E1A4-4E4A-B47A-8BAC957D8BDC}" destId="{707F5DF5-A631-4031-9962-D0A2BF7A5459}" srcOrd="2" destOrd="0" parTransId="{6D055195-E948-4527-82FC-9CB7BAB6B9BA}" sibTransId="{044B33BE-047E-480E-ACB9-046D8CBC823F}"/>
    <dgm:cxn modelId="{3FA10AEB-1282-4EB3-BEAE-B4270148C781}" srcId="{2A8B690F-47F1-4A73-B9C3-52FA1E4C775F}" destId="{6161BF6D-E635-44D7-B85E-85DF7E0AC855}" srcOrd="1" destOrd="0" parTransId="{3DE0A09C-08CC-48AE-8085-1BC21464CF08}" sibTransId="{D4955B3D-19DB-4539-BD1B-FD4606C8FC3A}"/>
    <dgm:cxn modelId="{1F1602F6-879C-4AC5-8A60-87AF47CF83DF}" type="presOf" srcId="{F28702F9-E1A4-4E4A-B47A-8BAC957D8BDC}" destId="{A80A7E71-43FD-456B-A2D8-F738B739BC87}" srcOrd="0" destOrd="0" presId="urn:microsoft.com/office/officeart/2005/8/layout/hList9"/>
    <dgm:cxn modelId="{78593FFC-2177-4B8B-A152-8313AADF5BBF}" type="presOf" srcId="{6161BF6D-E635-44D7-B85E-85DF7E0AC855}" destId="{127CF0C3-1FCF-48FB-9597-D51E7C502094}" srcOrd="1" destOrd="0" presId="urn:microsoft.com/office/officeart/2005/8/layout/hList9"/>
    <dgm:cxn modelId="{50972F03-79E2-4F47-9562-D6D59B71EC2C}" type="presParOf" srcId="{4BACF4E9-FFFE-47A6-91AF-AFAB95249835}" destId="{6259C42B-48CC-41F8-922F-3D5C3EE07F83}" srcOrd="0" destOrd="0" presId="urn:microsoft.com/office/officeart/2005/8/layout/hList9"/>
    <dgm:cxn modelId="{054C501A-A729-4AC7-A9D5-8CC62926A881}" type="presParOf" srcId="{4BACF4E9-FFFE-47A6-91AF-AFAB95249835}" destId="{E4B8ADFD-0D1D-4CD4-8032-0E902244B8C6}" srcOrd="1" destOrd="0" presId="urn:microsoft.com/office/officeart/2005/8/layout/hList9"/>
    <dgm:cxn modelId="{FD08AA41-B259-431F-885F-726BDF52A5E6}" type="presParOf" srcId="{E4B8ADFD-0D1D-4CD4-8032-0E902244B8C6}" destId="{02E67D64-D0BB-4310-9203-55901E55916B}" srcOrd="0" destOrd="0" presId="urn:microsoft.com/office/officeart/2005/8/layout/hList9"/>
    <dgm:cxn modelId="{329A9149-ADA5-4681-8D38-99ED4BB317B1}" type="presParOf" srcId="{E4B8ADFD-0D1D-4CD4-8032-0E902244B8C6}" destId="{F9FD38C4-FE5B-4904-8DD4-556DAFA19667}" srcOrd="1" destOrd="0" presId="urn:microsoft.com/office/officeart/2005/8/layout/hList9"/>
    <dgm:cxn modelId="{40D926F4-D451-4F3E-993D-958199ABCD74}" type="presParOf" srcId="{F9FD38C4-FE5B-4904-8DD4-556DAFA19667}" destId="{E21BFF7D-8FC1-4AE4-9534-1203732A96D4}" srcOrd="0" destOrd="0" presId="urn:microsoft.com/office/officeart/2005/8/layout/hList9"/>
    <dgm:cxn modelId="{933B3EA3-A199-4111-B983-DE37C3C897BA}" type="presParOf" srcId="{F9FD38C4-FE5B-4904-8DD4-556DAFA19667}" destId="{0255937F-B963-44C4-B967-CC937BB2E70D}" srcOrd="1" destOrd="0" presId="urn:microsoft.com/office/officeart/2005/8/layout/hList9"/>
    <dgm:cxn modelId="{1EE93B92-F7E6-44CA-A1AE-9D18E114ACB5}" type="presParOf" srcId="{E4B8ADFD-0D1D-4CD4-8032-0E902244B8C6}" destId="{ADF59AA3-51D2-481D-BDFD-FEBB6BC75C0A}" srcOrd="2" destOrd="0" presId="urn:microsoft.com/office/officeart/2005/8/layout/hList9"/>
    <dgm:cxn modelId="{0A81F059-8304-47A5-BEAD-DB2E18095B05}" type="presParOf" srcId="{ADF59AA3-51D2-481D-BDFD-FEBB6BC75C0A}" destId="{54AFABDE-0CCF-4ED0-A6D1-7A52CF8ECF72}" srcOrd="0" destOrd="0" presId="urn:microsoft.com/office/officeart/2005/8/layout/hList9"/>
    <dgm:cxn modelId="{03426083-AFB6-4AFE-8300-56E78010AFBE}" type="presParOf" srcId="{ADF59AA3-51D2-481D-BDFD-FEBB6BC75C0A}" destId="{127CF0C3-1FCF-48FB-9597-D51E7C502094}" srcOrd="1" destOrd="0" presId="urn:microsoft.com/office/officeart/2005/8/layout/hList9"/>
    <dgm:cxn modelId="{2BDE24EB-CF78-4C41-BC3F-586598B6700E}" type="presParOf" srcId="{4BACF4E9-FFFE-47A6-91AF-AFAB95249835}" destId="{E2DC88FF-2B05-4C00-AFD1-77F24883D0EB}" srcOrd="2" destOrd="0" presId="urn:microsoft.com/office/officeart/2005/8/layout/hList9"/>
    <dgm:cxn modelId="{90061C16-B573-47A5-A4E1-9A1CC0FA0C78}" type="presParOf" srcId="{4BACF4E9-FFFE-47A6-91AF-AFAB95249835}" destId="{8DF0EB5B-DAED-467A-96A4-24FC8099F57C}" srcOrd="3" destOrd="0" presId="urn:microsoft.com/office/officeart/2005/8/layout/hList9"/>
    <dgm:cxn modelId="{727F6750-66F0-488B-9871-A9540459368A}" type="presParOf" srcId="{4BACF4E9-FFFE-47A6-91AF-AFAB95249835}" destId="{9FB00D7B-1F4A-418B-A674-83CE44971A34}" srcOrd="4" destOrd="0" presId="urn:microsoft.com/office/officeart/2005/8/layout/hList9"/>
    <dgm:cxn modelId="{80F354AB-9E6E-45FC-BA20-BDDADDE9A444}" type="presParOf" srcId="{4BACF4E9-FFFE-47A6-91AF-AFAB95249835}" destId="{9A4C1B7E-56C2-4285-83E4-7A3EA27A0500}" srcOrd="5" destOrd="0" presId="urn:microsoft.com/office/officeart/2005/8/layout/hList9"/>
    <dgm:cxn modelId="{9F65E5CE-1F3B-4E11-9C1D-CA4A2E934203}" type="presParOf" srcId="{4BACF4E9-FFFE-47A6-91AF-AFAB95249835}" destId="{8E6110C4-16EF-4E10-A04F-3CF8EF97E666}" srcOrd="6" destOrd="0" presId="urn:microsoft.com/office/officeart/2005/8/layout/hList9"/>
    <dgm:cxn modelId="{C38AFDF3-49F2-4E84-ACB6-B4E356C9876D}" type="presParOf" srcId="{8E6110C4-16EF-4E10-A04F-3CF8EF97E666}" destId="{7F93F764-A010-4A69-A9F4-E95280AD7C71}" srcOrd="0" destOrd="0" presId="urn:microsoft.com/office/officeart/2005/8/layout/hList9"/>
    <dgm:cxn modelId="{A93945FD-FFA4-4622-B538-FF21F1273EFF}" type="presParOf" srcId="{8E6110C4-16EF-4E10-A04F-3CF8EF97E666}" destId="{08EAA88C-596F-4C68-B75C-3F00A870DE82}" srcOrd="1" destOrd="0" presId="urn:microsoft.com/office/officeart/2005/8/layout/hList9"/>
    <dgm:cxn modelId="{048E018C-8AB4-4248-B21E-9AE645DB3F30}" type="presParOf" srcId="{08EAA88C-596F-4C68-B75C-3F00A870DE82}" destId="{ED46853A-107D-4A00-A050-B96F47A92752}" srcOrd="0" destOrd="0" presId="urn:microsoft.com/office/officeart/2005/8/layout/hList9"/>
    <dgm:cxn modelId="{79312101-E788-466B-A594-B449B0ADA579}" type="presParOf" srcId="{08EAA88C-596F-4C68-B75C-3F00A870DE82}" destId="{FD337C73-B0B7-442F-989B-A7CC9171DF84}" srcOrd="1" destOrd="0" presId="urn:microsoft.com/office/officeart/2005/8/layout/hList9"/>
    <dgm:cxn modelId="{948B2FD3-580E-43C7-B83F-E8E37C7E919B}" type="presParOf" srcId="{8E6110C4-16EF-4E10-A04F-3CF8EF97E666}" destId="{D9440412-02C5-447D-96C7-C05173FFBE46}" srcOrd="2" destOrd="0" presId="urn:microsoft.com/office/officeart/2005/8/layout/hList9"/>
    <dgm:cxn modelId="{7C2EB5C8-A4DC-4C44-BEC5-ACFDFF96A6A6}" type="presParOf" srcId="{D9440412-02C5-447D-96C7-C05173FFBE46}" destId="{F10E44C7-4D3A-426B-ADF3-F67F4A06E96A}" srcOrd="0" destOrd="0" presId="urn:microsoft.com/office/officeart/2005/8/layout/hList9"/>
    <dgm:cxn modelId="{DB2D4A23-18CD-41F1-9344-DE5A55B64D0C}" type="presParOf" srcId="{D9440412-02C5-447D-96C7-C05173FFBE46}" destId="{D8CB5466-1AF2-4B2E-BE00-9DA033C24D05}" srcOrd="1" destOrd="0" presId="urn:microsoft.com/office/officeart/2005/8/layout/hList9"/>
    <dgm:cxn modelId="{C7B76D50-D15C-4C40-AF86-2B72E9E3ABC5}" type="presParOf" srcId="{8E6110C4-16EF-4E10-A04F-3CF8EF97E666}" destId="{9E25562C-FD5B-4834-8733-F698605E72A2}" srcOrd="3" destOrd="0" presId="urn:microsoft.com/office/officeart/2005/8/layout/hList9"/>
    <dgm:cxn modelId="{9581FAF6-5335-4F40-A7D0-DB9918E4FBC0}" type="presParOf" srcId="{9E25562C-FD5B-4834-8733-F698605E72A2}" destId="{F8FF8024-0441-4A36-AD37-6D78AF54634B}" srcOrd="0" destOrd="0" presId="urn:microsoft.com/office/officeart/2005/8/layout/hList9"/>
    <dgm:cxn modelId="{C7E0D1E3-A566-4E16-B343-BA39C2476745}" type="presParOf" srcId="{9E25562C-FD5B-4834-8733-F698605E72A2}" destId="{B5F0C1EB-2704-4083-B5E8-A18B29A74B7E}" srcOrd="1" destOrd="0" presId="urn:microsoft.com/office/officeart/2005/8/layout/hList9"/>
    <dgm:cxn modelId="{C1A7B56B-B5F1-499B-84CB-2B75F2AEACC5}" type="presParOf" srcId="{4BACF4E9-FFFE-47A6-91AF-AFAB95249835}" destId="{50623786-823F-4CDC-8B6C-97223206269D}" srcOrd="7" destOrd="0" presId="urn:microsoft.com/office/officeart/2005/8/layout/hList9"/>
    <dgm:cxn modelId="{4365878C-B409-41BA-96ED-8BB4DBF1FB78}" type="presParOf" srcId="{4BACF4E9-FFFE-47A6-91AF-AFAB95249835}" destId="{A80A7E71-43FD-456B-A2D8-F738B739BC87}"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1BFF7D-8FC1-4AE4-9534-1203732A96D4}">
      <dsp:nvSpPr>
        <dsp:cNvPr id="0" name=""/>
        <dsp:cNvSpPr/>
      </dsp:nvSpPr>
      <dsp:spPr>
        <a:xfrm>
          <a:off x="1930948" y="1320066"/>
          <a:ext cx="3616289" cy="1091097"/>
        </a:xfrm>
        <a:prstGeom prst="rect">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0" tIns="142240" rIns="142240" bIns="142240" numCol="1" spcCol="1270" anchor="ctr" anchorCtr="0">
          <a:noAutofit/>
        </a:bodyPr>
        <a:lstStyle/>
        <a:p>
          <a:pPr marL="0" lvl="0" indent="0" algn="l" defTabSz="889000">
            <a:lnSpc>
              <a:spcPct val="90000"/>
            </a:lnSpc>
            <a:spcBef>
              <a:spcPct val="0"/>
            </a:spcBef>
            <a:spcAft>
              <a:spcPct val="35000"/>
            </a:spcAft>
            <a:buFont typeface="+mj-lt"/>
            <a:buNone/>
          </a:pPr>
          <a:r>
            <a:rPr lang="ru-RU" sz="2000" kern="1200" dirty="0">
              <a:latin typeface="Inter" panose="02000503000000020004" pitchFamily="2" charset="0"/>
              <a:ea typeface="Inter" panose="02000503000000020004" pitchFamily="2" charset="0"/>
            </a:rPr>
            <a:t>Гарантия получения  приобретаемой недвижимости (РФ)</a:t>
          </a:r>
        </a:p>
      </dsp:txBody>
      <dsp:txXfrm>
        <a:off x="2509555" y="1320066"/>
        <a:ext cx="3037683" cy="1091097"/>
      </dsp:txXfrm>
    </dsp:sp>
    <dsp:sp modelId="{54AFABDE-0CCF-4ED0-A6D1-7A52CF8ECF72}">
      <dsp:nvSpPr>
        <dsp:cNvPr id="0" name=""/>
        <dsp:cNvSpPr/>
      </dsp:nvSpPr>
      <dsp:spPr>
        <a:xfrm>
          <a:off x="1930948" y="2411164"/>
          <a:ext cx="3616289" cy="1795613"/>
        </a:xfrm>
        <a:prstGeom prst="rect">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0" tIns="142240" rIns="142240" bIns="142240" numCol="1" spcCol="1270" anchor="ctr" anchorCtr="0">
          <a:noAutofit/>
        </a:bodyPr>
        <a:lstStyle/>
        <a:p>
          <a:pPr marL="0" lvl="0" indent="0" algn="l" defTabSz="889000">
            <a:lnSpc>
              <a:spcPct val="90000"/>
            </a:lnSpc>
            <a:spcBef>
              <a:spcPct val="0"/>
            </a:spcBef>
            <a:spcAft>
              <a:spcPct val="35000"/>
            </a:spcAft>
            <a:buNone/>
          </a:pPr>
          <a:r>
            <a:rPr lang="ru-RU" sz="2000" kern="1200" dirty="0">
              <a:latin typeface="Inter" panose="02000503000000020004" pitchFamily="2" charset="0"/>
              <a:ea typeface="Inter" panose="02000503000000020004" pitchFamily="2" charset="0"/>
            </a:rPr>
            <a:t>Прозрачность финансирования</a:t>
          </a:r>
        </a:p>
      </dsp:txBody>
      <dsp:txXfrm>
        <a:off x="2509555" y="2411164"/>
        <a:ext cx="3037683" cy="1795613"/>
      </dsp:txXfrm>
    </dsp:sp>
    <dsp:sp modelId="{8DF0EB5B-DAED-467A-96A4-24FC8099F57C}">
      <dsp:nvSpPr>
        <dsp:cNvPr id="0" name=""/>
        <dsp:cNvSpPr/>
      </dsp:nvSpPr>
      <dsp:spPr>
        <a:xfrm>
          <a:off x="2261" y="355722"/>
          <a:ext cx="2410859" cy="2410859"/>
        </a:xfrm>
        <a:prstGeom prst="ellipse">
          <a:avLst/>
        </a:prstGeom>
        <a:gradFill flip="none" rotWithShape="1">
          <a:gsLst>
            <a:gs pos="0">
              <a:schemeClr val="accent4">
                <a:lumMod val="0"/>
                <a:lumOff val="100000"/>
              </a:schemeClr>
            </a:gs>
            <a:gs pos="23000">
              <a:schemeClr val="accent4">
                <a:lumMod val="0"/>
                <a:lumOff val="100000"/>
              </a:schemeClr>
            </a:gs>
            <a:gs pos="81000">
              <a:schemeClr val="accent4">
                <a:lumMod val="100000"/>
              </a:schemeClr>
            </a:gs>
          </a:gsLst>
          <a:path path="circle">
            <a:fillToRect l="50000" t="-80000" r="50000" b="180000"/>
          </a:path>
          <a:tileRect/>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ru-RU" sz="2400" b="1" kern="1200" dirty="0">
              <a:latin typeface="Inter" panose="02000503000000020004" pitchFamily="2" charset="0"/>
              <a:ea typeface="Inter" panose="02000503000000020004" pitchFamily="2" charset="0"/>
            </a:rPr>
            <a:t>Прямое влияние</a:t>
          </a:r>
        </a:p>
      </dsp:txBody>
      <dsp:txXfrm>
        <a:off x="355323" y="708784"/>
        <a:ext cx="1704735" cy="1704735"/>
      </dsp:txXfrm>
    </dsp:sp>
    <dsp:sp modelId="{ED46853A-107D-4A00-A050-B96F47A92752}">
      <dsp:nvSpPr>
        <dsp:cNvPr id="0" name=""/>
        <dsp:cNvSpPr/>
      </dsp:nvSpPr>
      <dsp:spPr>
        <a:xfrm>
          <a:off x="7958098" y="1320066"/>
          <a:ext cx="3616289" cy="940729"/>
        </a:xfrm>
        <a:prstGeom prst="rect">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0" tIns="128016" rIns="128016" bIns="128016" numCol="1" spcCol="1270" anchor="ctr" anchorCtr="0">
          <a:noAutofit/>
        </a:bodyPr>
        <a:lstStyle/>
        <a:p>
          <a:pPr marL="0" lvl="0" indent="0" algn="l" defTabSz="800100">
            <a:lnSpc>
              <a:spcPct val="90000"/>
            </a:lnSpc>
            <a:spcBef>
              <a:spcPct val="0"/>
            </a:spcBef>
            <a:spcAft>
              <a:spcPct val="35000"/>
            </a:spcAft>
            <a:buNone/>
          </a:pPr>
          <a:r>
            <a:rPr lang="ru-RU" sz="1800" kern="1200" dirty="0">
              <a:latin typeface="Inter" panose="02000503000000020004" pitchFamily="2" charset="0"/>
              <a:ea typeface="Inter" panose="02000503000000020004" pitchFamily="2" charset="0"/>
            </a:rPr>
            <a:t>Рост спроса и конкуренции </a:t>
          </a:r>
        </a:p>
      </dsp:txBody>
      <dsp:txXfrm>
        <a:off x="8536704" y="1320066"/>
        <a:ext cx="3037683" cy="940729"/>
      </dsp:txXfrm>
    </dsp:sp>
    <dsp:sp modelId="{F10E44C7-4D3A-426B-ADF3-F67F4A06E96A}">
      <dsp:nvSpPr>
        <dsp:cNvPr id="0" name=""/>
        <dsp:cNvSpPr/>
      </dsp:nvSpPr>
      <dsp:spPr>
        <a:xfrm>
          <a:off x="7958098" y="2260796"/>
          <a:ext cx="3616289" cy="1134442"/>
        </a:xfrm>
        <a:prstGeom prst="rect">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0" tIns="142240" rIns="142240" bIns="142240" numCol="1" spcCol="1270" anchor="ctr" anchorCtr="0">
          <a:noAutofit/>
        </a:bodyPr>
        <a:lstStyle/>
        <a:p>
          <a:pPr marL="0" lvl="0" indent="0" algn="l" defTabSz="889000">
            <a:lnSpc>
              <a:spcPct val="90000"/>
            </a:lnSpc>
            <a:spcBef>
              <a:spcPct val="0"/>
            </a:spcBef>
            <a:spcAft>
              <a:spcPct val="35000"/>
            </a:spcAft>
            <a:buNone/>
          </a:pPr>
          <a:r>
            <a:rPr lang="ru-RU" sz="2000" kern="1200" dirty="0">
              <a:latin typeface="Inter" panose="02000503000000020004" pitchFamily="2" charset="0"/>
              <a:ea typeface="Inter" panose="02000503000000020004" pitchFamily="2" charset="0"/>
            </a:rPr>
            <a:t>Снижение премии за риск при финансировании застройщика</a:t>
          </a:r>
        </a:p>
      </dsp:txBody>
      <dsp:txXfrm>
        <a:off x="8536704" y="2260796"/>
        <a:ext cx="3037683" cy="1134442"/>
      </dsp:txXfrm>
    </dsp:sp>
    <dsp:sp modelId="{F8FF8024-0441-4A36-AD37-6D78AF54634B}">
      <dsp:nvSpPr>
        <dsp:cNvPr id="0" name=""/>
        <dsp:cNvSpPr/>
      </dsp:nvSpPr>
      <dsp:spPr>
        <a:xfrm>
          <a:off x="7958098" y="3395238"/>
          <a:ext cx="3616289" cy="1231431"/>
        </a:xfrm>
        <a:prstGeom prst="rect">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0" tIns="142240" rIns="142240" bIns="142240" numCol="1" spcCol="1270" anchor="ctr" anchorCtr="0">
          <a:noAutofit/>
        </a:bodyPr>
        <a:lstStyle/>
        <a:p>
          <a:pPr marL="0" lvl="0" indent="0" algn="l" defTabSz="889000">
            <a:lnSpc>
              <a:spcPct val="90000"/>
            </a:lnSpc>
            <a:spcBef>
              <a:spcPct val="0"/>
            </a:spcBef>
            <a:spcAft>
              <a:spcPct val="35000"/>
            </a:spcAft>
            <a:buNone/>
          </a:pPr>
          <a:r>
            <a:rPr lang="ru-RU" sz="2000" kern="1200" dirty="0">
              <a:latin typeface="Inter" panose="02000503000000020004" pitchFamily="2" charset="0"/>
              <a:ea typeface="Inter" panose="02000503000000020004" pitchFamily="2" charset="0"/>
            </a:rPr>
            <a:t>Стимулирование строительства </a:t>
          </a:r>
        </a:p>
      </dsp:txBody>
      <dsp:txXfrm>
        <a:off x="8536704" y="3395238"/>
        <a:ext cx="3037683" cy="1231431"/>
      </dsp:txXfrm>
    </dsp:sp>
    <dsp:sp modelId="{A80A7E71-43FD-456B-A2D8-F738B739BC87}">
      <dsp:nvSpPr>
        <dsp:cNvPr id="0" name=""/>
        <dsp:cNvSpPr/>
      </dsp:nvSpPr>
      <dsp:spPr>
        <a:xfrm>
          <a:off x="6029410" y="355722"/>
          <a:ext cx="2410859" cy="2410859"/>
        </a:xfrm>
        <a:prstGeom prst="ellipse">
          <a:avLst/>
        </a:prstGeom>
        <a:gradFill flip="none" rotWithShape="0">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ru-RU" sz="2400" b="1" kern="1200" dirty="0">
              <a:latin typeface="Inter" panose="02000503000000020004" pitchFamily="2" charset="0"/>
              <a:ea typeface="Inter" panose="02000503000000020004" pitchFamily="2" charset="0"/>
            </a:rPr>
            <a:t>Косвенное влияние</a:t>
          </a:r>
        </a:p>
      </dsp:txBody>
      <dsp:txXfrm>
        <a:off x="6382472" y="708784"/>
        <a:ext cx="1704735" cy="1704735"/>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0.63025</cdr:x>
      <cdr:y>0.56425</cdr:y>
    </cdr:from>
    <cdr:to>
      <cdr:x>0.8663</cdr:x>
      <cdr:y>0.61486</cdr:y>
    </cdr:to>
    <cdr:sp macro="" textlink="">
      <cdr:nvSpPr>
        <cdr:cNvPr id="2" name="TextBox 1">
          <a:extLst xmlns:a="http://schemas.openxmlformats.org/drawingml/2006/main">
            <a:ext uri="{FF2B5EF4-FFF2-40B4-BE49-F238E27FC236}">
              <a16:creationId xmlns:a16="http://schemas.microsoft.com/office/drawing/2014/main" id="{1FA0913E-A66C-4B93-9540-FD42AA7E84F9}"/>
            </a:ext>
          </a:extLst>
        </cdr:cNvPr>
        <cdr:cNvSpPr txBox="1"/>
      </cdr:nvSpPr>
      <cdr:spPr>
        <a:xfrm xmlns:a="http://schemas.openxmlformats.org/drawingml/2006/main">
          <a:off x="3249881" y="2210085"/>
          <a:ext cx="1217188" cy="198232"/>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sz="1000" dirty="0" err="1"/>
            <a:t>Коэф.корр</a:t>
          </a:r>
          <a:r>
            <a:rPr lang="ru-RU" sz="1000" dirty="0"/>
            <a:t> – 81%</a:t>
          </a:r>
          <a:endParaRPr lang="en-US" sz="1000" dirty="0"/>
        </a:p>
      </cdr:txBody>
    </cdr:sp>
  </cdr:relSizeAnchor>
</c:userShapes>
</file>

<file path=ppt/drawings/drawing2.xml><?xml version="1.0" encoding="utf-8"?>
<c:userShapes xmlns:c="http://schemas.openxmlformats.org/drawingml/2006/chart">
  <cdr:relSizeAnchor xmlns:cdr="http://schemas.openxmlformats.org/drawingml/2006/chartDrawing">
    <cdr:from>
      <cdr:x>0.04634</cdr:x>
      <cdr:y>0.10941</cdr:y>
    </cdr:from>
    <cdr:to>
      <cdr:x>0.30875</cdr:x>
      <cdr:y>0.75082</cdr:y>
    </cdr:to>
    <cdr:sp macro="" textlink="">
      <cdr:nvSpPr>
        <cdr:cNvPr id="10" name="Прямоугольник 9">
          <a:extLst xmlns:a="http://schemas.openxmlformats.org/drawingml/2006/main">
            <a:ext uri="{FF2B5EF4-FFF2-40B4-BE49-F238E27FC236}">
              <a16:creationId xmlns:a16="http://schemas.microsoft.com/office/drawing/2014/main" id="{97359547-9D70-4D3E-91C3-A0ABFD979E86}"/>
            </a:ext>
          </a:extLst>
        </cdr:cNvPr>
        <cdr:cNvSpPr/>
      </cdr:nvSpPr>
      <cdr:spPr>
        <a:xfrm xmlns:a="http://schemas.openxmlformats.org/drawingml/2006/main">
          <a:off x="306141" y="322530"/>
          <a:ext cx="1733600" cy="1890789"/>
        </a:xfrm>
        <a:prstGeom xmlns:a="http://schemas.openxmlformats.org/drawingml/2006/main" prst="rect">
          <a:avLst/>
        </a:prstGeom>
        <a:solidFill xmlns:a="http://schemas.openxmlformats.org/drawingml/2006/main">
          <a:schemeClr val="accent6">
            <a:lumMod val="40000"/>
            <a:lumOff val="60000"/>
            <a:alpha val="17000"/>
          </a:scheme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ru-RU" sz="900" dirty="0">
              <a:solidFill>
                <a:schemeClr val="tx1"/>
              </a:solidFill>
            </a:rPr>
            <a:t>Снижение</a:t>
          </a:r>
          <a:r>
            <a:rPr lang="ru-RU" sz="900" baseline="0" dirty="0">
              <a:solidFill>
                <a:schemeClr val="tx1"/>
              </a:solidFill>
            </a:rPr>
            <a:t> ипотечной ставки </a:t>
          </a:r>
          <a:endParaRPr lang="en-US" sz="900" dirty="0">
            <a:solidFill>
              <a:schemeClr val="tx1"/>
            </a:solidFill>
          </a:endParaRPr>
        </a:p>
      </cdr:txBody>
    </cdr:sp>
  </cdr:relSizeAnchor>
  <cdr:relSizeAnchor xmlns:cdr="http://schemas.openxmlformats.org/drawingml/2006/chartDrawing">
    <cdr:from>
      <cdr:x>0.30653</cdr:x>
      <cdr:y>0.11404</cdr:y>
    </cdr:from>
    <cdr:to>
      <cdr:x>0.57429</cdr:x>
      <cdr:y>0.7592</cdr:y>
    </cdr:to>
    <cdr:sp macro="" textlink="">
      <cdr:nvSpPr>
        <cdr:cNvPr id="3" name="Прямоугольник 2">
          <a:extLst xmlns:a="http://schemas.openxmlformats.org/drawingml/2006/main">
            <a:ext uri="{FF2B5EF4-FFF2-40B4-BE49-F238E27FC236}">
              <a16:creationId xmlns:a16="http://schemas.microsoft.com/office/drawing/2014/main" id="{85A1EECA-7F3D-452C-83CC-45B1B00EEB76}"/>
            </a:ext>
          </a:extLst>
        </cdr:cNvPr>
        <cdr:cNvSpPr/>
      </cdr:nvSpPr>
      <cdr:spPr>
        <a:xfrm xmlns:a="http://schemas.openxmlformats.org/drawingml/2006/main">
          <a:off x="2025077" y="336174"/>
          <a:ext cx="1768945" cy="1901829"/>
        </a:xfrm>
        <a:prstGeom xmlns:a="http://schemas.openxmlformats.org/drawingml/2006/main" prst="rect">
          <a:avLst/>
        </a:prstGeom>
        <a:solidFill xmlns:a="http://schemas.openxmlformats.org/drawingml/2006/main">
          <a:schemeClr val="accent2">
            <a:alpha val="17000"/>
          </a:scheme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ru-RU" sz="900" dirty="0">
              <a:solidFill>
                <a:schemeClr val="tx1"/>
              </a:solidFill>
            </a:rPr>
            <a:t>Кризис</a:t>
          </a:r>
          <a:r>
            <a:rPr lang="ru-RU" sz="900" baseline="0" dirty="0">
              <a:solidFill>
                <a:schemeClr val="tx1"/>
              </a:solidFill>
            </a:rPr>
            <a:t> 2008</a:t>
          </a:r>
          <a:endParaRPr lang="en-US" sz="900" dirty="0">
            <a:solidFill>
              <a:schemeClr val="tx1"/>
            </a:solidFill>
          </a:endParaRPr>
        </a:p>
      </cdr:txBody>
    </cdr:sp>
  </cdr:relSizeAnchor>
  <cdr:relSizeAnchor xmlns:cdr="http://schemas.openxmlformats.org/drawingml/2006/chartDrawing">
    <cdr:from>
      <cdr:x>0.57241</cdr:x>
      <cdr:y>0.10964</cdr:y>
    </cdr:from>
    <cdr:to>
      <cdr:x>0.81899</cdr:x>
      <cdr:y>0.76337</cdr:y>
    </cdr:to>
    <cdr:sp macro="" textlink="">
      <cdr:nvSpPr>
        <cdr:cNvPr id="4" name="Прямоугольник 3">
          <a:extLst xmlns:a="http://schemas.openxmlformats.org/drawingml/2006/main">
            <a:ext uri="{FF2B5EF4-FFF2-40B4-BE49-F238E27FC236}">
              <a16:creationId xmlns:a16="http://schemas.microsoft.com/office/drawing/2014/main" id="{E724C535-5E55-4D3E-BAD0-46FFB0BE9561}"/>
            </a:ext>
          </a:extLst>
        </cdr:cNvPr>
        <cdr:cNvSpPr/>
      </cdr:nvSpPr>
      <cdr:spPr>
        <a:xfrm xmlns:a="http://schemas.openxmlformats.org/drawingml/2006/main">
          <a:off x="3781601" y="343571"/>
          <a:ext cx="1629020" cy="2048557"/>
        </a:xfrm>
        <a:prstGeom xmlns:a="http://schemas.openxmlformats.org/drawingml/2006/main" prst="rect">
          <a:avLst/>
        </a:prstGeom>
        <a:solidFill xmlns:a="http://schemas.openxmlformats.org/drawingml/2006/main">
          <a:schemeClr val="accent6">
            <a:lumMod val="40000"/>
            <a:lumOff val="60000"/>
            <a:alpha val="30000"/>
          </a:scheme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ru-RU" sz="900" dirty="0">
              <a:solidFill>
                <a:schemeClr val="tx1"/>
              </a:solidFill>
            </a:rPr>
            <a:t>Период низких ставок</a:t>
          </a:r>
          <a:endParaRPr lang="en-US" sz="900" dirty="0">
            <a:solidFill>
              <a:schemeClr val="tx1"/>
            </a:solidFill>
          </a:endParaRPr>
        </a:p>
      </cdr:txBody>
    </cdr:sp>
  </cdr:relSizeAnchor>
  <cdr:relSizeAnchor xmlns:cdr="http://schemas.openxmlformats.org/drawingml/2006/chartDrawing">
    <cdr:from>
      <cdr:x>0.82191</cdr:x>
      <cdr:y>0.1084</cdr:y>
    </cdr:from>
    <cdr:to>
      <cdr:x>0.96713</cdr:x>
      <cdr:y>0.76516</cdr:y>
    </cdr:to>
    <cdr:sp macro="" textlink="">
      <cdr:nvSpPr>
        <cdr:cNvPr id="9" name="Прямоугольник 8">
          <a:extLst xmlns:a="http://schemas.openxmlformats.org/drawingml/2006/main">
            <a:ext uri="{FF2B5EF4-FFF2-40B4-BE49-F238E27FC236}">
              <a16:creationId xmlns:a16="http://schemas.microsoft.com/office/drawing/2014/main" id="{E3ABC82D-2EDA-4DD0-ABFE-FC2929B162D0}"/>
            </a:ext>
          </a:extLst>
        </cdr:cNvPr>
        <cdr:cNvSpPr/>
      </cdr:nvSpPr>
      <cdr:spPr>
        <a:xfrm xmlns:a="http://schemas.openxmlformats.org/drawingml/2006/main">
          <a:off x="5429912" y="319549"/>
          <a:ext cx="959390" cy="1936040"/>
        </a:xfrm>
        <a:prstGeom xmlns:a="http://schemas.openxmlformats.org/drawingml/2006/main" prst="rect">
          <a:avLst/>
        </a:prstGeom>
        <a:solidFill xmlns:a="http://schemas.openxmlformats.org/drawingml/2006/main">
          <a:schemeClr val="accent2">
            <a:alpha val="17000"/>
          </a:schemeClr>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ru-RU" sz="900" dirty="0">
              <a:solidFill>
                <a:schemeClr val="tx1"/>
              </a:solidFill>
            </a:rPr>
            <a:t>Инфляция</a:t>
          </a:r>
          <a:endParaRPr lang="en-US" sz="900" dirty="0">
            <a:solidFill>
              <a:schemeClr val="tx1"/>
            </a:solidFill>
          </a:endParaRPr>
        </a:p>
      </cdr:txBody>
    </cdr:sp>
  </cdr:relSizeAnchor>
  <cdr:relSizeAnchor xmlns:cdr="http://schemas.openxmlformats.org/drawingml/2006/chartDrawing">
    <cdr:from>
      <cdr:x>0.30842</cdr:x>
      <cdr:y>0.11374</cdr:y>
    </cdr:from>
    <cdr:to>
      <cdr:x>0.30842</cdr:x>
      <cdr:y>0.81368</cdr:y>
    </cdr:to>
    <cdr:cxnSp macro="">
      <cdr:nvCxnSpPr>
        <cdr:cNvPr id="6" name="Прямая соединительная линия 5">
          <a:extLst xmlns:a="http://schemas.openxmlformats.org/drawingml/2006/main">
            <a:ext uri="{FF2B5EF4-FFF2-40B4-BE49-F238E27FC236}">
              <a16:creationId xmlns:a16="http://schemas.microsoft.com/office/drawing/2014/main" id="{7C6B0DE6-073E-435A-AF76-A2EF634EAC3C}"/>
            </a:ext>
          </a:extLst>
        </cdr:cNvPr>
        <cdr:cNvCxnSpPr/>
      </cdr:nvCxnSpPr>
      <cdr:spPr>
        <a:xfrm xmlns:a="http://schemas.openxmlformats.org/drawingml/2006/main">
          <a:off x="1969708" y="450140"/>
          <a:ext cx="0" cy="2770101"/>
        </a:xfrm>
        <a:prstGeom xmlns:a="http://schemas.openxmlformats.org/drawingml/2006/main" prst="line">
          <a:avLst/>
        </a:prstGeom>
        <a:ln xmlns:a="http://schemas.openxmlformats.org/drawingml/2006/main" w="19050">
          <a:solidFill>
            <a:schemeClr val="tx1">
              <a:alpha val="20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0.5739</cdr:x>
      <cdr:y>0.11236</cdr:y>
    </cdr:from>
    <cdr:to>
      <cdr:x>0.5739</cdr:x>
      <cdr:y>0.81368</cdr:y>
    </cdr:to>
    <cdr:cxnSp macro="">
      <cdr:nvCxnSpPr>
        <cdr:cNvPr id="7" name="Прямая соединительная линия 6">
          <a:extLst xmlns:a="http://schemas.openxmlformats.org/drawingml/2006/main">
            <a:ext uri="{FF2B5EF4-FFF2-40B4-BE49-F238E27FC236}">
              <a16:creationId xmlns:a16="http://schemas.microsoft.com/office/drawing/2014/main" id="{DFA90DF1-12E2-4765-AB15-BC4C4E624133}"/>
            </a:ext>
          </a:extLst>
        </cdr:cNvPr>
        <cdr:cNvCxnSpPr/>
      </cdr:nvCxnSpPr>
      <cdr:spPr>
        <a:xfrm xmlns:a="http://schemas.openxmlformats.org/drawingml/2006/main">
          <a:off x="3665181" y="444679"/>
          <a:ext cx="0" cy="2775562"/>
        </a:xfrm>
        <a:prstGeom xmlns:a="http://schemas.openxmlformats.org/drawingml/2006/main" prst="line">
          <a:avLst/>
        </a:prstGeom>
        <a:ln xmlns:a="http://schemas.openxmlformats.org/drawingml/2006/main" w="19050">
          <a:solidFill>
            <a:schemeClr val="tx1">
              <a:alpha val="20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0.81888</cdr:x>
      <cdr:y>0.11312</cdr:y>
    </cdr:from>
    <cdr:to>
      <cdr:x>0.81888</cdr:x>
      <cdr:y>0.81368</cdr:y>
    </cdr:to>
    <cdr:cxnSp macro="">
      <cdr:nvCxnSpPr>
        <cdr:cNvPr id="8" name="Прямая соединительная линия 7">
          <a:extLst xmlns:a="http://schemas.openxmlformats.org/drawingml/2006/main">
            <a:ext uri="{FF2B5EF4-FFF2-40B4-BE49-F238E27FC236}">
              <a16:creationId xmlns:a16="http://schemas.microsoft.com/office/drawing/2014/main" id="{D935528F-C097-4883-8E91-FE9BAA7B7F1F}"/>
            </a:ext>
          </a:extLst>
        </cdr:cNvPr>
        <cdr:cNvCxnSpPr/>
      </cdr:nvCxnSpPr>
      <cdr:spPr>
        <a:xfrm xmlns:a="http://schemas.openxmlformats.org/drawingml/2006/main">
          <a:off x="5229733" y="447686"/>
          <a:ext cx="0" cy="2772555"/>
        </a:xfrm>
        <a:prstGeom xmlns:a="http://schemas.openxmlformats.org/drawingml/2006/main" prst="line">
          <a:avLst/>
        </a:prstGeom>
        <a:ln xmlns:a="http://schemas.openxmlformats.org/drawingml/2006/main" w="19050">
          <a:solidFill>
            <a:schemeClr val="tx1">
              <a:alpha val="20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0.33034</cdr:x>
      <cdr:y>0.60258</cdr:y>
    </cdr:from>
    <cdr:to>
      <cdr:x>0.52092</cdr:x>
      <cdr:y>0.65267</cdr:y>
    </cdr:to>
    <cdr:sp macro="" textlink="">
      <cdr:nvSpPr>
        <cdr:cNvPr id="11" name="TextBox 1">
          <a:extLst xmlns:a="http://schemas.openxmlformats.org/drawingml/2006/main">
            <a:ext uri="{FF2B5EF4-FFF2-40B4-BE49-F238E27FC236}">
              <a16:creationId xmlns:a16="http://schemas.microsoft.com/office/drawing/2014/main" id="{29E666DC-5BD4-493D-9A25-D1552E7A467B}"/>
            </a:ext>
          </a:extLst>
        </cdr:cNvPr>
        <cdr:cNvSpPr txBox="1"/>
      </cdr:nvSpPr>
      <cdr:spPr>
        <a:xfrm xmlns:a="http://schemas.openxmlformats.org/drawingml/2006/main">
          <a:off x="2109726" y="2384769"/>
          <a:ext cx="1217129" cy="19823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sz="1000" dirty="0" err="1"/>
            <a:t>Коэф.корр</a:t>
          </a:r>
          <a:r>
            <a:rPr lang="ru-RU" sz="1000" dirty="0"/>
            <a:t> – 45%</a:t>
          </a:r>
          <a:endParaRPr lang="en-US" sz="1000" dirty="0"/>
        </a:p>
      </cdr:txBody>
    </cdr:sp>
  </cdr:relSizeAnchor>
</c:userShapes>
</file>

<file path=ppt/drawings/drawing3.xml><?xml version="1.0" encoding="utf-8"?>
<c:userShapes xmlns:c="http://schemas.openxmlformats.org/drawingml/2006/chart">
  <cdr:relSizeAnchor xmlns:cdr="http://schemas.openxmlformats.org/drawingml/2006/chartDrawing">
    <cdr:from>
      <cdr:x>0.3303</cdr:x>
      <cdr:y>0.70317</cdr:y>
    </cdr:from>
    <cdr:to>
      <cdr:x>0.40503</cdr:x>
      <cdr:y>0.76481</cdr:y>
    </cdr:to>
    <cdr:sp macro="" textlink="">
      <cdr:nvSpPr>
        <cdr:cNvPr id="2" name="TextBox 1">
          <a:extLst xmlns:a="http://schemas.openxmlformats.org/drawingml/2006/main">
            <a:ext uri="{FF2B5EF4-FFF2-40B4-BE49-F238E27FC236}">
              <a16:creationId xmlns:a16="http://schemas.microsoft.com/office/drawing/2014/main" id="{A8B467ED-C1C6-4F6D-951E-D4A7ECD0FC74}"/>
            </a:ext>
          </a:extLst>
        </cdr:cNvPr>
        <cdr:cNvSpPr txBox="1"/>
      </cdr:nvSpPr>
      <cdr:spPr>
        <a:xfrm xmlns:a="http://schemas.openxmlformats.org/drawingml/2006/main">
          <a:off x="2135561" y="3592088"/>
          <a:ext cx="483194" cy="314845"/>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b="1" dirty="0">
              <a:solidFill>
                <a:schemeClr val="accent2"/>
              </a:solidFill>
            </a:rPr>
            <a:t>0.6%*</a:t>
          </a:r>
        </a:p>
        <a:p xmlns:a="http://schemas.openxmlformats.org/drawingml/2006/main">
          <a:endParaRPr lang="ru-RU" sz="1100" b="1" dirty="0">
            <a:solidFill>
              <a:schemeClr val="accent2"/>
            </a:solidFill>
          </a:endParaRPr>
        </a:p>
      </cdr:txBody>
    </cdr:sp>
  </cdr:relSizeAnchor>
  <cdr:relSizeAnchor xmlns:cdr="http://schemas.openxmlformats.org/drawingml/2006/chartDrawing">
    <cdr:from>
      <cdr:x>0.5</cdr:x>
      <cdr:y>0.56756</cdr:y>
    </cdr:from>
    <cdr:to>
      <cdr:x>0.57474</cdr:x>
      <cdr:y>0.6292</cdr:y>
    </cdr:to>
    <cdr:sp macro="" textlink="">
      <cdr:nvSpPr>
        <cdr:cNvPr id="3" name="TextBox 1">
          <a:extLst xmlns:a="http://schemas.openxmlformats.org/drawingml/2006/main">
            <a:ext uri="{FF2B5EF4-FFF2-40B4-BE49-F238E27FC236}">
              <a16:creationId xmlns:a16="http://schemas.microsoft.com/office/drawing/2014/main" id="{C8E3BE66-08C2-4FA2-A36F-36F344106C4E}"/>
            </a:ext>
          </a:extLst>
        </cdr:cNvPr>
        <cdr:cNvSpPr txBox="1"/>
      </cdr:nvSpPr>
      <cdr:spPr>
        <a:xfrm xmlns:a="http://schemas.openxmlformats.org/drawingml/2006/main">
          <a:off x="3232800" y="2899341"/>
          <a:ext cx="483258" cy="314845"/>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b="1" dirty="0">
              <a:solidFill>
                <a:schemeClr val="accent2"/>
              </a:solidFill>
            </a:rPr>
            <a:t>29%</a:t>
          </a:r>
        </a:p>
        <a:p xmlns:a="http://schemas.openxmlformats.org/drawingml/2006/main">
          <a:endParaRPr lang="ru-RU" sz="1100" b="1" dirty="0">
            <a:solidFill>
              <a:schemeClr val="accent2"/>
            </a:solidFill>
          </a:endParaRPr>
        </a:p>
      </cdr:txBody>
    </cdr:sp>
  </cdr:relSizeAnchor>
  <cdr:relSizeAnchor xmlns:cdr="http://schemas.openxmlformats.org/drawingml/2006/chartDrawing">
    <cdr:from>
      <cdr:x>0.80629</cdr:x>
      <cdr:y>0.21568</cdr:y>
    </cdr:from>
    <cdr:to>
      <cdr:x>0.88102</cdr:x>
      <cdr:y>0.27731</cdr:y>
    </cdr:to>
    <cdr:sp macro="" textlink="">
      <cdr:nvSpPr>
        <cdr:cNvPr id="4" name="TextBox 1">
          <a:extLst xmlns:a="http://schemas.openxmlformats.org/drawingml/2006/main">
            <a:ext uri="{FF2B5EF4-FFF2-40B4-BE49-F238E27FC236}">
              <a16:creationId xmlns:a16="http://schemas.microsoft.com/office/drawing/2014/main" id="{E8B44330-EFE8-442C-AB93-868FB83F6EFC}"/>
            </a:ext>
          </a:extLst>
        </cdr:cNvPr>
        <cdr:cNvSpPr txBox="1"/>
      </cdr:nvSpPr>
      <cdr:spPr>
        <a:xfrm xmlns:a="http://schemas.openxmlformats.org/drawingml/2006/main">
          <a:off x="5213141" y="1101773"/>
          <a:ext cx="483194" cy="314846"/>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b="1" dirty="0">
              <a:solidFill>
                <a:schemeClr val="accent2"/>
              </a:solidFill>
            </a:rPr>
            <a:t>61%</a:t>
          </a:r>
        </a:p>
        <a:p xmlns:a="http://schemas.openxmlformats.org/drawingml/2006/main">
          <a:endParaRPr lang="ru-RU" sz="1100" b="1" dirty="0">
            <a:solidFill>
              <a:schemeClr val="accent2"/>
            </a:solidFill>
          </a:endParaRPr>
        </a:p>
      </cdr:txBody>
    </cdr:sp>
  </cdr:relSizeAnchor>
  <cdr:relSizeAnchor xmlns:cdr="http://schemas.openxmlformats.org/drawingml/2006/chartDrawing">
    <cdr:from>
      <cdr:x>0.35768</cdr:x>
      <cdr:y>0.36054</cdr:y>
    </cdr:from>
    <cdr:to>
      <cdr:x>0.35768</cdr:x>
      <cdr:y>0.4975</cdr:y>
    </cdr:to>
    <cdr:cxnSp macro="">
      <cdr:nvCxnSpPr>
        <cdr:cNvPr id="5" name="Прямая соединительная линия 4">
          <a:extLst xmlns:a="http://schemas.openxmlformats.org/drawingml/2006/main">
            <a:ext uri="{FF2B5EF4-FFF2-40B4-BE49-F238E27FC236}">
              <a16:creationId xmlns:a16="http://schemas.microsoft.com/office/drawing/2014/main" id="{BC25FF00-04FF-42BD-8E66-97FED0E8A840}"/>
            </a:ext>
          </a:extLst>
        </cdr:cNvPr>
        <cdr:cNvCxnSpPr/>
      </cdr:nvCxnSpPr>
      <cdr:spPr>
        <a:xfrm xmlns:a="http://schemas.openxmlformats.org/drawingml/2006/main">
          <a:off x="2312630" y="1841801"/>
          <a:ext cx="0" cy="699616"/>
        </a:xfrm>
        <a:prstGeom xmlns:a="http://schemas.openxmlformats.org/drawingml/2006/main" prst="line">
          <a:avLst/>
        </a:prstGeom>
        <a:ln xmlns:a="http://schemas.openxmlformats.org/drawingml/2006/main">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0.18101</cdr:x>
      <cdr:y>0.31624</cdr:y>
    </cdr:from>
    <cdr:to>
      <cdr:x>0.41798</cdr:x>
      <cdr:y>0.37787</cdr:y>
    </cdr:to>
    <cdr:sp macro="" textlink="">
      <cdr:nvSpPr>
        <cdr:cNvPr id="6" name="TextBox 1">
          <a:extLst xmlns:a="http://schemas.openxmlformats.org/drawingml/2006/main">
            <a:ext uri="{FF2B5EF4-FFF2-40B4-BE49-F238E27FC236}">
              <a16:creationId xmlns:a16="http://schemas.microsoft.com/office/drawing/2014/main" id="{BA20AA25-B824-43F1-9AEE-014DC5E7746F}"/>
            </a:ext>
          </a:extLst>
        </cdr:cNvPr>
        <cdr:cNvSpPr txBox="1"/>
      </cdr:nvSpPr>
      <cdr:spPr>
        <a:xfrm xmlns:a="http://schemas.openxmlformats.org/drawingml/2006/main">
          <a:off x="1170306" y="1615474"/>
          <a:ext cx="1532216" cy="314845"/>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sz="1100" dirty="0"/>
            <a:t>Семейная ипотека</a:t>
          </a:r>
        </a:p>
        <a:p xmlns:a="http://schemas.openxmlformats.org/drawingml/2006/main">
          <a:endParaRPr lang="ru-RU" sz="1100" dirty="0"/>
        </a:p>
      </cdr:txBody>
    </cdr:sp>
  </cdr:relSizeAnchor>
  <cdr:relSizeAnchor xmlns:cdr="http://schemas.openxmlformats.org/drawingml/2006/chartDrawing">
    <cdr:from>
      <cdr:x>0.20659</cdr:x>
      <cdr:y>0.18177</cdr:y>
    </cdr:from>
    <cdr:to>
      <cdr:x>0.44357</cdr:x>
      <cdr:y>0.2434</cdr:y>
    </cdr:to>
    <cdr:sp macro="" textlink="">
      <cdr:nvSpPr>
        <cdr:cNvPr id="7" name="TextBox 1">
          <a:extLst xmlns:a="http://schemas.openxmlformats.org/drawingml/2006/main">
            <a:ext uri="{FF2B5EF4-FFF2-40B4-BE49-F238E27FC236}">
              <a16:creationId xmlns:a16="http://schemas.microsoft.com/office/drawing/2014/main" id="{ECC7F462-AC8E-4894-A723-263FE432127D}"/>
            </a:ext>
          </a:extLst>
        </cdr:cNvPr>
        <cdr:cNvSpPr txBox="1"/>
      </cdr:nvSpPr>
      <cdr:spPr>
        <a:xfrm xmlns:a="http://schemas.openxmlformats.org/drawingml/2006/main">
          <a:off x="1335721" y="928532"/>
          <a:ext cx="1532216" cy="314845"/>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dirty="0"/>
            <a:t>Дальневосточная ипотека</a:t>
          </a:r>
        </a:p>
        <a:p xmlns:a="http://schemas.openxmlformats.org/drawingml/2006/main">
          <a:endParaRPr lang="ru-RU" sz="1100" dirty="0"/>
        </a:p>
      </cdr:txBody>
    </cdr:sp>
  </cdr:relSizeAnchor>
  <cdr:relSizeAnchor xmlns:cdr="http://schemas.openxmlformats.org/drawingml/2006/chartDrawing">
    <cdr:from>
      <cdr:x>0.42658</cdr:x>
      <cdr:y>0.24148</cdr:y>
    </cdr:from>
    <cdr:to>
      <cdr:x>0.42658</cdr:x>
      <cdr:y>0.48916</cdr:y>
    </cdr:to>
    <cdr:cxnSp macro="">
      <cdr:nvCxnSpPr>
        <cdr:cNvPr id="8" name="Прямая соединительная линия 7">
          <a:extLst xmlns:a="http://schemas.openxmlformats.org/drawingml/2006/main">
            <a:ext uri="{FF2B5EF4-FFF2-40B4-BE49-F238E27FC236}">
              <a16:creationId xmlns:a16="http://schemas.microsoft.com/office/drawing/2014/main" id="{39077EAC-2F42-4D79-90B5-86CE0CE1D235}"/>
            </a:ext>
          </a:extLst>
        </cdr:cNvPr>
        <cdr:cNvCxnSpPr/>
      </cdr:nvCxnSpPr>
      <cdr:spPr>
        <a:xfrm xmlns:a="http://schemas.openxmlformats.org/drawingml/2006/main">
          <a:off x="2758082" y="1233584"/>
          <a:ext cx="0" cy="1265241"/>
        </a:xfrm>
        <a:prstGeom xmlns:a="http://schemas.openxmlformats.org/drawingml/2006/main" prst="line">
          <a:avLst/>
        </a:prstGeom>
        <a:ln xmlns:a="http://schemas.openxmlformats.org/drawingml/2006/main">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0.46273</cdr:x>
      <cdr:y>0.52953</cdr:y>
    </cdr:from>
    <cdr:to>
      <cdr:x>0.46273</cdr:x>
      <cdr:y>0.62173</cdr:y>
    </cdr:to>
    <cdr:cxnSp macro="">
      <cdr:nvCxnSpPr>
        <cdr:cNvPr id="9" name="Прямая соединительная линия 8">
          <a:extLst xmlns:a="http://schemas.openxmlformats.org/drawingml/2006/main">
            <a:ext uri="{FF2B5EF4-FFF2-40B4-BE49-F238E27FC236}">
              <a16:creationId xmlns:a16="http://schemas.microsoft.com/office/drawing/2014/main" id="{8F2906EE-6AD9-4435-BA01-07A0AEC3B7E5}"/>
            </a:ext>
          </a:extLst>
        </cdr:cNvPr>
        <cdr:cNvCxnSpPr/>
      </cdr:nvCxnSpPr>
      <cdr:spPr>
        <a:xfrm xmlns:a="http://schemas.openxmlformats.org/drawingml/2006/main">
          <a:off x="2991843" y="2705026"/>
          <a:ext cx="0" cy="471042"/>
        </a:xfrm>
        <a:prstGeom xmlns:a="http://schemas.openxmlformats.org/drawingml/2006/main" prst="line">
          <a:avLst/>
        </a:prstGeom>
        <a:ln xmlns:a="http://schemas.openxmlformats.org/drawingml/2006/main">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0.33221</cdr:x>
      <cdr:y>0.58003</cdr:y>
    </cdr:from>
    <cdr:to>
      <cdr:x>0.522</cdr:x>
      <cdr:y>0.66406</cdr:y>
    </cdr:to>
    <cdr:sp macro="" textlink="">
      <cdr:nvSpPr>
        <cdr:cNvPr id="10" name="TextBox 1">
          <a:extLst xmlns:a="http://schemas.openxmlformats.org/drawingml/2006/main">
            <a:ext uri="{FF2B5EF4-FFF2-40B4-BE49-F238E27FC236}">
              <a16:creationId xmlns:a16="http://schemas.microsoft.com/office/drawing/2014/main" id="{68C78C47-82A3-460F-B558-E9BBA6B17482}"/>
            </a:ext>
          </a:extLst>
        </cdr:cNvPr>
        <cdr:cNvSpPr txBox="1"/>
      </cdr:nvSpPr>
      <cdr:spPr>
        <a:xfrm xmlns:a="http://schemas.openxmlformats.org/drawingml/2006/main">
          <a:off x="2147918" y="2963016"/>
          <a:ext cx="1227157" cy="429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sz="1100" b="1" dirty="0"/>
            <a:t>Введение </a:t>
          </a:r>
        </a:p>
        <a:p xmlns:a="http://schemas.openxmlformats.org/drawingml/2006/main">
          <a:r>
            <a:rPr lang="ru-RU" sz="1100" b="1" dirty="0"/>
            <a:t>эскроу-счетов</a:t>
          </a:r>
        </a:p>
        <a:p xmlns:a="http://schemas.openxmlformats.org/drawingml/2006/main">
          <a:endParaRPr lang="ru-RU" sz="1100" b="1" dirty="0"/>
        </a:p>
      </cdr:txBody>
    </cdr:sp>
  </cdr:relSizeAnchor>
  <cdr:relSizeAnchor xmlns:cdr="http://schemas.openxmlformats.org/drawingml/2006/chartDrawing">
    <cdr:from>
      <cdr:x>0.56177</cdr:x>
      <cdr:y>0.26802</cdr:y>
    </cdr:from>
    <cdr:to>
      <cdr:x>0.56177</cdr:x>
      <cdr:y>0.42486</cdr:y>
    </cdr:to>
    <cdr:cxnSp macro="">
      <cdr:nvCxnSpPr>
        <cdr:cNvPr id="11" name="Прямая соединительная линия 10">
          <a:extLst xmlns:a="http://schemas.openxmlformats.org/drawingml/2006/main">
            <a:ext uri="{FF2B5EF4-FFF2-40B4-BE49-F238E27FC236}">
              <a16:creationId xmlns:a16="http://schemas.microsoft.com/office/drawing/2014/main" id="{06E282B1-7E13-4C1F-9808-75CD33549C65}"/>
            </a:ext>
          </a:extLst>
        </cdr:cNvPr>
        <cdr:cNvCxnSpPr/>
      </cdr:nvCxnSpPr>
      <cdr:spPr>
        <a:xfrm xmlns:a="http://schemas.openxmlformats.org/drawingml/2006/main">
          <a:off x="3632195" y="1369131"/>
          <a:ext cx="0" cy="801211"/>
        </a:xfrm>
        <a:prstGeom xmlns:a="http://schemas.openxmlformats.org/drawingml/2006/main" prst="line">
          <a:avLst/>
        </a:prstGeom>
        <a:ln xmlns:a="http://schemas.openxmlformats.org/drawingml/2006/main">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0.48922</cdr:x>
      <cdr:y>0.21613</cdr:y>
    </cdr:from>
    <cdr:to>
      <cdr:x>0.79337</cdr:x>
      <cdr:y>0.2828</cdr:y>
    </cdr:to>
    <cdr:sp macro="" textlink="">
      <cdr:nvSpPr>
        <cdr:cNvPr id="12" name="TextBox 1">
          <a:extLst xmlns:a="http://schemas.openxmlformats.org/drawingml/2006/main">
            <a:ext uri="{FF2B5EF4-FFF2-40B4-BE49-F238E27FC236}">
              <a16:creationId xmlns:a16="http://schemas.microsoft.com/office/drawing/2014/main" id="{1E0AAE00-5CB2-4AF5-BF6C-EED7C0F9CFE6}"/>
            </a:ext>
          </a:extLst>
        </cdr:cNvPr>
        <cdr:cNvSpPr txBox="1"/>
      </cdr:nvSpPr>
      <cdr:spPr>
        <a:xfrm xmlns:a="http://schemas.openxmlformats.org/drawingml/2006/main">
          <a:off x="3163096" y="1104087"/>
          <a:ext cx="1966528" cy="340589"/>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sz="1100" dirty="0"/>
            <a:t>Льготная ипотека</a:t>
          </a:r>
        </a:p>
        <a:p xmlns:a="http://schemas.openxmlformats.org/drawingml/2006/main">
          <a:endParaRPr lang="ru-RU" sz="1100" dirty="0"/>
        </a:p>
      </cdr:txBody>
    </cdr:sp>
  </cdr:relSizeAnchor>
  <cdr:relSizeAnchor xmlns:cdr="http://schemas.openxmlformats.org/drawingml/2006/chartDrawing">
    <cdr:from>
      <cdr:x>0.76808</cdr:x>
      <cdr:y>0.13416</cdr:y>
    </cdr:from>
    <cdr:to>
      <cdr:x>0.76808</cdr:x>
      <cdr:y>0.24178</cdr:y>
    </cdr:to>
    <cdr:cxnSp macro="">
      <cdr:nvCxnSpPr>
        <cdr:cNvPr id="13" name="Прямая соединительная линия 12">
          <a:extLst xmlns:a="http://schemas.openxmlformats.org/drawingml/2006/main">
            <a:ext uri="{FF2B5EF4-FFF2-40B4-BE49-F238E27FC236}">
              <a16:creationId xmlns:a16="http://schemas.microsoft.com/office/drawing/2014/main" id="{D3892414-8940-4A56-8CDC-75CE23938226}"/>
            </a:ext>
          </a:extLst>
        </cdr:cNvPr>
        <cdr:cNvCxnSpPr/>
      </cdr:nvCxnSpPr>
      <cdr:spPr>
        <a:xfrm xmlns:a="http://schemas.openxmlformats.org/drawingml/2006/main">
          <a:off x="4966105" y="685351"/>
          <a:ext cx="0" cy="549753"/>
        </a:xfrm>
        <a:prstGeom xmlns:a="http://schemas.openxmlformats.org/drawingml/2006/main" prst="line">
          <a:avLst/>
        </a:prstGeom>
        <a:ln xmlns:a="http://schemas.openxmlformats.org/drawingml/2006/main">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0.69168</cdr:x>
      <cdr:y>0.09832</cdr:y>
    </cdr:from>
    <cdr:to>
      <cdr:x>0.83809</cdr:x>
      <cdr:y>0.13755</cdr:y>
    </cdr:to>
    <cdr:sp macro="" textlink="">
      <cdr:nvSpPr>
        <cdr:cNvPr id="14" name="TextBox 1">
          <a:extLst xmlns:a="http://schemas.openxmlformats.org/drawingml/2006/main">
            <a:ext uri="{FF2B5EF4-FFF2-40B4-BE49-F238E27FC236}">
              <a16:creationId xmlns:a16="http://schemas.microsoft.com/office/drawing/2014/main" id="{3242348D-01C4-47B2-902F-ECD77F462779}"/>
            </a:ext>
          </a:extLst>
        </cdr:cNvPr>
        <cdr:cNvSpPr txBox="1"/>
      </cdr:nvSpPr>
      <cdr:spPr>
        <a:xfrm xmlns:a="http://schemas.openxmlformats.org/drawingml/2006/main">
          <a:off x="4472099" y="502238"/>
          <a:ext cx="946628" cy="200403"/>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ru-RU" dirty="0"/>
            <a:t>ИТ ипотека</a:t>
          </a:r>
          <a:endParaRPr lang="ru-RU"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D59DC-6813-4732-AE4F-D70C7DFD1AC9}" type="datetimeFigureOut">
              <a:rPr lang="ru-RU" smtClean="0"/>
              <a:t>15.01.2025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6898A-748A-4BFA-AC6F-5AF21B48CF7D}" type="slidenum">
              <a:rPr lang="ru-RU" smtClean="0"/>
              <a:t>‹#›</a:t>
            </a:fld>
            <a:endParaRPr lang="ru-RU"/>
          </a:p>
        </p:txBody>
      </p:sp>
    </p:spTree>
    <p:extLst>
      <p:ext uri="{BB962C8B-B14F-4D97-AF65-F5344CB8AC3E}">
        <p14:creationId xmlns:p14="http://schemas.microsoft.com/office/powerpoint/2010/main" val="2297079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r>
              <a:rPr lang="ru-RU" sz="1200" b="0" i="0" u="none" strike="noStrike" kern="1200" dirty="0">
                <a:solidFill>
                  <a:schemeClr val="tx1"/>
                </a:solidFill>
                <a:effectLst/>
                <a:latin typeface="+mn-lt"/>
                <a:ea typeface="+mn-ea"/>
                <a:cs typeface="+mn-cs"/>
              </a:rPr>
              <a:t>Китай :</a:t>
            </a:r>
            <a:endParaRPr lang="ru-RU" b="0" dirty="0">
              <a:effectLst/>
            </a:endParaRPr>
          </a:p>
          <a:p>
            <a:pPr rtl="0"/>
            <a:r>
              <a:rPr lang="ru-RU" sz="1200" b="1" i="0" u="none" strike="noStrike" kern="1200" dirty="0">
                <a:solidFill>
                  <a:schemeClr val="tx1"/>
                </a:solidFill>
                <a:effectLst/>
                <a:latin typeface="+mn-lt"/>
                <a:ea typeface="+mn-ea"/>
                <a:cs typeface="+mn-cs"/>
              </a:rPr>
              <a:t>Застройщики обязаны открывать счета условного депонирования предпродажных средств </a:t>
            </a:r>
            <a:r>
              <a:rPr lang="ru-RU" sz="1200" b="0" i="0" u="none" strike="noStrike" kern="1200" dirty="0">
                <a:solidFill>
                  <a:schemeClr val="tx1"/>
                </a:solidFill>
                <a:effectLst/>
                <a:latin typeface="+mn-lt"/>
                <a:ea typeface="+mn-ea"/>
                <a:cs typeface="+mn-cs"/>
              </a:rPr>
              <a:t>в соответствии с «Мнениями о </a:t>
            </a:r>
            <a:r>
              <a:rPr lang="ru-RU" sz="1200" b="0" i="1" u="none" strike="noStrike" kern="1200" dirty="0">
                <a:solidFill>
                  <a:schemeClr val="tx1"/>
                </a:solidFill>
                <a:effectLst/>
                <a:latin typeface="+mn-lt"/>
                <a:ea typeface="+mn-ea"/>
                <a:cs typeface="+mn-cs"/>
              </a:rPr>
              <a:t>регулировании предпродажных средств жилой недвижимости</a:t>
            </a:r>
            <a:r>
              <a:rPr lang="ru-RU" sz="1200" b="0" i="0" u="none" strike="noStrike" kern="1200" dirty="0">
                <a:solidFill>
                  <a:schemeClr val="tx1"/>
                </a:solidFill>
                <a:effectLst/>
                <a:latin typeface="+mn-lt"/>
                <a:ea typeface="+mn-ea"/>
                <a:cs typeface="+mn-cs"/>
              </a:rPr>
              <a:t> » (</a:t>
            </a:r>
            <a:r>
              <a:rPr lang="ru-RU" sz="1200" b="0" i="0" u="none" strike="noStrike" kern="1200" dirty="0" err="1">
                <a:solidFill>
                  <a:schemeClr val="tx1"/>
                </a:solidFill>
                <a:effectLst/>
                <a:latin typeface="+mn-lt"/>
                <a:ea typeface="+mn-ea"/>
                <a:cs typeface="+mn-cs"/>
              </a:rPr>
              <a:t>Цзянь</a:t>
            </a:r>
            <a:r>
              <a:rPr lang="ru-RU" sz="1200" b="0" i="0" u="none" strike="noStrike" kern="1200" dirty="0">
                <a:solidFill>
                  <a:schemeClr val="tx1"/>
                </a:solidFill>
                <a:effectLst/>
                <a:latin typeface="+mn-lt"/>
                <a:ea typeface="+mn-ea"/>
                <a:cs typeface="+mn-cs"/>
              </a:rPr>
              <a:t> Фан [2022] № 16). Все предпродажные средства коммерческих жилых домов, такие как депозиты и первоначальные взносы, уплаченные покупателями недвижимости, ипотечные кредиты, выданные коммерческими банками, и другие формы средств для покупки жилья, должны быть зачислены непосредственно на счета условного депонирования. После того, как средства, накопленные на счете условного депонирования, достигнут нормативного лимита, установленного Министерством жилищного строительства и городского и сельского развития, застройщик может обратиться в коммерческий банк за гарантийным письмом для доступа к средствам в пределах нормативного лимита. Сумма, на которую может быть обменена гарантийное письмо, не должна превышать 30% от суммы средств, необходимых для обеспечения завершения и сдачи жилищного проекта на счете эскроу, а оставшиеся средства на счете эскроу не должны быть менее 70% от суммы средств, необходимых для обеспечения завершения и сдачи жилищного проекта.</a:t>
            </a:r>
            <a:endParaRPr lang="ru-RU" b="0" dirty="0">
              <a:effectLst/>
            </a:endParaRPr>
          </a:p>
          <a:p>
            <a:pPr rtl="0"/>
            <a:r>
              <a:rPr lang="ru-RU" sz="1200" b="0" i="0" u="none" strike="noStrike" kern="1200" dirty="0">
                <a:solidFill>
                  <a:schemeClr val="tx1"/>
                </a:solidFill>
                <a:effectLst/>
                <a:latin typeface="+mn-lt"/>
                <a:ea typeface="+mn-ea"/>
                <a:cs typeface="+mn-cs"/>
              </a:rPr>
              <a:t>Коммерческие банки могут, принимая </a:t>
            </a:r>
            <a:r>
              <a:rPr lang="ru-RU" sz="1200" b="1" i="0" u="none" strike="noStrike" kern="1200" dirty="0">
                <a:solidFill>
                  <a:schemeClr val="tx1"/>
                </a:solidFill>
                <a:effectLst/>
                <a:latin typeface="+mn-lt"/>
                <a:ea typeface="+mn-ea"/>
                <a:cs typeface="+mn-cs"/>
              </a:rPr>
              <a:t>самостоятельные решения на основе полной оценки кредитного риска, финансового положения и репутационного риска застройщиков </a:t>
            </a:r>
            <a:r>
              <a:rPr lang="ru-RU" sz="1200" b="0" i="0" u="none" strike="noStrike" kern="1200" dirty="0">
                <a:solidFill>
                  <a:schemeClr val="tx1"/>
                </a:solidFill>
                <a:effectLst/>
                <a:latin typeface="+mn-lt"/>
                <a:ea typeface="+mn-ea"/>
                <a:cs typeface="+mn-cs"/>
              </a:rPr>
              <a:t>в соответствии с рыночными и правовыми принципами, выдавать гарантийные письма добросовестным застройщикам для доступа к предпродажным средствам на счетах эскроу. Коммерческие банки при выдаче гарантийного письма для обмена на депонированные предпродажные средства должны полностью оценить кредитный риск застройщика, финансовое положение, репутационный риск, перспективы продаж жилищного проекта и остаточную стоимость и т. д. со ссылкой на стандарты одобрения кредита на развитие недвижимости. Коммерческие банки должны вести такой бизнес с качественными застройщиками, которые имеют надежную работу и хорошее финансовое положение.</a:t>
            </a:r>
            <a:endParaRPr lang="ru-RU" b="0" dirty="0">
              <a:effectLst/>
            </a:endParaRPr>
          </a:p>
          <a:p>
            <a:pPr rtl="0"/>
            <a:r>
              <a:rPr lang="ru-RU" sz="1200" b="0" i="0" u="none" strike="noStrike" kern="1200" dirty="0">
                <a:solidFill>
                  <a:schemeClr val="tx1"/>
                </a:solidFill>
                <a:effectLst/>
                <a:latin typeface="+mn-lt"/>
                <a:ea typeface="+mn-ea"/>
                <a:cs typeface="+mn-cs"/>
              </a:rPr>
              <a:t>Коммерческим банкам с регулятивным рейтингом 4 или ниже или активами менее 500 млрд юаней не разрешается выдавать гарантийные письма для доступа к депонированным предпродажным фондам. Коммерческим банкам не разрешается выдавать гарантийные письма застройщикам, которые являются основными акционерами, контролирующими акционерами или связанными сторонами банка, для обмена на депонированные предпродажные фонды.</a:t>
            </a:r>
          </a:p>
          <a:p>
            <a:pPr rtl="0"/>
            <a:r>
              <a:rPr lang="en-US" sz="1200" b="0" i="0" u="none" strike="noStrike" kern="1200" dirty="0">
                <a:solidFill>
                  <a:schemeClr val="tx1"/>
                </a:solidFill>
                <a:effectLst/>
                <a:latin typeface="+mn-lt"/>
                <a:ea typeface="+mn-ea"/>
                <a:cs typeface="+mn-cs"/>
              </a:rPr>
              <a:t>https://www.gov.cn/zhengce/2022-11/15/content_5727043.htm</a:t>
            </a:r>
            <a:endParaRPr lang="ru-RU"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https://www.gov.cn/zhengce/zhengceku/2022-11/14/content_5726954.htm</a:t>
            </a:r>
            <a:endParaRPr lang="ru-RU"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https://www.nfra.gov.cn/branch/shanxi/view/pages/common/ItemDetail.html?docId=1086040&amp;itemId=1338&amp;generaltype=0</a:t>
            </a:r>
            <a:endParaRPr lang="ru-RU" sz="1200" b="0" i="0" u="none" strike="noStrike" kern="1200" dirty="0">
              <a:solidFill>
                <a:schemeClr val="tx1"/>
              </a:solidFill>
              <a:effectLst/>
              <a:latin typeface="+mn-lt"/>
              <a:ea typeface="+mn-ea"/>
              <a:cs typeface="+mn-cs"/>
            </a:endParaRPr>
          </a:p>
          <a:p>
            <a:pPr rtl="0"/>
            <a:endParaRPr lang="ru-RU"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Китай может создать специальный фонд, используя предпродажные поступления от жилых проектов, чтобы помочь застройщикам с ликвидностью и гарантировать завершение ими строительных проектов. И предположил, что правительство или центральный банк могут изымать около 1% средств эскроу каждый год, или, по оценкам, 10 млрд юаней, для вливания в фонд.  (</a:t>
            </a:r>
            <a:r>
              <a:rPr lang="en-US" dirty="0"/>
              <a:t>https://www.reuters.com/world/china/china-should-establish-property-presale-fund-support-developers-former-cbank-2024-03-07/</a:t>
            </a:r>
            <a:r>
              <a:rPr lang="ru-RU" dirty="0"/>
              <a:t>)</a:t>
            </a:r>
          </a:p>
          <a:p>
            <a:pPr rtl="0"/>
            <a:endParaRPr lang="ru-RU" b="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ru-RU" dirty="0"/>
            </a:br>
            <a:r>
              <a:rPr lang="ru-RU" sz="1200" kern="1200" dirty="0">
                <a:solidFill>
                  <a:schemeClr val="tx1"/>
                </a:solidFill>
                <a:effectLst/>
                <a:latin typeface="+mn-lt"/>
                <a:ea typeface="+mn-ea"/>
                <a:cs typeface="+mn-cs"/>
              </a:rPr>
              <a:t>США</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Орган выдающий лицензию на </a:t>
            </a:r>
            <a:r>
              <a:rPr lang="ru-RU" sz="1200" kern="1200" dirty="0" err="1">
                <a:solidFill>
                  <a:schemeClr val="tx1"/>
                </a:solidFill>
                <a:effectLst/>
                <a:latin typeface="+mn-lt"/>
                <a:ea typeface="+mn-ea"/>
                <a:cs typeface="+mn-cs"/>
              </a:rPr>
              <a:t>эскроу</a:t>
            </a:r>
            <a:r>
              <a:rPr lang="ru-RU" sz="1200" kern="1200" dirty="0">
                <a:solidFill>
                  <a:schemeClr val="tx1"/>
                </a:solidFill>
                <a:effectLst/>
                <a:latin typeface="+mn-lt"/>
                <a:ea typeface="+mn-ea"/>
                <a:cs typeface="+mn-cs"/>
              </a:rPr>
              <a:t> деятельность зависит от штата, так как они относятся к разной юрисдикции. К примеру Нью-Йорк  - NYDFS ( Управление финансовых услуг штата Нью-Йорк), Калифорния – </a:t>
            </a:r>
            <a:r>
              <a:rPr lang="en-US" sz="1200" kern="1200" dirty="0">
                <a:solidFill>
                  <a:schemeClr val="tx1"/>
                </a:solidFill>
                <a:effectLst/>
                <a:latin typeface="+mn-lt"/>
                <a:ea typeface="+mn-ea"/>
                <a:cs typeface="+mn-cs"/>
              </a:rPr>
              <a:t>DFPI </a:t>
            </a:r>
            <a:r>
              <a:rPr lang="ru-RU" sz="1200" kern="1200" dirty="0">
                <a:solidFill>
                  <a:schemeClr val="tx1"/>
                </a:solidFill>
                <a:effectLst/>
                <a:latin typeface="+mn-lt"/>
                <a:ea typeface="+mn-ea"/>
                <a:cs typeface="+mn-cs"/>
              </a:rPr>
              <a:t>-  Департамент финансовой защиты и инноваций, Вашингтон- </a:t>
            </a:r>
            <a:r>
              <a:rPr lang="en-US" sz="1200" kern="1200" dirty="0">
                <a:solidFill>
                  <a:schemeClr val="tx1"/>
                </a:solidFill>
                <a:effectLst/>
                <a:latin typeface="+mn-lt"/>
                <a:ea typeface="+mn-ea"/>
                <a:cs typeface="+mn-cs"/>
              </a:rPr>
              <a:t>DFI </a:t>
            </a:r>
            <a:r>
              <a:rPr lang="ru-RU" sz="1200" kern="1200" dirty="0">
                <a:solidFill>
                  <a:schemeClr val="tx1"/>
                </a:solidFill>
                <a:effectLst/>
                <a:latin typeface="+mn-lt"/>
                <a:ea typeface="+mn-ea"/>
                <a:cs typeface="+mn-cs"/>
              </a:rPr>
              <a:t>-Департамент финансовых учреждений штата. </a:t>
            </a:r>
            <a:r>
              <a:rPr lang="ru-RU" sz="1200" kern="1200" dirty="0" err="1">
                <a:solidFill>
                  <a:schemeClr val="tx1"/>
                </a:solidFill>
                <a:effectLst/>
                <a:latin typeface="+mn-lt"/>
                <a:ea typeface="+mn-ea"/>
                <a:cs typeface="+mn-cs"/>
              </a:rPr>
              <a:t>Эскроу</a:t>
            </a:r>
            <a:r>
              <a:rPr lang="ru-RU" sz="1200" kern="1200" dirty="0">
                <a:solidFill>
                  <a:schemeClr val="tx1"/>
                </a:solidFill>
                <a:effectLst/>
                <a:latin typeface="+mn-lt"/>
                <a:ea typeface="+mn-ea"/>
                <a:cs typeface="+mn-cs"/>
              </a:rPr>
              <a:t> агенты учатся на специальных курсах и получают лицензию и оплачивает ежегодный взнос. Выдача </a:t>
            </a:r>
            <a:r>
              <a:rPr lang="ru-RU" sz="1200" kern="1200" dirty="0" err="1">
                <a:solidFill>
                  <a:schemeClr val="tx1"/>
                </a:solidFill>
                <a:effectLst/>
                <a:latin typeface="+mn-lt"/>
                <a:ea typeface="+mn-ea"/>
                <a:cs typeface="+mn-cs"/>
              </a:rPr>
              <a:t>эскроу</a:t>
            </a:r>
            <a:r>
              <a:rPr lang="ru-RU" sz="1200" kern="1200" dirty="0">
                <a:solidFill>
                  <a:schemeClr val="tx1"/>
                </a:solidFill>
                <a:effectLst/>
                <a:latin typeface="+mn-lt"/>
                <a:ea typeface="+mn-ea"/>
                <a:cs typeface="+mn-cs"/>
              </a:rPr>
              <a:t> агентам лицензии также выдается в зависимости от штата к примеру в Калифорнии выдает -</a:t>
            </a:r>
            <a:r>
              <a:rPr lang="en-US" sz="1200" kern="1200" dirty="0">
                <a:solidFill>
                  <a:schemeClr val="tx1"/>
                </a:solidFill>
                <a:effectLst/>
                <a:latin typeface="+mn-lt"/>
                <a:ea typeface="+mn-ea"/>
                <a:cs typeface="+mn-cs"/>
              </a:rPr>
              <a:t>DBO </a:t>
            </a:r>
            <a:r>
              <a:rPr lang="ru-RU"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Департамента по надзору за бизнесом</a:t>
            </a:r>
            <a:endParaRPr lang="en-US" sz="120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3786898A-748A-4BFA-AC6F-5AF21B48CF7D}" type="slidenum">
              <a:rPr lang="ru-RU" smtClean="0"/>
              <a:t>3</a:t>
            </a:fld>
            <a:endParaRPr lang="ru-RU"/>
          </a:p>
        </p:txBody>
      </p:sp>
    </p:spTree>
    <p:extLst>
      <p:ext uri="{BB962C8B-B14F-4D97-AF65-F5344CB8AC3E}">
        <p14:creationId xmlns:p14="http://schemas.microsoft.com/office/powerpoint/2010/main" val="2987818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786898A-748A-4BFA-AC6F-5AF21B48CF7D}" type="slidenum">
              <a:rPr lang="ru-RU" smtClean="0"/>
              <a:t>4</a:t>
            </a:fld>
            <a:endParaRPr lang="ru-RU"/>
          </a:p>
        </p:txBody>
      </p:sp>
    </p:spTree>
    <p:extLst>
      <p:ext uri="{BB962C8B-B14F-4D97-AF65-F5344CB8AC3E}">
        <p14:creationId xmlns:p14="http://schemas.microsoft.com/office/powerpoint/2010/main" val="29638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rtl="0"/>
            <a:r>
              <a:rPr lang="ru-RU" sz="1200" b="0" i="0" u="none" strike="noStrike" kern="1200" dirty="0">
                <a:solidFill>
                  <a:schemeClr val="tx1"/>
                </a:solidFill>
                <a:effectLst/>
                <a:latin typeface="+mn-lt"/>
                <a:ea typeface="+mn-ea"/>
                <a:cs typeface="+mn-cs"/>
              </a:rPr>
              <a:t>Китай :</a:t>
            </a:r>
            <a:endParaRPr lang="ru-RU" b="0" dirty="0">
              <a:effectLst/>
            </a:endParaRPr>
          </a:p>
          <a:p>
            <a:pPr rtl="0"/>
            <a:r>
              <a:rPr lang="ru-RU" sz="1200" b="1" i="0" u="none" strike="noStrike" kern="1200" dirty="0">
                <a:solidFill>
                  <a:schemeClr val="tx1"/>
                </a:solidFill>
                <a:effectLst/>
                <a:latin typeface="+mn-lt"/>
                <a:ea typeface="+mn-ea"/>
                <a:cs typeface="+mn-cs"/>
              </a:rPr>
              <a:t>Застройщики обязаны открывать счета условного депонирования предпродажных средств </a:t>
            </a:r>
            <a:r>
              <a:rPr lang="ru-RU" sz="1200" b="0" i="0" u="none" strike="noStrike" kern="1200" dirty="0">
                <a:solidFill>
                  <a:schemeClr val="tx1"/>
                </a:solidFill>
                <a:effectLst/>
                <a:latin typeface="+mn-lt"/>
                <a:ea typeface="+mn-ea"/>
                <a:cs typeface="+mn-cs"/>
              </a:rPr>
              <a:t>в соответствии с «Мнениями о </a:t>
            </a:r>
            <a:r>
              <a:rPr lang="ru-RU" sz="1200" b="0" i="1" u="none" strike="noStrike" kern="1200" dirty="0">
                <a:solidFill>
                  <a:schemeClr val="tx1"/>
                </a:solidFill>
                <a:effectLst/>
                <a:latin typeface="+mn-lt"/>
                <a:ea typeface="+mn-ea"/>
                <a:cs typeface="+mn-cs"/>
              </a:rPr>
              <a:t>регулировании предпродажных средств жилой недвижимости</a:t>
            </a:r>
            <a:r>
              <a:rPr lang="ru-RU" sz="1200" b="0" i="0" u="none" strike="noStrike" kern="1200" dirty="0">
                <a:solidFill>
                  <a:schemeClr val="tx1"/>
                </a:solidFill>
                <a:effectLst/>
                <a:latin typeface="+mn-lt"/>
                <a:ea typeface="+mn-ea"/>
                <a:cs typeface="+mn-cs"/>
              </a:rPr>
              <a:t> » (</a:t>
            </a:r>
            <a:r>
              <a:rPr lang="ru-RU" sz="1200" b="0" i="0" u="none" strike="noStrike" kern="1200" dirty="0" err="1">
                <a:solidFill>
                  <a:schemeClr val="tx1"/>
                </a:solidFill>
                <a:effectLst/>
                <a:latin typeface="+mn-lt"/>
                <a:ea typeface="+mn-ea"/>
                <a:cs typeface="+mn-cs"/>
              </a:rPr>
              <a:t>Цзянь</a:t>
            </a:r>
            <a:r>
              <a:rPr lang="ru-RU" sz="1200" b="0" i="0" u="none" strike="noStrike" kern="1200" dirty="0">
                <a:solidFill>
                  <a:schemeClr val="tx1"/>
                </a:solidFill>
                <a:effectLst/>
                <a:latin typeface="+mn-lt"/>
                <a:ea typeface="+mn-ea"/>
                <a:cs typeface="+mn-cs"/>
              </a:rPr>
              <a:t> Фан [2022] № 16). Все предпродажные средства коммерческих жилых домов, такие как депозиты и первоначальные взносы, уплаченные покупателями недвижимости, ипотечные кредиты, выданные коммерческими банками, и другие формы средств для покупки жилья, должны быть зачислены непосредственно на счета условного депонирования. После того, как средства, накопленные на счете условного депонирования, достигнут нормативного лимита, установленного Министерством жилищного строительства и городского и сельского развития, застройщик может обратиться в коммерческий банк за гарантийным письмом для доступа к средствам в пределах нормативного лимита. Сумма, на которую может быть обменена гарантийное письмо, не должна превышать 30% от суммы средств, необходимых для обеспечения завершения и сдачи жилищного проекта на счете эскроу, а оставшиеся средства на счете эскроу не должны быть менее 70% от суммы средств, необходимых для обеспечения завершения и сдачи жилищного проекта.</a:t>
            </a:r>
            <a:endParaRPr lang="ru-RU" b="0" dirty="0">
              <a:effectLst/>
            </a:endParaRPr>
          </a:p>
          <a:p>
            <a:pPr rtl="0"/>
            <a:r>
              <a:rPr lang="ru-RU" sz="1200" b="0" i="0" u="none" strike="noStrike" kern="1200" dirty="0">
                <a:solidFill>
                  <a:schemeClr val="tx1"/>
                </a:solidFill>
                <a:effectLst/>
                <a:latin typeface="+mn-lt"/>
                <a:ea typeface="+mn-ea"/>
                <a:cs typeface="+mn-cs"/>
              </a:rPr>
              <a:t>Коммерческие банки могут, принимая </a:t>
            </a:r>
            <a:r>
              <a:rPr lang="ru-RU" sz="1200" b="1" i="0" u="none" strike="noStrike" kern="1200" dirty="0">
                <a:solidFill>
                  <a:schemeClr val="tx1"/>
                </a:solidFill>
                <a:effectLst/>
                <a:latin typeface="+mn-lt"/>
                <a:ea typeface="+mn-ea"/>
                <a:cs typeface="+mn-cs"/>
              </a:rPr>
              <a:t>самостоятельные решения на основе полной оценки кредитного риска, финансового положения и репутационного риска застройщиков </a:t>
            </a:r>
            <a:r>
              <a:rPr lang="ru-RU" sz="1200" b="0" i="0" u="none" strike="noStrike" kern="1200" dirty="0">
                <a:solidFill>
                  <a:schemeClr val="tx1"/>
                </a:solidFill>
                <a:effectLst/>
                <a:latin typeface="+mn-lt"/>
                <a:ea typeface="+mn-ea"/>
                <a:cs typeface="+mn-cs"/>
              </a:rPr>
              <a:t>в соответствии с рыночными и правовыми принципами, выдавать гарантийные письма добросовестным застройщикам для доступа к предпродажным средствам на счетах эскроу. Коммерческие банки при выдаче гарантийного письма для обмена на депонированные предпродажные средства должны полностью оценить кредитный риск застройщика, финансовое положение, репутационный риск, перспективы продаж жилищного проекта и остаточную стоимость и т. д. со ссылкой на стандарты одобрения кредита на развитие недвижимости. Коммерческие банки должны вести такой бизнес с качественными застройщиками, которые имеют надежную работу и хорошее финансовое положение.</a:t>
            </a:r>
            <a:endParaRPr lang="ru-RU" b="0" dirty="0">
              <a:effectLst/>
            </a:endParaRPr>
          </a:p>
          <a:p>
            <a:pPr rtl="0"/>
            <a:r>
              <a:rPr lang="ru-RU" sz="1200" b="0" i="0" u="none" strike="noStrike" kern="1200" dirty="0">
                <a:solidFill>
                  <a:schemeClr val="tx1"/>
                </a:solidFill>
                <a:effectLst/>
                <a:latin typeface="+mn-lt"/>
                <a:ea typeface="+mn-ea"/>
                <a:cs typeface="+mn-cs"/>
              </a:rPr>
              <a:t>Коммерческим банкам с регулятивным рейтингом 4 или ниже или активами менее 500 млрд юаней не разрешается выдавать гарантийные письма для доступа к депонированным предпродажным фондам. Коммерческим банкам не разрешается выдавать гарантийные письма застройщикам, которые являются основными акционерами, контролирующими акционерами или связанными сторонами банка, для обмена на депонированные предпродажные фонды.</a:t>
            </a:r>
          </a:p>
          <a:p>
            <a:pPr rtl="0"/>
            <a:r>
              <a:rPr lang="en-US" sz="1200" b="0" i="0" u="none" strike="noStrike" kern="1200" dirty="0">
                <a:solidFill>
                  <a:schemeClr val="tx1"/>
                </a:solidFill>
                <a:effectLst/>
                <a:latin typeface="+mn-lt"/>
                <a:ea typeface="+mn-ea"/>
                <a:cs typeface="+mn-cs"/>
              </a:rPr>
              <a:t>https://www.gov.cn/zhengce/2022-11/15/content_5727043.htm</a:t>
            </a:r>
            <a:endParaRPr lang="ru-RU"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https://www.gov.cn/zhengce/zhengceku/2022-11/14/content_5726954.htm</a:t>
            </a:r>
            <a:endParaRPr lang="ru-RU"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https://www.nfra.gov.cn/branch/shanxi/view/pages/common/ItemDetail.html?docId=1086040&amp;itemId=1338&amp;generaltype=0</a:t>
            </a:r>
            <a:endParaRPr lang="ru-RU" sz="1200" b="0" i="0" u="none" strike="noStrike" kern="1200" dirty="0">
              <a:solidFill>
                <a:schemeClr val="tx1"/>
              </a:solidFill>
              <a:effectLst/>
              <a:latin typeface="+mn-lt"/>
              <a:ea typeface="+mn-ea"/>
              <a:cs typeface="+mn-cs"/>
            </a:endParaRPr>
          </a:p>
          <a:p>
            <a:pPr rtl="0"/>
            <a:endParaRPr lang="ru-RU"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Китай может создать специальный фонд, используя предпродажные поступления от жилых проектов, чтобы помочь застройщикам с ликвидностью и гарантировать завершение ими строительных проектов. И предположил, что правительство или центральный банк могут изымать около 1% средств эскроу каждый год, или, по оценкам, 10 млрд юаней, для вливания в фонд.  (</a:t>
            </a:r>
            <a:r>
              <a:rPr lang="en-US" dirty="0"/>
              <a:t>https://www.reuters.com/world/china/china-should-establish-property-presale-fund-support-developers-former-cbank-2024-03-07/</a:t>
            </a:r>
            <a:r>
              <a:rPr lang="ru-RU" dirty="0"/>
              <a:t>)</a:t>
            </a:r>
          </a:p>
          <a:p>
            <a:endParaRPr lang="ru-RU" dirty="0"/>
          </a:p>
        </p:txBody>
      </p:sp>
      <p:sp>
        <p:nvSpPr>
          <p:cNvPr id="4" name="Номер слайда 3"/>
          <p:cNvSpPr>
            <a:spLocks noGrp="1"/>
          </p:cNvSpPr>
          <p:nvPr>
            <p:ph type="sldNum" sz="quarter" idx="5"/>
          </p:nvPr>
        </p:nvSpPr>
        <p:spPr/>
        <p:txBody>
          <a:bodyPr/>
          <a:lstStyle/>
          <a:p>
            <a:fld id="{3786898A-748A-4BFA-AC6F-5AF21B48CF7D}" type="slidenum">
              <a:rPr lang="ru-RU" smtClean="0"/>
              <a:t>5</a:t>
            </a:fld>
            <a:endParaRPr lang="ru-RU"/>
          </a:p>
        </p:txBody>
      </p:sp>
    </p:spTree>
    <p:extLst>
      <p:ext uri="{BB962C8B-B14F-4D97-AF65-F5344CB8AC3E}">
        <p14:creationId xmlns:p14="http://schemas.microsoft.com/office/powerpoint/2010/main" val="1753132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Орган выдающий лицензию на эскроу деятельность зависит от штата, так как они относятся к разной юрисдикции. К примеру Нью-Йорк  - NYDFS ( Управление финансовых услуг штата Нью-Йорк), Калифорния – </a:t>
            </a:r>
            <a:r>
              <a:rPr lang="en-US" sz="1200" kern="1200" dirty="0">
                <a:solidFill>
                  <a:schemeClr val="tx1"/>
                </a:solidFill>
                <a:effectLst/>
                <a:latin typeface="+mn-lt"/>
                <a:ea typeface="+mn-ea"/>
                <a:cs typeface="+mn-cs"/>
              </a:rPr>
              <a:t>DFPI </a:t>
            </a:r>
            <a:r>
              <a:rPr lang="ru-RU" sz="1200" kern="1200" dirty="0">
                <a:solidFill>
                  <a:schemeClr val="tx1"/>
                </a:solidFill>
                <a:effectLst/>
                <a:latin typeface="+mn-lt"/>
                <a:ea typeface="+mn-ea"/>
                <a:cs typeface="+mn-cs"/>
              </a:rPr>
              <a:t>-  Департамент финансовой защиты и инноваций, Вашингтон- </a:t>
            </a:r>
            <a:r>
              <a:rPr lang="en-US" sz="1200" kern="1200" dirty="0">
                <a:solidFill>
                  <a:schemeClr val="tx1"/>
                </a:solidFill>
                <a:effectLst/>
                <a:latin typeface="+mn-lt"/>
                <a:ea typeface="+mn-ea"/>
                <a:cs typeface="+mn-cs"/>
              </a:rPr>
              <a:t>DFI </a:t>
            </a:r>
            <a:r>
              <a:rPr lang="ru-RU" sz="1200" kern="1200" dirty="0">
                <a:solidFill>
                  <a:schemeClr val="tx1"/>
                </a:solidFill>
                <a:effectLst/>
                <a:latin typeface="+mn-lt"/>
                <a:ea typeface="+mn-ea"/>
                <a:cs typeface="+mn-cs"/>
              </a:rPr>
              <a:t>-Департамент финансовых учреждений штата.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Для работы </a:t>
            </a:r>
            <a:r>
              <a:rPr lang="ru-RU" sz="1200" kern="1200" dirty="0" err="1">
                <a:solidFill>
                  <a:schemeClr val="tx1"/>
                </a:solidFill>
                <a:effectLst/>
                <a:latin typeface="+mn-lt"/>
                <a:ea typeface="+mn-ea"/>
                <a:cs typeface="+mn-cs"/>
              </a:rPr>
              <a:t>эскроу</a:t>
            </a:r>
            <a:r>
              <a:rPr lang="ru-RU" sz="1200" kern="1200" dirty="0">
                <a:solidFill>
                  <a:schemeClr val="tx1"/>
                </a:solidFill>
                <a:effectLst/>
                <a:latin typeface="+mn-lt"/>
                <a:ea typeface="+mn-ea"/>
                <a:cs typeface="+mn-cs"/>
              </a:rPr>
              <a:t> агентом также необходимо получать лицензию, учатся на специальных курсах и оплачивать ежегодный взнос. Выдача </a:t>
            </a:r>
            <a:r>
              <a:rPr lang="ru-RU" sz="1200" kern="1200" dirty="0" err="1">
                <a:solidFill>
                  <a:schemeClr val="tx1"/>
                </a:solidFill>
                <a:effectLst/>
                <a:latin typeface="+mn-lt"/>
                <a:ea typeface="+mn-ea"/>
                <a:cs typeface="+mn-cs"/>
              </a:rPr>
              <a:t>эскроу</a:t>
            </a:r>
            <a:r>
              <a:rPr lang="ru-RU" sz="1200" kern="1200" dirty="0">
                <a:solidFill>
                  <a:schemeClr val="tx1"/>
                </a:solidFill>
                <a:effectLst/>
                <a:latin typeface="+mn-lt"/>
                <a:ea typeface="+mn-ea"/>
                <a:cs typeface="+mn-cs"/>
              </a:rPr>
              <a:t> агентам лицензии также выдается в зависимости от штата к примеру в Калифорнии выдает -</a:t>
            </a:r>
            <a:r>
              <a:rPr lang="en-US" sz="1200" kern="1200" dirty="0">
                <a:solidFill>
                  <a:schemeClr val="tx1"/>
                </a:solidFill>
                <a:effectLst/>
                <a:latin typeface="+mn-lt"/>
                <a:ea typeface="+mn-ea"/>
                <a:cs typeface="+mn-cs"/>
              </a:rPr>
              <a:t>DBO </a:t>
            </a:r>
            <a:r>
              <a:rPr lang="ru-RU"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Департамента по надзору за бизнесом</a:t>
            </a:r>
            <a:endParaRPr lang="en-US" sz="120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3786898A-748A-4BFA-AC6F-5AF21B48CF7D}" type="slidenum">
              <a:rPr lang="ru-RU" smtClean="0"/>
              <a:t>6</a:t>
            </a:fld>
            <a:endParaRPr lang="ru-RU"/>
          </a:p>
        </p:txBody>
      </p:sp>
    </p:spTree>
    <p:extLst>
      <p:ext uri="{BB962C8B-B14F-4D97-AF65-F5344CB8AC3E}">
        <p14:creationId xmlns:p14="http://schemas.microsoft.com/office/powerpoint/2010/main" val="2987818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786898A-748A-4BFA-AC6F-5AF21B48CF7D}" type="slidenum">
              <a:rPr lang="ru-RU" smtClean="0"/>
              <a:t>7</a:t>
            </a:fld>
            <a:endParaRPr lang="ru-RU"/>
          </a:p>
        </p:txBody>
      </p:sp>
    </p:spTree>
    <p:extLst>
      <p:ext uri="{BB962C8B-B14F-4D97-AF65-F5344CB8AC3E}">
        <p14:creationId xmlns:p14="http://schemas.microsoft.com/office/powerpoint/2010/main" val="954828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786898A-748A-4BFA-AC6F-5AF21B48CF7D}" type="slidenum">
              <a:rPr lang="ru-RU" smtClean="0"/>
              <a:t>10</a:t>
            </a:fld>
            <a:endParaRPr lang="ru-RU"/>
          </a:p>
        </p:txBody>
      </p:sp>
    </p:spTree>
    <p:extLst>
      <p:ext uri="{BB962C8B-B14F-4D97-AF65-F5344CB8AC3E}">
        <p14:creationId xmlns:p14="http://schemas.microsoft.com/office/powerpoint/2010/main" val="4076956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786898A-748A-4BFA-AC6F-5AF21B48CF7D}" type="slidenum">
              <a:rPr lang="ru-RU" smtClean="0"/>
              <a:t>11</a:t>
            </a:fld>
            <a:endParaRPr lang="ru-RU"/>
          </a:p>
        </p:txBody>
      </p:sp>
    </p:spTree>
    <p:extLst>
      <p:ext uri="{BB962C8B-B14F-4D97-AF65-F5344CB8AC3E}">
        <p14:creationId xmlns:p14="http://schemas.microsoft.com/office/powerpoint/2010/main" val="3806880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7364D7-8E3E-4616-B479-58CF2315B2B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3E5E4A1A-1527-4999-8AB1-F97DAD6A95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1426344E-CACD-4EF5-AD76-4DDF5F9ABE26}"/>
              </a:ext>
            </a:extLst>
          </p:cNvPr>
          <p:cNvSpPr>
            <a:spLocks noGrp="1"/>
          </p:cNvSpPr>
          <p:nvPr>
            <p:ph type="dt" sz="half" idx="10"/>
          </p:nvPr>
        </p:nvSpPr>
        <p:spPr/>
        <p:txBody>
          <a:bodyPr/>
          <a:lstStyle/>
          <a:p>
            <a:fld id="{B4A23A1C-C919-4C11-BC25-6EAF5B833B9D}" type="datetime1">
              <a:rPr lang="ru-RU" smtClean="0"/>
              <a:t>15.01.2025</a:t>
            </a:fld>
            <a:endParaRPr lang="ru-RU"/>
          </a:p>
        </p:txBody>
      </p:sp>
      <p:sp>
        <p:nvSpPr>
          <p:cNvPr id="5" name="Нижний колонтитул 4">
            <a:extLst>
              <a:ext uri="{FF2B5EF4-FFF2-40B4-BE49-F238E27FC236}">
                <a16:creationId xmlns:a16="http://schemas.microsoft.com/office/drawing/2014/main" id="{45121382-3B40-4088-A1AC-39E3CE79B6B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77E45B1-6B52-49F9-A74E-87A3AFAED5AA}"/>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2039536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9BC692-4C91-4689-B603-3D727615943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E5A4E6A-496B-4DC7-BADF-D00D01A9EE29}"/>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1A281A-94A9-4FE0-A890-38FDE9C28384}"/>
              </a:ext>
            </a:extLst>
          </p:cNvPr>
          <p:cNvSpPr>
            <a:spLocks noGrp="1"/>
          </p:cNvSpPr>
          <p:nvPr>
            <p:ph type="dt" sz="half" idx="10"/>
          </p:nvPr>
        </p:nvSpPr>
        <p:spPr/>
        <p:txBody>
          <a:bodyPr/>
          <a:lstStyle/>
          <a:p>
            <a:fld id="{7053E1EC-DB19-43C4-8F12-8DFDEED57748}" type="datetime1">
              <a:rPr lang="ru-RU" smtClean="0"/>
              <a:t>15.01.2025</a:t>
            </a:fld>
            <a:endParaRPr lang="ru-RU"/>
          </a:p>
        </p:txBody>
      </p:sp>
      <p:sp>
        <p:nvSpPr>
          <p:cNvPr id="5" name="Нижний колонтитул 4">
            <a:extLst>
              <a:ext uri="{FF2B5EF4-FFF2-40B4-BE49-F238E27FC236}">
                <a16:creationId xmlns:a16="http://schemas.microsoft.com/office/drawing/2014/main" id="{208872AA-888D-49EC-806A-098448839D0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237E08E-A874-45BE-B111-0090F357F991}"/>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3554075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66F4CA-D914-4232-AD04-CEB3C56D21DE}"/>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C9249C66-53F5-438E-AAB3-8D0BDE4E47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A5A3EAB-E7C1-4BC0-B692-17D6769FED5F}"/>
              </a:ext>
            </a:extLst>
          </p:cNvPr>
          <p:cNvSpPr>
            <a:spLocks noGrp="1"/>
          </p:cNvSpPr>
          <p:nvPr>
            <p:ph type="dt" sz="half" idx="10"/>
          </p:nvPr>
        </p:nvSpPr>
        <p:spPr/>
        <p:txBody>
          <a:bodyPr/>
          <a:lstStyle/>
          <a:p>
            <a:fld id="{4596C3F2-5B76-4808-9B60-9D2FC630DF99}" type="datetime1">
              <a:rPr lang="ru-RU" smtClean="0"/>
              <a:t>15.01.2025</a:t>
            </a:fld>
            <a:endParaRPr lang="ru-RU"/>
          </a:p>
        </p:txBody>
      </p:sp>
      <p:sp>
        <p:nvSpPr>
          <p:cNvPr id="5" name="Нижний колонтитул 4">
            <a:extLst>
              <a:ext uri="{FF2B5EF4-FFF2-40B4-BE49-F238E27FC236}">
                <a16:creationId xmlns:a16="http://schemas.microsoft.com/office/drawing/2014/main" id="{C14ADD77-8C0F-4FEE-94DD-6EB6EB8244A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4118463-73C5-4392-9856-7D008D597A3B}"/>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256460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F2E6B8-6071-4E48-85FC-850D9FA1666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C6B3014-B3BF-48EC-9D18-55CBF2D3A0A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052AB24-12E7-4D5B-9D7C-3950388730E8}"/>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ABB4E3EE-1C21-4C57-B029-B7CC2D48E692}"/>
              </a:ext>
            </a:extLst>
          </p:cNvPr>
          <p:cNvSpPr>
            <a:spLocks noGrp="1"/>
          </p:cNvSpPr>
          <p:nvPr>
            <p:ph type="dt" sz="half" idx="10"/>
          </p:nvPr>
        </p:nvSpPr>
        <p:spPr/>
        <p:txBody>
          <a:bodyPr/>
          <a:lstStyle/>
          <a:p>
            <a:fld id="{AE4910D1-7FB2-4F08-A49F-1B6935DA9D11}" type="datetime1">
              <a:rPr lang="ru-RU" smtClean="0"/>
              <a:t>15.01.2025</a:t>
            </a:fld>
            <a:endParaRPr lang="ru-RU"/>
          </a:p>
        </p:txBody>
      </p:sp>
      <p:sp>
        <p:nvSpPr>
          <p:cNvPr id="6" name="Нижний колонтитул 5">
            <a:extLst>
              <a:ext uri="{FF2B5EF4-FFF2-40B4-BE49-F238E27FC236}">
                <a16:creationId xmlns:a16="http://schemas.microsoft.com/office/drawing/2014/main" id="{307932F6-2B00-4248-A979-EEB1FCA2B29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F1BFEAA-8EE4-4D04-8404-0ADF289EC31C}"/>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521326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5B750A-E8C9-4F52-BA01-36CEDE1A8506}"/>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2028007F-BE56-4542-9D08-D4259C81EA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93749751-5407-4182-98BC-8CE00C033C83}"/>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D009104F-8845-49C9-BCE1-F398ED2502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7D7FCA7-07B7-4CD9-B6CC-641659D831F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AEAB6F6F-51F0-439A-BD53-01D0BF7E6912}"/>
              </a:ext>
            </a:extLst>
          </p:cNvPr>
          <p:cNvSpPr>
            <a:spLocks noGrp="1"/>
          </p:cNvSpPr>
          <p:nvPr>
            <p:ph type="dt" sz="half" idx="10"/>
          </p:nvPr>
        </p:nvSpPr>
        <p:spPr/>
        <p:txBody>
          <a:bodyPr/>
          <a:lstStyle/>
          <a:p>
            <a:fld id="{3677E606-A583-4D1F-8274-459C1A92AC2A}" type="datetime1">
              <a:rPr lang="ru-RU" smtClean="0"/>
              <a:t>15.01.2025</a:t>
            </a:fld>
            <a:endParaRPr lang="ru-RU"/>
          </a:p>
        </p:txBody>
      </p:sp>
      <p:sp>
        <p:nvSpPr>
          <p:cNvPr id="8" name="Нижний колонтитул 7">
            <a:extLst>
              <a:ext uri="{FF2B5EF4-FFF2-40B4-BE49-F238E27FC236}">
                <a16:creationId xmlns:a16="http://schemas.microsoft.com/office/drawing/2014/main" id="{3FE80D49-2004-4DC1-9029-47538809100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C3274BE5-8F6E-4F61-8FBC-24786B597268}"/>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3971606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973B47-07EE-4669-BF82-99177E1C7E4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D6EB6095-E2E4-42B6-8A4E-E6D6FFAC674C}"/>
              </a:ext>
            </a:extLst>
          </p:cNvPr>
          <p:cNvSpPr>
            <a:spLocks noGrp="1"/>
          </p:cNvSpPr>
          <p:nvPr>
            <p:ph type="dt" sz="half" idx="10"/>
          </p:nvPr>
        </p:nvSpPr>
        <p:spPr/>
        <p:txBody>
          <a:bodyPr/>
          <a:lstStyle/>
          <a:p>
            <a:fld id="{BB19B798-D72C-43ED-8CFF-308645F4F426}" type="datetime1">
              <a:rPr lang="ru-RU" smtClean="0"/>
              <a:t>15.01.2025</a:t>
            </a:fld>
            <a:endParaRPr lang="ru-RU"/>
          </a:p>
        </p:txBody>
      </p:sp>
      <p:sp>
        <p:nvSpPr>
          <p:cNvPr id="4" name="Нижний колонтитул 3">
            <a:extLst>
              <a:ext uri="{FF2B5EF4-FFF2-40B4-BE49-F238E27FC236}">
                <a16:creationId xmlns:a16="http://schemas.microsoft.com/office/drawing/2014/main" id="{673B60AB-AF28-47FD-85DD-9AF2D741FDF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4EAF642-16F5-4176-8D36-0DEE8E7C8469}"/>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3913092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5ECF933E-56C1-4BB9-A139-4FC0312EE554}"/>
              </a:ext>
            </a:extLst>
          </p:cNvPr>
          <p:cNvSpPr>
            <a:spLocks noGrp="1"/>
          </p:cNvSpPr>
          <p:nvPr>
            <p:ph type="dt" sz="half" idx="10"/>
          </p:nvPr>
        </p:nvSpPr>
        <p:spPr/>
        <p:txBody>
          <a:bodyPr/>
          <a:lstStyle/>
          <a:p>
            <a:fld id="{1CC88289-2318-4539-90D4-8EF1268D0640}" type="datetime1">
              <a:rPr lang="ru-RU" smtClean="0"/>
              <a:t>15.01.2025</a:t>
            </a:fld>
            <a:endParaRPr lang="ru-RU"/>
          </a:p>
        </p:txBody>
      </p:sp>
      <p:sp>
        <p:nvSpPr>
          <p:cNvPr id="3" name="Нижний колонтитул 2">
            <a:extLst>
              <a:ext uri="{FF2B5EF4-FFF2-40B4-BE49-F238E27FC236}">
                <a16:creationId xmlns:a16="http://schemas.microsoft.com/office/drawing/2014/main" id="{96794C7A-A318-491A-8C83-A86038BA089D}"/>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AB944AD-8D1E-4CE6-9E57-91D03BF27711}"/>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2324681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187F99-88A6-411C-A13D-1A4BB2D6EE7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2351C1B-70CE-4706-8579-25FD1C0312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FC303162-C163-47FA-9DFF-C108A61A5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5A7F969-4A3F-469C-B220-783D4CB204A0}"/>
              </a:ext>
            </a:extLst>
          </p:cNvPr>
          <p:cNvSpPr>
            <a:spLocks noGrp="1"/>
          </p:cNvSpPr>
          <p:nvPr>
            <p:ph type="dt" sz="half" idx="10"/>
          </p:nvPr>
        </p:nvSpPr>
        <p:spPr/>
        <p:txBody>
          <a:bodyPr/>
          <a:lstStyle/>
          <a:p>
            <a:fld id="{B346A000-6614-4C16-B8C8-193F0575E685}" type="datetime1">
              <a:rPr lang="ru-RU" smtClean="0"/>
              <a:t>15.01.2025</a:t>
            </a:fld>
            <a:endParaRPr lang="ru-RU"/>
          </a:p>
        </p:txBody>
      </p:sp>
      <p:sp>
        <p:nvSpPr>
          <p:cNvPr id="6" name="Нижний колонтитул 5">
            <a:extLst>
              <a:ext uri="{FF2B5EF4-FFF2-40B4-BE49-F238E27FC236}">
                <a16:creationId xmlns:a16="http://schemas.microsoft.com/office/drawing/2014/main" id="{5A65F71D-ACB9-40ED-B427-D463631103C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4E2BDB8-FC99-493D-8C4D-AFB6CACDEAA3}"/>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398177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DBD8BA-CB64-44CB-BB2C-D962F274535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6835B018-DD96-4E80-9890-B5F1ECFC54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80EDF16-191D-449E-B540-CE1A3DCE1F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4691E5B-F25D-44F6-9241-1810DB8646CC}"/>
              </a:ext>
            </a:extLst>
          </p:cNvPr>
          <p:cNvSpPr>
            <a:spLocks noGrp="1"/>
          </p:cNvSpPr>
          <p:nvPr>
            <p:ph type="dt" sz="half" idx="10"/>
          </p:nvPr>
        </p:nvSpPr>
        <p:spPr/>
        <p:txBody>
          <a:bodyPr/>
          <a:lstStyle/>
          <a:p>
            <a:fld id="{C9411386-4A2B-4B29-8298-B8F12BBD9684}" type="datetime1">
              <a:rPr lang="ru-RU" smtClean="0"/>
              <a:t>15.01.2025</a:t>
            </a:fld>
            <a:endParaRPr lang="ru-RU"/>
          </a:p>
        </p:txBody>
      </p:sp>
      <p:sp>
        <p:nvSpPr>
          <p:cNvPr id="6" name="Нижний колонтитул 5">
            <a:extLst>
              <a:ext uri="{FF2B5EF4-FFF2-40B4-BE49-F238E27FC236}">
                <a16:creationId xmlns:a16="http://schemas.microsoft.com/office/drawing/2014/main" id="{A4EE3002-D40B-48BA-AE76-6628256847F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19182E6-C2E5-4E53-BDF0-C83D75E9AD80}"/>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418429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0B3F48-B0BC-4B5A-96F1-46071FFC795A}"/>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A1CCE5C-60E5-471E-8D30-45520BC7CDCC}"/>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70E0765-A21A-4822-B3ED-6494843870EA}"/>
              </a:ext>
            </a:extLst>
          </p:cNvPr>
          <p:cNvSpPr>
            <a:spLocks noGrp="1"/>
          </p:cNvSpPr>
          <p:nvPr>
            <p:ph type="dt" sz="half" idx="10"/>
          </p:nvPr>
        </p:nvSpPr>
        <p:spPr/>
        <p:txBody>
          <a:bodyPr/>
          <a:lstStyle/>
          <a:p>
            <a:fld id="{06F98398-14F3-482E-85A7-0C1E80153195}" type="datetime1">
              <a:rPr lang="ru-RU" smtClean="0"/>
              <a:t>15.01.2025</a:t>
            </a:fld>
            <a:endParaRPr lang="ru-RU"/>
          </a:p>
        </p:txBody>
      </p:sp>
      <p:sp>
        <p:nvSpPr>
          <p:cNvPr id="5" name="Нижний колонтитул 4">
            <a:extLst>
              <a:ext uri="{FF2B5EF4-FFF2-40B4-BE49-F238E27FC236}">
                <a16:creationId xmlns:a16="http://schemas.microsoft.com/office/drawing/2014/main" id="{D233E56D-1A70-43CE-BF04-6083F58E490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0048A30-FD31-494F-8C8E-31C1AF523A29}"/>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2218611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D3D4531F-B1F9-4543-937D-32067E506216}"/>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51F9567D-DDDE-4989-8349-5C81E58AEF93}"/>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18A11C5-9E0C-400E-AC47-178943C4E22F}"/>
              </a:ext>
            </a:extLst>
          </p:cNvPr>
          <p:cNvSpPr>
            <a:spLocks noGrp="1"/>
          </p:cNvSpPr>
          <p:nvPr>
            <p:ph type="dt" sz="half" idx="10"/>
          </p:nvPr>
        </p:nvSpPr>
        <p:spPr/>
        <p:txBody>
          <a:bodyPr/>
          <a:lstStyle/>
          <a:p>
            <a:fld id="{A0E883F0-9BFE-4638-B231-ADAB5FABD8BB}" type="datetime1">
              <a:rPr lang="ru-RU" smtClean="0"/>
              <a:t>15.01.2025</a:t>
            </a:fld>
            <a:endParaRPr lang="ru-RU"/>
          </a:p>
        </p:txBody>
      </p:sp>
      <p:sp>
        <p:nvSpPr>
          <p:cNvPr id="5" name="Нижний колонтитул 4">
            <a:extLst>
              <a:ext uri="{FF2B5EF4-FFF2-40B4-BE49-F238E27FC236}">
                <a16:creationId xmlns:a16="http://schemas.microsoft.com/office/drawing/2014/main" id="{53B0AF03-42D2-494B-A529-BBBAA323533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0A809FF-F24C-474B-99CF-3982552C6899}"/>
              </a:ext>
            </a:extLst>
          </p:cNvPr>
          <p:cNvSpPr>
            <a:spLocks noGrp="1"/>
          </p:cNvSpPr>
          <p:nvPr>
            <p:ph type="sldNum" sz="quarter" idx="12"/>
          </p:nvPr>
        </p:nvSpPr>
        <p:spPr/>
        <p:txBody>
          <a:bodyPr/>
          <a:lstStyle/>
          <a:p>
            <a:fld id="{9AEAAB3A-B7C9-45EB-AFB0-A159B937AE97}" type="slidenum">
              <a:rPr lang="ru-RU" smtClean="0"/>
              <a:t>‹#›</a:t>
            </a:fld>
            <a:endParaRPr lang="ru-RU"/>
          </a:p>
        </p:txBody>
      </p:sp>
    </p:spTree>
    <p:extLst>
      <p:ext uri="{BB962C8B-B14F-4D97-AF65-F5344CB8AC3E}">
        <p14:creationId xmlns:p14="http://schemas.microsoft.com/office/powerpoint/2010/main" val="1602808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3CBAC8-24F3-46C4-879D-C82D13953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8E34C3DE-50B9-428E-8B32-1692F218D0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2165B94-C708-4AFC-A051-117C53600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678A3D-7306-4C52-9009-805C1CAD17F3}" type="datetime1">
              <a:rPr lang="ru-RU" smtClean="0"/>
              <a:t>15.01.2025</a:t>
            </a:fld>
            <a:endParaRPr lang="ru-RU"/>
          </a:p>
        </p:txBody>
      </p:sp>
      <p:sp>
        <p:nvSpPr>
          <p:cNvPr id="5" name="Нижний колонтитул 4">
            <a:extLst>
              <a:ext uri="{FF2B5EF4-FFF2-40B4-BE49-F238E27FC236}">
                <a16:creationId xmlns:a16="http://schemas.microsoft.com/office/drawing/2014/main" id="{9A80AB4D-E8C8-46EC-8849-79497F35E1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D1923EDF-D988-487A-9B13-F2A5D8390E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EAAB3A-B7C9-45EB-AFB0-A159B937AE97}" type="slidenum">
              <a:rPr lang="ru-RU" smtClean="0"/>
              <a:t>‹#›</a:t>
            </a:fld>
            <a:endParaRPr lang="ru-RU"/>
          </a:p>
        </p:txBody>
      </p:sp>
    </p:spTree>
    <p:extLst>
      <p:ext uri="{BB962C8B-B14F-4D97-AF65-F5344CB8AC3E}">
        <p14:creationId xmlns:p14="http://schemas.microsoft.com/office/powerpoint/2010/main" val="36817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president.uz/ru/lists/view/7564"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1076;&#1086;&#1084;.&#1088;&#1092;/media/news/dom-rf-predstavil-vozmozhnosti-eksporta-stroitelnoy-ekspertizy-v-uzbekistan/?utm_source=in_materials" TargetMode="External"/><Relationship Id="rId4" Type="http://schemas.openxmlformats.org/officeDocument/2006/relationships/hyperlink" Target="https://www.spot.uz/"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forbes.ru/finansy/496552-moment-lehman-brothers-pocemu-kitajskij-sektor-nedvizimosti-okazalsa-v-krizise" TargetMode="External"/><Relationship Id="rId3" Type="http://schemas.openxmlformats.org/officeDocument/2006/relationships/hyperlink" Target="https://www.bloomberg.com/news/articles/2023-09-04/debt-crisis-threatens-to-engulf-china-s-surviving-developers" TargetMode="External"/><Relationship Id="rId7" Type="http://schemas.openxmlformats.org/officeDocument/2006/relationships/hyperlink" Target="https://tengrinews.kz/world_news/ryinok-nedvijimosti-kitaya-neset-rekordnyie-ubyitki-eto-534916/"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hedgepointglobal.com/blog/chinas-real-estate-crisis-impacts-and-measures/" TargetMode="External"/><Relationship Id="rId5" Type="http://schemas.openxmlformats.org/officeDocument/2006/relationships/hyperlink" Target="https://en.wikipedia.org/wiki/Chinese_property_sector_crisis_(2020%E2%80%93present)#:~:text=The%20Chinese%20property%20sector%20crisis,on%20these%20companies'%20debt%20limits" TargetMode="External"/><Relationship Id="rId4" Type="http://schemas.openxmlformats.org/officeDocument/2006/relationships/hyperlink" Target="https://ru.wikipedia.org/wiki/%D0%9A%D1%80%D0%B8%D0%B7%D0%B8%D1%81_%D0%BB%D0%B8%D0%BA%D0%B2%D0%B8%D0%B4%D0%BD%D0%BE%D1%81%D1%82%D0%B8_Evergrande" TargetMode="External"/><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hyperlink" Target="https://www.fitchratings.com/research/corporate-finance/china-property-watch-july-2022-regulators-to-strengthen-oversight-of-escrow-accounts-after-mortgage-payment-boycott-25-07-202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www.gov.cn/zhengce/zhengceku/2022-11/14/content_5726954.htm" TargetMode="External"/><Relationship Id="rId4" Type="http://schemas.openxmlformats.org/officeDocument/2006/relationships/hyperlink" Target="https://realty.economictimes.indiatimes.com/news/industry/china-drafts-rules-to-ease-property-developers-use-of-escrow-funds-sources/88998709"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rocketmortgage.com/learn/escrow-fees" TargetMode="External"/><Relationship Id="rId7"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ru.tradingeconomics.com/united-states/case-shiller-home-price-index" TargetMode="Externa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hyperlink" Target="https://www.cbr.ru/banking_sector/registers/?CF.Search=697&amp;CF.Date.Time=Any&amp;CF.Date.DateFrom=&amp;CF.Date.DateTo"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government.ru/" TargetMode="External"/><Relationship Id="rId4" Type="http://schemas.openxmlformats.org/officeDocument/2006/relationships/hyperlink" Target="https://www.cbr.ru/banking_sector/equity_const_financing/"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fingeniy.com/scheta-eskrou-zastrojshhika-v-dolevom-stroitelstve-214-fz/" TargetMode="Externa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rosstat.gov.ru/statistics/price" TargetMode="External"/><Relationship Id="rId2" Type="http://schemas.openxmlformats.org/officeDocument/2006/relationships/chart" Target="../charts/chart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hyperlink" Target="https://&#1076;&#1086;&#1084;.&#1088;&#1092;/"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mos.cian.ru/stati-kak-lgotnaja-ipoteka-povlijala-na-pervichnyj-rynok-v-gorodah-millionnikah-335793/?ysclid=m5vx482q1t502275135"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hyperlink" Target="https://&#1076;&#1086;&#1084;.&#1088;&#1092;/"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DDDAF8F3-2BEE-4A19-A029-E8F87F2CA066}"/>
              </a:ext>
            </a:extLst>
          </p:cNvPr>
          <p:cNvSpPr txBox="1"/>
          <p:nvPr/>
        </p:nvSpPr>
        <p:spPr>
          <a:xfrm rot="2295367">
            <a:off x="1261670" y="5802444"/>
            <a:ext cx="871764" cy="246221"/>
          </a:xfrm>
          <a:prstGeom prst="rect">
            <a:avLst/>
          </a:prstGeom>
          <a:noFill/>
        </p:spPr>
        <p:txBody>
          <a:bodyPr wrap="square" rtlCol="0">
            <a:spAutoFit/>
          </a:bodyPr>
          <a:lstStyle/>
          <a:p>
            <a:r>
              <a:rPr lang="ru-RU" sz="1000" dirty="0">
                <a:latin typeface="Inter" panose="02000503000000020004" pitchFamily="2" charset="0"/>
                <a:ea typeface="Inter" panose="02000503000000020004" pitchFamily="2" charset="0"/>
              </a:rPr>
              <a:t>получение</a:t>
            </a:r>
          </a:p>
        </p:txBody>
      </p:sp>
      <p:sp>
        <p:nvSpPr>
          <p:cNvPr id="2" name="Заголовок 1">
            <a:extLst>
              <a:ext uri="{FF2B5EF4-FFF2-40B4-BE49-F238E27FC236}">
                <a16:creationId xmlns:a16="http://schemas.microsoft.com/office/drawing/2014/main" id="{E45F559A-BA82-0CD7-38C5-350D5241AB3D}"/>
              </a:ext>
            </a:extLst>
          </p:cNvPr>
          <p:cNvSpPr>
            <a:spLocks noGrp="1"/>
          </p:cNvSpPr>
          <p:nvPr>
            <p:ph type="title"/>
          </p:nvPr>
        </p:nvSpPr>
        <p:spPr>
          <a:xfrm>
            <a:off x="213794" y="47486"/>
            <a:ext cx="10554726" cy="733917"/>
          </a:xfrm>
        </p:spPr>
        <p:txBody>
          <a:bodyPr>
            <a:normAutofit/>
          </a:bodyPr>
          <a:lstStyle/>
          <a:p>
            <a:r>
              <a:rPr lang="ru-RU" sz="2400" b="1" dirty="0">
                <a:latin typeface="Inter" panose="02000503000000020004" pitchFamily="2" charset="0"/>
                <a:ea typeface="Inter" panose="02000503000000020004" pitchFamily="2" charset="0"/>
              </a:rPr>
              <a:t>ОПРЕДЕЛЕНИЕ ЭСКРОУ-СЧЕТА</a:t>
            </a:r>
            <a:endParaRPr lang="ru-KZ" sz="2400" b="1" dirty="0">
              <a:latin typeface="Inter" panose="02000503000000020004" pitchFamily="2" charset="0"/>
              <a:ea typeface="Inter" panose="02000503000000020004" pitchFamily="2" charset="0"/>
            </a:endParaRPr>
          </a:p>
        </p:txBody>
      </p:sp>
      <p:sp>
        <p:nvSpPr>
          <p:cNvPr id="48" name="Номер слайда 47">
            <a:extLst>
              <a:ext uri="{FF2B5EF4-FFF2-40B4-BE49-F238E27FC236}">
                <a16:creationId xmlns:a16="http://schemas.microsoft.com/office/drawing/2014/main" id="{72399180-F44D-B6EE-876F-FA669B178A70}"/>
              </a:ext>
            </a:extLst>
          </p:cNvPr>
          <p:cNvSpPr>
            <a:spLocks noGrp="1"/>
          </p:cNvSpPr>
          <p:nvPr>
            <p:ph type="sldNum" sz="quarter" idx="12"/>
          </p:nvPr>
        </p:nvSpPr>
        <p:spPr>
          <a:xfrm>
            <a:off x="9077325" y="6292921"/>
            <a:ext cx="2743200" cy="365125"/>
          </a:xfrm>
        </p:spPr>
        <p:txBody>
          <a:bodyPr/>
          <a:lstStyle/>
          <a:p>
            <a:fld id="{F4DE39DC-9C9B-4F1F-B15D-32FB0D0068D7}" type="slidenum">
              <a:rPr lang="ru-KZ" smtClean="0"/>
              <a:t>1</a:t>
            </a:fld>
            <a:endParaRPr lang="ru-KZ" dirty="0"/>
          </a:p>
        </p:txBody>
      </p:sp>
      <p:sp>
        <p:nvSpPr>
          <p:cNvPr id="3" name="TextBox 2">
            <a:extLst>
              <a:ext uri="{FF2B5EF4-FFF2-40B4-BE49-F238E27FC236}">
                <a16:creationId xmlns:a16="http://schemas.microsoft.com/office/drawing/2014/main" id="{B91989D3-67E2-427E-ACE2-19B2F773A368}"/>
              </a:ext>
            </a:extLst>
          </p:cNvPr>
          <p:cNvSpPr txBox="1"/>
          <p:nvPr/>
        </p:nvSpPr>
        <p:spPr>
          <a:xfrm>
            <a:off x="324521" y="841977"/>
            <a:ext cx="11265057" cy="1661993"/>
          </a:xfrm>
          <a:prstGeom prst="rect">
            <a:avLst/>
          </a:prstGeom>
          <a:noFill/>
        </p:spPr>
        <p:txBody>
          <a:bodyPr wrap="square" rtlCol="0">
            <a:spAutoFit/>
          </a:bodyPr>
          <a:lstStyle/>
          <a:p>
            <a:pPr algn="just"/>
            <a:r>
              <a:rPr lang="ru-RU" b="1" i="1" dirty="0">
                <a:solidFill>
                  <a:srgbClr val="FFC209"/>
                </a:solidFill>
                <a:latin typeface="Inter" panose="02000503000000020004" pitchFamily="2" charset="0"/>
                <a:ea typeface="Inter" panose="02000503000000020004" pitchFamily="2" charset="0"/>
              </a:rPr>
              <a:t>Эскроу-счет </a:t>
            </a:r>
            <a:r>
              <a:rPr lang="ru-RU" sz="1600" dirty="0">
                <a:latin typeface="Inter" panose="02000503000000020004" pitchFamily="2" charset="0"/>
                <a:ea typeface="Inter" panose="02000503000000020004" pitchFamily="2" charset="0"/>
              </a:rPr>
              <a:t>— это специальный банковский счет, предназначенный для проведения расчётов между покупателем квартиры в строящемся доме и застройщиком. Покупатель вносит средства на этот счёт, и они блокируются до определённого момента. Застройщик получает доступ к деньгам только после того, как дом будет введён в эксплуатацию в соответствии с установленными сроками, указанными в проектной декларации.</a:t>
            </a:r>
          </a:p>
          <a:p>
            <a:pPr algn="just"/>
            <a:endParaRPr lang="ru-RU" sz="2000" dirty="0">
              <a:latin typeface="Inter" panose="02000503000000020004" pitchFamily="2" charset="0"/>
              <a:ea typeface="Inter" panose="02000503000000020004" pitchFamily="2" charset="0"/>
              <a:cs typeface="Arial" panose="020B0604020202020204" pitchFamily="34" charset="0"/>
            </a:endParaRPr>
          </a:p>
        </p:txBody>
      </p:sp>
      <p:grpSp>
        <p:nvGrpSpPr>
          <p:cNvPr id="34" name="Группа 33">
            <a:extLst>
              <a:ext uri="{FF2B5EF4-FFF2-40B4-BE49-F238E27FC236}">
                <a16:creationId xmlns:a16="http://schemas.microsoft.com/office/drawing/2014/main" id="{96B3375D-621F-4327-983F-14EB0254EAC1}"/>
              </a:ext>
            </a:extLst>
          </p:cNvPr>
          <p:cNvGrpSpPr/>
          <p:nvPr/>
        </p:nvGrpSpPr>
        <p:grpSpPr>
          <a:xfrm>
            <a:off x="615253" y="3770720"/>
            <a:ext cx="4540264" cy="2749748"/>
            <a:chOff x="3430101" y="3402935"/>
            <a:chExt cx="4540264" cy="2749748"/>
          </a:xfrm>
        </p:grpSpPr>
        <p:pic>
          <p:nvPicPr>
            <p:cNvPr id="6" name="Рисунок 5" descr="Банк">
              <a:extLst>
                <a:ext uri="{FF2B5EF4-FFF2-40B4-BE49-F238E27FC236}">
                  <a16:creationId xmlns:a16="http://schemas.microsoft.com/office/drawing/2014/main" id="{2879AF1A-D45A-40A9-8843-DC502237E3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06513" y="3402935"/>
              <a:ext cx="914400" cy="914400"/>
            </a:xfrm>
            <a:prstGeom prst="rect">
              <a:avLst/>
            </a:prstGeom>
          </p:spPr>
        </p:pic>
        <p:pic>
          <p:nvPicPr>
            <p:cNvPr id="16" name="Рисунок 15" descr="Город">
              <a:extLst>
                <a:ext uri="{FF2B5EF4-FFF2-40B4-BE49-F238E27FC236}">
                  <a16:creationId xmlns:a16="http://schemas.microsoft.com/office/drawing/2014/main" id="{E19AEAC9-E141-4479-AFD2-2C2DC27C92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43146" y="5238283"/>
              <a:ext cx="914400" cy="914400"/>
            </a:xfrm>
            <a:prstGeom prst="rect">
              <a:avLst/>
            </a:prstGeom>
          </p:spPr>
        </p:pic>
        <p:pic>
          <p:nvPicPr>
            <p:cNvPr id="18" name="Рисунок 17" descr="Подъемный кран">
              <a:extLst>
                <a:ext uri="{FF2B5EF4-FFF2-40B4-BE49-F238E27FC236}">
                  <a16:creationId xmlns:a16="http://schemas.microsoft.com/office/drawing/2014/main" id="{BEAC5556-3F00-4687-A6C6-21910CF415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48854" y="4174414"/>
              <a:ext cx="914400" cy="914400"/>
            </a:xfrm>
            <a:prstGeom prst="rect">
              <a:avLst/>
            </a:prstGeom>
          </p:spPr>
        </p:pic>
        <p:pic>
          <p:nvPicPr>
            <p:cNvPr id="20" name="Рисунок 19" descr="Пользователь">
              <a:extLst>
                <a:ext uri="{FF2B5EF4-FFF2-40B4-BE49-F238E27FC236}">
                  <a16:creationId xmlns:a16="http://schemas.microsoft.com/office/drawing/2014/main" id="{716E5A32-E9DC-4A62-9457-9A918480548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30101" y="4174414"/>
              <a:ext cx="914400" cy="914400"/>
            </a:xfrm>
            <a:prstGeom prst="rect">
              <a:avLst/>
            </a:prstGeom>
          </p:spPr>
        </p:pic>
        <p:sp>
          <p:nvSpPr>
            <p:cNvPr id="28" name="TextBox 27">
              <a:extLst>
                <a:ext uri="{FF2B5EF4-FFF2-40B4-BE49-F238E27FC236}">
                  <a16:creationId xmlns:a16="http://schemas.microsoft.com/office/drawing/2014/main" id="{9FF8F7D7-CED9-4BD8-B3F9-E43593C2A947}"/>
                </a:ext>
              </a:extLst>
            </p:cNvPr>
            <p:cNvSpPr txBox="1"/>
            <p:nvPr/>
          </p:nvSpPr>
          <p:spPr>
            <a:xfrm rot="19784163">
              <a:off x="4128562" y="3783487"/>
              <a:ext cx="1155247" cy="246221"/>
            </a:xfrm>
            <a:prstGeom prst="rect">
              <a:avLst/>
            </a:prstGeom>
            <a:noFill/>
          </p:spPr>
          <p:txBody>
            <a:bodyPr wrap="square" rtlCol="0">
              <a:spAutoFit/>
            </a:bodyPr>
            <a:lstStyle/>
            <a:p>
              <a:r>
                <a:rPr lang="ru-RU" sz="1000" dirty="0" err="1">
                  <a:latin typeface="Inter" panose="02000503000000020004" pitchFamily="2" charset="0"/>
                  <a:ea typeface="Inter" panose="02000503000000020004" pitchFamily="2" charset="0"/>
                </a:rPr>
                <a:t>ден.средства</a:t>
              </a:r>
              <a:endParaRPr lang="ru-RU" sz="1000" dirty="0">
                <a:latin typeface="Inter" panose="02000503000000020004" pitchFamily="2" charset="0"/>
                <a:ea typeface="Inter" panose="02000503000000020004" pitchFamily="2" charset="0"/>
              </a:endParaRPr>
            </a:p>
          </p:txBody>
        </p:sp>
        <p:sp>
          <p:nvSpPr>
            <p:cNvPr id="31" name="TextBox 30">
              <a:extLst>
                <a:ext uri="{FF2B5EF4-FFF2-40B4-BE49-F238E27FC236}">
                  <a16:creationId xmlns:a16="http://schemas.microsoft.com/office/drawing/2014/main" id="{352B6196-12D5-4710-B6FA-64C9A056A796}"/>
                </a:ext>
              </a:extLst>
            </p:cNvPr>
            <p:cNvSpPr txBox="1"/>
            <p:nvPr/>
          </p:nvSpPr>
          <p:spPr>
            <a:xfrm rot="1805597">
              <a:off x="6053052" y="3880815"/>
              <a:ext cx="1917313" cy="400110"/>
            </a:xfrm>
            <a:prstGeom prst="rect">
              <a:avLst/>
            </a:prstGeom>
            <a:noFill/>
          </p:spPr>
          <p:txBody>
            <a:bodyPr wrap="square" rtlCol="0">
              <a:spAutoFit/>
            </a:bodyPr>
            <a:lstStyle/>
            <a:p>
              <a:r>
                <a:rPr lang="ru-RU" sz="1000" dirty="0">
                  <a:latin typeface="Inter" panose="02000503000000020004" pitchFamily="2" charset="0"/>
                  <a:ea typeface="Inter" panose="02000503000000020004" pitchFamily="2" charset="0"/>
                </a:rPr>
                <a:t>проектное финансирование</a:t>
              </a:r>
            </a:p>
          </p:txBody>
        </p:sp>
        <p:sp>
          <p:nvSpPr>
            <p:cNvPr id="32" name="TextBox 31">
              <a:extLst>
                <a:ext uri="{FF2B5EF4-FFF2-40B4-BE49-F238E27FC236}">
                  <a16:creationId xmlns:a16="http://schemas.microsoft.com/office/drawing/2014/main" id="{1FBEB778-856A-4B76-8FB9-CC3936480E0B}"/>
                </a:ext>
              </a:extLst>
            </p:cNvPr>
            <p:cNvSpPr txBox="1"/>
            <p:nvPr/>
          </p:nvSpPr>
          <p:spPr>
            <a:xfrm rot="19709716">
              <a:off x="6273630" y="5402749"/>
              <a:ext cx="1211318" cy="246221"/>
            </a:xfrm>
            <a:prstGeom prst="rect">
              <a:avLst/>
            </a:prstGeom>
            <a:noFill/>
          </p:spPr>
          <p:txBody>
            <a:bodyPr wrap="square" rtlCol="0">
              <a:spAutoFit/>
            </a:bodyPr>
            <a:lstStyle/>
            <a:p>
              <a:r>
                <a:rPr lang="ru-RU" sz="1000" dirty="0">
                  <a:latin typeface="Inter" panose="02000503000000020004" pitchFamily="2" charset="0"/>
                  <a:ea typeface="Inter" panose="02000503000000020004" pitchFamily="2" charset="0"/>
                </a:rPr>
                <a:t>сдача жилья</a:t>
              </a:r>
            </a:p>
          </p:txBody>
        </p:sp>
      </p:grpSp>
      <p:grpSp>
        <p:nvGrpSpPr>
          <p:cNvPr id="38" name="Группа 37">
            <a:extLst>
              <a:ext uri="{FF2B5EF4-FFF2-40B4-BE49-F238E27FC236}">
                <a16:creationId xmlns:a16="http://schemas.microsoft.com/office/drawing/2014/main" id="{157C3DF8-3FA3-4EAC-9B88-A3770CFD2BC3}"/>
              </a:ext>
            </a:extLst>
          </p:cNvPr>
          <p:cNvGrpSpPr/>
          <p:nvPr/>
        </p:nvGrpSpPr>
        <p:grpSpPr>
          <a:xfrm>
            <a:off x="726539" y="4225260"/>
            <a:ext cx="4561049" cy="2432786"/>
            <a:chOff x="3569510" y="3860135"/>
            <a:chExt cx="4561049" cy="2432786"/>
          </a:xfrm>
        </p:grpSpPr>
        <p:cxnSp>
          <p:nvCxnSpPr>
            <p:cNvPr id="22" name="Прямая со стрелкой 21">
              <a:extLst>
                <a:ext uri="{FF2B5EF4-FFF2-40B4-BE49-F238E27FC236}">
                  <a16:creationId xmlns:a16="http://schemas.microsoft.com/office/drawing/2014/main" id="{DAEAFC52-4141-4CDD-9A6F-6741337986AF}"/>
                </a:ext>
              </a:extLst>
            </p:cNvPr>
            <p:cNvCxnSpPr/>
            <p:nvPr/>
          </p:nvCxnSpPr>
          <p:spPr>
            <a:xfrm flipV="1">
              <a:off x="4457700" y="3860135"/>
              <a:ext cx="633046" cy="377757"/>
            </a:xfrm>
            <a:prstGeom prst="straightConnector1">
              <a:avLst/>
            </a:prstGeom>
            <a:ln w="28575">
              <a:solidFill>
                <a:srgbClr val="FFC20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DB8DA6AC-A657-4B47-93C2-D391AE97AA74}"/>
                </a:ext>
              </a:extLst>
            </p:cNvPr>
            <p:cNvCxnSpPr>
              <a:cxnSpLocks/>
            </p:cNvCxnSpPr>
            <p:nvPr/>
          </p:nvCxnSpPr>
          <p:spPr>
            <a:xfrm>
              <a:off x="6290529" y="3940576"/>
              <a:ext cx="676642" cy="376759"/>
            </a:xfrm>
            <a:prstGeom prst="straightConnector1">
              <a:avLst/>
            </a:prstGeom>
            <a:ln w="28575">
              <a:solidFill>
                <a:srgbClr val="FFC209"/>
              </a:solidFill>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a:extLst>
                <a:ext uri="{FF2B5EF4-FFF2-40B4-BE49-F238E27FC236}">
                  <a16:creationId xmlns:a16="http://schemas.microsoft.com/office/drawing/2014/main" id="{BA99EBED-5B73-495C-99A7-E648DC13FA9C}"/>
                </a:ext>
              </a:extLst>
            </p:cNvPr>
            <p:cNvCxnSpPr>
              <a:cxnSpLocks/>
            </p:cNvCxnSpPr>
            <p:nvPr/>
          </p:nvCxnSpPr>
          <p:spPr>
            <a:xfrm flipH="1">
              <a:off x="6332109" y="5307109"/>
              <a:ext cx="687266" cy="417103"/>
            </a:xfrm>
            <a:prstGeom prst="straightConnector1">
              <a:avLst/>
            </a:prstGeom>
            <a:ln w="28575">
              <a:solidFill>
                <a:srgbClr val="FFC209"/>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CC8336C-A557-4EDC-8811-F8F90953E687}"/>
                </a:ext>
              </a:extLst>
            </p:cNvPr>
            <p:cNvSpPr txBox="1"/>
            <p:nvPr/>
          </p:nvSpPr>
          <p:spPr>
            <a:xfrm>
              <a:off x="5417761" y="4163740"/>
              <a:ext cx="625492" cy="276999"/>
            </a:xfrm>
            <a:prstGeom prst="rect">
              <a:avLst/>
            </a:prstGeom>
            <a:noFill/>
          </p:spPr>
          <p:txBody>
            <a:bodyPr wrap="none" rtlCol="0">
              <a:spAutoFit/>
            </a:bodyPr>
            <a:lstStyle/>
            <a:p>
              <a:r>
                <a:rPr lang="ru-RU" sz="1200" b="1" dirty="0">
                  <a:latin typeface="Inter" panose="02000503000000020004" pitchFamily="2" charset="0"/>
                  <a:ea typeface="Inter" panose="02000503000000020004" pitchFamily="2" charset="0"/>
                </a:rPr>
                <a:t>БАНК</a:t>
              </a:r>
            </a:p>
          </p:txBody>
        </p:sp>
        <p:sp>
          <p:nvSpPr>
            <p:cNvPr id="35" name="TextBox 34">
              <a:extLst>
                <a:ext uri="{FF2B5EF4-FFF2-40B4-BE49-F238E27FC236}">
                  <a16:creationId xmlns:a16="http://schemas.microsoft.com/office/drawing/2014/main" id="{E0AF2BB3-255C-4EBB-9906-B85FEB1A230D}"/>
                </a:ext>
              </a:extLst>
            </p:cNvPr>
            <p:cNvSpPr txBox="1"/>
            <p:nvPr/>
          </p:nvSpPr>
          <p:spPr>
            <a:xfrm>
              <a:off x="3569510" y="4919567"/>
              <a:ext cx="832279" cy="276999"/>
            </a:xfrm>
            <a:prstGeom prst="rect">
              <a:avLst/>
            </a:prstGeom>
            <a:noFill/>
          </p:spPr>
          <p:txBody>
            <a:bodyPr wrap="none" rtlCol="0">
              <a:spAutoFit/>
            </a:bodyPr>
            <a:lstStyle/>
            <a:p>
              <a:r>
                <a:rPr lang="ru-RU" sz="1200" b="1" dirty="0">
                  <a:latin typeface="Inter" panose="02000503000000020004" pitchFamily="2" charset="0"/>
                  <a:ea typeface="Inter" panose="02000503000000020004" pitchFamily="2" charset="0"/>
                </a:rPr>
                <a:t>КЛИЕНТ</a:t>
              </a:r>
            </a:p>
          </p:txBody>
        </p:sp>
        <p:sp>
          <p:nvSpPr>
            <p:cNvPr id="36" name="TextBox 35">
              <a:extLst>
                <a:ext uri="{FF2B5EF4-FFF2-40B4-BE49-F238E27FC236}">
                  <a16:creationId xmlns:a16="http://schemas.microsoft.com/office/drawing/2014/main" id="{C3DF9FC9-5766-40DF-AB8C-3C810FED9CAC}"/>
                </a:ext>
              </a:extLst>
            </p:cNvPr>
            <p:cNvSpPr txBox="1"/>
            <p:nvPr/>
          </p:nvSpPr>
          <p:spPr>
            <a:xfrm>
              <a:off x="6791731" y="4974235"/>
              <a:ext cx="1338828" cy="276999"/>
            </a:xfrm>
            <a:prstGeom prst="rect">
              <a:avLst/>
            </a:prstGeom>
            <a:noFill/>
          </p:spPr>
          <p:txBody>
            <a:bodyPr wrap="none" rtlCol="0">
              <a:spAutoFit/>
            </a:bodyPr>
            <a:lstStyle/>
            <a:p>
              <a:r>
                <a:rPr lang="ru-RU" sz="1200" b="1" dirty="0">
                  <a:latin typeface="Inter" panose="02000503000000020004" pitchFamily="2" charset="0"/>
                  <a:ea typeface="Inter" panose="02000503000000020004" pitchFamily="2" charset="0"/>
                </a:rPr>
                <a:t>ЗАСТРОЙЩИК</a:t>
              </a:r>
            </a:p>
          </p:txBody>
        </p:sp>
        <p:sp>
          <p:nvSpPr>
            <p:cNvPr id="37" name="TextBox 36">
              <a:extLst>
                <a:ext uri="{FF2B5EF4-FFF2-40B4-BE49-F238E27FC236}">
                  <a16:creationId xmlns:a16="http://schemas.microsoft.com/office/drawing/2014/main" id="{223646F5-C65A-494E-8E9F-9DE77DECBB29}"/>
                </a:ext>
              </a:extLst>
            </p:cNvPr>
            <p:cNvSpPr txBox="1"/>
            <p:nvPr/>
          </p:nvSpPr>
          <p:spPr>
            <a:xfrm>
              <a:off x="5409570" y="6015922"/>
              <a:ext cx="776175" cy="276999"/>
            </a:xfrm>
            <a:prstGeom prst="rect">
              <a:avLst/>
            </a:prstGeom>
            <a:noFill/>
          </p:spPr>
          <p:txBody>
            <a:bodyPr wrap="none" rtlCol="0">
              <a:spAutoFit/>
            </a:bodyPr>
            <a:lstStyle/>
            <a:p>
              <a:r>
                <a:rPr lang="ru-RU" sz="1200" b="1" dirty="0">
                  <a:latin typeface="Inter" panose="02000503000000020004" pitchFamily="2" charset="0"/>
                  <a:ea typeface="Inter" panose="02000503000000020004" pitchFamily="2" charset="0"/>
                </a:rPr>
                <a:t>ЖИЛЬЕ</a:t>
              </a:r>
            </a:p>
          </p:txBody>
        </p:sp>
      </p:grpSp>
      <p:sp>
        <p:nvSpPr>
          <p:cNvPr id="42" name="Прямоугольник: скругленные углы 41">
            <a:extLst>
              <a:ext uri="{FF2B5EF4-FFF2-40B4-BE49-F238E27FC236}">
                <a16:creationId xmlns:a16="http://schemas.microsoft.com/office/drawing/2014/main" id="{F51FFBB5-A53D-4F7F-B7C2-03805E6D7C63}"/>
              </a:ext>
            </a:extLst>
          </p:cNvPr>
          <p:cNvSpPr/>
          <p:nvPr/>
        </p:nvSpPr>
        <p:spPr>
          <a:xfrm>
            <a:off x="986189" y="2469016"/>
            <a:ext cx="2661434" cy="9144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ru-RU" dirty="0">
                <a:latin typeface="Inter" panose="02000503000000020004" pitchFamily="2" charset="0"/>
                <a:ea typeface="Inter" panose="02000503000000020004" pitchFamily="2" charset="0"/>
              </a:rPr>
              <a:t>ЗАЩИТА</a:t>
            </a:r>
          </a:p>
        </p:txBody>
      </p:sp>
      <p:sp>
        <p:nvSpPr>
          <p:cNvPr id="44" name="Прямоугольник: скругленные углы 43">
            <a:extLst>
              <a:ext uri="{FF2B5EF4-FFF2-40B4-BE49-F238E27FC236}">
                <a16:creationId xmlns:a16="http://schemas.microsoft.com/office/drawing/2014/main" id="{E577C1EA-32C3-44A7-9214-076FE93B97C7}"/>
              </a:ext>
            </a:extLst>
          </p:cNvPr>
          <p:cNvSpPr/>
          <p:nvPr/>
        </p:nvSpPr>
        <p:spPr>
          <a:xfrm>
            <a:off x="4234646" y="2462749"/>
            <a:ext cx="2661434" cy="9144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ru-RU" dirty="0">
                <a:latin typeface="Inter" panose="02000503000000020004" pitchFamily="2" charset="0"/>
                <a:ea typeface="Inter" panose="02000503000000020004" pitchFamily="2" charset="0"/>
              </a:rPr>
              <a:t>ГАРАНТИЯ</a:t>
            </a:r>
          </a:p>
        </p:txBody>
      </p:sp>
      <p:sp>
        <p:nvSpPr>
          <p:cNvPr id="45" name="Прямоугольник: скругленные углы 44">
            <a:extLst>
              <a:ext uri="{FF2B5EF4-FFF2-40B4-BE49-F238E27FC236}">
                <a16:creationId xmlns:a16="http://schemas.microsoft.com/office/drawing/2014/main" id="{5C120C5B-3F0A-4160-965B-C9ADB4FE957C}"/>
              </a:ext>
            </a:extLst>
          </p:cNvPr>
          <p:cNvSpPr/>
          <p:nvPr/>
        </p:nvSpPr>
        <p:spPr>
          <a:xfrm>
            <a:off x="7415875" y="2460222"/>
            <a:ext cx="2661434" cy="9144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ru-RU" dirty="0">
                <a:latin typeface="Inter" panose="02000503000000020004" pitchFamily="2" charset="0"/>
                <a:ea typeface="Inter" panose="02000503000000020004" pitchFamily="2" charset="0"/>
              </a:rPr>
              <a:t>ПРОЗРАЧНОСТЬ</a:t>
            </a:r>
          </a:p>
        </p:txBody>
      </p:sp>
      <p:sp>
        <p:nvSpPr>
          <p:cNvPr id="4" name="Прямоугольник 3">
            <a:extLst>
              <a:ext uri="{FF2B5EF4-FFF2-40B4-BE49-F238E27FC236}">
                <a16:creationId xmlns:a16="http://schemas.microsoft.com/office/drawing/2014/main" id="{592DEDCD-4E33-49D7-AF42-9ED0A634EE1D}"/>
              </a:ext>
            </a:extLst>
          </p:cNvPr>
          <p:cNvSpPr/>
          <p:nvPr/>
        </p:nvSpPr>
        <p:spPr>
          <a:xfrm>
            <a:off x="5917886" y="3912419"/>
            <a:ext cx="6237124" cy="1908215"/>
          </a:xfrm>
          <a:prstGeom prst="rect">
            <a:avLst/>
          </a:prstGeom>
        </p:spPr>
        <p:txBody>
          <a:bodyPr wrap="square">
            <a:spAutoFit/>
          </a:bodyPr>
          <a:lstStyle/>
          <a:p>
            <a:r>
              <a:rPr lang="ru-RU" b="1" dirty="0">
                <a:solidFill>
                  <a:srgbClr val="FFC209"/>
                </a:solidFill>
                <a:latin typeface="Inter" panose="02000503000000020004" pitchFamily="2" charset="0"/>
                <a:ea typeface="Inter" panose="02000503000000020004" pitchFamily="2" charset="0"/>
              </a:rPr>
              <a:t>Механизм работы эскроу</a:t>
            </a:r>
            <a:r>
              <a:rPr lang="en-US" b="1" dirty="0">
                <a:solidFill>
                  <a:srgbClr val="FFC209"/>
                </a:solidFill>
                <a:latin typeface="Inter" panose="02000503000000020004" pitchFamily="2" charset="0"/>
                <a:ea typeface="Inter" panose="02000503000000020004" pitchFamily="2" charset="0"/>
              </a:rPr>
              <a:t>-</a:t>
            </a:r>
            <a:r>
              <a:rPr lang="ru-RU" b="1" dirty="0">
                <a:solidFill>
                  <a:srgbClr val="FFC209"/>
                </a:solidFill>
                <a:latin typeface="Inter" panose="02000503000000020004" pitchFamily="2" charset="0"/>
                <a:ea typeface="Inter" panose="02000503000000020004" pitchFamily="2" charset="0"/>
              </a:rPr>
              <a:t>счета</a:t>
            </a:r>
          </a:p>
          <a:p>
            <a:endParaRPr lang="ru-RU" sz="1000" b="1" dirty="0">
              <a:solidFill>
                <a:srgbClr val="FFC209"/>
              </a:solidFill>
              <a:latin typeface="Inter" panose="02000503000000020004" pitchFamily="2" charset="0"/>
              <a:ea typeface="Inter" panose="02000503000000020004" pitchFamily="2" charset="0"/>
            </a:endParaRPr>
          </a:p>
          <a:p>
            <a:r>
              <a:rPr lang="ru-RU" dirty="0">
                <a:latin typeface="Inter" panose="02000503000000020004" pitchFamily="2" charset="0"/>
                <a:ea typeface="Inter" panose="02000503000000020004" pitchFamily="2" charset="0"/>
              </a:rPr>
              <a:t>1. Открытие счета </a:t>
            </a:r>
          </a:p>
          <a:p>
            <a:r>
              <a:rPr lang="ru-RU" dirty="0">
                <a:latin typeface="Inter" panose="02000503000000020004" pitchFamily="2" charset="0"/>
                <a:ea typeface="Inter" panose="02000503000000020004" pitchFamily="2" charset="0"/>
              </a:rPr>
              <a:t>2. Проверка документов </a:t>
            </a:r>
          </a:p>
          <a:p>
            <a:r>
              <a:rPr lang="ru-RU" dirty="0">
                <a:latin typeface="Inter" panose="02000503000000020004" pitchFamily="2" charset="0"/>
                <a:ea typeface="Inter" panose="02000503000000020004" pitchFamily="2" charset="0"/>
              </a:rPr>
              <a:t>3. Внесение средств </a:t>
            </a:r>
          </a:p>
          <a:p>
            <a:r>
              <a:rPr lang="ru-RU" dirty="0">
                <a:latin typeface="Inter" panose="02000503000000020004" pitchFamily="2" charset="0"/>
                <a:ea typeface="Inter" panose="02000503000000020004" pitchFamily="2" charset="0"/>
              </a:rPr>
              <a:t>4. Агент контролирует исполнение условий сделки</a:t>
            </a:r>
          </a:p>
          <a:p>
            <a:r>
              <a:rPr lang="ru-RU" dirty="0">
                <a:latin typeface="Inter" panose="02000503000000020004" pitchFamily="2" charset="0"/>
                <a:ea typeface="Inter" panose="02000503000000020004" pitchFamily="2" charset="0"/>
              </a:rPr>
              <a:t>5. Закрытие сделки </a:t>
            </a:r>
            <a:endParaRPr lang="en-US" dirty="0">
              <a:latin typeface="Inter" panose="02000503000000020004" pitchFamily="2" charset="0"/>
              <a:ea typeface="Inter" panose="02000503000000020004" pitchFamily="2" charset="0"/>
            </a:endParaRPr>
          </a:p>
        </p:txBody>
      </p:sp>
      <p:cxnSp>
        <p:nvCxnSpPr>
          <p:cNvPr id="25" name="Прямая со стрелкой 24">
            <a:extLst>
              <a:ext uri="{FF2B5EF4-FFF2-40B4-BE49-F238E27FC236}">
                <a16:creationId xmlns:a16="http://schemas.microsoft.com/office/drawing/2014/main" id="{26C31FA0-55B0-4807-A0AD-6EF754907160}"/>
              </a:ext>
            </a:extLst>
          </p:cNvPr>
          <p:cNvCxnSpPr>
            <a:cxnSpLocks/>
          </p:cNvCxnSpPr>
          <p:nvPr/>
        </p:nvCxnSpPr>
        <p:spPr>
          <a:xfrm>
            <a:off x="1447292" y="5595892"/>
            <a:ext cx="653788" cy="518036"/>
          </a:xfrm>
          <a:prstGeom prst="straightConnector1">
            <a:avLst/>
          </a:prstGeom>
          <a:ln w="28575">
            <a:solidFill>
              <a:srgbClr val="FFC209"/>
            </a:solidFill>
            <a:tailEnd type="triangle"/>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0E133EFD-792F-4FB7-A9CE-4186A7EE9D4A}"/>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pic>
        <p:nvPicPr>
          <p:cNvPr id="30" name="Рисунок 29">
            <a:extLst>
              <a:ext uri="{FF2B5EF4-FFF2-40B4-BE49-F238E27FC236}">
                <a16:creationId xmlns:a16="http://schemas.microsoft.com/office/drawing/2014/main" id="{673568BC-B4E3-4391-BF65-378D73BB4C12}"/>
              </a:ext>
            </a:extLst>
          </p:cNvPr>
          <p:cNvPicPr>
            <a:picLocks noChangeAspect="1"/>
          </p:cNvPicPr>
          <p:nvPr/>
        </p:nvPicPr>
        <p:blipFill>
          <a:blip r:embed="rId10"/>
          <a:stretch>
            <a:fillRect/>
          </a:stretch>
        </p:blipFill>
        <p:spPr>
          <a:xfrm>
            <a:off x="11710034" y="9625"/>
            <a:ext cx="476250" cy="466725"/>
          </a:xfrm>
          <a:prstGeom prst="rect">
            <a:avLst/>
          </a:prstGeom>
        </p:spPr>
      </p:pic>
    </p:spTree>
    <p:extLst>
      <p:ext uri="{BB962C8B-B14F-4D97-AF65-F5344CB8AC3E}">
        <p14:creationId xmlns:p14="http://schemas.microsoft.com/office/powerpoint/2010/main" val="2004668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a:extLst>
              <a:ext uri="{FF2B5EF4-FFF2-40B4-BE49-F238E27FC236}">
                <a16:creationId xmlns:a16="http://schemas.microsoft.com/office/drawing/2014/main" id="{11546E04-5AE8-4EEC-9830-8A5DECC9D333}"/>
              </a:ext>
            </a:extLst>
          </p:cNvPr>
          <p:cNvGraphicFramePr/>
          <p:nvPr>
            <p:extLst>
              <p:ext uri="{D42A27DB-BD31-4B8C-83A1-F6EECF244321}">
                <p14:modId xmlns:p14="http://schemas.microsoft.com/office/powerpoint/2010/main" val="554421078"/>
              </p:ext>
            </p:extLst>
          </p:nvPr>
        </p:nvGraphicFramePr>
        <p:xfrm>
          <a:off x="108286" y="1052754"/>
          <a:ext cx="11576649" cy="4982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Заголовок 1">
            <a:extLst>
              <a:ext uri="{FF2B5EF4-FFF2-40B4-BE49-F238E27FC236}">
                <a16:creationId xmlns:a16="http://schemas.microsoft.com/office/drawing/2014/main" id="{61893B2E-F91D-47F8-B789-8D8874B72BE1}"/>
              </a:ext>
            </a:extLst>
          </p:cNvPr>
          <p:cNvSpPr txBox="1">
            <a:spLocks/>
          </p:cNvSpPr>
          <p:nvPr/>
        </p:nvSpPr>
        <p:spPr>
          <a:xfrm>
            <a:off x="213793" y="64009"/>
            <a:ext cx="11035051" cy="733917"/>
          </a:xfrm>
          <a:prstGeom prst="rect">
            <a:avLst/>
          </a:prstGeom>
        </p:spPr>
        <p:txBody>
          <a:bodyPr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ВЛИЯНИЕ </a:t>
            </a:r>
            <a:r>
              <a:rPr lang="ru-RU" sz="2400" b="1" dirty="0">
                <a:solidFill>
                  <a:srgbClr val="FFC209"/>
                </a:solidFill>
                <a:latin typeface="Inter" panose="02000503000000020004" pitchFamily="2" charset="0"/>
                <a:ea typeface="Inter" panose="02000503000000020004" pitchFamily="2" charset="0"/>
              </a:rPr>
              <a:t>ЭСКРОУ-СЧЕТОВ</a:t>
            </a:r>
            <a:r>
              <a:rPr lang="ru-RU" sz="2400" b="1" dirty="0">
                <a:latin typeface="Inter" panose="02000503000000020004" pitchFamily="2" charset="0"/>
                <a:ea typeface="Inter" panose="02000503000000020004" pitchFamily="2" charset="0"/>
              </a:rPr>
              <a:t> НА РЫНОК НЕДВИЖИМОСТИ</a:t>
            </a:r>
            <a:endParaRPr lang="ru-KZ" sz="2400" b="1" dirty="0">
              <a:latin typeface="Inter" panose="02000503000000020004" pitchFamily="2" charset="0"/>
              <a:ea typeface="Inter" panose="02000503000000020004" pitchFamily="2" charset="0"/>
            </a:endParaRPr>
          </a:p>
        </p:txBody>
      </p:sp>
      <p:cxnSp>
        <p:nvCxnSpPr>
          <p:cNvPr id="5" name="Прямая соединительная линия 4">
            <a:extLst>
              <a:ext uri="{FF2B5EF4-FFF2-40B4-BE49-F238E27FC236}">
                <a16:creationId xmlns:a16="http://schemas.microsoft.com/office/drawing/2014/main" id="{A31042D5-D997-41BF-BB58-5E727ECF5AB4}"/>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4" name="Номер слайда 3">
            <a:extLst>
              <a:ext uri="{FF2B5EF4-FFF2-40B4-BE49-F238E27FC236}">
                <a16:creationId xmlns:a16="http://schemas.microsoft.com/office/drawing/2014/main" id="{BFAC072F-347E-4371-AEE5-7BEB858A0020}"/>
              </a:ext>
            </a:extLst>
          </p:cNvPr>
          <p:cNvSpPr>
            <a:spLocks noGrp="1"/>
          </p:cNvSpPr>
          <p:nvPr>
            <p:ph type="sldNum" sz="quarter" idx="12"/>
          </p:nvPr>
        </p:nvSpPr>
        <p:spPr/>
        <p:txBody>
          <a:bodyPr/>
          <a:lstStyle/>
          <a:p>
            <a:fld id="{9AEAAB3A-B7C9-45EB-AFB0-A159B937AE97}" type="slidenum">
              <a:rPr lang="ru-RU" smtClean="0"/>
              <a:t>2</a:t>
            </a:fld>
            <a:endParaRPr lang="ru-RU"/>
          </a:p>
        </p:txBody>
      </p:sp>
      <p:pic>
        <p:nvPicPr>
          <p:cNvPr id="6" name="Рисунок 5">
            <a:extLst>
              <a:ext uri="{FF2B5EF4-FFF2-40B4-BE49-F238E27FC236}">
                <a16:creationId xmlns:a16="http://schemas.microsoft.com/office/drawing/2014/main" id="{877375E8-92DE-4AED-A5E0-792A58F7F029}"/>
              </a:ext>
            </a:extLst>
          </p:cNvPr>
          <p:cNvPicPr>
            <a:picLocks noChangeAspect="1"/>
          </p:cNvPicPr>
          <p:nvPr/>
        </p:nvPicPr>
        <p:blipFill>
          <a:blip r:embed="rId7"/>
          <a:stretch>
            <a:fillRect/>
          </a:stretch>
        </p:blipFill>
        <p:spPr>
          <a:xfrm>
            <a:off x="11710034" y="9625"/>
            <a:ext cx="476250" cy="466725"/>
          </a:xfrm>
          <a:prstGeom prst="rect">
            <a:avLst/>
          </a:prstGeom>
        </p:spPr>
      </p:pic>
    </p:spTree>
    <p:extLst>
      <p:ext uri="{BB962C8B-B14F-4D97-AF65-F5344CB8AC3E}">
        <p14:creationId xmlns:p14="http://schemas.microsoft.com/office/powerpoint/2010/main" val="1833024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Номер слайда 47">
            <a:extLst>
              <a:ext uri="{FF2B5EF4-FFF2-40B4-BE49-F238E27FC236}">
                <a16:creationId xmlns:a16="http://schemas.microsoft.com/office/drawing/2014/main" id="{72399180-F44D-B6EE-876F-FA669B178A70}"/>
              </a:ext>
            </a:extLst>
          </p:cNvPr>
          <p:cNvSpPr>
            <a:spLocks noGrp="1"/>
          </p:cNvSpPr>
          <p:nvPr>
            <p:ph type="sldNum" sz="quarter" idx="12"/>
          </p:nvPr>
        </p:nvSpPr>
        <p:spPr>
          <a:xfrm>
            <a:off x="9077325" y="6292921"/>
            <a:ext cx="2743200" cy="365125"/>
          </a:xfrm>
        </p:spPr>
        <p:txBody>
          <a:bodyPr/>
          <a:lstStyle/>
          <a:p>
            <a:fld id="{F4DE39DC-9C9B-4F1F-B15D-32FB0D0068D7}" type="slidenum">
              <a:rPr lang="ru-KZ" smtClean="0"/>
              <a:t>3</a:t>
            </a:fld>
            <a:endParaRPr lang="ru-KZ" dirty="0"/>
          </a:p>
        </p:txBody>
      </p:sp>
      <p:sp>
        <p:nvSpPr>
          <p:cNvPr id="39" name="TextBox 38">
            <a:extLst>
              <a:ext uri="{FF2B5EF4-FFF2-40B4-BE49-F238E27FC236}">
                <a16:creationId xmlns:a16="http://schemas.microsoft.com/office/drawing/2014/main" id="{D3EDCDCF-1A20-4CB6-8D38-D10B3ABFB18A}"/>
              </a:ext>
            </a:extLst>
          </p:cNvPr>
          <p:cNvSpPr txBox="1"/>
          <p:nvPr/>
        </p:nvSpPr>
        <p:spPr>
          <a:xfrm flipH="1">
            <a:off x="213794" y="990143"/>
            <a:ext cx="11643051" cy="4185761"/>
          </a:xfrm>
          <a:prstGeom prst="rect">
            <a:avLst/>
          </a:prstGeom>
          <a:noFill/>
        </p:spPr>
        <p:txBody>
          <a:bodyPr wrap="square" rtlCol="0">
            <a:spAutoFit/>
          </a:bodyPr>
          <a:lstStyle/>
          <a:p>
            <a:pPr marL="285750" indent="-285750" algn="just">
              <a:buFont typeface="Arial" panose="020B0604020202020204" pitchFamily="34" charset="0"/>
              <a:buChar char="•"/>
            </a:pPr>
            <a:r>
              <a:rPr lang="ru-RU" sz="1400" b="1" dirty="0">
                <a:latin typeface="Inter" panose="02000503000000020004" pitchFamily="2" charset="0"/>
                <a:ea typeface="Inter" panose="02000503000000020004" pitchFamily="2" charset="0"/>
              </a:rPr>
              <a:t>В сентябре 2024 года </a:t>
            </a:r>
            <a:r>
              <a:rPr lang="ru-RU" sz="1400" b="1" u="sng" dirty="0">
                <a:latin typeface="Inter" panose="02000503000000020004" pitchFamily="2" charset="0"/>
                <a:ea typeface="Inter" panose="02000503000000020004" pitchFamily="2" charset="0"/>
              </a:rPr>
              <a:t>Президент Узбекистана поручил</a:t>
            </a:r>
            <a:r>
              <a:rPr lang="ru-RU" sz="1400" b="1" dirty="0">
                <a:latin typeface="Inter" panose="02000503000000020004" pitchFamily="2" charset="0"/>
                <a:ea typeface="Inter" panose="02000503000000020004" pitchFamily="2" charset="0"/>
              </a:rPr>
              <a:t> разработать систему, гарантирующую защиту средств населения при покупке жилья. </a:t>
            </a:r>
            <a:r>
              <a:rPr lang="ru-RU" sz="1400" dirty="0">
                <a:latin typeface="Inter" panose="02000503000000020004" pitchFamily="2" charset="0"/>
                <a:ea typeface="Inter" panose="02000503000000020004" pitchFamily="2" charset="0"/>
              </a:rPr>
              <a:t>В этой связи, </a:t>
            </a:r>
            <a:r>
              <a:rPr lang="ru-RU" sz="1400" b="1" dirty="0">
                <a:latin typeface="Inter" panose="02000503000000020004" pitchFamily="2" charset="0"/>
                <a:ea typeface="Inter" panose="02000503000000020004" pitchFamily="2" charset="0"/>
              </a:rPr>
              <a:t>в тестовом режиме планируется ввести </a:t>
            </a:r>
            <a:r>
              <a:rPr lang="ru-RU" sz="1400" b="1" dirty="0" err="1">
                <a:latin typeface="Inter" panose="02000503000000020004" pitchFamily="2" charset="0"/>
                <a:ea typeface="Inter" panose="02000503000000020004" pitchFamily="2" charset="0"/>
              </a:rPr>
              <a:t>эскроу</a:t>
            </a:r>
            <a:r>
              <a:rPr lang="ru-RU" sz="1400" b="1" dirty="0">
                <a:latin typeface="Inter" panose="02000503000000020004" pitchFamily="2" charset="0"/>
                <a:ea typeface="Inter" panose="02000503000000020004" pitchFamily="2" charset="0"/>
              </a:rPr>
              <a:t>-счета в Самарканде,  </a:t>
            </a:r>
            <a:r>
              <a:rPr lang="ru-RU" sz="1400" b="1" dirty="0" err="1">
                <a:latin typeface="Inter" panose="02000503000000020004" pitchFamily="2" charset="0"/>
                <a:ea typeface="Inter" panose="02000503000000020004" pitchFamily="2" charset="0"/>
              </a:rPr>
              <a:t>Янгихаётском</a:t>
            </a:r>
            <a:r>
              <a:rPr lang="ru-RU" sz="1400" b="1" dirty="0">
                <a:latin typeface="Inter" panose="02000503000000020004" pitchFamily="2" charset="0"/>
                <a:ea typeface="Inter" panose="02000503000000020004" pitchFamily="2" charset="0"/>
              </a:rPr>
              <a:t> и </a:t>
            </a:r>
            <a:r>
              <a:rPr lang="ru-RU" sz="1400" b="1" dirty="0" err="1">
                <a:latin typeface="Inter" panose="02000503000000020004" pitchFamily="2" charset="0"/>
                <a:ea typeface="Inter" panose="02000503000000020004" pitchFamily="2" charset="0"/>
              </a:rPr>
              <a:t>Сергелийском</a:t>
            </a:r>
            <a:r>
              <a:rPr lang="ru-RU" sz="1400" b="1" dirty="0">
                <a:latin typeface="Inter" panose="02000503000000020004" pitchFamily="2" charset="0"/>
                <a:ea typeface="Inter" panose="02000503000000020004" pitchFamily="2" charset="0"/>
              </a:rPr>
              <a:t> районах Ташкента.</a:t>
            </a:r>
          </a:p>
          <a:p>
            <a:pPr marL="285750" indent="-285750" algn="just">
              <a:buFont typeface="Arial" panose="020B0604020202020204" pitchFamily="34" charset="0"/>
              <a:buChar char="•"/>
            </a:pPr>
            <a:endParaRPr lang="ru-RU" sz="1400" b="1" dirty="0">
              <a:latin typeface="Inter" panose="02000503000000020004" pitchFamily="2" charset="0"/>
              <a:ea typeface="Inter" panose="02000503000000020004" pitchFamily="2" charset="0"/>
            </a:endParaRPr>
          </a:p>
          <a:p>
            <a:pPr marL="285750" indent="-285750" algn="just">
              <a:buFont typeface="Arial" panose="020B0604020202020204" pitchFamily="34" charset="0"/>
              <a:buChar char="•"/>
            </a:pPr>
            <a:r>
              <a:rPr lang="ru-RU" sz="1400" b="1" dirty="0">
                <a:latin typeface="Inter" panose="02000503000000020004" pitchFamily="2" charset="0"/>
                <a:ea typeface="Inter" panose="02000503000000020004" pitchFamily="2" charset="0"/>
              </a:rPr>
              <a:t>В декабре 2024г. </a:t>
            </a:r>
            <a:r>
              <a:rPr lang="ru-RU" sz="1400" b="1" u="sng" dirty="0">
                <a:latin typeface="Inter" panose="02000503000000020004" pitchFamily="2" charset="0"/>
                <a:ea typeface="Inter" panose="02000503000000020004" pitchFamily="2" charset="0"/>
              </a:rPr>
              <a:t>Президентом поручено разработать </a:t>
            </a:r>
            <a:r>
              <a:rPr lang="ru-RU" sz="1400" b="1" dirty="0">
                <a:latin typeface="Inter" panose="02000503000000020004" pitchFamily="2" charset="0"/>
                <a:ea typeface="Inter" panose="02000503000000020004" pitchFamily="2" charset="0"/>
              </a:rPr>
              <a:t>правовую базу </a:t>
            </a:r>
            <a:r>
              <a:rPr lang="ru-RU" sz="1400" b="1" dirty="0" err="1">
                <a:latin typeface="Inter" panose="02000503000000020004" pitchFamily="2" charset="0"/>
                <a:ea typeface="Inter" panose="02000503000000020004" pitchFamily="2" charset="0"/>
              </a:rPr>
              <a:t>эскроу</a:t>
            </a:r>
            <a:r>
              <a:rPr lang="ru-RU" sz="1400" b="1" dirty="0">
                <a:latin typeface="Inter" panose="02000503000000020004" pitchFamily="2" charset="0"/>
                <a:ea typeface="Inter" panose="02000503000000020004" pitchFamily="2" charset="0"/>
              </a:rPr>
              <a:t>-счетов.</a:t>
            </a:r>
          </a:p>
          <a:p>
            <a:pPr marL="285750" indent="-285750" algn="just">
              <a:buFont typeface="Arial" panose="020B0604020202020204" pitchFamily="34" charset="0"/>
              <a:buChar char="•"/>
            </a:pPr>
            <a:endParaRPr lang="ru-RU" sz="1400" b="1" dirty="0">
              <a:latin typeface="Inter" panose="02000503000000020004" pitchFamily="2" charset="0"/>
              <a:ea typeface="Inter" panose="02000503000000020004" pitchFamily="2" charset="0"/>
            </a:endParaRPr>
          </a:p>
          <a:p>
            <a:pPr marL="285750" indent="-285750" algn="just">
              <a:buFont typeface="Arial" panose="020B0604020202020204" pitchFamily="34" charset="0"/>
              <a:buChar char="•"/>
            </a:pPr>
            <a:r>
              <a:rPr lang="ru-RU" sz="1400" dirty="0">
                <a:latin typeface="Inter" panose="02000503000000020004" pitchFamily="2" charset="0"/>
                <a:ea typeface="Inter" panose="02000503000000020004" pitchFamily="2" charset="0"/>
              </a:rPr>
              <a:t>Все операции планируется проводить через </a:t>
            </a:r>
            <a:r>
              <a:rPr lang="ru-RU" sz="1400" b="1" dirty="0">
                <a:latin typeface="Inter" panose="02000503000000020004" pitchFamily="2" charset="0"/>
                <a:ea typeface="Inter" panose="02000503000000020004" pitchFamily="2" charset="0"/>
              </a:rPr>
              <a:t>систему Минстроя «Прозрачное строительство», </a:t>
            </a:r>
            <a:r>
              <a:rPr lang="ru-RU" sz="1400" dirty="0">
                <a:latin typeface="Inter" panose="02000503000000020004" pitchFamily="2" charset="0"/>
                <a:ea typeface="Inter" panose="02000503000000020004" pitchFamily="2" charset="0"/>
              </a:rPr>
              <a:t>где будет собрана вся информация от строительной инспекции, Управления архитектуры и градостроительства, Республиканского центра экспертизы градостроительной документации и Агентства по кадастру.</a:t>
            </a:r>
            <a:endParaRPr lang="en-US" sz="1400" dirty="0">
              <a:latin typeface="Inter" panose="02000503000000020004" pitchFamily="2" charset="0"/>
              <a:ea typeface="Inter" panose="02000503000000020004" pitchFamily="2" charset="0"/>
            </a:endParaRPr>
          </a:p>
          <a:p>
            <a:pPr marL="285750" indent="-285750" algn="just">
              <a:buFont typeface="Arial" panose="020B0604020202020204" pitchFamily="34" charset="0"/>
              <a:buChar char="•"/>
            </a:pPr>
            <a:endParaRPr lang="ru-RU" sz="1400" dirty="0">
              <a:latin typeface="Inter" panose="02000503000000020004" pitchFamily="2" charset="0"/>
              <a:ea typeface="Inter" panose="02000503000000020004" pitchFamily="2" charset="0"/>
            </a:endParaRPr>
          </a:p>
          <a:p>
            <a:pPr marL="285750" indent="-285750" algn="just">
              <a:buFont typeface="Arial" panose="020B0604020202020204" pitchFamily="34" charset="0"/>
              <a:buChar char="•"/>
            </a:pPr>
            <a:r>
              <a:rPr lang="ru-RU" sz="1400" dirty="0">
                <a:latin typeface="Inter" panose="02000503000000020004" pitchFamily="2" charset="0"/>
                <a:ea typeface="Inter" panose="02000503000000020004" pitchFamily="2" charset="0"/>
              </a:rPr>
              <a:t>Предполагается открытие счета для клиента бесплатно, для застройщика комиссия 0,7-1% от договорной суммы.</a:t>
            </a:r>
            <a:endParaRPr lang="en-US" sz="1400" dirty="0">
              <a:latin typeface="Inter" panose="02000503000000020004" pitchFamily="2" charset="0"/>
              <a:ea typeface="Inter" panose="02000503000000020004" pitchFamily="2" charset="0"/>
            </a:endParaRPr>
          </a:p>
          <a:p>
            <a:pPr marL="285750" indent="-285750" algn="just">
              <a:buFont typeface="Arial" panose="020B0604020202020204" pitchFamily="34" charset="0"/>
              <a:buChar char="•"/>
            </a:pPr>
            <a:endParaRPr lang="ru-RU" sz="1400" dirty="0">
              <a:latin typeface="Inter" panose="02000503000000020004" pitchFamily="2" charset="0"/>
              <a:ea typeface="Inter" panose="02000503000000020004" pitchFamily="2" charset="0"/>
            </a:endParaRPr>
          </a:p>
          <a:p>
            <a:pPr marL="285750" indent="-285750" algn="just">
              <a:buFont typeface="Arial" panose="020B0604020202020204" pitchFamily="34" charset="0"/>
              <a:buChar char="•"/>
            </a:pPr>
            <a:r>
              <a:rPr lang="ru-RU" sz="1400" dirty="0">
                <a:latin typeface="Inter" panose="02000503000000020004" pitchFamily="2" charset="0"/>
                <a:ea typeface="Inter" panose="02000503000000020004" pitchFamily="2" charset="0"/>
              </a:rPr>
              <a:t>Для каждого строительного объекта будет открыт </a:t>
            </a:r>
            <a:r>
              <a:rPr lang="ru-RU" sz="1400" dirty="0" err="1">
                <a:latin typeface="Inter" panose="02000503000000020004" pitchFamily="2" charset="0"/>
                <a:ea typeface="Inter" panose="02000503000000020004" pitchFamily="2" charset="0"/>
              </a:rPr>
              <a:t>эскроу</a:t>
            </a:r>
            <a:r>
              <a:rPr lang="ru-RU" sz="1400" dirty="0">
                <a:latin typeface="Inter" panose="02000503000000020004" pitchFamily="2" charset="0"/>
                <a:ea typeface="Inter" panose="02000503000000020004" pitchFamily="2" charset="0"/>
              </a:rPr>
              <a:t>-счет в коммерческом банке на основании договора между заказчиком и банком. Из аккумулированных на счету средств коммерческие банки смогут предоставлять заказчику кредиты по пониженной ставке. После завершения строительства средства с </a:t>
            </a:r>
            <a:r>
              <a:rPr lang="ru-RU" sz="1400" dirty="0" err="1">
                <a:latin typeface="Inter" panose="02000503000000020004" pitchFamily="2" charset="0"/>
                <a:ea typeface="Inter" panose="02000503000000020004" pitchFamily="2" charset="0"/>
              </a:rPr>
              <a:t>эскроу</a:t>
            </a:r>
            <a:r>
              <a:rPr lang="ru-RU" sz="1400" dirty="0">
                <a:latin typeface="Inter" panose="02000503000000020004" pitchFamily="2" charset="0"/>
                <a:ea typeface="Inter" panose="02000503000000020004" pitchFamily="2" charset="0"/>
              </a:rPr>
              <a:t>-счета покупателя переводятся на счет застройщика. Если для строительства объекта выделяется кредит и </a:t>
            </a:r>
            <a:r>
              <a:rPr lang="ru-RU" sz="1400" i="1" dirty="0">
                <a:latin typeface="Inter" panose="02000503000000020004" pitchFamily="2" charset="0"/>
                <a:ea typeface="Inter" panose="02000503000000020004" pitchFamily="2" charset="0"/>
              </a:rPr>
              <a:t>застройщик не завершает строительство,</a:t>
            </a:r>
            <a:r>
              <a:rPr lang="ru-RU" sz="1400" dirty="0">
                <a:latin typeface="Inter" panose="02000503000000020004" pitchFamily="2" charset="0"/>
                <a:ea typeface="Inter" panose="02000503000000020004" pitchFamily="2" charset="0"/>
              </a:rPr>
              <a:t> то он </a:t>
            </a:r>
            <a:r>
              <a:rPr lang="ru-RU" sz="1400" i="1" dirty="0">
                <a:latin typeface="Inter" panose="02000503000000020004" pitchFamily="2" charset="0"/>
                <a:ea typeface="Inter" panose="02000503000000020004" pitchFamily="2" charset="0"/>
              </a:rPr>
              <a:t>переходит на баланс банка, который завершит работы</a:t>
            </a:r>
            <a:r>
              <a:rPr lang="ru-RU" sz="1400" dirty="0">
                <a:latin typeface="Inter" panose="02000503000000020004" pitchFamily="2" charset="0"/>
                <a:ea typeface="Inter" panose="02000503000000020004" pitchFamily="2" charset="0"/>
              </a:rPr>
              <a:t>. Дополнительно планируется внедрить систему, позволяющую </a:t>
            </a:r>
            <a:r>
              <a:rPr lang="ru-RU" sz="1400" b="1" dirty="0">
                <a:latin typeface="Inter" panose="02000503000000020004" pitchFamily="2" charset="0"/>
                <a:ea typeface="Inter" panose="02000503000000020004" pitchFamily="2" charset="0"/>
              </a:rPr>
              <a:t>продавать активы </a:t>
            </a:r>
            <a:r>
              <a:rPr lang="ru-RU" sz="1400" dirty="0">
                <a:latin typeface="Inter" panose="02000503000000020004" pitchFamily="2" charset="0"/>
                <a:ea typeface="Inter" panose="02000503000000020004" pitchFamily="2" charset="0"/>
              </a:rPr>
              <a:t>через </a:t>
            </a:r>
            <a:r>
              <a:rPr lang="ru-RU" sz="1400" dirty="0" err="1">
                <a:latin typeface="Inter" panose="02000503000000020004" pitchFamily="2" charset="0"/>
                <a:ea typeface="Inter" panose="02000503000000020004" pitchFamily="2" charset="0"/>
              </a:rPr>
              <a:t>эскроу</a:t>
            </a:r>
            <a:r>
              <a:rPr lang="ru-RU" sz="1400" dirty="0">
                <a:latin typeface="Inter" panose="02000503000000020004" pitchFamily="2" charset="0"/>
                <a:ea typeface="Inter" panose="02000503000000020004" pitchFamily="2" charset="0"/>
              </a:rPr>
              <a:t>-счета, если покупатель изменит планы по покупке жилья.</a:t>
            </a:r>
            <a:endParaRPr lang="en-US" sz="1400" dirty="0">
              <a:latin typeface="Inter" panose="02000503000000020004" pitchFamily="2" charset="0"/>
              <a:ea typeface="Inter" panose="02000503000000020004" pitchFamily="2" charset="0"/>
            </a:endParaRPr>
          </a:p>
          <a:p>
            <a:pPr algn="just"/>
            <a:endParaRPr lang="ru-RU" sz="1400" dirty="0">
              <a:latin typeface="Inter" panose="02000503000000020004" pitchFamily="2" charset="0"/>
              <a:ea typeface="Inter" panose="02000503000000020004" pitchFamily="2" charset="0"/>
            </a:endParaRPr>
          </a:p>
        </p:txBody>
      </p:sp>
      <p:sp>
        <p:nvSpPr>
          <p:cNvPr id="9" name="Заголовок 1">
            <a:extLst>
              <a:ext uri="{FF2B5EF4-FFF2-40B4-BE49-F238E27FC236}">
                <a16:creationId xmlns:a16="http://schemas.microsoft.com/office/drawing/2014/main" id="{938A2DF7-0355-4A5F-AC8B-6B284EC41536}"/>
              </a:ext>
            </a:extLst>
          </p:cNvPr>
          <p:cNvSpPr txBox="1">
            <a:spLocks/>
          </p:cNvSpPr>
          <p:nvPr/>
        </p:nvSpPr>
        <p:spPr>
          <a:xfrm>
            <a:off x="213794" y="65737"/>
            <a:ext cx="11496240" cy="733917"/>
          </a:xfrm>
          <a:prstGeom prst="rect">
            <a:avLst/>
          </a:prstGeom>
          <a:ln>
            <a:noFill/>
          </a:ln>
        </p:spPr>
        <p:txBody>
          <a:bodyPr anchor="ctr" anchorCtr="0">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МЕЖДУНАРОДНЫЙ ОПЫТ </a:t>
            </a:r>
            <a:r>
              <a:rPr lang="ru-RU" sz="2400" b="1" dirty="0">
                <a:solidFill>
                  <a:srgbClr val="FFC209"/>
                </a:solidFill>
                <a:latin typeface="Inter" panose="02000503000000020004" pitchFamily="2" charset="0"/>
                <a:ea typeface="Inter" panose="02000503000000020004" pitchFamily="2" charset="0"/>
              </a:rPr>
              <a:t>УЗБЕКИСТАНА</a:t>
            </a:r>
            <a:r>
              <a:rPr lang="ru-RU" sz="2400" b="1" dirty="0">
                <a:latin typeface="Inter" panose="02000503000000020004" pitchFamily="2" charset="0"/>
                <a:ea typeface="Inter" panose="02000503000000020004" pitchFamily="2" charset="0"/>
              </a:rPr>
              <a:t>: РАЗРАБАТЫВАЕТСЯ ПРАВОВАЯ БАЗА ЭСКРОУ-СЧЕТОВ</a:t>
            </a:r>
            <a:endParaRPr lang="ru-KZ" sz="2400" b="1" dirty="0">
              <a:latin typeface="Inter" panose="02000503000000020004" pitchFamily="2" charset="0"/>
              <a:ea typeface="Inter" panose="02000503000000020004" pitchFamily="2" charset="0"/>
            </a:endParaRPr>
          </a:p>
        </p:txBody>
      </p:sp>
      <p:cxnSp>
        <p:nvCxnSpPr>
          <p:cNvPr id="14" name="Прямая соединительная линия 13">
            <a:extLst>
              <a:ext uri="{FF2B5EF4-FFF2-40B4-BE49-F238E27FC236}">
                <a16:creationId xmlns:a16="http://schemas.microsoft.com/office/drawing/2014/main" id="{8CB6EC36-0CEC-4B30-9B7C-CAE324FE8846}"/>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977598E-1E69-4D75-9227-77FD53D5B04B}"/>
              </a:ext>
            </a:extLst>
          </p:cNvPr>
          <p:cNvSpPr txBox="1"/>
          <p:nvPr/>
        </p:nvSpPr>
        <p:spPr>
          <a:xfrm>
            <a:off x="190805" y="6622986"/>
            <a:ext cx="8109912" cy="338554"/>
          </a:xfrm>
          <a:prstGeom prst="rect">
            <a:avLst/>
          </a:prstGeom>
          <a:noFill/>
        </p:spPr>
        <p:txBody>
          <a:bodyPr wrap="none" rtlCol="0">
            <a:spAutoFit/>
          </a:bodyPr>
          <a:lstStyle/>
          <a:p>
            <a:r>
              <a:rPr lang="ru-RU" sz="800" dirty="0"/>
              <a:t>Источник: </a:t>
            </a:r>
            <a:r>
              <a:rPr lang="en-US" sz="800" dirty="0">
                <a:hlinkClick r:id="rId3"/>
              </a:rPr>
              <a:t>https://president.uz/</a:t>
            </a:r>
            <a:r>
              <a:rPr lang="ru-RU" sz="800" dirty="0"/>
              <a:t>, </a:t>
            </a:r>
            <a:r>
              <a:rPr lang="en-US" sz="800" dirty="0">
                <a:hlinkClick r:id="rId4"/>
              </a:rPr>
              <a:t>https://www.spot.uz/</a:t>
            </a:r>
            <a:r>
              <a:rPr lang="ru-RU" sz="800" dirty="0"/>
              <a:t> </a:t>
            </a:r>
            <a:r>
              <a:rPr lang="ru-RU" sz="800" dirty="0">
                <a:hlinkClick r:id="rId5"/>
              </a:rPr>
              <a:t>ДОМ.РФ представил возможности экспорта строительной экспертизы в Узбекистан | Новости ДОМ.РФ</a:t>
            </a:r>
            <a:endParaRPr lang="ru-RU" sz="800" dirty="0"/>
          </a:p>
          <a:p>
            <a:endParaRPr lang="en-US" sz="800" dirty="0"/>
          </a:p>
        </p:txBody>
      </p:sp>
      <p:pic>
        <p:nvPicPr>
          <p:cNvPr id="8" name="Рисунок 7">
            <a:extLst>
              <a:ext uri="{FF2B5EF4-FFF2-40B4-BE49-F238E27FC236}">
                <a16:creationId xmlns:a16="http://schemas.microsoft.com/office/drawing/2014/main" id="{06F99BC1-5647-4975-8F31-2431275771C8}"/>
              </a:ext>
            </a:extLst>
          </p:cNvPr>
          <p:cNvPicPr>
            <a:picLocks noChangeAspect="1"/>
          </p:cNvPicPr>
          <p:nvPr/>
        </p:nvPicPr>
        <p:blipFill>
          <a:blip r:embed="rId6"/>
          <a:stretch>
            <a:fillRect/>
          </a:stretch>
        </p:blipFill>
        <p:spPr>
          <a:xfrm>
            <a:off x="11710034" y="9625"/>
            <a:ext cx="476250" cy="466725"/>
          </a:xfrm>
          <a:prstGeom prst="rect">
            <a:avLst/>
          </a:prstGeom>
        </p:spPr>
      </p:pic>
    </p:spTree>
    <p:extLst>
      <p:ext uri="{BB962C8B-B14F-4D97-AF65-F5344CB8AC3E}">
        <p14:creationId xmlns:p14="http://schemas.microsoft.com/office/powerpoint/2010/main" val="253638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998C2CA0-3FCC-43A2-A1AC-789FC822C74E}"/>
              </a:ext>
            </a:extLst>
          </p:cNvPr>
          <p:cNvSpPr txBox="1">
            <a:spLocks/>
          </p:cNvSpPr>
          <p:nvPr/>
        </p:nvSpPr>
        <p:spPr>
          <a:xfrm>
            <a:off x="213793" y="65737"/>
            <a:ext cx="11606729" cy="733917"/>
          </a:xfrm>
          <a:prstGeom prst="rect">
            <a:avLst/>
          </a:prstGeom>
        </p:spPr>
        <p:txBody>
          <a:bodyPr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МЕЖДУНАРОДНЫЙ ОПЫТ </a:t>
            </a:r>
            <a:r>
              <a:rPr lang="ru-RU" sz="2400" b="1" dirty="0">
                <a:solidFill>
                  <a:srgbClr val="FFC209"/>
                </a:solidFill>
                <a:latin typeface="Inter" panose="02000503000000020004" pitchFamily="2" charset="0"/>
                <a:ea typeface="Inter" panose="02000503000000020004" pitchFamily="2" charset="0"/>
              </a:rPr>
              <a:t>КИТАЯ</a:t>
            </a:r>
            <a:r>
              <a:rPr lang="ru-RU" sz="2400" b="1" dirty="0">
                <a:latin typeface="Inter" panose="02000503000000020004" pitchFamily="2" charset="0"/>
                <a:ea typeface="Inter" panose="02000503000000020004" pitchFamily="2" charset="0"/>
              </a:rPr>
              <a:t>: КРИЗИС РЫНКА НЕДВИЖИМОСТИ</a:t>
            </a:r>
            <a:endParaRPr lang="ru-KZ" sz="2400" b="1" dirty="0">
              <a:latin typeface="Inter" panose="02000503000000020004" pitchFamily="2" charset="0"/>
              <a:ea typeface="Inter" panose="02000503000000020004" pitchFamily="2" charset="0"/>
            </a:endParaRPr>
          </a:p>
        </p:txBody>
      </p:sp>
      <p:cxnSp>
        <p:nvCxnSpPr>
          <p:cNvPr id="5" name="Прямая соединительная линия 4">
            <a:extLst>
              <a:ext uri="{FF2B5EF4-FFF2-40B4-BE49-F238E27FC236}">
                <a16:creationId xmlns:a16="http://schemas.microsoft.com/office/drawing/2014/main" id="{13D01250-0079-4688-8BF2-040AA9F0AC7C}"/>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26" name="Прямоугольник 25">
            <a:extLst>
              <a:ext uri="{FF2B5EF4-FFF2-40B4-BE49-F238E27FC236}">
                <a16:creationId xmlns:a16="http://schemas.microsoft.com/office/drawing/2014/main" id="{E028E44E-E14D-4A5B-876F-187D85BF6D3B}"/>
              </a:ext>
            </a:extLst>
          </p:cNvPr>
          <p:cNvSpPr/>
          <p:nvPr/>
        </p:nvSpPr>
        <p:spPr>
          <a:xfrm>
            <a:off x="213790" y="1493493"/>
            <a:ext cx="11606729" cy="4978286"/>
          </a:xfrm>
          <a:prstGeom prst="rect">
            <a:avLst/>
          </a:prstGeom>
        </p:spPr>
        <p:txBody>
          <a:bodyPr wrap="square">
            <a:spAutoFit/>
          </a:bodyPr>
          <a:lstStyle/>
          <a:p>
            <a:r>
              <a:rPr lang="ru-RU" sz="1400" b="1" dirty="0">
                <a:solidFill>
                  <a:srgbClr val="FFC209"/>
                </a:solidFill>
                <a:cs typeface="Arial" panose="020B0604020202020204" pitchFamily="34" charset="0"/>
              </a:rPr>
              <a:t>Причины строительного кризиса в Китае (2020 – по наст. время):</a:t>
            </a:r>
          </a:p>
          <a:p>
            <a:pPr marL="342900" indent="-342900">
              <a:spcBef>
                <a:spcPts val="600"/>
              </a:spcBef>
              <a:buFont typeface="+mj-lt"/>
              <a:buAutoNum type="arabicPeriod"/>
            </a:pPr>
            <a:r>
              <a:rPr lang="ru-RU" sz="1200" dirty="0">
                <a:cs typeface="Arial" panose="020B0604020202020204" pitchFamily="34" charset="0"/>
              </a:rPr>
              <a:t>Китайский кризис на рынке недвижимости начался в основном из-за денежно-кредитной политики – низкие ставки для стимулирования жилищного строительства по всей стране привели к росту долгов у компаний. Долг для финансирования строительства за 10 лет вырос с 675 млн долл. до 65 млрд долл. </a:t>
            </a:r>
          </a:p>
          <a:p>
            <a:pPr marL="342900" indent="-342900">
              <a:spcBef>
                <a:spcPts val="600"/>
              </a:spcBef>
              <a:buFont typeface="+mj-lt"/>
              <a:buAutoNum type="arabicPeriod"/>
            </a:pPr>
            <a:r>
              <a:rPr lang="ru-RU" sz="1200" dirty="0">
                <a:cs typeface="Arial" panose="020B0604020202020204" pitchFamily="34" charset="0"/>
              </a:rPr>
              <a:t>В результате </a:t>
            </a:r>
            <a:r>
              <a:rPr lang="ru-RU" sz="1200" b="1" dirty="0">
                <a:cs typeface="Arial" panose="020B0604020202020204" pitchFamily="34" charset="0"/>
              </a:rPr>
              <a:t>Правительство в 2020 году принимает решение ограничить кредитование застройщиков - введен комплекс ограничений под названием «Три красные линии» </a:t>
            </a:r>
            <a:r>
              <a:rPr lang="ru-RU" sz="1050" i="1" dirty="0">
                <a:cs typeface="Arial" panose="020B0604020202020204" pitchFamily="34" charset="0"/>
              </a:rPr>
              <a:t>(заемщик должен отвечать 3 требованиям к уровню задолженности: коэффициент «долг к активам» должен быть не менее 70%, «долг к капиталу» — не менее 100%, «денежные средства и их эквиваленты к краткосрочному долгу» —не менее 1.).  </a:t>
            </a:r>
            <a:r>
              <a:rPr lang="ru-RU" sz="1200" dirty="0">
                <a:cs typeface="Arial" panose="020B0604020202020204" pitchFamily="34" charset="0"/>
              </a:rPr>
              <a:t>Большая часть компаний не соответствовала как минимум одному из условий меры, которые начали действовать с 2021 года - застройщики лишились огромной доли прибыли, в результате появились первые просрочки по выплатам долга.</a:t>
            </a:r>
          </a:p>
          <a:p>
            <a:pPr marL="228600" indent="-228600">
              <a:spcBef>
                <a:spcPts val="600"/>
              </a:spcBef>
              <a:buFont typeface="+mj-lt"/>
              <a:buAutoNum type="arabicPeriod" startAt="3"/>
            </a:pPr>
            <a:r>
              <a:rPr lang="ru-RU" sz="1200" dirty="0">
                <a:cs typeface="Arial" panose="020B0604020202020204" pitchFamily="34" charset="0"/>
              </a:rPr>
              <a:t>В декабре 2021 года, на фоне падения продаж из-за пандемии и строгих мер регулятора, </a:t>
            </a:r>
            <a:r>
              <a:rPr lang="ru-RU" sz="1200" b="1" dirty="0" err="1">
                <a:cs typeface="Arial" panose="020B0604020202020204" pitchFamily="34" charset="0"/>
              </a:rPr>
              <a:t>China</a:t>
            </a:r>
            <a:r>
              <a:rPr lang="ru-RU" sz="1200" b="1" dirty="0">
                <a:cs typeface="Arial" panose="020B0604020202020204" pitchFamily="34" charset="0"/>
              </a:rPr>
              <a:t> </a:t>
            </a:r>
            <a:r>
              <a:rPr lang="ru-RU" sz="1200" b="1" dirty="0" err="1">
                <a:cs typeface="Arial" panose="020B0604020202020204" pitchFamily="34" charset="0"/>
              </a:rPr>
              <a:t>Evergrande</a:t>
            </a:r>
            <a:r>
              <a:rPr lang="ru-RU" sz="1200" b="1" dirty="0">
                <a:cs typeface="Arial" panose="020B0604020202020204" pitchFamily="34" charset="0"/>
              </a:rPr>
              <a:t> </a:t>
            </a:r>
            <a:r>
              <a:rPr lang="ru-RU" sz="1200" b="1" dirty="0" err="1">
                <a:cs typeface="Arial" panose="020B0604020202020204" pitchFamily="34" charset="0"/>
              </a:rPr>
              <a:t>Group</a:t>
            </a:r>
            <a:r>
              <a:rPr lang="ru-RU" sz="1200" b="1" dirty="0">
                <a:cs typeface="Arial" panose="020B0604020202020204" pitchFamily="34" charset="0"/>
              </a:rPr>
              <a:t> </a:t>
            </a:r>
            <a:r>
              <a:rPr lang="ru-RU" sz="1200" dirty="0">
                <a:cs typeface="Arial" panose="020B0604020202020204" pitchFamily="34" charset="0"/>
              </a:rPr>
              <a:t>– второй крупнейший девелопер страны, формально </a:t>
            </a:r>
            <a:r>
              <a:rPr lang="ru-RU" sz="1200" b="1" dirty="0">
                <a:cs typeface="Arial" panose="020B0604020202020204" pitchFamily="34" charset="0"/>
              </a:rPr>
              <a:t>оказался в состоянии дефолта, в августе 2023 года компания подала на банкротство в США </a:t>
            </a:r>
            <a:r>
              <a:rPr lang="ru-RU" sz="1200" dirty="0">
                <a:cs typeface="Arial" panose="020B0604020202020204" pitchFamily="34" charset="0"/>
              </a:rPr>
              <a:t>- обязательства компании оцениваются более чем в 300 млрд. долл.</a:t>
            </a:r>
          </a:p>
          <a:p>
            <a:pPr marL="228600" indent="-228600">
              <a:spcBef>
                <a:spcPts val="600"/>
              </a:spcBef>
              <a:buFont typeface="+mj-lt"/>
              <a:buAutoNum type="arabicPeriod" startAt="3"/>
            </a:pPr>
            <a:r>
              <a:rPr lang="ru-RU" sz="1200" dirty="0">
                <a:cs typeface="Arial" panose="020B0604020202020204" pitchFamily="34" charset="0"/>
              </a:rPr>
              <a:t>В 2022 году покупатели, которые приобрели дома по модели предоплаты, начали отказываться выплачивать ипотеку за недостроенные дома. В ответ на бойкот ипотеки Комиссия по регулированию банковской и страховой деятельности Китая (CBIRC) обратилась к банкам с просьбой увеличить кредитование застройщиков, чтобы помочь им завершить незавершенные жилищные проекты. В начале 2023 года Правительство начало смягчать свой подход к трем красным линиям. Несмотря на это, в августе 2023 года </a:t>
            </a:r>
            <a:r>
              <a:rPr lang="ru-RU" sz="1200" b="1" dirty="0">
                <a:cs typeface="Arial" panose="020B0604020202020204" pitchFamily="34" charset="0"/>
              </a:rPr>
              <a:t>компания </a:t>
            </a:r>
            <a:r>
              <a:rPr lang="ru-RU" sz="1200" b="1" dirty="0" err="1">
                <a:cs typeface="Arial" panose="020B0604020202020204" pitchFamily="34" charset="0"/>
              </a:rPr>
              <a:t>Country</a:t>
            </a:r>
            <a:r>
              <a:rPr lang="ru-RU" sz="1200" b="1" dirty="0">
                <a:cs typeface="Arial" panose="020B0604020202020204" pitchFamily="34" charset="0"/>
              </a:rPr>
              <a:t> </a:t>
            </a:r>
            <a:r>
              <a:rPr lang="ru-RU" sz="1200" b="1" dirty="0" err="1">
                <a:cs typeface="Arial" panose="020B0604020202020204" pitchFamily="34" charset="0"/>
              </a:rPr>
              <a:t>Garden</a:t>
            </a:r>
            <a:r>
              <a:rPr lang="ru-RU" sz="1200" b="1" dirty="0">
                <a:cs typeface="Arial" panose="020B0604020202020204" pitchFamily="34" charset="0"/>
              </a:rPr>
              <a:t> </a:t>
            </a:r>
            <a:r>
              <a:rPr lang="ru-RU" sz="1200" dirty="0">
                <a:cs typeface="Arial" panose="020B0604020202020204" pitchFamily="34" charset="0"/>
              </a:rPr>
              <a:t>сообщила о рекордных убытках и </a:t>
            </a:r>
            <a:r>
              <a:rPr lang="ru-RU" sz="1200" b="1" dirty="0">
                <a:cs typeface="Arial" panose="020B0604020202020204" pitchFamily="34" charset="0"/>
              </a:rPr>
              <a:t>предупредила о возможном дефолте. </a:t>
            </a:r>
            <a:r>
              <a:rPr lang="ru-RU" sz="1050" i="1" dirty="0">
                <a:cs typeface="Arial" panose="020B0604020202020204" pitchFamily="34" charset="0"/>
              </a:rPr>
              <a:t>Долг у </a:t>
            </a:r>
            <a:r>
              <a:rPr lang="ru-RU" sz="1050" i="1" dirty="0" err="1">
                <a:cs typeface="Arial" panose="020B0604020202020204" pitchFamily="34" charset="0"/>
              </a:rPr>
              <a:t>Country</a:t>
            </a:r>
            <a:r>
              <a:rPr lang="ru-RU" sz="1050" i="1" dirty="0">
                <a:cs typeface="Arial" panose="020B0604020202020204" pitchFamily="34" charset="0"/>
              </a:rPr>
              <a:t> </a:t>
            </a:r>
            <a:r>
              <a:rPr lang="ru-RU" sz="1050" i="1" dirty="0" err="1">
                <a:cs typeface="Arial" panose="020B0604020202020204" pitchFamily="34" charset="0"/>
              </a:rPr>
              <a:t>Garden</a:t>
            </a:r>
            <a:r>
              <a:rPr lang="ru-RU" sz="1050" i="1" dirty="0">
                <a:cs typeface="Arial" panose="020B0604020202020204" pitchFamily="34" charset="0"/>
              </a:rPr>
              <a:t> почти в 2 раза меньше, чем у </a:t>
            </a:r>
            <a:r>
              <a:rPr lang="ru-RU" sz="1050" i="1" dirty="0" err="1">
                <a:cs typeface="Arial" panose="020B0604020202020204" pitchFamily="34" charset="0"/>
              </a:rPr>
              <a:t>Evergrande</a:t>
            </a:r>
            <a:r>
              <a:rPr lang="ru-RU" sz="1050" i="1" dirty="0">
                <a:cs typeface="Arial" panose="020B0604020202020204" pitchFamily="34" charset="0"/>
              </a:rPr>
              <a:t>, однако количество реализуемых объектов в 4 раза больше, а значит, ее крах может нанести еще больший урон китайской экономике. </a:t>
            </a:r>
          </a:p>
          <a:p>
            <a:pPr marL="228600" indent="-228600">
              <a:spcBef>
                <a:spcPts val="600"/>
              </a:spcBef>
              <a:buFont typeface="+mj-lt"/>
              <a:buAutoNum type="arabicPeriod" startAt="3"/>
            </a:pPr>
            <a:r>
              <a:rPr lang="ru-RU" sz="1200" dirty="0">
                <a:cs typeface="Arial" panose="020B0604020202020204" pitchFamily="34" charset="0"/>
              </a:rPr>
              <a:t>Из-за постоянных просрочек в сдаче жилья и нестабильной ситуации на рынке население перестало доверять застройщикам и спрос на жилье сильно упал. </a:t>
            </a:r>
            <a:r>
              <a:rPr lang="ru-RU" sz="1200" dirty="0">
                <a:cs typeface="Arial" panose="020B0604020202020204" pitchFamily="34" charset="0"/>
                <a:hlinkClick r:id="rId3">
                  <a:extLst>
                    <a:ext uri="{A12FA001-AC4F-418D-AE19-62706E023703}">
                      <ahyp:hlinkClr xmlns:ahyp="http://schemas.microsoft.com/office/drawing/2018/hyperlinkcolor" val="tx"/>
                    </a:ext>
                  </a:extLst>
                </a:hlinkClick>
              </a:rPr>
              <a:t>34 из 50 крупнейших застройщиков </a:t>
            </a:r>
            <a:r>
              <a:rPr lang="ru-RU" sz="1200" dirty="0">
                <a:cs typeface="Arial" panose="020B0604020202020204" pitchFamily="34" charset="0"/>
              </a:rPr>
              <a:t>Китая в 2023 году уже объявили о просрочке по выплате облигаций.</a:t>
            </a:r>
          </a:p>
          <a:p>
            <a:pPr>
              <a:spcBef>
                <a:spcPts val="600"/>
              </a:spcBef>
            </a:pPr>
            <a:r>
              <a:rPr lang="ru-RU" sz="1400" dirty="0">
                <a:cs typeface="Arial" panose="020B0604020202020204" pitchFamily="34" charset="0"/>
              </a:rPr>
              <a:t>Продажи 100 крупнейших застройщиков в Китае продолжают падать примерно на 60% г/г в феврале 2024 года, в ноябре -6.9% </a:t>
            </a:r>
          </a:p>
          <a:p>
            <a:pPr>
              <a:spcBef>
                <a:spcPts val="600"/>
              </a:spcBef>
            </a:pPr>
            <a:r>
              <a:rPr lang="ru-RU" sz="1400" dirty="0">
                <a:cs typeface="Arial" panose="020B0604020202020204" pitchFamily="34" charset="0"/>
              </a:rPr>
              <a:t>По данным </a:t>
            </a:r>
            <a:r>
              <a:rPr lang="ru-RU" sz="1400" dirty="0" err="1">
                <a:cs typeface="Arial" panose="020B0604020202020204" pitchFamily="34" charset="0"/>
              </a:rPr>
              <a:t>Goldman</a:t>
            </a:r>
            <a:r>
              <a:rPr lang="ru-RU" sz="1400" dirty="0">
                <a:cs typeface="Arial" panose="020B0604020202020204" pitchFamily="34" charset="0"/>
              </a:rPr>
              <a:t> </a:t>
            </a:r>
            <a:r>
              <a:rPr lang="ru-RU" sz="1400" dirty="0" err="1">
                <a:cs typeface="Arial" panose="020B0604020202020204" pitchFamily="34" charset="0"/>
              </a:rPr>
              <a:t>Sachs</a:t>
            </a:r>
            <a:r>
              <a:rPr lang="ru-RU" sz="1400" dirty="0">
                <a:cs typeface="Arial" panose="020B0604020202020204" pitchFamily="34" charset="0"/>
              </a:rPr>
              <a:t>, общая стоимость непроданных или недостроенных домов в Китае составляет около 30 трлн юаней или 4.1 трлн. долларов.</a:t>
            </a:r>
          </a:p>
        </p:txBody>
      </p:sp>
      <p:sp>
        <p:nvSpPr>
          <p:cNvPr id="2" name="Прямоугольник 1">
            <a:extLst>
              <a:ext uri="{FF2B5EF4-FFF2-40B4-BE49-F238E27FC236}">
                <a16:creationId xmlns:a16="http://schemas.microsoft.com/office/drawing/2014/main" id="{83E23727-2176-4FAE-957F-A3EBC632D9E5}"/>
              </a:ext>
            </a:extLst>
          </p:cNvPr>
          <p:cNvSpPr/>
          <p:nvPr/>
        </p:nvSpPr>
        <p:spPr>
          <a:xfrm>
            <a:off x="213790" y="799654"/>
            <a:ext cx="11141651" cy="769441"/>
          </a:xfrm>
          <a:prstGeom prst="rect">
            <a:avLst/>
          </a:prstGeom>
        </p:spPr>
        <p:txBody>
          <a:bodyPr wrap="square">
            <a:spAutoFit/>
          </a:bodyPr>
          <a:lstStyle/>
          <a:p>
            <a:r>
              <a:rPr lang="ru-RU" sz="1600" dirty="0">
                <a:solidFill>
                  <a:srgbClr val="333333"/>
                </a:solidFill>
                <a:latin typeface="+mj-lt"/>
              </a:rPr>
              <a:t>Китай </a:t>
            </a:r>
            <a:r>
              <a:rPr lang="ru-RU" sz="1400" dirty="0">
                <a:solidFill>
                  <a:srgbClr val="333333"/>
                </a:solidFill>
                <a:latin typeface="+mj-lt"/>
              </a:rPr>
              <a:t>– ключевой игрок мирового строительного рынка. При этом 30% ВВП страны приходятся на строительный сектор. В последние несколько лет рынок недвижимости в Китае оказался в кризисе</a:t>
            </a:r>
            <a:r>
              <a:rPr lang="ru-RU" sz="1400" dirty="0">
                <a:cs typeface="Arial" panose="020B0604020202020204" pitchFamily="34" charset="0"/>
              </a:rPr>
              <a:t>:</a:t>
            </a:r>
            <a:r>
              <a:rPr lang="ru-RU" sz="1400" dirty="0">
                <a:solidFill>
                  <a:srgbClr val="333333"/>
                </a:solidFill>
                <a:latin typeface="+mj-lt"/>
              </a:rPr>
              <a:t> стремительно сокращаются инвестиции, падают продажи и цены на жилье, а нереализованные объекты остаются пустующими. </a:t>
            </a:r>
            <a:endParaRPr lang="ru-RU" sz="1400" dirty="0">
              <a:latin typeface="+mj-lt"/>
            </a:endParaRPr>
          </a:p>
        </p:txBody>
      </p:sp>
      <p:sp>
        <p:nvSpPr>
          <p:cNvPr id="3" name="Прямоугольник 2">
            <a:extLst>
              <a:ext uri="{FF2B5EF4-FFF2-40B4-BE49-F238E27FC236}">
                <a16:creationId xmlns:a16="http://schemas.microsoft.com/office/drawing/2014/main" id="{81BF8ECB-527A-4CA4-9F17-A890BC0CE099}"/>
              </a:ext>
            </a:extLst>
          </p:cNvPr>
          <p:cNvSpPr/>
          <p:nvPr/>
        </p:nvSpPr>
        <p:spPr>
          <a:xfrm>
            <a:off x="213790" y="6442502"/>
            <a:ext cx="11838002" cy="415498"/>
          </a:xfrm>
          <a:prstGeom prst="rect">
            <a:avLst/>
          </a:prstGeom>
        </p:spPr>
        <p:txBody>
          <a:bodyPr wrap="square">
            <a:spAutoFit/>
          </a:bodyPr>
          <a:lstStyle/>
          <a:p>
            <a:r>
              <a:rPr lang="ru-RU" sz="700" dirty="0"/>
              <a:t>Источник: </a:t>
            </a:r>
            <a:r>
              <a:rPr lang="en-US" sz="700" dirty="0">
                <a:hlinkClick r:id="rId4"/>
              </a:rPr>
              <a:t>https://ru.wikipedia.org/wiki/%D0%9A%D1%80%D0%B8%D0%B7%D0%B8%D1%81_%D0%BB%D0%B8%D0%BA%D0%B2%D0%B8%D0%B4%D0%BD%D0%BE%D1%81%D1%82%D0%B8_Evergrande</a:t>
            </a:r>
            <a:r>
              <a:rPr lang="ru-RU" sz="700" dirty="0"/>
              <a:t>,</a:t>
            </a:r>
            <a:r>
              <a:rPr lang="en-US" sz="700" dirty="0"/>
              <a:t> </a:t>
            </a:r>
            <a:r>
              <a:rPr lang="en-US" sz="700" dirty="0">
                <a:hlinkClick r:id="rId5"/>
              </a:rPr>
              <a:t>https://en.wikipedia.org/wiki/Chinese_property_sector_crisis_(2020%E2%80%93present)#:~:text=The%20Chinese%20property%20sector%20crisis,on%20these%20companies'%20debt%20limits</a:t>
            </a:r>
            <a:r>
              <a:rPr lang="ru-RU" sz="700" dirty="0"/>
              <a:t>,</a:t>
            </a:r>
            <a:r>
              <a:rPr lang="en-US" sz="700" dirty="0"/>
              <a:t> </a:t>
            </a:r>
            <a:r>
              <a:rPr lang="en-US" sz="700" dirty="0">
                <a:hlinkClick r:id="rId6"/>
              </a:rPr>
              <a:t>https://hedgepointglobal.com/blog/chinas-real-estate-crisis-impacts-and-measures/</a:t>
            </a:r>
            <a:r>
              <a:rPr lang="ru-RU" sz="700" dirty="0"/>
              <a:t>, </a:t>
            </a:r>
            <a:r>
              <a:rPr lang="en-US" sz="700" dirty="0">
                <a:hlinkClick r:id="rId7"/>
              </a:rPr>
              <a:t>https://tengrinews.kz/world_news/ryinok-nedvijimosti-kitaya-neset-rekordnyie-ubyitki-eto-534916/</a:t>
            </a:r>
            <a:r>
              <a:rPr lang="ru-RU" sz="700" dirty="0"/>
              <a:t>, </a:t>
            </a:r>
            <a:r>
              <a:rPr lang="en-US" sz="700" dirty="0">
                <a:hlinkClick r:id="rId8"/>
              </a:rPr>
              <a:t>https://www.forbes.ru/finansy/496552-moment-lehman-brothers-pocemu-kitajskij-sektor-nedvizimosti-okazalsa-v-krizise</a:t>
            </a:r>
            <a:r>
              <a:rPr lang="ru-RU" sz="700" dirty="0"/>
              <a:t> и др. открытые источники данных</a:t>
            </a:r>
          </a:p>
        </p:txBody>
      </p:sp>
      <p:pic>
        <p:nvPicPr>
          <p:cNvPr id="7" name="Рисунок 6">
            <a:extLst>
              <a:ext uri="{FF2B5EF4-FFF2-40B4-BE49-F238E27FC236}">
                <a16:creationId xmlns:a16="http://schemas.microsoft.com/office/drawing/2014/main" id="{16509B05-1625-4A5B-9AA2-2F7FBC056051}"/>
              </a:ext>
            </a:extLst>
          </p:cNvPr>
          <p:cNvPicPr>
            <a:picLocks noChangeAspect="1"/>
          </p:cNvPicPr>
          <p:nvPr/>
        </p:nvPicPr>
        <p:blipFill>
          <a:blip r:embed="rId9"/>
          <a:stretch>
            <a:fillRect/>
          </a:stretch>
        </p:blipFill>
        <p:spPr>
          <a:xfrm>
            <a:off x="11710034" y="9625"/>
            <a:ext cx="476250" cy="466725"/>
          </a:xfrm>
          <a:prstGeom prst="rect">
            <a:avLst/>
          </a:prstGeom>
        </p:spPr>
      </p:pic>
    </p:spTree>
    <p:extLst>
      <p:ext uri="{BB962C8B-B14F-4D97-AF65-F5344CB8AC3E}">
        <p14:creationId xmlns:p14="http://schemas.microsoft.com/office/powerpoint/2010/main" val="2255638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998C2CA0-3FCC-43A2-A1AC-789FC822C74E}"/>
              </a:ext>
            </a:extLst>
          </p:cNvPr>
          <p:cNvSpPr txBox="1">
            <a:spLocks/>
          </p:cNvSpPr>
          <p:nvPr/>
        </p:nvSpPr>
        <p:spPr>
          <a:xfrm>
            <a:off x="213793" y="65737"/>
            <a:ext cx="11367541" cy="733917"/>
          </a:xfrm>
          <a:prstGeom prst="rect">
            <a:avLst/>
          </a:prstGeom>
        </p:spPr>
        <p:txBody>
          <a:bodyPr anchor="ctr" anchorCtr="0">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МЕЖДУНАРОДНЫЙ ОПЫТ </a:t>
            </a:r>
            <a:r>
              <a:rPr lang="ru-RU" sz="2400" b="1" dirty="0">
                <a:solidFill>
                  <a:srgbClr val="FFC209"/>
                </a:solidFill>
                <a:latin typeface="Inter" panose="02000503000000020004" pitchFamily="2" charset="0"/>
                <a:ea typeface="Inter" panose="02000503000000020004" pitchFamily="2" charset="0"/>
              </a:rPr>
              <a:t>КИТАЯ</a:t>
            </a:r>
            <a:r>
              <a:rPr lang="ru-RU" sz="2400" b="1" dirty="0">
                <a:latin typeface="Inter" panose="02000503000000020004" pitchFamily="2" charset="0"/>
                <a:ea typeface="Inter" panose="02000503000000020004" pitchFamily="2" charset="0"/>
              </a:rPr>
              <a:t>: ИЗМЕНЕНИЕ РАБОТЫ С ЭСКРОУ-СЧЕТАМИ</a:t>
            </a:r>
            <a:endParaRPr lang="ru-KZ" sz="2400" b="1" dirty="0">
              <a:latin typeface="Inter" panose="02000503000000020004" pitchFamily="2" charset="0"/>
              <a:ea typeface="Inter" panose="02000503000000020004" pitchFamily="2" charset="0"/>
            </a:endParaRPr>
          </a:p>
        </p:txBody>
      </p:sp>
      <p:cxnSp>
        <p:nvCxnSpPr>
          <p:cNvPr id="5" name="Прямая соединительная линия 4">
            <a:extLst>
              <a:ext uri="{FF2B5EF4-FFF2-40B4-BE49-F238E27FC236}">
                <a16:creationId xmlns:a16="http://schemas.microsoft.com/office/drawing/2014/main" id="{13D01250-0079-4688-8BF2-040AA9F0AC7C}"/>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AB48A22-D6C3-462B-82DF-CD9839D319D6}"/>
              </a:ext>
            </a:extLst>
          </p:cNvPr>
          <p:cNvSpPr txBox="1"/>
          <p:nvPr/>
        </p:nvSpPr>
        <p:spPr>
          <a:xfrm>
            <a:off x="154340" y="799654"/>
            <a:ext cx="11725633" cy="4493538"/>
          </a:xfrm>
          <a:prstGeom prst="rect">
            <a:avLst/>
          </a:prstGeom>
          <a:noFill/>
        </p:spPr>
        <p:txBody>
          <a:bodyPr wrap="square" rtlCol="0">
            <a:spAutoFit/>
          </a:bodyPr>
          <a:lstStyle/>
          <a:p>
            <a:pPr marL="285750" indent="-285750">
              <a:buFont typeface="Arial" panose="020B0604020202020204" pitchFamily="34" charset="0"/>
              <a:buChar char="•"/>
            </a:pPr>
            <a:r>
              <a:rPr lang="ru-RU" sz="1400" dirty="0">
                <a:cs typeface="Arial" panose="020B0604020202020204" pitchFamily="34" charset="0"/>
              </a:rPr>
              <a:t>Дома в Китае в основном продаются заранее. Китайские покупатели жилья выплачивают свои ипотечные кредиты сразу после покупки, а не по завершении строительства.</a:t>
            </a:r>
            <a:endParaRPr lang="en-US" sz="1400" dirty="0">
              <a:cs typeface="Arial" panose="020B0604020202020204" pitchFamily="34" charset="0"/>
            </a:endParaRPr>
          </a:p>
          <a:p>
            <a:pPr marL="285750" indent="-285750">
              <a:buFont typeface="Arial" panose="020B0604020202020204" pitchFamily="34" charset="0"/>
              <a:buChar char="•"/>
            </a:pPr>
            <a:r>
              <a:rPr lang="ru-RU" sz="1400" dirty="0">
                <a:cs typeface="Arial" panose="020B0604020202020204" pitchFamily="34" charset="0"/>
              </a:rPr>
              <a:t>Застройщикам разрешено продавать жилые проекты до их завершения, но они </a:t>
            </a:r>
            <a:r>
              <a:rPr lang="ru-RU" sz="1400" b="1" dirty="0">
                <a:cs typeface="Arial" panose="020B0604020202020204" pitchFamily="34" charset="0"/>
              </a:rPr>
              <a:t>обязаны размещать средства с продажи на эскроу-счетах. </a:t>
            </a:r>
            <a:r>
              <a:rPr lang="ru-RU" sz="1400" dirty="0">
                <a:cs typeface="Arial" panose="020B0604020202020204" pitchFamily="34" charset="0"/>
              </a:rPr>
              <a:t>Комиссия банка эскроу-агента может составлять 0.1-0.5% от суммы. </a:t>
            </a:r>
          </a:p>
          <a:p>
            <a:pPr marL="285750" indent="-285750">
              <a:buFont typeface="Arial" panose="020B0604020202020204" pitchFamily="34" charset="0"/>
              <a:buChar char="•"/>
            </a:pPr>
            <a:r>
              <a:rPr lang="ru-RU" sz="1400" dirty="0">
                <a:cs typeface="Arial" panose="020B0604020202020204" pitchFamily="34" charset="0"/>
              </a:rPr>
              <a:t>Рассматривается возможность создания фонда, который поможет гарантировать завершение застройщиками строительных проектов. Правительство или центральный банк будут изымать около 1% средств с эскроу-счетов каждый год, или, по оценкам, 10 млрд юаней, для вливания в фонд. </a:t>
            </a:r>
          </a:p>
          <a:p>
            <a:pPr marL="285750" indent="-285750">
              <a:buFont typeface="Arial" panose="020B0604020202020204" pitchFamily="34" charset="0"/>
              <a:buChar char="•"/>
            </a:pPr>
            <a:endParaRPr lang="ru-RU" sz="1400" dirty="0">
              <a:cs typeface="Arial" panose="020B0604020202020204" pitchFamily="34" charset="0"/>
            </a:endParaRPr>
          </a:p>
          <a:p>
            <a:pPr marL="285750" indent="-285750">
              <a:buFont typeface="Arial" panose="020B0604020202020204" pitchFamily="34" charset="0"/>
              <a:buChar char="•"/>
            </a:pPr>
            <a:endParaRPr lang="ru-RU" sz="1400" dirty="0">
              <a:cs typeface="Arial" panose="020B0604020202020204" pitchFamily="34" charset="0"/>
            </a:endParaRPr>
          </a:p>
          <a:p>
            <a:pPr marL="285750" indent="-285750">
              <a:buFont typeface="Arial" panose="020B0604020202020204" pitchFamily="34" charset="0"/>
              <a:buChar char="•"/>
            </a:pPr>
            <a:endParaRPr lang="ru-RU" sz="1400" dirty="0">
              <a:cs typeface="Arial" panose="020B0604020202020204" pitchFamily="34" charset="0"/>
            </a:endParaRPr>
          </a:p>
          <a:p>
            <a:pPr marL="285750" indent="-285750">
              <a:buFont typeface="Arial" panose="020B0604020202020204" pitchFamily="34" charset="0"/>
              <a:buChar char="•"/>
            </a:pPr>
            <a:endParaRPr lang="ru-RU" sz="1400" dirty="0">
              <a:cs typeface="Arial" panose="020B0604020202020204" pitchFamily="34" charset="0"/>
            </a:endParaRPr>
          </a:p>
          <a:p>
            <a:pPr marL="285750" indent="-285750">
              <a:buFont typeface="Arial" panose="020B0604020202020204" pitchFamily="34" charset="0"/>
              <a:buChar char="•"/>
            </a:pPr>
            <a:endParaRPr lang="ru-RU" sz="1400" dirty="0">
              <a:cs typeface="Arial" panose="020B0604020202020204" pitchFamily="34" charset="0"/>
            </a:endParaRPr>
          </a:p>
          <a:p>
            <a:endParaRPr lang="ru-RU" sz="1000" b="1" dirty="0">
              <a:cs typeface="Arial" panose="020B0604020202020204" pitchFamily="34" charset="0"/>
            </a:endParaRPr>
          </a:p>
          <a:p>
            <a:endParaRPr lang="ru-RU" sz="1400" b="1" dirty="0">
              <a:cs typeface="Arial" panose="020B0604020202020204" pitchFamily="34" charset="0"/>
            </a:endParaRPr>
          </a:p>
          <a:p>
            <a:endParaRPr lang="ru-RU" sz="1400" b="1" dirty="0">
              <a:cs typeface="Arial" panose="020B0604020202020204" pitchFamily="34" charset="0"/>
            </a:endParaRPr>
          </a:p>
          <a:p>
            <a:pPr marL="285750" indent="-285750">
              <a:buFont typeface="Arial" panose="020B0604020202020204" pitchFamily="34" charset="0"/>
              <a:buChar char="•"/>
            </a:pPr>
            <a:endParaRPr lang="ru-RU" sz="1200" dirty="0">
              <a:cs typeface="Arial" panose="020B0604020202020204" pitchFamily="34" charset="0"/>
            </a:endParaRPr>
          </a:p>
          <a:p>
            <a:pPr marL="285750" indent="-285750">
              <a:buFont typeface="Arial" panose="020B0604020202020204" pitchFamily="34" charset="0"/>
              <a:buChar char="•"/>
            </a:pPr>
            <a:endParaRPr lang="ru-RU" sz="1200" dirty="0">
              <a:cs typeface="Arial" panose="020B0604020202020204" pitchFamily="34" charset="0"/>
            </a:endParaRPr>
          </a:p>
          <a:p>
            <a:endParaRPr lang="ru-RU" sz="1400" dirty="0">
              <a:cs typeface="Arial" panose="020B0604020202020204" pitchFamily="34" charset="0"/>
            </a:endParaRPr>
          </a:p>
          <a:p>
            <a:endParaRPr lang="ru-RU" sz="1400" dirty="0">
              <a:cs typeface="Arial" panose="020B0604020202020204" pitchFamily="34" charset="0"/>
            </a:endParaRPr>
          </a:p>
          <a:p>
            <a:endParaRPr lang="ru-RU" sz="1400" dirty="0">
              <a:cs typeface="Arial" panose="020B0604020202020204" pitchFamily="34" charset="0"/>
            </a:endParaRPr>
          </a:p>
          <a:p>
            <a:endParaRPr lang="ru-RU" sz="1400" dirty="0">
              <a:cs typeface="Arial" panose="020B0604020202020204" pitchFamily="34" charset="0"/>
            </a:endParaRPr>
          </a:p>
        </p:txBody>
      </p:sp>
      <p:sp>
        <p:nvSpPr>
          <p:cNvPr id="7" name="TextBox 6">
            <a:extLst>
              <a:ext uri="{FF2B5EF4-FFF2-40B4-BE49-F238E27FC236}">
                <a16:creationId xmlns:a16="http://schemas.microsoft.com/office/drawing/2014/main" id="{2BB7806D-853C-4FBA-9AD4-3E7C9B775F03}"/>
              </a:ext>
            </a:extLst>
          </p:cNvPr>
          <p:cNvSpPr txBox="1"/>
          <p:nvPr/>
        </p:nvSpPr>
        <p:spPr>
          <a:xfrm>
            <a:off x="303643" y="6372627"/>
            <a:ext cx="11043414" cy="584775"/>
          </a:xfrm>
          <a:prstGeom prst="rect">
            <a:avLst/>
          </a:prstGeom>
          <a:noFill/>
        </p:spPr>
        <p:txBody>
          <a:bodyPr wrap="square" rtlCol="0">
            <a:spAutoFit/>
          </a:bodyPr>
          <a:lstStyle/>
          <a:p>
            <a:r>
              <a:rPr lang="ru-RU" sz="800" dirty="0"/>
              <a:t>Источник: </a:t>
            </a:r>
            <a:r>
              <a:rPr lang="en-US" sz="800" dirty="0">
                <a:hlinkClick r:id="rId3"/>
              </a:rPr>
              <a:t>https://www.fitchratings.com/research/corporate-finance/china-property-watch-july-2022-regulators-to-strengthen-oversight-of-escrow-accounts-after-mortgage-payment-boycott-25-07-2022</a:t>
            </a:r>
            <a:r>
              <a:rPr lang="ru-RU" sz="800" dirty="0"/>
              <a:t>,</a:t>
            </a:r>
            <a:r>
              <a:rPr lang="en-US" sz="800" dirty="0"/>
              <a:t> </a:t>
            </a:r>
            <a:r>
              <a:rPr lang="en-US" sz="800" dirty="0">
                <a:hlinkClick r:id="rId4"/>
              </a:rPr>
              <a:t>https://realty.economictimes.indiatimes.com/news/industry/china-drafts-rules-to-ease-property-developers-use-of-escrow-funds-sources/88998709</a:t>
            </a:r>
            <a:r>
              <a:rPr lang="ru-RU" sz="800" dirty="0"/>
              <a:t>, </a:t>
            </a:r>
            <a:r>
              <a:rPr lang="en-US" sz="800" dirty="0">
                <a:hlinkClick r:id="rId5"/>
              </a:rPr>
              <a:t>https://www.gov.cn/zhengce/zhengceku/2022-11/14/content_5726954.htm</a:t>
            </a:r>
            <a:endParaRPr lang="ru-RU" sz="800" dirty="0"/>
          </a:p>
          <a:p>
            <a:endParaRPr lang="ru-RU" sz="800" dirty="0"/>
          </a:p>
        </p:txBody>
      </p:sp>
      <p:grpSp>
        <p:nvGrpSpPr>
          <p:cNvPr id="40" name="Группа 39">
            <a:extLst>
              <a:ext uri="{FF2B5EF4-FFF2-40B4-BE49-F238E27FC236}">
                <a16:creationId xmlns:a16="http://schemas.microsoft.com/office/drawing/2014/main" id="{48E55C36-C035-4F33-B327-65CE694D790E}"/>
              </a:ext>
            </a:extLst>
          </p:cNvPr>
          <p:cNvGrpSpPr/>
          <p:nvPr/>
        </p:nvGrpSpPr>
        <p:grpSpPr>
          <a:xfrm>
            <a:off x="273244" y="2772783"/>
            <a:ext cx="11308090" cy="1582420"/>
            <a:chOff x="643866" y="3483625"/>
            <a:chExt cx="11308090" cy="1582420"/>
          </a:xfrm>
        </p:grpSpPr>
        <p:grpSp>
          <p:nvGrpSpPr>
            <p:cNvPr id="23" name="Группа 22">
              <a:extLst>
                <a:ext uri="{FF2B5EF4-FFF2-40B4-BE49-F238E27FC236}">
                  <a16:creationId xmlns:a16="http://schemas.microsoft.com/office/drawing/2014/main" id="{EC848668-F5AF-440A-8D48-FB71DF00025F}"/>
                </a:ext>
              </a:extLst>
            </p:cNvPr>
            <p:cNvGrpSpPr/>
            <p:nvPr/>
          </p:nvGrpSpPr>
          <p:grpSpPr>
            <a:xfrm>
              <a:off x="1580505" y="3483625"/>
              <a:ext cx="10067158" cy="363260"/>
              <a:chOff x="1709151" y="1931366"/>
              <a:chExt cx="10067158" cy="363260"/>
            </a:xfrm>
          </p:grpSpPr>
          <p:grpSp>
            <p:nvGrpSpPr>
              <p:cNvPr id="20" name="Группа 19">
                <a:extLst>
                  <a:ext uri="{FF2B5EF4-FFF2-40B4-BE49-F238E27FC236}">
                    <a16:creationId xmlns:a16="http://schemas.microsoft.com/office/drawing/2014/main" id="{CD8330FC-7216-43CF-BEF3-DD7BC81881BF}"/>
                  </a:ext>
                </a:extLst>
              </p:cNvPr>
              <p:cNvGrpSpPr/>
              <p:nvPr/>
            </p:nvGrpSpPr>
            <p:grpSpPr>
              <a:xfrm>
                <a:off x="2215289" y="2199736"/>
                <a:ext cx="8346430" cy="94890"/>
                <a:chOff x="1490670" y="2389517"/>
                <a:chExt cx="8346430" cy="94890"/>
              </a:xfrm>
            </p:grpSpPr>
            <p:cxnSp>
              <p:nvCxnSpPr>
                <p:cNvPr id="13" name="Прямая со стрелкой 12">
                  <a:extLst>
                    <a:ext uri="{FF2B5EF4-FFF2-40B4-BE49-F238E27FC236}">
                      <a16:creationId xmlns:a16="http://schemas.microsoft.com/office/drawing/2014/main" id="{0C56467C-A563-43CC-AC57-8802130417AD}"/>
                    </a:ext>
                  </a:extLst>
                </p:cNvPr>
                <p:cNvCxnSpPr>
                  <a:cxnSpLocks/>
                </p:cNvCxnSpPr>
                <p:nvPr/>
              </p:nvCxnSpPr>
              <p:spPr>
                <a:xfrm>
                  <a:off x="1572995" y="2441276"/>
                  <a:ext cx="826410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Овал 14">
                  <a:extLst>
                    <a:ext uri="{FF2B5EF4-FFF2-40B4-BE49-F238E27FC236}">
                      <a16:creationId xmlns:a16="http://schemas.microsoft.com/office/drawing/2014/main" id="{41B7F391-0043-47B9-8A80-52A46E66ED2E}"/>
                    </a:ext>
                  </a:extLst>
                </p:cNvPr>
                <p:cNvSpPr/>
                <p:nvPr/>
              </p:nvSpPr>
              <p:spPr>
                <a:xfrm>
                  <a:off x="1490670" y="2389517"/>
                  <a:ext cx="94890" cy="9489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16" name="Овал 15">
                  <a:extLst>
                    <a:ext uri="{FF2B5EF4-FFF2-40B4-BE49-F238E27FC236}">
                      <a16:creationId xmlns:a16="http://schemas.microsoft.com/office/drawing/2014/main" id="{1B65B495-3D86-4B72-88E1-7FD1D5F36EF8}"/>
                    </a:ext>
                  </a:extLst>
                </p:cNvPr>
                <p:cNvSpPr/>
                <p:nvPr/>
              </p:nvSpPr>
              <p:spPr>
                <a:xfrm>
                  <a:off x="5469258" y="2389517"/>
                  <a:ext cx="94890" cy="9489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grpSp>
          <p:sp>
            <p:nvSpPr>
              <p:cNvPr id="17" name="Прямоугольник 16">
                <a:extLst>
                  <a:ext uri="{FF2B5EF4-FFF2-40B4-BE49-F238E27FC236}">
                    <a16:creationId xmlns:a16="http://schemas.microsoft.com/office/drawing/2014/main" id="{D64E9480-5311-4293-BD64-338A5A9EA2E4}"/>
                  </a:ext>
                </a:extLst>
              </p:cNvPr>
              <p:cNvSpPr/>
              <p:nvPr/>
            </p:nvSpPr>
            <p:spPr>
              <a:xfrm>
                <a:off x="1709151" y="1931366"/>
                <a:ext cx="1176925" cy="276999"/>
              </a:xfrm>
              <a:prstGeom prst="rect">
                <a:avLst/>
              </a:prstGeom>
            </p:spPr>
            <p:txBody>
              <a:bodyPr wrap="none">
                <a:spAutoFit/>
              </a:bodyPr>
              <a:lstStyle/>
              <a:p>
                <a:r>
                  <a:rPr lang="ru-RU" sz="1200" dirty="0">
                    <a:cs typeface="Arial" panose="020B0604020202020204" pitchFamily="34" charset="0"/>
                  </a:rPr>
                  <a:t>До 2021 года</a:t>
                </a:r>
                <a:endParaRPr lang="ru-RU" sz="1200" dirty="0"/>
              </a:p>
            </p:txBody>
          </p:sp>
          <p:sp>
            <p:nvSpPr>
              <p:cNvPr id="18" name="Прямоугольник 17">
                <a:extLst>
                  <a:ext uri="{FF2B5EF4-FFF2-40B4-BE49-F238E27FC236}">
                    <a16:creationId xmlns:a16="http://schemas.microsoft.com/office/drawing/2014/main" id="{5B52A42B-9D87-4037-997C-1B5D865E353A}"/>
                  </a:ext>
                </a:extLst>
              </p:cNvPr>
              <p:cNvSpPr/>
              <p:nvPr/>
            </p:nvSpPr>
            <p:spPr>
              <a:xfrm>
                <a:off x="5844294" y="1931366"/>
                <a:ext cx="840295" cy="276999"/>
              </a:xfrm>
              <a:prstGeom prst="rect">
                <a:avLst/>
              </a:prstGeom>
            </p:spPr>
            <p:txBody>
              <a:bodyPr wrap="none">
                <a:spAutoFit/>
              </a:bodyPr>
              <a:lstStyle/>
              <a:p>
                <a:r>
                  <a:rPr lang="ru-RU" sz="1200" dirty="0">
                    <a:cs typeface="Arial" panose="020B0604020202020204" pitchFamily="34" charset="0"/>
                  </a:rPr>
                  <a:t>2021 год</a:t>
                </a:r>
                <a:endParaRPr lang="ru-RU" sz="1200" dirty="0"/>
              </a:p>
            </p:txBody>
          </p:sp>
          <p:sp>
            <p:nvSpPr>
              <p:cNvPr id="19" name="Прямоугольник 18">
                <a:extLst>
                  <a:ext uri="{FF2B5EF4-FFF2-40B4-BE49-F238E27FC236}">
                    <a16:creationId xmlns:a16="http://schemas.microsoft.com/office/drawing/2014/main" id="{5BD106FB-6BAB-4A4D-9F40-DE1ED855D0E7}"/>
                  </a:ext>
                </a:extLst>
              </p:cNvPr>
              <p:cNvSpPr/>
              <p:nvPr/>
            </p:nvSpPr>
            <p:spPr>
              <a:xfrm>
                <a:off x="9097371" y="1941292"/>
                <a:ext cx="2678938" cy="276999"/>
              </a:xfrm>
              <a:prstGeom prst="rect">
                <a:avLst/>
              </a:prstGeom>
            </p:spPr>
            <p:txBody>
              <a:bodyPr wrap="none">
                <a:spAutoFit/>
              </a:bodyPr>
              <a:lstStyle/>
              <a:p>
                <a:r>
                  <a:rPr lang="ru-RU" sz="1200" dirty="0">
                    <a:cs typeface="Arial" panose="020B0604020202020204" pitchFamily="34" charset="0"/>
                  </a:rPr>
                  <a:t>С конца 2022 год по наст. время</a:t>
                </a:r>
                <a:endParaRPr lang="ru-RU" sz="1200" dirty="0"/>
              </a:p>
            </p:txBody>
          </p:sp>
        </p:grpSp>
        <p:sp>
          <p:nvSpPr>
            <p:cNvPr id="21" name="Прямоугольник 20">
              <a:extLst>
                <a:ext uri="{FF2B5EF4-FFF2-40B4-BE49-F238E27FC236}">
                  <a16:creationId xmlns:a16="http://schemas.microsoft.com/office/drawing/2014/main" id="{1F43CC77-7654-4F81-A1EC-FDA65EFF518B}"/>
                </a:ext>
              </a:extLst>
            </p:cNvPr>
            <p:cNvSpPr/>
            <p:nvPr/>
          </p:nvSpPr>
          <p:spPr>
            <a:xfrm>
              <a:off x="643866" y="3913292"/>
              <a:ext cx="3208417" cy="1152753"/>
            </a:xfrm>
            <a:prstGeom prst="rect">
              <a:avLst/>
            </a:prstGeom>
            <a:solidFill>
              <a:schemeClr val="bg1"/>
            </a:solidFill>
            <a:ln>
              <a:solidFill>
                <a:srgbClr val="FFC20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ru-RU" sz="1000" dirty="0">
                  <a:solidFill>
                    <a:schemeClr val="tx1"/>
                  </a:solidFill>
                </a:rPr>
                <a:t>50-70% предпродажных фондов должны храниться на эскроу-счетах. </a:t>
              </a:r>
            </a:p>
            <a:p>
              <a:r>
                <a:rPr lang="ru-RU" sz="1000" dirty="0">
                  <a:solidFill>
                    <a:schemeClr val="tx1"/>
                  </a:solidFill>
                </a:rPr>
                <a:t>Остальное по согласованию с местными органами власти </a:t>
              </a:r>
              <a:r>
                <a:rPr lang="ru-RU" sz="1000" b="1" dirty="0">
                  <a:solidFill>
                    <a:schemeClr val="tx1"/>
                  </a:solidFill>
                </a:rPr>
                <a:t>застройщики могли снимать </a:t>
              </a:r>
              <a:r>
                <a:rPr lang="ru-RU" sz="1000" dirty="0">
                  <a:solidFill>
                    <a:schemeClr val="tx1"/>
                  </a:solidFill>
                </a:rPr>
                <a:t>в зависимости от хода строительства.  В 2020 году многим застройщикам стали отказывать в снятии.</a:t>
              </a:r>
            </a:p>
          </p:txBody>
        </p:sp>
        <p:sp>
          <p:nvSpPr>
            <p:cNvPr id="22" name="Прямоугольник 21">
              <a:extLst>
                <a:ext uri="{FF2B5EF4-FFF2-40B4-BE49-F238E27FC236}">
                  <a16:creationId xmlns:a16="http://schemas.microsoft.com/office/drawing/2014/main" id="{F725A738-550F-497C-AE1D-45E80E19B418}"/>
                </a:ext>
              </a:extLst>
            </p:cNvPr>
            <p:cNvSpPr/>
            <p:nvPr/>
          </p:nvSpPr>
          <p:spPr>
            <a:xfrm>
              <a:off x="4555912" y="3913559"/>
              <a:ext cx="3208417" cy="679348"/>
            </a:xfrm>
            <a:prstGeom prst="rect">
              <a:avLst/>
            </a:prstGeom>
            <a:solidFill>
              <a:schemeClr val="bg1"/>
            </a:solidFill>
            <a:ln>
              <a:solidFill>
                <a:srgbClr val="FFC20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ru-RU" sz="1000" dirty="0">
                  <a:solidFill>
                    <a:schemeClr val="tx1"/>
                  </a:solidFill>
                </a:rPr>
                <a:t>Многие регионы </a:t>
              </a:r>
              <a:r>
                <a:rPr lang="ru-RU" sz="1000" b="1" dirty="0">
                  <a:solidFill>
                    <a:schemeClr val="tx1"/>
                  </a:solidFill>
                </a:rPr>
                <a:t>ввели полный запрет </a:t>
              </a:r>
              <a:r>
                <a:rPr lang="ru-RU" sz="1000" dirty="0">
                  <a:solidFill>
                    <a:schemeClr val="tx1"/>
                  </a:solidFill>
                </a:rPr>
                <a:t>на снятие средств с эскроу-счетов после новостей о долговых проблемах </a:t>
              </a:r>
              <a:r>
                <a:rPr lang="ru-RU" sz="1000" dirty="0" err="1">
                  <a:solidFill>
                    <a:schemeClr val="tx1"/>
                  </a:solidFill>
                </a:rPr>
                <a:t>Evergrande</a:t>
              </a:r>
              <a:endParaRPr lang="ru-RU" sz="1000" dirty="0">
                <a:solidFill>
                  <a:schemeClr val="tx1"/>
                </a:solidFill>
              </a:endParaRPr>
            </a:p>
          </p:txBody>
        </p:sp>
        <p:sp>
          <p:nvSpPr>
            <p:cNvPr id="24" name="Прямоугольник 23">
              <a:extLst>
                <a:ext uri="{FF2B5EF4-FFF2-40B4-BE49-F238E27FC236}">
                  <a16:creationId xmlns:a16="http://schemas.microsoft.com/office/drawing/2014/main" id="{ECA0B50E-B860-4AB1-AA4B-3B5544376DFF}"/>
                </a:ext>
              </a:extLst>
            </p:cNvPr>
            <p:cNvSpPr/>
            <p:nvPr/>
          </p:nvSpPr>
          <p:spPr>
            <a:xfrm>
              <a:off x="8743539" y="3893743"/>
              <a:ext cx="3208417" cy="1152754"/>
            </a:xfrm>
            <a:prstGeom prst="rect">
              <a:avLst/>
            </a:prstGeom>
            <a:solidFill>
              <a:schemeClr val="bg1"/>
            </a:solidFill>
            <a:ln>
              <a:solidFill>
                <a:srgbClr val="FFC209"/>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ru-RU" sz="1000" dirty="0">
                  <a:solidFill>
                    <a:schemeClr val="tx1"/>
                  </a:solidFill>
                </a:rPr>
                <a:t>Коммерческие банки могут выдать гарантийные письма застройщикам для частичного снятия средств (не более 30% от общей суммы на счете). После Министерством жилья, городского и сельского строительства КНР может разрешить застройщику получить часть средств. </a:t>
              </a:r>
            </a:p>
            <a:p>
              <a:endParaRPr lang="ru-RU" sz="1000" dirty="0">
                <a:solidFill>
                  <a:schemeClr val="tx1"/>
                </a:solidFill>
              </a:endParaRPr>
            </a:p>
            <a:p>
              <a:endParaRPr lang="ru-RU" sz="1000" dirty="0">
                <a:solidFill>
                  <a:schemeClr val="tx1"/>
                </a:solidFill>
              </a:endParaRPr>
            </a:p>
          </p:txBody>
        </p:sp>
      </p:grpSp>
      <p:sp>
        <p:nvSpPr>
          <p:cNvPr id="25" name="Прямоугольник 24">
            <a:extLst>
              <a:ext uri="{FF2B5EF4-FFF2-40B4-BE49-F238E27FC236}">
                <a16:creationId xmlns:a16="http://schemas.microsoft.com/office/drawing/2014/main" id="{63BC8E58-2A90-494E-BD66-77F60193EEB7}"/>
              </a:ext>
            </a:extLst>
          </p:cNvPr>
          <p:cNvSpPr/>
          <p:nvPr/>
        </p:nvSpPr>
        <p:spPr>
          <a:xfrm>
            <a:off x="232332" y="2413766"/>
            <a:ext cx="9794669" cy="307777"/>
          </a:xfrm>
          <a:prstGeom prst="rect">
            <a:avLst/>
          </a:prstGeom>
        </p:spPr>
        <p:txBody>
          <a:bodyPr wrap="none">
            <a:spAutoFit/>
          </a:bodyPr>
          <a:lstStyle/>
          <a:p>
            <a:r>
              <a:rPr lang="ru-RU" sz="1400" u="sng" dirty="0">
                <a:cs typeface="Arial" panose="020B0604020202020204" pitchFamily="34" charset="0"/>
              </a:rPr>
              <a:t>Возможность частичного снятия денег с эскроу-счетов застройщиками до и после строительного кризиса:</a:t>
            </a:r>
            <a:endParaRPr lang="ru-RU" sz="1400" u="sng" dirty="0"/>
          </a:p>
        </p:txBody>
      </p:sp>
      <p:cxnSp>
        <p:nvCxnSpPr>
          <p:cNvPr id="28" name="Соединитель: уступ 27">
            <a:extLst>
              <a:ext uri="{FF2B5EF4-FFF2-40B4-BE49-F238E27FC236}">
                <a16:creationId xmlns:a16="http://schemas.microsoft.com/office/drawing/2014/main" id="{AD18EEE0-1D8A-4F62-B1D0-3397141C7338}"/>
              </a:ext>
            </a:extLst>
          </p:cNvPr>
          <p:cNvCxnSpPr>
            <a:cxnSpLocks/>
            <a:stCxn id="24" idx="1"/>
          </p:cNvCxnSpPr>
          <p:nvPr/>
        </p:nvCxnSpPr>
        <p:spPr>
          <a:xfrm rot="10800000" flipV="1">
            <a:off x="1072055" y="3759277"/>
            <a:ext cx="7300862" cy="781191"/>
          </a:xfrm>
          <a:prstGeom prst="bentConnector3">
            <a:avLst>
              <a:gd name="adj1" fmla="val 8827"/>
            </a:avLst>
          </a:prstGeom>
          <a:ln w="0" cap="sq">
            <a:solidFill>
              <a:srgbClr val="21261E">
                <a:alpha val="20000"/>
              </a:srgbClr>
            </a:solidFill>
            <a:prstDash val="dash"/>
            <a:round/>
            <a:headEnd w="lg" len="lg"/>
            <a:tailEnd type="stealth"/>
          </a:ln>
        </p:spPr>
        <p:style>
          <a:lnRef idx="1">
            <a:schemeClr val="accent1"/>
          </a:lnRef>
          <a:fillRef idx="0">
            <a:schemeClr val="accent1"/>
          </a:fillRef>
          <a:effectRef idx="0">
            <a:schemeClr val="accent1"/>
          </a:effectRef>
          <a:fontRef idx="minor">
            <a:schemeClr val="tx1"/>
          </a:fontRef>
        </p:style>
      </p:cxnSp>
      <p:sp>
        <p:nvSpPr>
          <p:cNvPr id="45" name="Прямоугольник 44">
            <a:extLst>
              <a:ext uri="{FF2B5EF4-FFF2-40B4-BE49-F238E27FC236}">
                <a16:creationId xmlns:a16="http://schemas.microsoft.com/office/drawing/2014/main" id="{A8C686F5-B727-4E4D-957C-EF5E182FE12F}"/>
              </a:ext>
            </a:extLst>
          </p:cNvPr>
          <p:cNvSpPr/>
          <p:nvPr/>
        </p:nvSpPr>
        <p:spPr>
          <a:xfrm>
            <a:off x="273245" y="4392946"/>
            <a:ext cx="11606728" cy="1969770"/>
          </a:xfrm>
          <a:prstGeom prst="rect">
            <a:avLst/>
          </a:prstGeom>
        </p:spPr>
        <p:txBody>
          <a:bodyPr wrap="square">
            <a:spAutoFit/>
          </a:bodyPr>
          <a:lstStyle/>
          <a:p>
            <a:r>
              <a:rPr lang="ru-RU" sz="1400" b="1" dirty="0">
                <a:cs typeface="Arial" panose="020B0604020202020204" pitchFamily="34" charset="0"/>
              </a:rPr>
              <a:t>Важно:</a:t>
            </a:r>
          </a:p>
          <a:p>
            <a:pPr marL="285750" indent="-285750">
              <a:buFont typeface="Arial" panose="020B0604020202020204" pitchFamily="34" charset="0"/>
              <a:buChar char="•"/>
            </a:pPr>
            <a:r>
              <a:rPr lang="ru-RU" sz="1200" dirty="0">
                <a:cs typeface="Arial" panose="020B0604020202020204" pitchFamily="34" charset="0"/>
              </a:rPr>
              <a:t>Банкам с рейтингом 4 или ниже или активами менее 500 млрд юаней не разрешается выдавать гарантийные письма. Гарантийные письма могут выдавать банки, не являющиеся эскроу-агентами. При выдаче гарантии банк формируется необходимые резервы.</a:t>
            </a:r>
          </a:p>
          <a:p>
            <a:pPr marL="285750" indent="-285750">
              <a:buFont typeface="Arial" panose="020B0604020202020204" pitchFamily="34" charset="0"/>
              <a:buChar char="•"/>
            </a:pPr>
            <a:r>
              <a:rPr lang="ru-RU" sz="1200" dirty="0">
                <a:cs typeface="Arial" panose="020B0604020202020204" pitchFamily="34" charset="0"/>
              </a:rPr>
              <a:t>Банки самостоятельно принимают решение о выдаче гарантийного письма на основе полной оценки кредитного риска, финансового положения и репутационного риска застройщиков. </a:t>
            </a:r>
          </a:p>
          <a:p>
            <a:pPr marL="285750" indent="-285750">
              <a:buFont typeface="Arial" panose="020B0604020202020204" pitchFamily="34" charset="0"/>
              <a:buChar char="•"/>
            </a:pPr>
            <a:r>
              <a:rPr lang="ru-RU" sz="1200" dirty="0">
                <a:cs typeface="Arial" panose="020B0604020202020204" pitchFamily="34" charset="0"/>
              </a:rPr>
              <a:t>Компании по недвижимости должны использовать снятые средства только для строительства текущего проекта и/или погашения задолженности на уровне проекта. Компании должны пополнять эскроу-счета по мере необходимости для обеспечения достаточности средств для строительства. </a:t>
            </a:r>
          </a:p>
          <a:p>
            <a:pPr marL="285750" indent="-285750">
              <a:buFont typeface="Arial" panose="020B0604020202020204" pitchFamily="34" charset="0"/>
              <a:buChar char="•"/>
            </a:pPr>
            <a:r>
              <a:rPr lang="ru-RU" sz="1200" dirty="0">
                <a:cs typeface="Arial" panose="020B0604020202020204" pitchFamily="34" charset="0"/>
              </a:rPr>
              <a:t>Если средств на эскроу-счетах недостаточно для нужд строительства, банк, выдавший гарантийное письмо, должен пополнить средства за счет собственных ресурсов и уменьшить сумму гарантии на сумму покрытого дефицита.</a:t>
            </a:r>
          </a:p>
        </p:txBody>
      </p:sp>
      <p:pic>
        <p:nvPicPr>
          <p:cNvPr id="26" name="Рисунок 25">
            <a:extLst>
              <a:ext uri="{FF2B5EF4-FFF2-40B4-BE49-F238E27FC236}">
                <a16:creationId xmlns:a16="http://schemas.microsoft.com/office/drawing/2014/main" id="{96B95BE4-C587-4818-8A56-F8A9FEC81D02}"/>
              </a:ext>
            </a:extLst>
          </p:cNvPr>
          <p:cNvPicPr>
            <a:picLocks noChangeAspect="1"/>
          </p:cNvPicPr>
          <p:nvPr/>
        </p:nvPicPr>
        <p:blipFill>
          <a:blip r:embed="rId6"/>
          <a:stretch>
            <a:fillRect/>
          </a:stretch>
        </p:blipFill>
        <p:spPr>
          <a:xfrm>
            <a:off x="11710034" y="9625"/>
            <a:ext cx="476250" cy="466725"/>
          </a:xfrm>
          <a:prstGeom prst="rect">
            <a:avLst/>
          </a:prstGeom>
        </p:spPr>
      </p:pic>
    </p:spTree>
    <p:extLst>
      <p:ext uri="{BB962C8B-B14F-4D97-AF65-F5344CB8AC3E}">
        <p14:creationId xmlns:p14="http://schemas.microsoft.com/office/powerpoint/2010/main" val="473363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Номер слайда 47">
            <a:extLst>
              <a:ext uri="{FF2B5EF4-FFF2-40B4-BE49-F238E27FC236}">
                <a16:creationId xmlns:a16="http://schemas.microsoft.com/office/drawing/2014/main" id="{72399180-F44D-B6EE-876F-FA669B178A70}"/>
              </a:ext>
            </a:extLst>
          </p:cNvPr>
          <p:cNvSpPr>
            <a:spLocks noGrp="1"/>
          </p:cNvSpPr>
          <p:nvPr>
            <p:ph type="sldNum" sz="quarter" idx="12"/>
          </p:nvPr>
        </p:nvSpPr>
        <p:spPr>
          <a:xfrm>
            <a:off x="9077325" y="6292921"/>
            <a:ext cx="2743200" cy="365125"/>
          </a:xfrm>
        </p:spPr>
        <p:txBody>
          <a:bodyPr/>
          <a:lstStyle/>
          <a:p>
            <a:fld id="{F4DE39DC-9C9B-4F1F-B15D-32FB0D0068D7}" type="slidenum">
              <a:rPr lang="ru-KZ" smtClean="0"/>
              <a:t>6</a:t>
            </a:fld>
            <a:endParaRPr lang="ru-KZ" dirty="0"/>
          </a:p>
        </p:txBody>
      </p:sp>
      <p:sp>
        <p:nvSpPr>
          <p:cNvPr id="9" name="Заголовок 1">
            <a:extLst>
              <a:ext uri="{FF2B5EF4-FFF2-40B4-BE49-F238E27FC236}">
                <a16:creationId xmlns:a16="http://schemas.microsoft.com/office/drawing/2014/main" id="{938A2DF7-0355-4A5F-AC8B-6B284EC41536}"/>
              </a:ext>
            </a:extLst>
          </p:cNvPr>
          <p:cNvSpPr txBox="1">
            <a:spLocks/>
          </p:cNvSpPr>
          <p:nvPr/>
        </p:nvSpPr>
        <p:spPr>
          <a:xfrm>
            <a:off x="213794" y="65737"/>
            <a:ext cx="10554726" cy="733917"/>
          </a:xfrm>
          <a:prstGeom prst="rect">
            <a:avLst/>
          </a:prstGeom>
        </p:spPr>
        <p:txBody>
          <a:bodyPr anchor="ctr" anchorCtr="0">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МЕЖДУНАРОДНЫЙ ОПЫТ </a:t>
            </a:r>
            <a:r>
              <a:rPr lang="ru-RU" sz="2400" b="1" dirty="0">
                <a:solidFill>
                  <a:srgbClr val="FFC209"/>
                </a:solidFill>
                <a:latin typeface="Inter" panose="02000503000000020004" pitchFamily="2" charset="0"/>
                <a:ea typeface="Inter" panose="02000503000000020004" pitchFamily="2" charset="0"/>
              </a:rPr>
              <a:t>США</a:t>
            </a:r>
            <a:r>
              <a:rPr lang="ru-RU" sz="2400" b="1" dirty="0">
                <a:latin typeface="Inter" panose="02000503000000020004" pitchFamily="2" charset="0"/>
                <a:ea typeface="Inter" panose="02000503000000020004" pitchFamily="2" charset="0"/>
              </a:rPr>
              <a:t>: НА ЦЕНЫ НЕДВИЖИМОСТИ ВЛИЯЮТ ПРОЦЕНТНЫЕ СТАВКИ И ДОХОДЫ НАСЕЛЕНИЯ</a:t>
            </a:r>
            <a:endParaRPr lang="ru-KZ" sz="2400" b="1" dirty="0">
              <a:latin typeface="Inter" panose="02000503000000020004" pitchFamily="2" charset="0"/>
              <a:ea typeface="Inter" panose="02000503000000020004" pitchFamily="2" charset="0"/>
            </a:endParaRPr>
          </a:p>
        </p:txBody>
      </p:sp>
      <p:sp>
        <p:nvSpPr>
          <p:cNvPr id="11" name="TextBox 10">
            <a:extLst>
              <a:ext uri="{FF2B5EF4-FFF2-40B4-BE49-F238E27FC236}">
                <a16:creationId xmlns:a16="http://schemas.microsoft.com/office/drawing/2014/main" id="{7DD15CD9-7AFF-4642-B061-B89C1824803A}"/>
              </a:ext>
            </a:extLst>
          </p:cNvPr>
          <p:cNvSpPr txBox="1"/>
          <p:nvPr/>
        </p:nvSpPr>
        <p:spPr>
          <a:xfrm>
            <a:off x="213793" y="822391"/>
            <a:ext cx="11606731" cy="1169551"/>
          </a:xfrm>
          <a:prstGeom prst="rect">
            <a:avLst/>
          </a:prstGeom>
          <a:noFill/>
        </p:spPr>
        <p:txBody>
          <a:bodyPr wrap="square" rtlCol="0">
            <a:spAutoFit/>
          </a:bodyPr>
          <a:lstStyle/>
          <a:p>
            <a:pPr marL="285750" indent="-285750" algn="just">
              <a:buFont typeface="Arial" panose="020B0604020202020204" pitchFamily="34" charset="0"/>
              <a:buChar char="•"/>
            </a:pPr>
            <a:r>
              <a:rPr lang="ru-RU" sz="1400" dirty="0">
                <a:cs typeface="Arial" panose="020B0604020202020204" pitchFamily="34" charset="0"/>
              </a:rPr>
              <a:t>Активное использование </a:t>
            </a:r>
            <a:r>
              <a:rPr lang="ru-RU" sz="1400" dirty="0" err="1">
                <a:cs typeface="Arial" panose="020B0604020202020204" pitchFamily="34" charset="0"/>
              </a:rPr>
              <a:t>эскроу</a:t>
            </a:r>
            <a:r>
              <a:rPr lang="ru-RU" sz="1400" dirty="0">
                <a:cs typeface="Arial" panose="020B0604020202020204" pitchFamily="34" charset="0"/>
              </a:rPr>
              <a:t> счетов началось во времена </a:t>
            </a:r>
            <a:r>
              <a:rPr lang="ru-RU" sz="1400" b="1" dirty="0">
                <a:cs typeface="Arial" panose="020B0604020202020204" pitchFamily="34" charset="0"/>
              </a:rPr>
              <a:t>великой депрессии </a:t>
            </a:r>
            <a:r>
              <a:rPr lang="ru-RU" sz="1400" dirty="0">
                <a:cs typeface="Arial" panose="020B0604020202020204" pitchFamily="34" charset="0"/>
              </a:rPr>
              <a:t>с целью повысить доверие инвесторов</a:t>
            </a:r>
          </a:p>
          <a:p>
            <a:pPr marL="285750" indent="-285750" algn="just">
              <a:buFont typeface="Arial" panose="020B0604020202020204" pitchFamily="34" charset="0"/>
              <a:buChar char="•"/>
            </a:pPr>
            <a:r>
              <a:rPr lang="ru-RU" sz="1400" b="1" dirty="0">
                <a:cs typeface="Arial" panose="020B0604020202020204" pitchFamily="34" charset="0"/>
              </a:rPr>
              <a:t>Плата за эскроу делится 50/50 </a:t>
            </a:r>
            <a:r>
              <a:rPr lang="ru-RU" sz="1400" dirty="0">
                <a:cs typeface="Arial" panose="020B0604020202020204" pitchFamily="34" charset="0"/>
              </a:rPr>
              <a:t>между покупателем и продавцам</a:t>
            </a:r>
            <a:r>
              <a:rPr lang="ru-RU" sz="1400" b="1" dirty="0">
                <a:cs typeface="Arial" panose="020B0604020202020204" pitchFamily="34" charset="0"/>
              </a:rPr>
              <a:t>, комиссия составляет 1-2% от цены стоимости недвижимости</a:t>
            </a:r>
            <a:r>
              <a:rPr lang="ru-RU" sz="1400" dirty="0">
                <a:cs typeface="Arial" panose="020B0604020202020204" pitchFamily="34" charset="0"/>
              </a:rPr>
              <a:t>, также практикуется фиксированные комиссии за эскроу услуги. </a:t>
            </a:r>
          </a:p>
          <a:p>
            <a:pPr marL="285750" indent="-285750" algn="just">
              <a:buFont typeface="Arial" panose="020B0604020202020204" pitchFamily="34" charset="0"/>
              <a:buChar char="•"/>
            </a:pPr>
            <a:r>
              <a:rPr lang="ru-RU" sz="1400" dirty="0">
                <a:cs typeface="Arial" panose="020B0604020202020204" pitchFamily="34" charset="0"/>
              </a:rPr>
              <a:t>Эскроу услуги могут лишь оказывать независимые лицензированные компании: эскроу компании, банки, юр фирмы, получившие лицензии на данную деятельность</a:t>
            </a:r>
            <a:r>
              <a:rPr lang="en-US" sz="1400" dirty="0">
                <a:cs typeface="Arial" panose="020B0604020202020204" pitchFamily="34" charset="0"/>
              </a:rPr>
              <a:t>.</a:t>
            </a:r>
            <a:r>
              <a:rPr lang="ru-RU" sz="1400" dirty="0">
                <a:cs typeface="Arial" panose="020B0604020202020204" pitchFamily="34" charset="0"/>
              </a:rPr>
              <a:t> Лицензию выдают органы власти в зависимости от штата. </a:t>
            </a:r>
            <a:endParaRPr lang="en-US" sz="1400" dirty="0">
              <a:cs typeface="Arial" panose="020B0604020202020204" pitchFamily="34" charset="0"/>
            </a:endParaRPr>
          </a:p>
        </p:txBody>
      </p:sp>
      <p:cxnSp>
        <p:nvCxnSpPr>
          <p:cNvPr id="14" name="Прямая соединительная линия 13">
            <a:extLst>
              <a:ext uri="{FF2B5EF4-FFF2-40B4-BE49-F238E27FC236}">
                <a16:creationId xmlns:a16="http://schemas.microsoft.com/office/drawing/2014/main" id="{8CB6EC36-0CEC-4B30-9B7C-CAE324FE8846}"/>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Прямоугольник 2">
            <a:extLst>
              <a:ext uri="{FF2B5EF4-FFF2-40B4-BE49-F238E27FC236}">
                <a16:creationId xmlns:a16="http://schemas.microsoft.com/office/drawing/2014/main" id="{0C6C359F-7F1F-47D4-9357-19D87D4886C4}"/>
              </a:ext>
            </a:extLst>
          </p:cNvPr>
          <p:cNvSpPr/>
          <p:nvPr/>
        </p:nvSpPr>
        <p:spPr>
          <a:xfrm>
            <a:off x="469023" y="1954161"/>
            <a:ext cx="6096000" cy="215444"/>
          </a:xfrm>
          <a:prstGeom prst="rect">
            <a:avLst/>
          </a:prstGeom>
        </p:spPr>
        <p:txBody>
          <a:bodyPr>
            <a:spAutoFit/>
          </a:bodyPr>
          <a:lstStyle/>
          <a:p>
            <a:r>
              <a:rPr lang="ru-RU" sz="800" dirty="0"/>
              <a:t>Источник: </a:t>
            </a:r>
            <a:r>
              <a:rPr lang="en-US" sz="800" dirty="0">
                <a:hlinkClick r:id="rId3"/>
              </a:rPr>
              <a:t>https://www.rocketmortgage.com/</a:t>
            </a:r>
            <a:endParaRPr lang="en-US" sz="800" dirty="0"/>
          </a:p>
        </p:txBody>
      </p:sp>
      <p:sp>
        <p:nvSpPr>
          <p:cNvPr id="17" name="TextBox 16">
            <a:extLst>
              <a:ext uri="{FF2B5EF4-FFF2-40B4-BE49-F238E27FC236}">
                <a16:creationId xmlns:a16="http://schemas.microsoft.com/office/drawing/2014/main" id="{F340D6AF-924D-4FD4-A755-EE49A1838A81}"/>
              </a:ext>
            </a:extLst>
          </p:cNvPr>
          <p:cNvSpPr txBox="1"/>
          <p:nvPr/>
        </p:nvSpPr>
        <p:spPr>
          <a:xfrm>
            <a:off x="213794" y="2229770"/>
            <a:ext cx="11646929" cy="307777"/>
          </a:xfrm>
          <a:prstGeom prst="rect">
            <a:avLst/>
          </a:prstGeom>
          <a:noFill/>
        </p:spPr>
        <p:txBody>
          <a:bodyPr wrap="square" rtlCol="0">
            <a:spAutoFit/>
          </a:bodyPr>
          <a:lstStyle/>
          <a:p>
            <a:r>
              <a:rPr lang="ru-RU" sz="1400" dirty="0">
                <a:latin typeface="Inter" panose="02000503000000020004" pitchFamily="2" charset="0"/>
                <a:ea typeface="Inter" panose="02000503000000020004" pitchFamily="2" charset="0"/>
              </a:rPr>
              <a:t>Индекс Кейса — Шиллера — индекс цен на жилье по 20-ти крупнейшим городам США</a:t>
            </a:r>
            <a:endParaRPr lang="en-US" sz="2800" dirty="0">
              <a:latin typeface="Inter" panose="02000503000000020004" pitchFamily="2" charset="0"/>
              <a:ea typeface="Inter" panose="02000503000000020004" pitchFamily="2" charset="0"/>
            </a:endParaRPr>
          </a:p>
        </p:txBody>
      </p:sp>
      <p:sp>
        <p:nvSpPr>
          <p:cNvPr id="18" name="TextBox 17">
            <a:extLst>
              <a:ext uri="{FF2B5EF4-FFF2-40B4-BE49-F238E27FC236}">
                <a16:creationId xmlns:a16="http://schemas.microsoft.com/office/drawing/2014/main" id="{BF925C5D-A92A-4858-8C0B-BDA7CC5886A0}"/>
              </a:ext>
            </a:extLst>
          </p:cNvPr>
          <p:cNvSpPr txBox="1"/>
          <p:nvPr/>
        </p:nvSpPr>
        <p:spPr>
          <a:xfrm>
            <a:off x="138962" y="5863144"/>
            <a:ext cx="11914076" cy="523220"/>
          </a:xfrm>
          <a:prstGeom prst="rect">
            <a:avLst/>
          </a:prstGeom>
          <a:noFill/>
        </p:spPr>
        <p:txBody>
          <a:bodyPr wrap="square" rtlCol="0">
            <a:spAutoFit/>
          </a:bodyPr>
          <a:lstStyle/>
          <a:p>
            <a:pPr algn="just"/>
            <a:r>
              <a:rPr lang="ru-RU" sz="1400" dirty="0"/>
              <a:t>Снижение ипотечной ставки и рост доходов домохозяйств оказывает положительное влияние</a:t>
            </a:r>
            <a:r>
              <a:rPr lang="en-US" sz="1400" dirty="0"/>
              <a:t> </a:t>
            </a:r>
            <a:r>
              <a:rPr lang="ru-RU" sz="1400" dirty="0"/>
              <a:t>на рост цен на недвижимость, что подтверждается индексом Шиллера, который вырос в 3.3 раза, </a:t>
            </a:r>
            <a:r>
              <a:rPr lang="en-US" sz="1400" dirty="0"/>
              <a:t> </a:t>
            </a:r>
            <a:r>
              <a:rPr lang="ru-RU" sz="1400" dirty="0"/>
              <a:t>исключением являются последние 3 года из-за роста инфляции.   </a:t>
            </a:r>
          </a:p>
        </p:txBody>
      </p:sp>
      <p:graphicFrame>
        <p:nvGraphicFramePr>
          <p:cNvPr id="19" name="Диаграмма 18">
            <a:extLst>
              <a:ext uri="{FF2B5EF4-FFF2-40B4-BE49-F238E27FC236}">
                <a16:creationId xmlns:a16="http://schemas.microsoft.com/office/drawing/2014/main" id="{FE480B0A-83A0-4502-8821-6E241FB6C05E}"/>
              </a:ext>
            </a:extLst>
          </p:cNvPr>
          <p:cNvGraphicFramePr>
            <a:graphicFrameLocks/>
          </p:cNvGraphicFramePr>
          <p:nvPr>
            <p:extLst>
              <p:ext uri="{D42A27DB-BD31-4B8C-83A1-F6EECF244321}">
                <p14:modId xmlns:p14="http://schemas.microsoft.com/office/powerpoint/2010/main" val="2260478074"/>
              </p:ext>
            </p:extLst>
          </p:nvPr>
        </p:nvGraphicFramePr>
        <p:xfrm>
          <a:off x="6708532" y="2606048"/>
          <a:ext cx="5477752" cy="3135622"/>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1B00710A-2B16-4A26-A506-4C25C4CF5F7C}"/>
              </a:ext>
            </a:extLst>
          </p:cNvPr>
          <p:cNvSpPr txBox="1"/>
          <p:nvPr/>
        </p:nvSpPr>
        <p:spPr>
          <a:xfrm>
            <a:off x="419262" y="5578327"/>
            <a:ext cx="5064207" cy="369332"/>
          </a:xfrm>
          <a:prstGeom prst="rect">
            <a:avLst/>
          </a:prstGeom>
          <a:noFill/>
        </p:spPr>
        <p:txBody>
          <a:bodyPr wrap="none" rtlCol="0">
            <a:spAutoFit/>
          </a:bodyPr>
          <a:lstStyle/>
          <a:p>
            <a:r>
              <a:rPr lang="ru-RU" sz="900" dirty="0"/>
              <a:t>Источник: </a:t>
            </a:r>
            <a:r>
              <a:rPr lang="en-US" sz="900" dirty="0">
                <a:hlinkClick r:id="rId5"/>
              </a:rPr>
              <a:t>https://ru.tradingeconomics.com/united-states/case-shiller-home-price-index</a:t>
            </a:r>
            <a:endParaRPr lang="ru-RU" sz="900" dirty="0"/>
          </a:p>
          <a:p>
            <a:endParaRPr lang="en-US" sz="900" dirty="0"/>
          </a:p>
        </p:txBody>
      </p:sp>
      <p:pic>
        <p:nvPicPr>
          <p:cNvPr id="13" name="Рисунок 12">
            <a:extLst>
              <a:ext uri="{FF2B5EF4-FFF2-40B4-BE49-F238E27FC236}">
                <a16:creationId xmlns:a16="http://schemas.microsoft.com/office/drawing/2014/main" id="{5132CA33-82CD-40A6-81A5-B475AB406A4C}"/>
              </a:ext>
            </a:extLst>
          </p:cNvPr>
          <p:cNvPicPr>
            <a:picLocks noChangeAspect="1"/>
          </p:cNvPicPr>
          <p:nvPr/>
        </p:nvPicPr>
        <p:blipFill>
          <a:blip r:embed="rId6"/>
          <a:stretch>
            <a:fillRect/>
          </a:stretch>
        </p:blipFill>
        <p:spPr>
          <a:xfrm>
            <a:off x="11710034" y="9625"/>
            <a:ext cx="476250" cy="466725"/>
          </a:xfrm>
          <a:prstGeom prst="rect">
            <a:avLst/>
          </a:prstGeom>
        </p:spPr>
      </p:pic>
      <p:graphicFrame>
        <p:nvGraphicFramePr>
          <p:cNvPr id="16" name="Диаграмма 15">
            <a:extLst>
              <a:ext uri="{FF2B5EF4-FFF2-40B4-BE49-F238E27FC236}">
                <a16:creationId xmlns:a16="http://schemas.microsoft.com/office/drawing/2014/main" id="{A33E2DDB-AB26-486B-BBC5-148A6ACFE21A}"/>
              </a:ext>
            </a:extLst>
          </p:cNvPr>
          <p:cNvGraphicFramePr>
            <a:graphicFrameLocks/>
          </p:cNvGraphicFramePr>
          <p:nvPr>
            <p:extLst>
              <p:ext uri="{D42A27DB-BD31-4B8C-83A1-F6EECF244321}">
                <p14:modId xmlns:p14="http://schemas.microsoft.com/office/powerpoint/2010/main" val="4210636226"/>
              </p:ext>
            </p:extLst>
          </p:nvPr>
        </p:nvGraphicFramePr>
        <p:xfrm>
          <a:off x="213795" y="2527343"/>
          <a:ext cx="6606456" cy="3133633"/>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890479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Объект 2">
            <a:extLst>
              <a:ext uri="{FF2B5EF4-FFF2-40B4-BE49-F238E27FC236}">
                <a16:creationId xmlns:a16="http://schemas.microsoft.com/office/drawing/2014/main" id="{0D39AE8D-83E3-4F94-A1C8-0AC8D502DB03}"/>
              </a:ext>
            </a:extLst>
          </p:cNvPr>
          <p:cNvSpPr>
            <a:spLocks noGrp="1"/>
          </p:cNvSpPr>
          <p:nvPr>
            <p:ph idx="1"/>
          </p:nvPr>
        </p:nvSpPr>
        <p:spPr>
          <a:xfrm>
            <a:off x="154342" y="813931"/>
            <a:ext cx="11606731" cy="5860464"/>
          </a:xfrm>
        </p:spPr>
        <p:txBody>
          <a:bodyPr>
            <a:normAutofit lnSpcReduction="10000"/>
          </a:bodyPr>
          <a:lstStyle/>
          <a:p>
            <a:pPr marL="284400" indent="-285750">
              <a:spcBef>
                <a:spcPts val="0"/>
              </a:spcBef>
              <a:spcAft>
                <a:spcPts val="600"/>
              </a:spcAft>
            </a:pPr>
            <a:r>
              <a:rPr lang="ru-RU" sz="1100" dirty="0">
                <a:latin typeface="Inter" panose="02000503000000020004" pitchFamily="2" charset="0"/>
                <a:ea typeface="Inter" panose="02000503000000020004" pitchFamily="2" charset="0"/>
              </a:rPr>
              <a:t>Эскроу-счета введены с 01 июля 2019 года. </a:t>
            </a:r>
            <a:r>
              <a:rPr lang="ru-RU" sz="1100" b="1" dirty="0">
                <a:latin typeface="Inter" panose="02000503000000020004" pitchFamily="2" charset="0"/>
                <a:ea typeface="Inter" panose="02000503000000020004" pitchFamily="2" charset="0"/>
              </a:rPr>
              <a:t>Привлечение средств участников долевого строительства теперь допускается только с использованием счетов эскроу по договорам участия в долевом строительстве</a:t>
            </a:r>
            <a:r>
              <a:rPr lang="ru-RU" sz="1100" dirty="0">
                <a:latin typeface="Inter" panose="02000503000000020004" pitchFamily="2" charset="0"/>
                <a:ea typeface="Inter" panose="02000503000000020004" pitchFamily="2" charset="0"/>
              </a:rPr>
              <a:t>. </a:t>
            </a:r>
            <a:r>
              <a:rPr lang="ru-RU" sz="1000" i="1" dirty="0">
                <a:latin typeface="Inter" panose="02000503000000020004" pitchFamily="2" charset="0"/>
                <a:ea typeface="Inter" panose="02000503000000020004" pitchFamily="2" charset="0"/>
              </a:rPr>
              <a:t>(Статья 15.4  Федерального закона от 30.12.2004 N 214-ФЗ "Об участии в долевом строительстве многоквартирных домов и иных объектов недвижимости и о   внесении изменений в некоторые законодательные акты Российской Федерации"). </a:t>
            </a:r>
            <a:r>
              <a:rPr lang="ru-RU" sz="1100" dirty="0">
                <a:latin typeface="Inter" panose="02000503000000020004" pitchFamily="2" charset="0"/>
                <a:ea typeface="Inter" panose="02000503000000020004" pitchFamily="2" charset="0"/>
              </a:rPr>
              <a:t>Исключение предусмотрено только для объектов строительства, которые начали строительство до 1 июля 2019 года, и степень готовности строительного объекта превышает 30%, и в нем продано не менее 10% от общего числа квартир. </a:t>
            </a:r>
            <a:r>
              <a:rPr lang="ru-RU" sz="1000" i="1" dirty="0">
                <a:latin typeface="Inter" panose="02000503000000020004" pitchFamily="2" charset="0"/>
                <a:ea typeface="Inter" panose="02000503000000020004" pitchFamily="2" charset="0"/>
              </a:rPr>
              <a:t>(ПП №480 от 22.04.2019 года “О Критериях, определяющих степень готовности многоквартирного дома и (или) иного объекта недвижимости и количество заключенных договоров участия в долевом строительстве, при условии соответствия которым застройщику предоставляется право на привлечение денежных средств участников долевого строительства без использования счетов.)</a:t>
            </a:r>
          </a:p>
          <a:p>
            <a:pPr marL="284400" lvl="0" indent="-284400">
              <a:spcBef>
                <a:spcPts val="600"/>
              </a:spcBef>
              <a:buSzPct val="100000"/>
            </a:pPr>
            <a:r>
              <a:rPr lang="ru-RU" sz="1100" dirty="0"/>
              <a:t>Денежные средства подлежат блокировки до момента возникновения оснований для передачи денежных средств бенефициару. </a:t>
            </a:r>
            <a:r>
              <a:rPr lang="ru-RU" sz="1100" b="1" dirty="0"/>
              <a:t>Застройщик может получить деньги лишь тогда, когда выполнит свои обязательства</a:t>
            </a:r>
            <a:r>
              <a:rPr lang="ru-RU" sz="1100" dirty="0"/>
              <a:t> (достроит дом и введет объект в эксплуатацию).</a:t>
            </a:r>
          </a:p>
          <a:p>
            <a:pPr marL="284400" lvl="0" indent="-284400">
              <a:spcBef>
                <a:spcPts val="600"/>
              </a:spcBef>
              <a:buSzPct val="100000"/>
            </a:pPr>
            <a:r>
              <a:rPr lang="ru-RU" sz="1100" dirty="0"/>
              <a:t>Вознаграждение банка как эскроу - агента не может взиматься из денежных средств, находящихся на счете, если иное не предусмотрено договором. </a:t>
            </a:r>
          </a:p>
          <a:p>
            <a:pPr lvl="0" indent="0">
              <a:spcBef>
                <a:spcPts val="0"/>
              </a:spcBef>
              <a:buNone/>
            </a:pPr>
            <a:r>
              <a:rPr lang="ru-RU" sz="1000" i="1" dirty="0"/>
              <a:t>(статья 860.7. Гражданский Кодекс РФ)</a:t>
            </a:r>
          </a:p>
          <a:p>
            <a:pPr lvl="0" indent="0">
              <a:spcBef>
                <a:spcPts val="0"/>
              </a:spcBef>
              <a:buNone/>
            </a:pPr>
            <a:endParaRPr lang="ru-RU" sz="1000" i="1" dirty="0">
              <a:latin typeface="Inter" panose="02000503000000020004" pitchFamily="2" charset="0"/>
              <a:ea typeface="Inter" panose="02000503000000020004" pitchFamily="2" charset="0"/>
            </a:endParaRPr>
          </a:p>
          <a:p>
            <a:pPr marL="268288" indent="-268288">
              <a:spcBef>
                <a:spcPts val="0"/>
              </a:spcBef>
            </a:pPr>
            <a:r>
              <a:rPr lang="kk-KZ" sz="1100" dirty="0">
                <a:latin typeface="Inter" panose="02000503000000020004" pitchFamily="2" charset="0"/>
                <a:ea typeface="Inter" panose="02000503000000020004" pitchFamily="2" charset="0"/>
              </a:rPr>
              <a:t>При кредитовании застройщика </a:t>
            </a:r>
            <a:r>
              <a:rPr lang="ru-RU" sz="1100" dirty="0">
                <a:latin typeface="Inter" panose="02000503000000020004" pitchFamily="2" charset="0"/>
                <a:ea typeface="Inter" panose="02000503000000020004" pitchFamily="2" charset="0"/>
              </a:rPr>
              <a:t>средневзвешенная процентная ставка постоянно снижается в зависимости от готовности объекта и наполнения счётов эскроу средствами дольщика</a:t>
            </a:r>
            <a:r>
              <a:rPr lang="en-US" sz="1100" dirty="0">
                <a:latin typeface="Inter" panose="02000503000000020004" pitchFamily="2" charset="0"/>
                <a:ea typeface="Inter" panose="02000503000000020004" pitchFamily="2" charset="0"/>
              </a:rPr>
              <a:t>.</a:t>
            </a:r>
            <a:endParaRPr lang="ru-RU" sz="1100" dirty="0">
              <a:latin typeface="Inter" panose="02000503000000020004" pitchFamily="2" charset="0"/>
              <a:ea typeface="Inter" panose="02000503000000020004" pitchFamily="2" charset="0"/>
            </a:endParaRPr>
          </a:p>
          <a:p>
            <a:pPr marL="0" indent="0">
              <a:spcBef>
                <a:spcPts val="1200"/>
              </a:spcBef>
              <a:spcAft>
                <a:spcPts val="600"/>
              </a:spcAft>
              <a:buNone/>
            </a:pPr>
            <a:r>
              <a:rPr lang="ru-RU" sz="1100" b="1" dirty="0">
                <a:solidFill>
                  <a:srgbClr val="111214"/>
                </a:solidFill>
                <a:latin typeface="Inter" panose="02000503000000020004" pitchFamily="2" charset="0"/>
                <a:ea typeface="Inter" panose="02000503000000020004" pitchFamily="2" charset="0"/>
              </a:rPr>
              <a:t>Страховая защита </a:t>
            </a:r>
          </a:p>
          <a:p>
            <a:pPr marL="55800" indent="0" algn="just">
              <a:spcBef>
                <a:spcPts val="0"/>
              </a:spcBef>
              <a:spcAft>
                <a:spcPts val="600"/>
              </a:spcAft>
              <a:buNone/>
            </a:pPr>
            <a:r>
              <a:rPr lang="ru-RU" sz="1100" dirty="0">
                <a:solidFill>
                  <a:srgbClr val="111214"/>
                </a:solidFill>
                <a:latin typeface="Inter" panose="02000503000000020004" pitchFamily="2" charset="0"/>
                <a:ea typeface="Inter" panose="02000503000000020004" pitchFamily="2" charset="0"/>
              </a:rPr>
              <a:t>Возмещение по счету эскроу для расчетов по сделке купли-продажи недвижимого имущества выплачивается в размере 100 процентов суммы, находящейся на указанном счете на день наступления страхового случая, но не более 10 млн. рублей. </a:t>
            </a:r>
            <a:r>
              <a:rPr lang="ru-RU" sz="1100" b="1" dirty="0">
                <a:solidFill>
                  <a:srgbClr val="111214"/>
                </a:solidFill>
                <a:latin typeface="Inter" panose="02000503000000020004" pitchFamily="2" charset="0"/>
                <a:ea typeface="Inter" panose="02000503000000020004" pitchFamily="2" charset="0"/>
              </a:rPr>
              <a:t>Страхование гарантируется «Агентством по страхованию вкладов» </a:t>
            </a:r>
            <a:r>
              <a:rPr lang="ru-RU" sz="1100" dirty="0">
                <a:solidFill>
                  <a:srgbClr val="111214"/>
                </a:solidFill>
                <a:latin typeface="Inter" panose="02000503000000020004" pitchFamily="2" charset="0"/>
                <a:ea typeface="Inter" panose="02000503000000020004" pitchFamily="2" charset="0"/>
              </a:rPr>
              <a:t>-</a:t>
            </a:r>
            <a:r>
              <a:rPr lang="ru-RU" sz="1100" b="1" dirty="0">
                <a:solidFill>
                  <a:srgbClr val="111214"/>
                </a:solidFill>
                <a:latin typeface="Inter" panose="02000503000000020004" pitchFamily="2" charset="0"/>
                <a:ea typeface="Inter" panose="02000503000000020004" pitchFamily="2" charset="0"/>
              </a:rPr>
              <a:t> </a:t>
            </a:r>
            <a:r>
              <a:rPr lang="ru-RU" sz="1100" dirty="0">
                <a:solidFill>
                  <a:srgbClr val="111214"/>
                </a:solidFill>
                <a:latin typeface="Inter" panose="02000503000000020004" pitchFamily="2" charset="0"/>
                <a:ea typeface="Inter" panose="02000503000000020004" pitchFamily="2" charset="0"/>
              </a:rPr>
              <a:t>капитализируется</a:t>
            </a:r>
            <a:r>
              <a:rPr lang="ru-RU" sz="1100" b="1" dirty="0">
                <a:solidFill>
                  <a:srgbClr val="111214"/>
                </a:solidFill>
                <a:latin typeface="Inter" panose="02000503000000020004" pitchFamily="2" charset="0"/>
                <a:ea typeface="Inter" panose="02000503000000020004" pitchFamily="2" charset="0"/>
              </a:rPr>
              <a:t> </a:t>
            </a:r>
            <a:r>
              <a:rPr lang="ru-RU" sz="1100" dirty="0">
                <a:solidFill>
                  <a:srgbClr val="111214"/>
                </a:solidFill>
                <a:latin typeface="Inter" panose="02000503000000020004" pitchFamily="2" charset="0"/>
                <a:ea typeface="Inter" panose="02000503000000020004" pitchFamily="2" charset="0"/>
              </a:rPr>
              <a:t>за счет взносов банков </a:t>
            </a:r>
            <a:r>
              <a:rPr lang="ru-RU" sz="1000" i="1" dirty="0">
                <a:solidFill>
                  <a:srgbClr val="111214"/>
                </a:solidFill>
                <a:latin typeface="Inter" panose="02000503000000020004" pitchFamily="2" charset="0"/>
                <a:ea typeface="Inter" panose="02000503000000020004" pitchFamily="2" charset="0"/>
              </a:rPr>
              <a:t>(пункта 3, статьи 13.1 Федерального закона от 23.12.2003 N 177-ФЗ).</a:t>
            </a:r>
          </a:p>
          <a:p>
            <a:pPr marL="284163" indent="-284163" algn="just">
              <a:spcBef>
                <a:spcPts val="600"/>
              </a:spcBef>
              <a:spcAft>
                <a:spcPts val="600"/>
              </a:spcAft>
              <a:buNone/>
            </a:pPr>
            <a:r>
              <a:rPr lang="ru-RU" sz="1100" b="1" dirty="0">
                <a:solidFill>
                  <a:srgbClr val="111214"/>
                </a:solidFill>
                <a:latin typeface="Inter" panose="02000503000000020004" pitchFamily="2" charset="0"/>
                <a:ea typeface="Inter" panose="02000503000000020004" pitchFamily="2" charset="0"/>
              </a:rPr>
              <a:t>Требования к оператору для открытия эскроу - счетов</a:t>
            </a:r>
          </a:p>
          <a:p>
            <a:pPr marL="284400" algn="just">
              <a:spcBef>
                <a:spcPts val="0"/>
              </a:spcBef>
              <a:spcAft>
                <a:spcPts val="600"/>
              </a:spcAft>
            </a:pPr>
            <a:r>
              <a:rPr lang="ru-RU" sz="1100" dirty="0">
                <a:solidFill>
                  <a:srgbClr val="111214"/>
                </a:solidFill>
                <a:latin typeface="Inter" panose="02000503000000020004" pitchFamily="2" charset="0"/>
                <a:ea typeface="Inter" panose="02000503000000020004" pitchFamily="2" charset="0"/>
              </a:rPr>
              <a:t>Уполномоченные банки и банки, имеющие права на открытие эскроу счетов должны иметь рейтинг по национальной рейтинговой шкале не ниже уровня «BBB-(RU)» и (или) «</a:t>
            </a:r>
            <a:r>
              <a:rPr lang="ru-RU" sz="1100" dirty="0" err="1">
                <a:solidFill>
                  <a:srgbClr val="111214"/>
                </a:solidFill>
                <a:latin typeface="Inter" panose="02000503000000020004" pitchFamily="2" charset="0"/>
                <a:ea typeface="Inter" panose="02000503000000020004" pitchFamily="2" charset="0"/>
              </a:rPr>
              <a:t>ruBBB</a:t>
            </a:r>
            <a:r>
              <a:rPr lang="ru-RU" sz="1100" dirty="0">
                <a:solidFill>
                  <a:srgbClr val="111214"/>
                </a:solidFill>
                <a:latin typeface="Inter" panose="02000503000000020004" pitchFamily="2" charset="0"/>
                <a:ea typeface="Inter" panose="02000503000000020004" pitchFamily="2" charset="0"/>
              </a:rPr>
              <a:t>-»</a:t>
            </a:r>
          </a:p>
          <a:p>
            <a:pPr marL="284400" algn="just">
              <a:spcBef>
                <a:spcPts val="0"/>
              </a:spcBef>
              <a:spcAft>
                <a:spcPts val="600"/>
              </a:spcAft>
            </a:pPr>
            <a:r>
              <a:rPr lang="ru-RU" sz="1100" dirty="0">
                <a:solidFill>
                  <a:srgbClr val="111214"/>
                </a:solidFill>
                <a:latin typeface="Inter" panose="02000503000000020004" pitchFamily="2" charset="0"/>
                <a:ea typeface="Inter" panose="02000503000000020004" pitchFamily="2" charset="0"/>
              </a:rPr>
              <a:t>Банки с кредитным рейтингом ниже чем «A-» и до «BBB-» включительно устанавливается лимит суммы задолженности по всем договорам о предоставлении целевых кредитов застройщикам в размере не более 20% величины собственных средств (капитала) банка.</a:t>
            </a:r>
          </a:p>
          <a:p>
            <a:pPr marL="55800" indent="0" algn="just">
              <a:spcBef>
                <a:spcPts val="0"/>
              </a:spcBef>
              <a:buNone/>
            </a:pPr>
            <a:r>
              <a:rPr lang="ru-RU" sz="1000" i="1" dirty="0">
                <a:solidFill>
                  <a:srgbClr val="111214"/>
                </a:solidFill>
                <a:latin typeface="Inter" panose="02000503000000020004" pitchFamily="2" charset="0"/>
                <a:ea typeface="Inter" panose="02000503000000020004" pitchFamily="2" charset="0"/>
              </a:rPr>
              <a:t>Перечень банков соответствующих критериям, установленным постановлением Правительства РФ от 18.06.2018 №697</a:t>
            </a:r>
          </a:p>
          <a:p>
            <a:pPr marL="55800" indent="0" algn="just">
              <a:spcBef>
                <a:spcPts val="0"/>
              </a:spcBef>
              <a:buNone/>
            </a:pPr>
            <a:r>
              <a:rPr lang="ru-RU" sz="1000" i="1" dirty="0">
                <a:solidFill>
                  <a:srgbClr val="111214"/>
                </a:solidFill>
                <a:latin typeface="Inter" panose="02000503000000020004" pitchFamily="2" charset="0"/>
                <a:ea typeface="Inter" panose="02000503000000020004" pitchFamily="2" charset="0"/>
              </a:rPr>
              <a:t> </a:t>
            </a:r>
            <a:r>
              <a:rPr lang="ru-RU" sz="1000" i="1" dirty="0">
                <a:solidFill>
                  <a:srgbClr val="111214"/>
                </a:solidFill>
                <a:latin typeface="Inter" panose="02000503000000020004" pitchFamily="2" charset="0"/>
                <a:ea typeface="Inter" panose="02000503000000020004" pitchFamily="2" charset="0"/>
                <a:hlinkClick r:id="rId3"/>
              </a:rPr>
              <a:t>https://www.cbr.ru/banking_sector/registers/?CF.Search=697&amp;CF.Date.Time=Any&amp;CF.Date.DateFrom=&amp;CF.Date.DateTo</a:t>
            </a:r>
            <a:endParaRPr lang="ru-RU" sz="1000" i="1" dirty="0">
              <a:solidFill>
                <a:srgbClr val="111214"/>
              </a:solidFill>
              <a:latin typeface="Inter" panose="02000503000000020004" pitchFamily="2" charset="0"/>
              <a:ea typeface="Inter" panose="02000503000000020004" pitchFamily="2" charset="0"/>
            </a:endParaRPr>
          </a:p>
          <a:p>
            <a:pPr marL="284163" indent="-284163" algn="just">
              <a:spcBef>
                <a:spcPts val="600"/>
              </a:spcBef>
              <a:spcAft>
                <a:spcPts val="600"/>
              </a:spcAft>
              <a:buNone/>
            </a:pPr>
            <a:r>
              <a:rPr lang="ru-RU" sz="1100" b="1" dirty="0">
                <a:solidFill>
                  <a:srgbClr val="111214"/>
                </a:solidFill>
                <a:latin typeface="Inter" panose="02000503000000020004" pitchFamily="2" charset="0"/>
                <a:ea typeface="Inter" panose="02000503000000020004" pitchFamily="2" charset="0"/>
              </a:rPr>
              <a:t>Механизмы контроля</a:t>
            </a:r>
          </a:p>
          <a:p>
            <a:pPr marL="55800" indent="0" algn="just">
              <a:spcBef>
                <a:spcPts val="0"/>
              </a:spcBef>
              <a:spcAft>
                <a:spcPts val="600"/>
              </a:spcAft>
              <a:buNone/>
            </a:pPr>
            <a:r>
              <a:rPr lang="ru-RU" sz="1100" b="1" dirty="0">
                <a:solidFill>
                  <a:srgbClr val="111214"/>
                </a:solidFill>
                <a:latin typeface="Inter" panose="02000503000000020004" pitchFamily="2" charset="0"/>
                <a:ea typeface="Inter" panose="02000503000000020004" pitchFamily="2" charset="0"/>
              </a:rPr>
              <a:t>Для защиты средств граждан</a:t>
            </a:r>
            <a:r>
              <a:rPr lang="ru-RU" sz="1100" dirty="0">
                <a:solidFill>
                  <a:srgbClr val="111214"/>
                </a:solidFill>
                <a:latin typeface="Inter" panose="02000503000000020004" pitchFamily="2" charset="0"/>
                <a:ea typeface="Inter" panose="02000503000000020004" pitchFamily="2" charset="0"/>
              </a:rPr>
              <a:t>, создания механизмов контроля целевого расходования средств участников долевого строительства, привлекаемых непосредственно застройщиками, </a:t>
            </a:r>
            <a:r>
              <a:rPr lang="ru-RU" sz="1100" b="1" dirty="0">
                <a:solidFill>
                  <a:srgbClr val="111214"/>
                </a:solidFill>
                <a:latin typeface="Inter" panose="02000503000000020004" pitchFamily="2" charset="0"/>
                <a:ea typeface="Inter" panose="02000503000000020004" pitchFamily="2" charset="0"/>
              </a:rPr>
              <a:t>установлены требования к операциям, которые они могут проводить </a:t>
            </a:r>
            <a:r>
              <a:rPr lang="ru-RU" sz="1100" dirty="0">
                <a:solidFill>
                  <a:srgbClr val="111214"/>
                </a:solidFill>
                <a:latin typeface="Inter" panose="02000503000000020004" pitchFamily="2" charset="0"/>
                <a:ea typeface="Inter" panose="02000503000000020004" pitchFamily="2" charset="0"/>
              </a:rPr>
              <a:t>по счету, куда поступают средства граждан, и к банкам — по контролю за проведением ими банковских операций </a:t>
            </a:r>
            <a:r>
              <a:rPr lang="ru-RU" sz="1000" i="1" dirty="0">
                <a:solidFill>
                  <a:srgbClr val="111214"/>
                </a:solidFill>
                <a:latin typeface="Inter" panose="02000503000000020004" pitchFamily="2" charset="0"/>
                <a:ea typeface="Inter" panose="02000503000000020004" pitchFamily="2" charset="0"/>
              </a:rPr>
              <a:t>(</a:t>
            </a:r>
            <a:r>
              <a:rPr lang="ru-RU" sz="1000" b="0" i="1" dirty="0">
                <a:solidFill>
                  <a:srgbClr val="2B2E33"/>
                </a:solidFill>
                <a:effectLst/>
                <a:latin typeface="Inter" panose="02000503000000020004" pitchFamily="2" charset="0"/>
                <a:ea typeface="Inter" panose="02000503000000020004" pitchFamily="2" charset="0"/>
              </a:rPr>
              <a:t>Постановлением Правительства Российской Федерации от 18.06.2018 № 697)</a:t>
            </a:r>
          </a:p>
          <a:p>
            <a:pPr marL="55800" indent="0" algn="just">
              <a:spcBef>
                <a:spcPts val="0"/>
              </a:spcBef>
              <a:spcAft>
                <a:spcPts val="600"/>
              </a:spcAft>
              <a:buNone/>
            </a:pPr>
            <a:r>
              <a:rPr lang="ru-RU" sz="1100" b="1" dirty="0"/>
              <a:t>Справочно:</a:t>
            </a:r>
          </a:p>
          <a:p>
            <a:pPr marL="55800" indent="0" algn="just">
              <a:spcBef>
                <a:spcPts val="0"/>
              </a:spcBef>
              <a:spcAft>
                <a:spcPts val="600"/>
              </a:spcAft>
              <a:buNone/>
            </a:pPr>
            <a:r>
              <a:rPr lang="ru-RU" sz="1100" dirty="0"/>
              <a:t>С 2019 по 2024 год количество проблемных объектов в едином реестре сократилось в 3,7 раза. «Долгостроями перестали быть 177 домов. Из них 97 введены с участием средств федерального бюджета. </a:t>
            </a:r>
          </a:p>
        </p:txBody>
      </p:sp>
      <p:sp>
        <p:nvSpPr>
          <p:cNvPr id="48" name="Номер слайда 47">
            <a:extLst>
              <a:ext uri="{FF2B5EF4-FFF2-40B4-BE49-F238E27FC236}">
                <a16:creationId xmlns:a16="http://schemas.microsoft.com/office/drawing/2014/main" id="{72399180-F44D-B6EE-876F-FA669B178A70}"/>
              </a:ext>
            </a:extLst>
          </p:cNvPr>
          <p:cNvSpPr>
            <a:spLocks noGrp="1"/>
          </p:cNvSpPr>
          <p:nvPr>
            <p:ph type="sldNum" sz="quarter" idx="12"/>
          </p:nvPr>
        </p:nvSpPr>
        <p:spPr>
          <a:xfrm>
            <a:off x="9077325" y="6292921"/>
            <a:ext cx="2743200" cy="365125"/>
          </a:xfrm>
        </p:spPr>
        <p:txBody>
          <a:bodyPr/>
          <a:lstStyle/>
          <a:p>
            <a:fld id="{F4DE39DC-9C9B-4F1F-B15D-32FB0D0068D7}" type="slidenum">
              <a:rPr lang="ru-KZ" smtClean="0"/>
              <a:t>7</a:t>
            </a:fld>
            <a:endParaRPr lang="ru-KZ" dirty="0"/>
          </a:p>
        </p:txBody>
      </p:sp>
      <p:sp>
        <p:nvSpPr>
          <p:cNvPr id="11" name="Заголовок 1">
            <a:extLst>
              <a:ext uri="{FF2B5EF4-FFF2-40B4-BE49-F238E27FC236}">
                <a16:creationId xmlns:a16="http://schemas.microsoft.com/office/drawing/2014/main" id="{F20EEB85-172D-49AB-8AF5-DB09EFDA67AD}"/>
              </a:ext>
            </a:extLst>
          </p:cNvPr>
          <p:cNvSpPr txBox="1">
            <a:spLocks/>
          </p:cNvSpPr>
          <p:nvPr/>
        </p:nvSpPr>
        <p:spPr>
          <a:xfrm>
            <a:off x="213794" y="75362"/>
            <a:ext cx="11436788" cy="733917"/>
          </a:xfrm>
          <a:prstGeom prst="rect">
            <a:avLst/>
          </a:prstGeom>
        </p:spPr>
        <p:txBody>
          <a:bodyPr anchor="ctr" anchorCtr="0">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МЕЖДУНАРОДНЫЙ ОПЫТ </a:t>
            </a:r>
            <a:r>
              <a:rPr lang="ru-RU" sz="2400" b="1" dirty="0">
                <a:solidFill>
                  <a:srgbClr val="FFC209"/>
                </a:solidFill>
                <a:latin typeface="Inter" panose="02000503000000020004" pitchFamily="2" charset="0"/>
                <a:ea typeface="Inter" panose="02000503000000020004" pitchFamily="2" charset="0"/>
              </a:rPr>
              <a:t>РОССИИ</a:t>
            </a:r>
            <a:r>
              <a:rPr lang="ru-RU" sz="2400" b="1" dirty="0">
                <a:latin typeface="Inter" panose="02000503000000020004" pitchFamily="2" charset="0"/>
                <a:ea typeface="Inter" panose="02000503000000020004" pitchFamily="2" charset="0"/>
              </a:rPr>
              <a:t>: ЭСКРОУ-СЧЕТА ДЕЙСТВУЮТ С 2019 ГОДА</a:t>
            </a:r>
            <a:endParaRPr lang="ru-KZ" sz="2000" b="1" dirty="0">
              <a:latin typeface="Inter" panose="02000503000000020004" pitchFamily="2" charset="0"/>
              <a:ea typeface="Inter" panose="02000503000000020004" pitchFamily="2" charset="0"/>
            </a:endParaRPr>
          </a:p>
        </p:txBody>
      </p:sp>
      <p:cxnSp>
        <p:nvCxnSpPr>
          <p:cNvPr id="13" name="Прямая соединительная линия 12">
            <a:extLst>
              <a:ext uri="{FF2B5EF4-FFF2-40B4-BE49-F238E27FC236}">
                <a16:creationId xmlns:a16="http://schemas.microsoft.com/office/drawing/2014/main" id="{B81053B7-FCF2-4D0C-BE5A-4B92C2BE1643}"/>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78D1E9A-293A-485B-B7C0-946255D262E2}"/>
              </a:ext>
            </a:extLst>
          </p:cNvPr>
          <p:cNvSpPr txBox="1"/>
          <p:nvPr/>
        </p:nvSpPr>
        <p:spPr>
          <a:xfrm>
            <a:off x="213794" y="6593710"/>
            <a:ext cx="5425804" cy="369332"/>
          </a:xfrm>
          <a:prstGeom prst="rect">
            <a:avLst/>
          </a:prstGeom>
          <a:noFill/>
        </p:spPr>
        <p:txBody>
          <a:bodyPr wrap="square" rtlCol="0">
            <a:spAutoFit/>
          </a:bodyPr>
          <a:lstStyle/>
          <a:p>
            <a:r>
              <a:rPr lang="ru-RU" sz="900" dirty="0"/>
              <a:t>Источник: </a:t>
            </a:r>
            <a:r>
              <a:rPr lang="en-US" sz="900" dirty="0">
                <a:hlinkClick r:id="rId4"/>
              </a:rPr>
              <a:t>https://www.cbr.ru/</a:t>
            </a:r>
            <a:r>
              <a:rPr lang="ru-RU" sz="900" dirty="0"/>
              <a:t>, </a:t>
            </a:r>
            <a:r>
              <a:rPr lang="en-US" sz="900" dirty="0">
                <a:hlinkClick r:id="rId5"/>
              </a:rPr>
              <a:t>http://government.ru/</a:t>
            </a:r>
            <a:endParaRPr lang="ru-RU" sz="900" dirty="0"/>
          </a:p>
          <a:p>
            <a:endParaRPr lang="en-US" sz="900" dirty="0"/>
          </a:p>
        </p:txBody>
      </p:sp>
      <p:pic>
        <p:nvPicPr>
          <p:cNvPr id="9" name="Рисунок 8">
            <a:extLst>
              <a:ext uri="{FF2B5EF4-FFF2-40B4-BE49-F238E27FC236}">
                <a16:creationId xmlns:a16="http://schemas.microsoft.com/office/drawing/2014/main" id="{538C46ED-DFAB-4C4B-B0B3-BB47260D9DEF}"/>
              </a:ext>
            </a:extLst>
          </p:cNvPr>
          <p:cNvPicPr>
            <a:picLocks noChangeAspect="1"/>
          </p:cNvPicPr>
          <p:nvPr/>
        </p:nvPicPr>
        <p:blipFill>
          <a:blip r:embed="rId6"/>
          <a:stretch>
            <a:fillRect/>
          </a:stretch>
        </p:blipFill>
        <p:spPr>
          <a:xfrm>
            <a:off x="11710034" y="9625"/>
            <a:ext cx="476250" cy="466725"/>
          </a:xfrm>
          <a:prstGeom prst="rect">
            <a:avLst/>
          </a:prstGeom>
        </p:spPr>
      </p:pic>
    </p:spTree>
    <p:extLst>
      <p:ext uri="{BB962C8B-B14F-4D97-AF65-F5344CB8AC3E}">
        <p14:creationId xmlns:p14="http://schemas.microsoft.com/office/powerpoint/2010/main" val="2886716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1">
            <a:extLst>
              <a:ext uri="{FF2B5EF4-FFF2-40B4-BE49-F238E27FC236}">
                <a16:creationId xmlns:a16="http://schemas.microsoft.com/office/drawing/2014/main" id="{CF83A832-DA6E-40E8-8193-0C1FE6F33BDE}"/>
              </a:ext>
            </a:extLst>
          </p:cNvPr>
          <p:cNvSpPr txBox="1">
            <a:spLocks/>
          </p:cNvSpPr>
          <p:nvPr/>
        </p:nvSpPr>
        <p:spPr>
          <a:xfrm>
            <a:off x="210921" y="81118"/>
            <a:ext cx="10554726" cy="733917"/>
          </a:xfrm>
          <a:prstGeom prst="rect">
            <a:avLst/>
          </a:prstGeom>
        </p:spPr>
        <p:txBody>
          <a:bodyPr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МЕХАНИЗМ РАБОТЫ ЭСКРОУ-СЧЕТОВ В </a:t>
            </a:r>
            <a:r>
              <a:rPr lang="ru-RU" sz="2400" b="1" dirty="0">
                <a:solidFill>
                  <a:srgbClr val="FFC209"/>
                </a:solidFill>
                <a:latin typeface="Inter" panose="02000503000000020004" pitchFamily="2" charset="0"/>
                <a:ea typeface="Inter" panose="02000503000000020004" pitchFamily="2" charset="0"/>
              </a:rPr>
              <a:t>РОССИИ</a:t>
            </a:r>
            <a:endParaRPr lang="ru-KZ" sz="2400" b="1" dirty="0">
              <a:solidFill>
                <a:srgbClr val="FFC209"/>
              </a:solidFill>
              <a:latin typeface="Inter" panose="02000503000000020004" pitchFamily="2" charset="0"/>
              <a:ea typeface="Inter" panose="02000503000000020004" pitchFamily="2" charset="0"/>
            </a:endParaRPr>
          </a:p>
        </p:txBody>
      </p:sp>
      <p:pic>
        <p:nvPicPr>
          <p:cNvPr id="20" name="Рисунок 19">
            <a:extLst>
              <a:ext uri="{FF2B5EF4-FFF2-40B4-BE49-F238E27FC236}">
                <a16:creationId xmlns:a16="http://schemas.microsoft.com/office/drawing/2014/main" id="{0C1187FE-AC98-4F9D-BD66-60D6A2FA65A2}"/>
              </a:ext>
            </a:extLst>
          </p:cNvPr>
          <p:cNvPicPr>
            <a:picLocks noChangeAspect="1"/>
          </p:cNvPicPr>
          <p:nvPr/>
        </p:nvPicPr>
        <p:blipFill>
          <a:blip r:embed="rId2"/>
          <a:stretch>
            <a:fillRect/>
          </a:stretch>
        </p:blipFill>
        <p:spPr>
          <a:xfrm>
            <a:off x="703620" y="877873"/>
            <a:ext cx="10784759" cy="5499069"/>
          </a:xfrm>
          <a:prstGeom prst="rect">
            <a:avLst/>
          </a:prstGeom>
        </p:spPr>
      </p:pic>
      <p:cxnSp>
        <p:nvCxnSpPr>
          <p:cNvPr id="23" name="Прямая соединительная линия 22">
            <a:extLst>
              <a:ext uri="{FF2B5EF4-FFF2-40B4-BE49-F238E27FC236}">
                <a16:creationId xmlns:a16="http://schemas.microsoft.com/office/drawing/2014/main" id="{2D6686AF-27DD-4B14-8192-1E5300AF53E8}"/>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5663FD7-354E-4EA9-BA5E-FC7D7D7BC1ED}"/>
              </a:ext>
            </a:extLst>
          </p:cNvPr>
          <p:cNvSpPr txBox="1"/>
          <p:nvPr/>
        </p:nvSpPr>
        <p:spPr>
          <a:xfrm>
            <a:off x="233714" y="6404130"/>
            <a:ext cx="5425804" cy="369332"/>
          </a:xfrm>
          <a:prstGeom prst="rect">
            <a:avLst/>
          </a:prstGeom>
          <a:noFill/>
        </p:spPr>
        <p:txBody>
          <a:bodyPr wrap="square" rtlCol="0">
            <a:spAutoFit/>
          </a:bodyPr>
          <a:lstStyle/>
          <a:p>
            <a:r>
              <a:rPr lang="ru-RU" sz="900" dirty="0"/>
              <a:t>Источник: </a:t>
            </a:r>
            <a:r>
              <a:rPr lang="en-US" sz="900" dirty="0">
                <a:hlinkClick r:id="rId3"/>
              </a:rPr>
              <a:t>https://fingeniy.com/</a:t>
            </a:r>
            <a:endParaRPr lang="ru-RU" sz="900" dirty="0"/>
          </a:p>
          <a:p>
            <a:endParaRPr lang="en-US" sz="900" dirty="0"/>
          </a:p>
        </p:txBody>
      </p:sp>
      <p:sp>
        <p:nvSpPr>
          <p:cNvPr id="2" name="Номер слайда 1">
            <a:extLst>
              <a:ext uri="{FF2B5EF4-FFF2-40B4-BE49-F238E27FC236}">
                <a16:creationId xmlns:a16="http://schemas.microsoft.com/office/drawing/2014/main" id="{244F2C59-F33A-47D2-85C6-76FA8F13F79F}"/>
              </a:ext>
            </a:extLst>
          </p:cNvPr>
          <p:cNvSpPr>
            <a:spLocks noGrp="1"/>
          </p:cNvSpPr>
          <p:nvPr>
            <p:ph type="sldNum" sz="quarter" idx="12"/>
          </p:nvPr>
        </p:nvSpPr>
        <p:spPr/>
        <p:txBody>
          <a:bodyPr/>
          <a:lstStyle/>
          <a:p>
            <a:fld id="{9AEAAB3A-B7C9-45EB-AFB0-A159B937AE97}" type="slidenum">
              <a:rPr lang="ru-RU" smtClean="0"/>
              <a:t>8</a:t>
            </a:fld>
            <a:endParaRPr lang="ru-RU"/>
          </a:p>
        </p:txBody>
      </p:sp>
      <p:pic>
        <p:nvPicPr>
          <p:cNvPr id="7" name="Рисунок 6">
            <a:extLst>
              <a:ext uri="{FF2B5EF4-FFF2-40B4-BE49-F238E27FC236}">
                <a16:creationId xmlns:a16="http://schemas.microsoft.com/office/drawing/2014/main" id="{B9F89CAA-CDF1-4EB0-A3AA-C1E7AB7B3CC2}"/>
              </a:ext>
            </a:extLst>
          </p:cNvPr>
          <p:cNvPicPr>
            <a:picLocks noChangeAspect="1"/>
          </p:cNvPicPr>
          <p:nvPr/>
        </p:nvPicPr>
        <p:blipFill>
          <a:blip r:embed="rId4"/>
          <a:stretch>
            <a:fillRect/>
          </a:stretch>
        </p:blipFill>
        <p:spPr>
          <a:xfrm>
            <a:off x="11710034" y="9625"/>
            <a:ext cx="476250" cy="466725"/>
          </a:xfrm>
          <a:prstGeom prst="rect">
            <a:avLst/>
          </a:prstGeom>
        </p:spPr>
      </p:pic>
    </p:spTree>
    <p:extLst>
      <p:ext uri="{BB962C8B-B14F-4D97-AF65-F5344CB8AC3E}">
        <p14:creationId xmlns:p14="http://schemas.microsoft.com/office/powerpoint/2010/main" val="707992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Диаграмма 7">
            <a:extLst>
              <a:ext uri="{FF2B5EF4-FFF2-40B4-BE49-F238E27FC236}">
                <a16:creationId xmlns:a16="http://schemas.microsoft.com/office/drawing/2014/main" id="{1341B426-6841-44DE-8689-853A7FA3E32E}"/>
              </a:ext>
            </a:extLst>
          </p:cNvPr>
          <p:cNvGraphicFramePr>
            <a:graphicFrameLocks/>
          </p:cNvGraphicFramePr>
          <p:nvPr>
            <p:extLst>
              <p:ext uri="{D42A27DB-BD31-4B8C-83A1-F6EECF244321}">
                <p14:modId xmlns:p14="http://schemas.microsoft.com/office/powerpoint/2010/main" val="3443166537"/>
              </p:ext>
            </p:extLst>
          </p:nvPr>
        </p:nvGraphicFramePr>
        <p:xfrm>
          <a:off x="218448" y="864723"/>
          <a:ext cx="6465600" cy="5108400"/>
        </p:xfrm>
        <a:graphic>
          <a:graphicData uri="http://schemas.openxmlformats.org/drawingml/2006/chart">
            <c:chart xmlns:c="http://schemas.openxmlformats.org/drawingml/2006/chart" xmlns:r="http://schemas.openxmlformats.org/officeDocument/2006/relationships" r:id="rId2"/>
          </a:graphicData>
        </a:graphic>
      </p:graphicFrame>
      <p:sp>
        <p:nvSpPr>
          <p:cNvPr id="9" name="Заголовок 1">
            <a:extLst>
              <a:ext uri="{FF2B5EF4-FFF2-40B4-BE49-F238E27FC236}">
                <a16:creationId xmlns:a16="http://schemas.microsoft.com/office/drawing/2014/main" id="{5A1FCC9C-BD91-4401-8E02-DA16AB904C3F}"/>
              </a:ext>
            </a:extLst>
          </p:cNvPr>
          <p:cNvSpPr txBox="1">
            <a:spLocks/>
          </p:cNvSpPr>
          <p:nvPr/>
        </p:nvSpPr>
        <p:spPr>
          <a:xfrm>
            <a:off x="218449" y="70950"/>
            <a:ext cx="11367000" cy="73391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2400" b="1" dirty="0">
                <a:latin typeface="Inter" panose="02000503000000020004" pitchFamily="2" charset="0"/>
                <a:ea typeface="Inter" panose="02000503000000020004" pitchFamily="2" charset="0"/>
              </a:rPr>
              <a:t>С МОМЕНТА ВВОДА «ЛЬГОТНОЙ ИПОТЕКИ» В </a:t>
            </a:r>
            <a:r>
              <a:rPr lang="ru-RU" sz="2400" b="1" dirty="0">
                <a:solidFill>
                  <a:srgbClr val="FFC209"/>
                </a:solidFill>
                <a:latin typeface="Inter" panose="02000503000000020004" pitchFamily="2" charset="0"/>
                <a:ea typeface="Inter" panose="02000503000000020004" pitchFamily="2" charset="0"/>
              </a:rPr>
              <a:t>РОССИИ</a:t>
            </a:r>
            <a:r>
              <a:rPr lang="ru-RU" sz="2400" b="1" dirty="0">
                <a:latin typeface="Inter" panose="02000503000000020004" pitchFamily="2" charset="0"/>
                <a:ea typeface="Inter" panose="02000503000000020004" pitchFamily="2" charset="0"/>
              </a:rPr>
              <a:t> ЦЕНЫ НА НЕДВИЖИМОСТЬ ВЫРОСЛИ НА 78%</a:t>
            </a:r>
          </a:p>
        </p:txBody>
      </p:sp>
      <p:sp>
        <p:nvSpPr>
          <p:cNvPr id="4" name="TextBox 3">
            <a:extLst>
              <a:ext uri="{FF2B5EF4-FFF2-40B4-BE49-F238E27FC236}">
                <a16:creationId xmlns:a16="http://schemas.microsoft.com/office/drawing/2014/main" id="{14E6C723-49F9-4280-944E-D0C6D01338D3}"/>
              </a:ext>
            </a:extLst>
          </p:cNvPr>
          <p:cNvSpPr txBox="1"/>
          <p:nvPr/>
        </p:nvSpPr>
        <p:spPr>
          <a:xfrm flipH="1">
            <a:off x="6684048" y="804867"/>
            <a:ext cx="5259770" cy="6140142"/>
          </a:xfrm>
          <a:prstGeom prst="rect">
            <a:avLst/>
          </a:prstGeom>
          <a:noFill/>
        </p:spPr>
        <p:txBody>
          <a:bodyPr wrap="square" rtlCol="0">
            <a:spAutoFit/>
          </a:bodyPr>
          <a:lstStyle/>
          <a:p>
            <a:pPr marL="342900" indent="-342900" algn="just">
              <a:spcBef>
                <a:spcPts val="600"/>
              </a:spcBef>
              <a:buFont typeface="Arial" panose="020B0604020202020204" pitchFamily="34" charset="0"/>
              <a:buChar char="•"/>
            </a:pPr>
            <a:r>
              <a:rPr lang="ru-RU" dirty="0">
                <a:latin typeface="Inter" panose="02000503000000020004" pitchFamily="2" charset="0"/>
                <a:ea typeface="Inter" panose="02000503000000020004" pitchFamily="2" charset="0"/>
              </a:rPr>
              <a:t>В апреле 2020 года в ответ на экономические сложности, вызванные COVID-19 в РФ </a:t>
            </a:r>
            <a:r>
              <a:rPr lang="ru-RU" b="1" dirty="0">
                <a:solidFill>
                  <a:srgbClr val="FFC209"/>
                </a:solidFill>
                <a:latin typeface="Inter" panose="02000503000000020004" pitchFamily="2" charset="0"/>
                <a:ea typeface="Inter" panose="02000503000000020004" pitchFamily="2" charset="0"/>
              </a:rPr>
              <a:t>была введена господдержка «Льготная ипотека», </a:t>
            </a:r>
            <a:r>
              <a:rPr lang="ru-RU" dirty="0">
                <a:latin typeface="Inter" panose="02000503000000020004" pitchFamily="2" charset="0"/>
                <a:ea typeface="Inter" panose="02000503000000020004" pitchFamily="2" charset="0"/>
              </a:rPr>
              <a:t>действующая на </a:t>
            </a:r>
            <a:r>
              <a:rPr lang="ru-RU" b="1" dirty="0">
                <a:latin typeface="Inter" panose="02000503000000020004" pitchFamily="2" charset="0"/>
                <a:ea typeface="Inter" panose="02000503000000020004" pitchFamily="2" charset="0"/>
              </a:rPr>
              <a:t>новостройки</a:t>
            </a:r>
            <a:r>
              <a:rPr lang="ru-RU" dirty="0">
                <a:latin typeface="Inter" panose="02000503000000020004" pitchFamily="2" charset="0"/>
                <a:ea typeface="Inter" panose="02000503000000020004" pitchFamily="2" charset="0"/>
              </a:rPr>
              <a:t>. </a:t>
            </a:r>
          </a:p>
          <a:p>
            <a:pPr marL="342900" indent="-342900" algn="just">
              <a:spcBef>
                <a:spcPts val="600"/>
              </a:spcBef>
              <a:buFont typeface="Arial" panose="020B0604020202020204" pitchFamily="34" charset="0"/>
              <a:buChar char="•"/>
            </a:pPr>
            <a:r>
              <a:rPr lang="ru-RU" dirty="0">
                <a:latin typeface="Inter" panose="02000503000000020004" pitchFamily="2" charset="0"/>
                <a:ea typeface="Inter" panose="02000503000000020004" pitchFamily="2" charset="0"/>
              </a:rPr>
              <a:t>Доля </a:t>
            </a:r>
            <a:r>
              <a:rPr lang="ru-RU" b="1" dirty="0">
                <a:solidFill>
                  <a:srgbClr val="FFC209"/>
                </a:solidFill>
                <a:latin typeface="Inter" panose="02000503000000020004" pitchFamily="2" charset="0"/>
                <a:ea typeface="Inter" panose="02000503000000020004" pitchFamily="2" charset="0"/>
              </a:rPr>
              <a:t>общей</a:t>
            </a:r>
            <a:r>
              <a:rPr lang="ru-RU" dirty="0">
                <a:latin typeface="Inter" panose="02000503000000020004" pitchFamily="2" charset="0"/>
                <a:ea typeface="Inter" panose="02000503000000020004" pitchFamily="2" charset="0"/>
              </a:rPr>
              <a:t> </a:t>
            </a:r>
            <a:r>
              <a:rPr lang="ru-RU" b="1" dirty="0">
                <a:solidFill>
                  <a:srgbClr val="FFC209"/>
                </a:solidFill>
                <a:latin typeface="Inter" panose="02000503000000020004" pitchFamily="2" charset="0"/>
                <a:ea typeface="Inter" panose="02000503000000020004" pitchFamily="2" charset="0"/>
              </a:rPr>
              <a:t>господдержки</a:t>
            </a:r>
            <a:r>
              <a:rPr lang="ru-RU" dirty="0">
                <a:latin typeface="Inter" panose="02000503000000020004" pitchFamily="2" charset="0"/>
                <a:ea typeface="Inter" panose="02000503000000020004" pitchFamily="2" charset="0"/>
              </a:rPr>
              <a:t> после ввода «Льготной ипотеки» в общем объеме выдачи ипотеки </a:t>
            </a:r>
            <a:r>
              <a:rPr lang="ru-RU" b="1" dirty="0">
                <a:solidFill>
                  <a:srgbClr val="FFC209"/>
                </a:solidFill>
                <a:latin typeface="Inter" panose="02000503000000020004" pitchFamily="2" charset="0"/>
                <a:ea typeface="Inter" panose="02000503000000020004" pitchFamily="2" charset="0"/>
              </a:rPr>
              <a:t>выросла</a:t>
            </a:r>
            <a:r>
              <a:rPr lang="ru-RU" dirty="0">
                <a:latin typeface="Inter" panose="02000503000000020004" pitchFamily="2" charset="0"/>
                <a:ea typeface="Inter" panose="02000503000000020004" pitchFamily="2" charset="0"/>
              </a:rPr>
              <a:t> </a:t>
            </a:r>
            <a:r>
              <a:rPr lang="ru-RU" b="1" dirty="0">
                <a:solidFill>
                  <a:srgbClr val="FFC209"/>
                </a:solidFill>
                <a:latin typeface="Inter" panose="02000503000000020004" pitchFamily="2" charset="0"/>
                <a:ea typeface="Inter" panose="02000503000000020004" pitchFamily="2" charset="0"/>
              </a:rPr>
              <a:t>с 4% до 61%</a:t>
            </a:r>
          </a:p>
          <a:p>
            <a:pPr marL="342900" indent="-342900" algn="just">
              <a:spcBef>
                <a:spcPts val="600"/>
              </a:spcBef>
              <a:buFont typeface="Arial" panose="020B0604020202020204" pitchFamily="34" charset="0"/>
              <a:buChar char="•"/>
            </a:pPr>
            <a:r>
              <a:rPr lang="ru-RU" dirty="0">
                <a:latin typeface="Inter" panose="02000503000000020004" pitchFamily="2" charset="0"/>
                <a:ea typeface="Inter" panose="02000503000000020004" pitchFamily="2" charset="0"/>
              </a:rPr>
              <a:t>С начала ввода «Льготной ипотеки» в апреле 2020 года средние цены на первичном рынке жилья по РФ </a:t>
            </a:r>
            <a:r>
              <a:rPr lang="ru-RU" b="1" dirty="0">
                <a:latin typeface="Inter" panose="02000503000000020004" pitchFamily="2" charset="0"/>
                <a:ea typeface="Inter" panose="02000503000000020004" pitchFamily="2" charset="0"/>
              </a:rPr>
              <a:t>выросли на 78%</a:t>
            </a:r>
            <a:r>
              <a:rPr lang="ru-RU" dirty="0">
                <a:latin typeface="Inter" panose="02000503000000020004" pitchFamily="2" charset="0"/>
                <a:ea typeface="Inter" panose="02000503000000020004" pitchFamily="2" charset="0"/>
              </a:rPr>
              <a:t> с 79.0 тыс. </a:t>
            </a:r>
            <a:r>
              <a:rPr lang="ru-RU" dirty="0" err="1">
                <a:latin typeface="Inter" panose="02000503000000020004" pitchFamily="2" charset="0"/>
                <a:ea typeface="Inter" panose="02000503000000020004" pitchFamily="2" charset="0"/>
              </a:rPr>
              <a:t>руб</a:t>
            </a:r>
            <a:r>
              <a:rPr lang="ru-RU" dirty="0">
                <a:latin typeface="Inter" panose="02000503000000020004" pitchFamily="2" charset="0"/>
                <a:ea typeface="Inter" panose="02000503000000020004" pitchFamily="2" charset="0"/>
              </a:rPr>
              <a:t> за </a:t>
            </a:r>
            <a:r>
              <a:rPr lang="ru-RU" dirty="0" err="1">
                <a:latin typeface="Inter" panose="02000503000000020004" pitchFamily="2" charset="0"/>
                <a:ea typeface="Inter" panose="02000503000000020004" pitchFamily="2" charset="0"/>
              </a:rPr>
              <a:t>кв.м</a:t>
            </a:r>
            <a:r>
              <a:rPr lang="ru-RU" dirty="0">
                <a:latin typeface="Inter" panose="02000503000000020004" pitchFamily="2" charset="0"/>
                <a:ea typeface="Inter" panose="02000503000000020004" pitchFamily="2" charset="0"/>
              </a:rPr>
              <a:t> до 140.4 тыс. </a:t>
            </a:r>
            <a:r>
              <a:rPr lang="ru-RU" dirty="0" err="1">
                <a:latin typeface="Inter" panose="02000503000000020004" pitchFamily="2" charset="0"/>
                <a:ea typeface="Inter" panose="02000503000000020004" pitchFamily="2" charset="0"/>
              </a:rPr>
              <a:t>руб</a:t>
            </a:r>
            <a:r>
              <a:rPr lang="ru-RU" dirty="0">
                <a:latin typeface="Inter" panose="02000503000000020004" pitchFamily="2" charset="0"/>
                <a:ea typeface="Inter" panose="02000503000000020004" pitchFamily="2" charset="0"/>
              </a:rPr>
              <a:t> за </a:t>
            </a:r>
            <a:r>
              <a:rPr lang="ru-RU" dirty="0" err="1">
                <a:latin typeface="Inter" panose="02000503000000020004" pitchFamily="2" charset="0"/>
                <a:ea typeface="Inter" panose="02000503000000020004" pitchFamily="2" charset="0"/>
              </a:rPr>
              <a:t>кв.м</a:t>
            </a:r>
            <a:r>
              <a:rPr lang="ru-RU" dirty="0">
                <a:latin typeface="Inter" panose="02000503000000020004" pitchFamily="2" charset="0"/>
                <a:ea typeface="Inter" panose="02000503000000020004" pitchFamily="2" charset="0"/>
              </a:rPr>
              <a:t>, средний ежегодный темп прироста за 4 года составил 22%, в то время как до 2020 года данный показатель составлял 6%. Себестоимость строительства за рассмотренный период выросла на 58%.</a:t>
            </a:r>
          </a:p>
          <a:p>
            <a:pPr marL="285750" indent="-285750" algn="just">
              <a:spcBef>
                <a:spcPts val="600"/>
              </a:spcBef>
              <a:buFont typeface="Arial" panose="020B0604020202020204" pitchFamily="34" charset="0"/>
              <a:buChar char="•"/>
            </a:pPr>
            <a:r>
              <a:rPr lang="ru-RU" dirty="0">
                <a:latin typeface="Inter" panose="02000503000000020004" pitchFamily="2" charset="0"/>
                <a:ea typeface="Inter" panose="02000503000000020004" pitchFamily="2" charset="0"/>
              </a:rPr>
              <a:t>Ценовой разрыв между «первичкой» и «</a:t>
            </a:r>
            <a:r>
              <a:rPr lang="ru-RU" dirty="0" err="1">
                <a:latin typeface="Inter" panose="02000503000000020004" pitchFamily="2" charset="0"/>
                <a:ea typeface="Inter" panose="02000503000000020004" pitchFamily="2" charset="0"/>
              </a:rPr>
              <a:t>вторичкой</a:t>
            </a:r>
            <a:r>
              <a:rPr lang="ru-RU" dirty="0">
                <a:latin typeface="Inter" panose="02000503000000020004" pitchFamily="2" charset="0"/>
                <a:ea typeface="Inter" panose="02000503000000020004" pitchFamily="2" charset="0"/>
              </a:rPr>
              <a:t>» вырос с </a:t>
            </a:r>
            <a:r>
              <a:rPr lang="ru-RU" b="1" dirty="0">
                <a:latin typeface="Inter" panose="02000503000000020004" pitchFamily="2" charset="0"/>
                <a:ea typeface="Inter" panose="02000503000000020004" pitchFamily="2" charset="0"/>
              </a:rPr>
              <a:t>9% до 44%</a:t>
            </a:r>
          </a:p>
          <a:p>
            <a:pPr marL="285750" indent="-285750" algn="just">
              <a:buFont typeface="Arial" panose="020B0604020202020204" pitchFamily="34" charset="0"/>
              <a:buChar char="•"/>
            </a:pPr>
            <a:endParaRPr lang="ru-RU" b="1" dirty="0">
              <a:latin typeface="Inter" panose="02000503000000020004" pitchFamily="2" charset="0"/>
              <a:ea typeface="Inter" panose="02000503000000020004" pitchFamily="2" charset="0"/>
            </a:endParaRPr>
          </a:p>
        </p:txBody>
      </p:sp>
      <p:sp>
        <p:nvSpPr>
          <p:cNvPr id="5" name="TextBox 4">
            <a:extLst>
              <a:ext uri="{FF2B5EF4-FFF2-40B4-BE49-F238E27FC236}">
                <a16:creationId xmlns:a16="http://schemas.microsoft.com/office/drawing/2014/main" id="{14A6E544-5B67-48D3-A89B-8E29B2D628D6}"/>
              </a:ext>
            </a:extLst>
          </p:cNvPr>
          <p:cNvSpPr txBox="1"/>
          <p:nvPr/>
        </p:nvSpPr>
        <p:spPr>
          <a:xfrm>
            <a:off x="713920" y="5977390"/>
            <a:ext cx="3876382" cy="369332"/>
          </a:xfrm>
          <a:prstGeom prst="rect">
            <a:avLst/>
          </a:prstGeom>
          <a:noFill/>
        </p:spPr>
        <p:txBody>
          <a:bodyPr wrap="none" rtlCol="0">
            <a:spAutoFit/>
          </a:bodyPr>
          <a:lstStyle/>
          <a:p>
            <a:r>
              <a:rPr lang="ru-RU" sz="900" dirty="0"/>
              <a:t>*доля господдержки в общем объеме выдачи ипотечных займов</a:t>
            </a:r>
          </a:p>
          <a:p>
            <a:r>
              <a:rPr lang="ru-RU" sz="900" dirty="0"/>
              <a:t>Источник: </a:t>
            </a:r>
            <a:r>
              <a:rPr lang="ru-RU" sz="900" dirty="0">
                <a:hlinkClick r:id="rId3"/>
              </a:rPr>
              <a:t>Росстат — Цены, инфляция</a:t>
            </a:r>
            <a:r>
              <a:rPr lang="ru-RU" sz="900" dirty="0"/>
              <a:t>, </a:t>
            </a:r>
            <a:r>
              <a:rPr lang="ru-RU" sz="900" dirty="0">
                <a:hlinkClick r:id="rId4"/>
              </a:rPr>
              <a:t>«ДОМ.РФ» </a:t>
            </a:r>
            <a:endParaRPr lang="ru-RU" sz="900" dirty="0"/>
          </a:p>
        </p:txBody>
      </p:sp>
      <p:cxnSp>
        <p:nvCxnSpPr>
          <p:cNvPr id="10" name="Прямая соединительная линия 9">
            <a:extLst>
              <a:ext uri="{FF2B5EF4-FFF2-40B4-BE49-F238E27FC236}">
                <a16:creationId xmlns:a16="http://schemas.microsoft.com/office/drawing/2014/main" id="{8CF0A817-0738-47AE-8B23-443B6DAC250D}"/>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Номер слайда 1">
            <a:extLst>
              <a:ext uri="{FF2B5EF4-FFF2-40B4-BE49-F238E27FC236}">
                <a16:creationId xmlns:a16="http://schemas.microsoft.com/office/drawing/2014/main" id="{5F91F29A-7064-46DE-BC48-73BB776F62AE}"/>
              </a:ext>
            </a:extLst>
          </p:cNvPr>
          <p:cNvSpPr>
            <a:spLocks noGrp="1"/>
          </p:cNvSpPr>
          <p:nvPr>
            <p:ph type="sldNum" sz="quarter" idx="12"/>
          </p:nvPr>
        </p:nvSpPr>
        <p:spPr/>
        <p:txBody>
          <a:bodyPr/>
          <a:lstStyle/>
          <a:p>
            <a:fld id="{9AEAAB3A-B7C9-45EB-AFB0-A159B937AE97}" type="slidenum">
              <a:rPr lang="ru-RU" smtClean="0"/>
              <a:t>9</a:t>
            </a:fld>
            <a:endParaRPr lang="ru-RU"/>
          </a:p>
        </p:txBody>
      </p:sp>
      <p:pic>
        <p:nvPicPr>
          <p:cNvPr id="11" name="Рисунок 10">
            <a:extLst>
              <a:ext uri="{FF2B5EF4-FFF2-40B4-BE49-F238E27FC236}">
                <a16:creationId xmlns:a16="http://schemas.microsoft.com/office/drawing/2014/main" id="{B8608227-83E3-4BCD-9AF4-D3527A64B984}"/>
              </a:ext>
            </a:extLst>
          </p:cNvPr>
          <p:cNvPicPr>
            <a:picLocks noChangeAspect="1"/>
          </p:cNvPicPr>
          <p:nvPr/>
        </p:nvPicPr>
        <p:blipFill>
          <a:blip r:embed="rId5"/>
          <a:stretch>
            <a:fillRect/>
          </a:stretch>
        </p:blipFill>
        <p:spPr>
          <a:xfrm>
            <a:off x="11710034" y="9625"/>
            <a:ext cx="476250" cy="466725"/>
          </a:xfrm>
          <a:prstGeom prst="rect">
            <a:avLst/>
          </a:prstGeom>
        </p:spPr>
      </p:pic>
    </p:spTree>
    <p:extLst>
      <p:ext uri="{BB962C8B-B14F-4D97-AF65-F5344CB8AC3E}">
        <p14:creationId xmlns:p14="http://schemas.microsoft.com/office/powerpoint/2010/main" val="3920639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Заголовок 1">
            <a:extLst>
              <a:ext uri="{FF2B5EF4-FFF2-40B4-BE49-F238E27FC236}">
                <a16:creationId xmlns:a16="http://schemas.microsoft.com/office/drawing/2014/main" id="{35FCC7D8-654F-4CD3-9573-F1F1244ADB34}"/>
              </a:ext>
            </a:extLst>
          </p:cNvPr>
          <p:cNvSpPr txBox="1">
            <a:spLocks/>
          </p:cNvSpPr>
          <p:nvPr/>
        </p:nvSpPr>
        <p:spPr>
          <a:xfrm>
            <a:off x="218449" y="70950"/>
            <a:ext cx="11491586" cy="73391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2400" b="1" dirty="0">
                <a:latin typeface="Inter" panose="02000503000000020004" pitchFamily="2" charset="0"/>
                <a:ea typeface="Inter" panose="02000503000000020004" pitchFamily="2" charset="0"/>
              </a:rPr>
              <a:t>С МОМЕНТА ВВОДА «ЛЬГОТНОЙ ИПОТЕКИ» В </a:t>
            </a:r>
            <a:r>
              <a:rPr lang="ru-RU" sz="2400" b="1" dirty="0">
                <a:solidFill>
                  <a:srgbClr val="FFC209"/>
                </a:solidFill>
                <a:latin typeface="Inter" panose="02000503000000020004" pitchFamily="2" charset="0"/>
                <a:ea typeface="Inter" panose="02000503000000020004" pitchFamily="2" charset="0"/>
              </a:rPr>
              <a:t>РОССИИ</a:t>
            </a:r>
            <a:r>
              <a:rPr lang="ru-RU" sz="2400" b="1" dirty="0">
                <a:latin typeface="Inter" panose="02000503000000020004" pitchFamily="2" charset="0"/>
                <a:ea typeface="Inter" panose="02000503000000020004" pitchFamily="2" charset="0"/>
              </a:rPr>
              <a:t> ЦЕНЫ НА НЕДВИЖИМОСТЬ В КРУПНЫХ ГОРОДАХ ВЫРОСЛИ НА 114%</a:t>
            </a:r>
          </a:p>
        </p:txBody>
      </p:sp>
      <p:sp>
        <p:nvSpPr>
          <p:cNvPr id="6" name="TextBox 5">
            <a:extLst>
              <a:ext uri="{FF2B5EF4-FFF2-40B4-BE49-F238E27FC236}">
                <a16:creationId xmlns:a16="http://schemas.microsoft.com/office/drawing/2014/main" id="{4EE1C844-D7F3-472D-95F6-6C187C64FAD5}"/>
              </a:ext>
            </a:extLst>
          </p:cNvPr>
          <p:cNvSpPr txBox="1"/>
          <p:nvPr/>
        </p:nvSpPr>
        <p:spPr>
          <a:xfrm>
            <a:off x="125036" y="6076952"/>
            <a:ext cx="7527987" cy="507831"/>
          </a:xfrm>
          <a:prstGeom prst="rect">
            <a:avLst/>
          </a:prstGeom>
          <a:noFill/>
        </p:spPr>
        <p:txBody>
          <a:bodyPr wrap="square">
            <a:spAutoFit/>
          </a:bodyPr>
          <a:lstStyle/>
          <a:p>
            <a:r>
              <a:rPr lang="ru-RU" sz="900" dirty="0">
                <a:solidFill>
                  <a:srgbClr val="111214"/>
                </a:solidFill>
                <a:latin typeface="Inter" panose="020B0502030000000004" pitchFamily="34" charset="0"/>
                <a:ea typeface="Inter" panose="020B0502030000000004" pitchFamily="34" charset="0"/>
              </a:rPr>
              <a:t>Источник: ЦИАН. Аналитика</a:t>
            </a:r>
          </a:p>
          <a:p>
            <a:r>
              <a:rPr lang="en-US" sz="900" dirty="0">
                <a:solidFill>
                  <a:srgbClr val="111214"/>
                </a:solidFill>
                <a:latin typeface="Inter" panose="020B0502030000000004" pitchFamily="34" charset="0"/>
                <a:ea typeface="Inter" panose="020B0502030000000004" pitchFamily="34" charset="0"/>
                <a:hlinkClick r:id="rId3"/>
              </a:rPr>
              <a:t>https://mos.cian.ru/</a:t>
            </a:r>
            <a:endParaRPr lang="ru-RU" sz="900" dirty="0">
              <a:solidFill>
                <a:srgbClr val="111214"/>
              </a:solidFill>
              <a:latin typeface="Inter" panose="020B0502030000000004" pitchFamily="34" charset="0"/>
              <a:ea typeface="Inter" panose="020B0502030000000004" pitchFamily="34" charset="0"/>
            </a:endParaRPr>
          </a:p>
          <a:p>
            <a:endParaRPr lang="ru-RU" sz="900" dirty="0">
              <a:solidFill>
                <a:srgbClr val="111214"/>
              </a:solidFill>
              <a:latin typeface="Inter" panose="020B0502030000000004" pitchFamily="34" charset="0"/>
              <a:ea typeface="Inter" panose="020B0502030000000004" pitchFamily="34" charset="0"/>
            </a:endParaRPr>
          </a:p>
        </p:txBody>
      </p:sp>
      <p:graphicFrame>
        <p:nvGraphicFramePr>
          <p:cNvPr id="9" name="Таблица 8">
            <a:extLst>
              <a:ext uri="{FF2B5EF4-FFF2-40B4-BE49-F238E27FC236}">
                <a16:creationId xmlns:a16="http://schemas.microsoft.com/office/drawing/2014/main" id="{E3E5AD47-B42F-4CEE-940C-5757FC9C7B97}"/>
              </a:ext>
            </a:extLst>
          </p:cNvPr>
          <p:cNvGraphicFramePr>
            <a:graphicFrameLocks noGrp="1"/>
          </p:cNvGraphicFramePr>
          <p:nvPr>
            <p:extLst>
              <p:ext uri="{D42A27DB-BD31-4B8C-83A1-F6EECF244321}">
                <p14:modId xmlns:p14="http://schemas.microsoft.com/office/powerpoint/2010/main" val="3987826299"/>
              </p:ext>
            </p:extLst>
          </p:nvPr>
        </p:nvGraphicFramePr>
        <p:xfrm>
          <a:off x="215707" y="863867"/>
          <a:ext cx="7289497" cy="5063733"/>
        </p:xfrm>
        <a:graphic>
          <a:graphicData uri="http://schemas.openxmlformats.org/drawingml/2006/table">
            <a:tbl>
              <a:tblPr>
                <a:tableStyleId>{5940675A-B579-460E-94D1-54222C63F5DA}</a:tableStyleId>
              </a:tblPr>
              <a:tblGrid>
                <a:gridCol w="1904508">
                  <a:extLst>
                    <a:ext uri="{9D8B030D-6E8A-4147-A177-3AD203B41FA5}">
                      <a16:colId xmlns:a16="http://schemas.microsoft.com/office/drawing/2014/main" val="2134616691"/>
                    </a:ext>
                  </a:extLst>
                </a:gridCol>
                <a:gridCol w="1185555">
                  <a:extLst>
                    <a:ext uri="{9D8B030D-6E8A-4147-A177-3AD203B41FA5}">
                      <a16:colId xmlns:a16="http://schemas.microsoft.com/office/drawing/2014/main" val="3302652893"/>
                    </a:ext>
                  </a:extLst>
                </a:gridCol>
                <a:gridCol w="1185555">
                  <a:extLst>
                    <a:ext uri="{9D8B030D-6E8A-4147-A177-3AD203B41FA5}">
                      <a16:colId xmlns:a16="http://schemas.microsoft.com/office/drawing/2014/main" val="2197778259"/>
                    </a:ext>
                  </a:extLst>
                </a:gridCol>
                <a:gridCol w="1185555">
                  <a:extLst>
                    <a:ext uri="{9D8B030D-6E8A-4147-A177-3AD203B41FA5}">
                      <a16:colId xmlns:a16="http://schemas.microsoft.com/office/drawing/2014/main" val="3590224231"/>
                    </a:ext>
                  </a:extLst>
                </a:gridCol>
                <a:gridCol w="914162">
                  <a:extLst>
                    <a:ext uri="{9D8B030D-6E8A-4147-A177-3AD203B41FA5}">
                      <a16:colId xmlns:a16="http://schemas.microsoft.com/office/drawing/2014/main" val="3224026051"/>
                    </a:ext>
                  </a:extLst>
                </a:gridCol>
                <a:gridCol w="914162">
                  <a:extLst>
                    <a:ext uri="{9D8B030D-6E8A-4147-A177-3AD203B41FA5}">
                      <a16:colId xmlns:a16="http://schemas.microsoft.com/office/drawing/2014/main" val="1730038433"/>
                    </a:ext>
                  </a:extLst>
                </a:gridCol>
              </a:tblGrid>
              <a:tr h="223335">
                <a:tc rowSpan="2">
                  <a:txBody>
                    <a:bodyPr/>
                    <a:lstStyle/>
                    <a:p>
                      <a:pPr algn="ctr" fontAlgn="b"/>
                      <a:r>
                        <a:rPr lang="ru-RU" sz="1200" b="1" u="none" strike="noStrike" dirty="0">
                          <a:effectLst/>
                        </a:rPr>
                        <a:t>Локация</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b"/>
                      <a:r>
                        <a:rPr lang="ru-RU" sz="1200" b="1" u="none" strike="noStrike" dirty="0">
                          <a:effectLst/>
                        </a:rPr>
                        <a:t>Цена </a:t>
                      </a:r>
                      <a:r>
                        <a:rPr lang="ru-RU" sz="1200" b="1" u="none" strike="noStrike" dirty="0" err="1">
                          <a:effectLst/>
                        </a:rPr>
                        <a:t>кв.м</a:t>
                      </a:r>
                      <a:r>
                        <a:rPr lang="ru-RU" sz="1200" b="1" u="none" strike="noStrike" dirty="0">
                          <a:effectLst/>
                        </a:rPr>
                        <a:t>. в новостройках, тыс. </a:t>
                      </a:r>
                      <a:r>
                        <a:rPr lang="ru-RU" sz="1200" b="1" u="none" strike="noStrike" dirty="0" err="1">
                          <a:effectLst/>
                        </a:rPr>
                        <a:t>руб</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gridSpan="2">
                  <a:txBody>
                    <a:bodyPr/>
                    <a:lstStyle/>
                    <a:p>
                      <a:pPr algn="ctr" fontAlgn="b"/>
                      <a:r>
                        <a:rPr lang="ru-RU" sz="1200" b="1" i="0" u="none" strike="noStrike" dirty="0">
                          <a:solidFill>
                            <a:srgbClr val="000000"/>
                          </a:solidFill>
                          <a:effectLst/>
                          <a:latin typeface="Arial" panose="020B0604020202020204" pitchFamily="34" charset="0"/>
                        </a:rPr>
                        <a:t>Рост цен,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endParaRPr lang="ru-RU"/>
                    </a:p>
                  </a:txBody>
                  <a:tcPr/>
                </a:tc>
                <a:extLst>
                  <a:ext uri="{0D108BD9-81ED-4DB2-BD59-A6C34878D82A}">
                    <a16:rowId xmlns:a16="http://schemas.microsoft.com/office/drawing/2014/main" val="3946514087"/>
                  </a:ext>
                </a:extLst>
              </a:tr>
              <a:tr h="435614">
                <a:tc vMerge="1">
                  <a:txBody>
                    <a:bodyPr/>
                    <a:lstStyle/>
                    <a:p>
                      <a:endParaRPr lang="ru-RU"/>
                    </a:p>
                  </a:txBody>
                  <a:tcPr/>
                </a:tc>
                <a:tc>
                  <a:txBody>
                    <a:bodyPr/>
                    <a:lstStyle/>
                    <a:p>
                      <a:pPr algn="ctr" fontAlgn="b"/>
                      <a:r>
                        <a:rPr lang="ru-RU" sz="1200" b="1" u="none" strike="noStrike" dirty="0">
                          <a:effectLst/>
                        </a:rPr>
                        <a:t>июнь 2020г. </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200" b="1" u="none" strike="noStrike" dirty="0">
                          <a:effectLst/>
                        </a:rPr>
                        <a:t>июнь 2022г. </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200" b="1" u="none" strike="noStrike" dirty="0">
                          <a:effectLst/>
                        </a:rPr>
                        <a:t>июнь 2024 г.</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200" b="1" u="none" strike="noStrike" dirty="0">
                          <a:effectLst/>
                        </a:rPr>
                        <a:t>2024/2022</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200" b="1" u="none" strike="noStrike" dirty="0">
                          <a:effectLst/>
                        </a:rPr>
                        <a:t>2024/2020</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060724"/>
                  </a:ext>
                </a:extLst>
              </a:tr>
              <a:tr h="223335">
                <a:tc>
                  <a:txBody>
                    <a:bodyPr/>
                    <a:lstStyle/>
                    <a:p>
                      <a:pPr marL="72000" algn="l" fontAlgn="b"/>
                      <a:r>
                        <a:rPr lang="ru-RU" sz="1200" u="none" strike="noStrike" dirty="0">
                          <a:effectLst/>
                        </a:rPr>
                        <a:t>Москва</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206</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321</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356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11%</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73%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3339730"/>
                  </a:ext>
                </a:extLst>
              </a:tr>
              <a:tr h="225153">
                <a:tc>
                  <a:txBody>
                    <a:bodyPr/>
                    <a:lstStyle/>
                    <a:p>
                      <a:pPr marL="72000" algn="l" fontAlgn="b"/>
                      <a:r>
                        <a:rPr lang="ru-RU" sz="1200" u="none" strike="noStrike">
                          <a:effectLst/>
                        </a:rPr>
                        <a:t>Санкт-Петербург</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238</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245</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80%</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5432363"/>
                  </a:ext>
                </a:extLst>
              </a:tr>
              <a:tr h="223335">
                <a:tc>
                  <a:txBody>
                    <a:bodyPr/>
                    <a:lstStyle/>
                    <a:p>
                      <a:pPr marL="72000" algn="l" fontAlgn="b"/>
                      <a:r>
                        <a:rPr lang="ru-RU" sz="1200" u="none" strike="noStrike" dirty="0">
                          <a:effectLst/>
                        </a:rPr>
                        <a:t>Казань</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90</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168</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224</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33%</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149%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6177580"/>
                  </a:ext>
                </a:extLst>
              </a:tr>
              <a:tr h="223335">
                <a:tc>
                  <a:txBody>
                    <a:bodyPr/>
                    <a:lstStyle/>
                    <a:p>
                      <a:pPr marL="72000" algn="l" fontAlgn="b"/>
                      <a:r>
                        <a:rPr lang="ru-RU" sz="1200" u="none" strike="noStrike" dirty="0">
                          <a:effectLst/>
                        </a:rPr>
                        <a:t>Нижний Новгород</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79</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131</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197</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50%</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149%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5152143"/>
                  </a:ext>
                </a:extLst>
              </a:tr>
              <a:tr h="223335">
                <a:tc>
                  <a:txBody>
                    <a:bodyPr/>
                    <a:lstStyle/>
                    <a:p>
                      <a:pPr marL="72000" algn="l" fontAlgn="b"/>
                      <a:r>
                        <a:rPr lang="ru-RU" sz="1200" u="none" strike="noStrike" dirty="0">
                          <a:effectLst/>
                        </a:rPr>
                        <a:t>Московская обл.</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98</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166</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187</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91%</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8285"/>
                  </a:ext>
                </a:extLst>
              </a:tr>
              <a:tr h="223335">
                <a:tc>
                  <a:txBody>
                    <a:bodyPr/>
                    <a:lstStyle/>
                    <a:p>
                      <a:pPr marL="72000" algn="l" fontAlgn="b"/>
                      <a:r>
                        <a:rPr lang="ru-RU" sz="1200" u="none" strike="noStrike">
                          <a:effectLst/>
                        </a:rPr>
                        <a:t>Краснодар</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62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129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179</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39%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189%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5032368"/>
                  </a:ext>
                </a:extLst>
              </a:tr>
              <a:tr h="223335">
                <a:tc>
                  <a:txBody>
                    <a:bodyPr/>
                    <a:lstStyle/>
                    <a:p>
                      <a:pPr marL="72000" algn="l" fontAlgn="b"/>
                      <a:r>
                        <a:rPr lang="ru-RU" sz="1200" u="none" strike="noStrike">
                          <a:effectLst/>
                        </a:rPr>
                        <a:t>Новосибирск</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72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155</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14%</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115%</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8257283"/>
                  </a:ext>
                </a:extLst>
              </a:tr>
              <a:tr h="223335">
                <a:tc>
                  <a:txBody>
                    <a:bodyPr/>
                    <a:lstStyle/>
                    <a:p>
                      <a:pPr marL="72000" algn="l" fontAlgn="b"/>
                      <a:r>
                        <a:rPr lang="ru-RU" sz="1200" u="none" strike="noStrike">
                          <a:effectLst/>
                        </a:rPr>
                        <a:t>Ленобласть</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86</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149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153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78%</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1676255"/>
                  </a:ext>
                </a:extLst>
              </a:tr>
              <a:tr h="223335">
                <a:tc>
                  <a:txBody>
                    <a:bodyPr/>
                    <a:lstStyle/>
                    <a:p>
                      <a:pPr marL="72000" algn="l" fontAlgn="b"/>
                      <a:r>
                        <a:rPr lang="ru-RU" sz="1200" u="none" strike="noStrike">
                          <a:effectLst/>
                        </a:rPr>
                        <a:t>Екатеринбург</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83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126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152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21%</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83%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7454634"/>
                  </a:ext>
                </a:extLst>
              </a:tr>
              <a:tr h="223335">
                <a:tc>
                  <a:txBody>
                    <a:bodyPr/>
                    <a:lstStyle/>
                    <a:p>
                      <a:pPr marL="72000" algn="l" fontAlgn="b"/>
                      <a:r>
                        <a:rPr lang="ru-RU" sz="1200" u="none" strike="noStrike">
                          <a:effectLst/>
                        </a:rPr>
                        <a:t>Ростов-на-Дону</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58</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119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145</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22%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150%</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4609760"/>
                  </a:ext>
                </a:extLst>
              </a:tr>
              <a:tr h="223335">
                <a:tc>
                  <a:txBody>
                    <a:bodyPr/>
                    <a:lstStyle/>
                    <a:p>
                      <a:pPr marL="72000" algn="l" fontAlgn="b"/>
                      <a:r>
                        <a:rPr lang="ru-RU" sz="1200" u="none" strike="noStrike" dirty="0">
                          <a:effectLst/>
                        </a:rPr>
                        <a:t>Уфа</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74</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128</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145</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96%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48283"/>
                  </a:ext>
                </a:extLst>
              </a:tr>
              <a:tr h="223335">
                <a:tc>
                  <a:txBody>
                    <a:bodyPr/>
                    <a:lstStyle/>
                    <a:p>
                      <a:pPr marL="72000" algn="l" fontAlgn="b"/>
                      <a:r>
                        <a:rPr lang="ru-RU" sz="1200" u="none" strike="noStrike">
                          <a:effectLst/>
                        </a:rPr>
                        <a:t>Красноярск</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71</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107</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141</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32%</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99%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738442"/>
                  </a:ext>
                </a:extLst>
              </a:tr>
              <a:tr h="223335">
                <a:tc>
                  <a:txBody>
                    <a:bodyPr/>
                    <a:lstStyle/>
                    <a:p>
                      <a:pPr marL="72000" algn="l" fontAlgn="b"/>
                      <a:r>
                        <a:rPr lang="ru-RU" sz="1200" u="none" strike="noStrike" dirty="0">
                          <a:effectLst/>
                        </a:rPr>
                        <a:t>Омск</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46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122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137</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12%</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198%</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1411796"/>
                  </a:ext>
                </a:extLst>
              </a:tr>
              <a:tr h="223335">
                <a:tc>
                  <a:txBody>
                    <a:bodyPr/>
                    <a:lstStyle/>
                    <a:p>
                      <a:pPr marL="72000" algn="l" fontAlgn="b"/>
                      <a:r>
                        <a:rPr lang="ru-RU" sz="1200" u="none" strike="noStrike">
                          <a:effectLst/>
                        </a:rPr>
                        <a:t>Пермь</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62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103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32%</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119%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8368004"/>
                  </a:ext>
                </a:extLst>
              </a:tr>
              <a:tr h="223335">
                <a:tc>
                  <a:txBody>
                    <a:bodyPr/>
                    <a:lstStyle/>
                    <a:p>
                      <a:pPr marL="72000" algn="l" fontAlgn="b"/>
                      <a:r>
                        <a:rPr lang="ru-RU" sz="1200" u="none" strike="noStrike">
                          <a:effectLst/>
                        </a:rPr>
                        <a:t>Челябинск</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52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97</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133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37%</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156%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27477"/>
                  </a:ext>
                </a:extLst>
              </a:tr>
              <a:tr h="223335">
                <a:tc>
                  <a:txBody>
                    <a:bodyPr/>
                    <a:lstStyle/>
                    <a:p>
                      <a:pPr marL="72000" algn="l" fontAlgn="b"/>
                      <a:r>
                        <a:rPr lang="ru-RU" sz="1200" u="none" strike="noStrike" dirty="0">
                          <a:effectLst/>
                        </a:rPr>
                        <a:t>Волгоград</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52</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89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123</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38%</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137%</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7235703"/>
                  </a:ext>
                </a:extLst>
              </a:tr>
              <a:tr h="223335">
                <a:tc>
                  <a:txBody>
                    <a:bodyPr/>
                    <a:lstStyle/>
                    <a:p>
                      <a:pPr marL="72000" algn="l" fontAlgn="b"/>
                      <a:r>
                        <a:rPr lang="ru-RU" sz="1200" u="none" strike="noStrike">
                          <a:effectLst/>
                        </a:rPr>
                        <a:t>Самара</a:t>
                      </a:r>
                      <a:endParaRPr lang="ru-RU" sz="1200" b="1"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45</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109</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116</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6%</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158%</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9366236"/>
                  </a:ext>
                </a:extLst>
              </a:tr>
              <a:tr h="223335">
                <a:tc>
                  <a:txBody>
                    <a:bodyPr/>
                    <a:lstStyle/>
                    <a:p>
                      <a:pPr marL="72000" algn="l" fontAlgn="b"/>
                      <a:r>
                        <a:rPr lang="ru-RU" sz="1200" u="none" strike="noStrike" dirty="0">
                          <a:effectLst/>
                        </a:rPr>
                        <a:t>Воронеж</a:t>
                      </a:r>
                      <a:endParaRPr lang="ru-RU" sz="1200" b="1"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57</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95</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114</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a:effectLst/>
                        </a:rPr>
                        <a:t>20%</a:t>
                      </a:r>
                      <a:endParaRPr lang="ru-RU" sz="1200" b="0" i="0" u="none" strike="noStrike">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u="none" strike="noStrike" dirty="0">
                          <a:effectLst/>
                        </a:rPr>
                        <a:t>100%</a:t>
                      </a:r>
                      <a:endParaRPr lang="ru-RU" sz="12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2259229"/>
                  </a:ext>
                </a:extLst>
              </a:tr>
              <a:tr h="382936">
                <a:tc>
                  <a:txBody>
                    <a:bodyPr/>
                    <a:lstStyle/>
                    <a:p>
                      <a:pPr marL="72000" algn="l" fontAlgn="b"/>
                      <a:r>
                        <a:rPr lang="ru-RU" sz="1200" b="1" u="none" strike="noStrike" dirty="0">
                          <a:solidFill>
                            <a:srgbClr val="FCB60F"/>
                          </a:solidFill>
                          <a:effectLst/>
                        </a:rPr>
                        <a:t>Среднее по выборке</a:t>
                      </a:r>
                      <a:endParaRPr lang="ru-RU" sz="1200" b="1" i="0" u="none" strike="noStrike" dirty="0">
                        <a:solidFill>
                          <a:srgbClr val="FCB60F"/>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b="1" u="none" strike="noStrike" dirty="0">
                          <a:solidFill>
                            <a:srgbClr val="FCB60F"/>
                          </a:solidFill>
                          <a:effectLst/>
                        </a:rPr>
                        <a:t>79</a:t>
                      </a:r>
                      <a:endParaRPr lang="ru-RU" sz="1200" b="1" i="0" u="none" strike="noStrike" dirty="0">
                        <a:solidFill>
                          <a:srgbClr val="FCB60F"/>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b="1" u="none" strike="noStrike" dirty="0">
                          <a:solidFill>
                            <a:srgbClr val="FCB60F"/>
                          </a:solidFill>
                          <a:effectLst/>
                        </a:rPr>
                        <a:t>141</a:t>
                      </a:r>
                      <a:endParaRPr lang="ru-RU" sz="1200" b="1" i="0" u="none" strike="noStrike" dirty="0">
                        <a:solidFill>
                          <a:srgbClr val="FCB60F"/>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b="1" u="none" strike="noStrike" dirty="0">
                          <a:solidFill>
                            <a:srgbClr val="FCB60F"/>
                          </a:solidFill>
                          <a:effectLst/>
                        </a:rPr>
                        <a:t>169</a:t>
                      </a:r>
                      <a:endParaRPr lang="ru-RU" sz="1200" b="1" i="0" u="none" strike="noStrike" dirty="0">
                        <a:solidFill>
                          <a:srgbClr val="FCB60F"/>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b="1" u="none" strike="noStrike" dirty="0">
                          <a:solidFill>
                            <a:srgbClr val="FCB60F"/>
                          </a:solidFill>
                          <a:effectLst/>
                        </a:rPr>
                        <a:t>20%</a:t>
                      </a:r>
                      <a:endParaRPr lang="ru-RU" sz="1200" b="1" i="0" u="none" strike="noStrike" dirty="0">
                        <a:solidFill>
                          <a:srgbClr val="FCB60F"/>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ru-RU" sz="1200" b="1" u="none" strike="noStrike" dirty="0">
                          <a:solidFill>
                            <a:srgbClr val="FCB60F"/>
                          </a:solidFill>
                          <a:effectLst/>
                        </a:rPr>
                        <a:t>114%</a:t>
                      </a:r>
                      <a:endParaRPr lang="ru-RU" sz="1200" b="1" i="0" u="none" strike="noStrike" dirty="0">
                        <a:solidFill>
                          <a:srgbClr val="FCB60F"/>
                        </a:solidFill>
                        <a:effectLst/>
                        <a:latin typeface="Arial" panose="020B0604020202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255516"/>
                  </a:ext>
                </a:extLst>
              </a:tr>
            </a:tbl>
          </a:graphicData>
        </a:graphic>
      </p:graphicFrame>
      <p:sp>
        <p:nvSpPr>
          <p:cNvPr id="11" name="TextBox 10">
            <a:extLst>
              <a:ext uri="{FF2B5EF4-FFF2-40B4-BE49-F238E27FC236}">
                <a16:creationId xmlns:a16="http://schemas.microsoft.com/office/drawing/2014/main" id="{E737443C-ABF4-4F97-BF1C-B26A3A248967}"/>
              </a:ext>
            </a:extLst>
          </p:cNvPr>
          <p:cNvSpPr txBox="1"/>
          <p:nvPr/>
        </p:nvSpPr>
        <p:spPr>
          <a:xfrm flipH="1">
            <a:off x="7622878" y="1019889"/>
            <a:ext cx="4353415" cy="4524315"/>
          </a:xfrm>
          <a:prstGeom prst="rect">
            <a:avLst/>
          </a:prstGeom>
          <a:noFill/>
        </p:spPr>
        <p:txBody>
          <a:bodyPr wrap="square" rtlCol="0">
            <a:spAutoFit/>
          </a:bodyPr>
          <a:lstStyle/>
          <a:p>
            <a:pPr marL="342900" indent="-342900" algn="just">
              <a:buFont typeface="Arial" panose="020B0604020202020204" pitchFamily="34" charset="0"/>
              <a:buChar char="•"/>
            </a:pPr>
            <a:r>
              <a:rPr lang="ru-RU" b="1" dirty="0">
                <a:latin typeface="Inter" panose="02000503000000020004" pitchFamily="2" charset="0"/>
                <a:ea typeface="Inter" panose="02000503000000020004" pitchFamily="2" charset="0"/>
              </a:rPr>
              <a:t>После ввода «Льготной ипотеки» в крупных городах регионов цены выросли на 11</a:t>
            </a:r>
            <a:r>
              <a:rPr lang="en-US" b="1" dirty="0">
                <a:latin typeface="Inter" panose="02000503000000020004" pitchFamily="2" charset="0"/>
                <a:ea typeface="Inter" panose="02000503000000020004" pitchFamily="2" charset="0"/>
              </a:rPr>
              <a:t>4</a:t>
            </a:r>
            <a:r>
              <a:rPr lang="ru-RU" b="1" dirty="0">
                <a:latin typeface="Inter" panose="02000503000000020004" pitchFamily="2" charset="0"/>
                <a:ea typeface="Inter" panose="02000503000000020004" pitchFamily="2" charset="0"/>
              </a:rPr>
              <a:t>%</a:t>
            </a:r>
            <a:r>
              <a:rPr lang="ru-RU" dirty="0">
                <a:latin typeface="Inter" panose="02000503000000020004" pitchFamily="2" charset="0"/>
                <a:ea typeface="Inter" panose="02000503000000020004" pitchFamily="2" charset="0"/>
              </a:rPr>
              <a:t>,</a:t>
            </a:r>
            <a:r>
              <a:rPr lang="ru-RU" b="1" dirty="0">
                <a:latin typeface="Inter" panose="02000503000000020004" pitchFamily="2" charset="0"/>
                <a:ea typeface="Inter" panose="02000503000000020004" pitchFamily="2" charset="0"/>
              </a:rPr>
              <a:t> </a:t>
            </a:r>
            <a:r>
              <a:rPr lang="ru-RU" dirty="0">
                <a:latin typeface="Inter" panose="02000503000000020004" pitchFamily="2" charset="0"/>
                <a:ea typeface="Inter" panose="02000503000000020004" pitchFamily="2" charset="0"/>
              </a:rPr>
              <a:t>при этом межрегиональные диспропорции так и не преодолены. </a:t>
            </a:r>
          </a:p>
          <a:p>
            <a:pPr marL="342900" indent="-342900" algn="just">
              <a:buFont typeface="Arial" panose="020B0604020202020204" pitchFamily="34" charset="0"/>
              <a:buChar char="•"/>
            </a:pPr>
            <a:endParaRPr lang="ru-RU" dirty="0">
              <a:latin typeface="Inter" panose="02000503000000020004" pitchFamily="2" charset="0"/>
              <a:ea typeface="Inter" panose="02000503000000020004" pitchFamily="2" charset="0"/>
            </a:endParaRPr>
          </a:p>
          <a:p>
            <a:pPr marL="342900" indent="-342900" algn="just">
              <a:buFont typeface="Arial" panose="020B0604020202020204" pitchFamily="34" charset="0"/>
              <a:buChar char="•"/>
            </a:pPr>
            <a:r>
              <a:rPr lang="ru-RU" dirty="0">
                <a:latin typeface="Inter" panose="02000503000000020004" pitchFamily="2" charset="0"/>
                <a:ea typeface="Inter" panose="02000503000000020004" pitchFamily="2" charset="0"/>
              </a:rPr>
              <a:t>Меньше всего жилье подорожало в агломерациях Москвы и Санкт-Петербурга, а также в Уфе и Екатеринбурге. Более высокая конкуренция на этих рынках, а также исходно более высокий уровень цен вынудил застройщиков более умеренно индексировать их.</a:t>
            </a:r>
          </a:p>
        </p:txBody>
      </p:sp>
      <p:cxnSp>
        <p:nvCxnSpPr>
          <p:cNvPr id="7" name="Прямая соединительная линия 6">
            <a:extLst>
              <a:ext uri="{FF2B5EF4-FFF2-40B4-BE49-F238E27FC236}">
                <a16:creationId xmlns:a16="http://schemas.microsoft.com/office/drawing/2014/main" id="{34CFC36E-44BE-4386-954A-68E3F330421C}"/>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Номер слайда 1">
            <a:extLst>
              <a:ext uri="{FF2B5EF4-FFF2-40B4-BE49-F238E27FC236}">
                <a16:creationId xmlns:a16="http://schemas.microsoft.com/office/drawing/2014/main" id="{14BCBE73-8613-48B6-B973-98B27C0D7D62}"/>
              </a:ext>
            </a:extLst>
          </p:cNvPr>
          <p:cNvSpPr>
            <a:spLocks noGrp="1"/>
          </p:cNvSpPr>
          <p:nvPr>
            <p:ph type="sldNum" sz="quarter" idx="12"/>
          </p:nvPr>
        </p:nvSpPr>
        <p:spPr/>
        <p:txBody>
          <a:bodyPr/>
          <a:lstStyle/>
          <a:p>
            <a:fld id="{9AEAAB3A-B7C9-45EB-AFB0-A159B937AE97}" type="slidenum">
              <a:rPr lang="ru-RU" smtClean="0"/>
              <a:t>10</a:t>
            </a:fld>
            <a:endParaRPr lang="ru-RU"/>
          </a:p>
        </p:txBody>
      </p:sp>
      <p:pic>
        <p:nvPicPr>
          <p:cNvPr id="8" name="Рисунок 7">
            <a:extLst>
              <a:ext uri="{FF2B5EF4-FFF2-40B4-BE49-F238E27FC236}">
                <a16:creationId xmlns:a16="http://schemas.microsoft.com/office/drawing/2014/main" id="{4DF328C9-E18B-4643-9A94-4204796BAEA1}"/>
              </a:ext>
            </a:extLst>
          </p:cNvPr>
          <p:cNvPicPr>
            <a:picLocks noChangeAspect="1"/>
          </p:cNvPicPr>
          <p:nvPr/>
        </p:nvPicPr>
        <p:blipFill>
          <a:blip r:embed="rId4"/>
          <a:stretch>
            <a:fillRect/>
          </a:stretch>
        </p:blipFill>
        <p:spPr>
          <a:xfrm>
            <a:off x="11710034" y="9625"/>
            <a:ext cx="476250" cy="466725"/>
          </a:xfrm>
          <a:prstGeom prst="rect">
            <a:avLst/>
          </a:prstGeom>
        </p:spPr>
      </p:pic>
    </p:spTree>
    <p:extLst>
      <p:ext uri="{BB962C8B-B14F-4D97-AF65-F5344CB8AC3E}">
        <p14:creationId xmlns:p14="http://schemas.microsoft.com/office/powerpoint/2010/main" val="2267814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Таблица 6">
            <a:extLst>
              <a:ext uri="{FF2B5EF4-FFF2-40B4-BE49-F238E27FC236}">
                <a16:creationId xmlns:a16="http://schemas.microsoft.com/office/drawing/2014/main" id="{0F56F340-8012-4C41-BE97-6C36453E7908}"/>
              </a:ext>
            </a:extLst>
          </p:cNvPr>
          <p:cNvGraphicFramePr>
            <a:graphicFrameLocks noGrp="1"/>
          </p:cNvGraphicFramePr>
          <p:nvPr>
            <p:extLst>
              <p:ext uri="{D42A27DB-BD31-4B8C-83A1-F6EECF244321}">
                <p14:modId xmlns:p14="http://schemas.microsoft.com/office/powerpoint/2010/main" val="1316003623"/>
              </p:ext>
            </p:extLst>
          </p:nvPr>
        </p:nvGraphicFramePr>
        <p:xfrm>
          <a:off x="170986" y="929622"/>
          <a:ext cx="11887292" cy="4745271"/>
        </p:xfrm>
        <a:graphic>
          <a:graphicData uri="http://schemas.openxmlformats.org/drawingml/2006/table">
            <a:tbl>
              <a:tblPr>
                <a:tableStyleId>{616DA210-FB5B-4158-B5E0-FEB733F419BA}</a:tableStyleId>
              </a:tblPr>
              <a:tblGrid>
                <a:gridCol w="1959127">
                  <a:extLst>
                    <a:ext uri="{9D8B030D-6E8A-4147-A177-3AD203B41FA5}">
                      <a16:colId xmlns:a16="http://schemas.microsoft.com/office/drawing/2014/main" val="4028662929"/>
                    </a:ext>
                  </a:extLst>
                </a:gridCol>
                <a:gridCol w="5409835">
                  <a:extLst>
                    <a:ext uri="{9D8B030D-6E8A-4147-A177-3AD203B41FA5}">
                      <a16:colId xmlns:a16="http://schemas.microsoft.com/office/drawing/2014/main" val="39645160"/>
                    </a:ext>
                  </a:extLst>
                </a:gridCol>
                <a:gridCol w="4518330">
                  <a:extLst>
                    <a:ext uri="{9D8B030D-6E8A-4147-A177-3AD203B41FA5}">
                      <a16:colId xmlns:a16="http://schemas.microsoft.com/office/drawing/2014/main" val="771934748"/>
                    </a:ext>
                  </a:extLst>
                </a:gridCol>
              </a:tblGrid>
              <a:tr h="174082">
                <a:tc>
                  <a:txBody>
                    <a:bodyPr/>
                    <a:lstStyle/>
                    <a:p>
                      <a:pPr algn="ctr" fontAlgn="ctr"/>
                      <a:r>
                        <a:rPr lang="ru-RU" sz="1200" b="1" u="none" strike="noStrike" dirty="0">
                          <a:effectLst/>
                          <a:latin typeface="Inter" panose="020B0502030000000004" pitchFamily="34" charset="0"/>
                          <a:ea typeface="Inter" panose="020B0502030000000004" pitchFamily="34" charset="0"/>
                        </a:rPr>
                        <a:t>Программа </a:t>
                      </a:r>
                      <a:endParaRPr lang="ru-RU" sz="1200" b="1" i="0" u="none" strike="noStrike" dirty="0">
                        <a:solidFill>
                          <a:srgbClr val="252628"/>
                        </a:solidFill>
                        <a:effectLst/>
                        <a:latin typeface="Inter" panose="020B0502030000000004" pitchFamily="34" charset="0"/>
                        <a:ea typeface="Inter" panose="020B0502030000000004" pitchFamily="34" charset="0"/>
                      </a:endParaRPr>
                    </a:p>
                  </a:txBody>
                  <a:tcPr marL="9525" marR="9525" marT="9525" marB="0" anchor="ctr"/>
                </a:tc>
                <a:tc>
                  <a:txBody>
                    <a:bodyPr/>
                    <a:lstStyle/>
                    <a:p>
                      <a:pPr algn="ctr" fontAlgn="b"/>
                      <a:r>
                        <a:rPr lang="ru-RU" sz="1200" b="1" u="none" strike="noStrike" dirty="0">
                          <a:effectLst/>
                          <a:latin typeface="Inter" panose="020B0502030000000004" pitchFamily="34" charset="0"/>
                          <a:ea typeface="Inter" panose="020B0502030000000004" pitchFamily="34" charset="0"/>
                        </a:rPr>
                        <a:t>Для кого </a:t>
                      </a:r>
                      <a:endParaRPr lang="ru-RU" sz="1200" b="1"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b"/>
                </a:tc>
                <a:tc>
                  <a:txBody>
                    <a:bodyPr/>
                    <a:lstStyle/>
                    <a:p>
                      <a:pPr algn="ctr" fontAlgn="b"/>
                      <a:r>
                        <a:rPr lang="ru-RU" sz="1200" b="1" u="none" strike="noStrike" dirty="0">
                          <a:effectLst/>
                          <a:latin typeface="Inter" panose="020B0502030000000004" pitchFamily="34" charset="0"/>
                          <a:ea typeface="Inter" panose="020B0502030000000004" pitchFamily="34" charset="0"/>
                        </a:rPr>
                        <a:t>Условия </a:t>
                      </a:r>
                      <a:endParaRPr lang="ru-RU" sz="1200" b="1"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b"/>
                </a:tc>
                <a:extLst>
                  <a:ext uri="{0D108BD9-81ED-4DB2-BD59-A6C34878D82A}">
                    <a16:rowId xmlns:a16="http://schemas.microsoft.com/office/drawing/2014/main" val="3993143415"/>
                  </a:ext>
                </a:extLst>
              </a:tr>
              <a:tr h="1001400">
                <a:tc>
                  <a:txBody>
                    <a:bodyPr/>
                    <a:lstStyle/>
                    <a:p>
                      <a:pPr algn="ctr" fontAlgn="ctr"/>
                      <a:r>
                        <a:rPr lang="ru-RU" sz="1200" u="none" strike="noStrike" dirty="0">
                          <a:effectLst/>
                          <a:latin typeface="Inter" panose="020B0502030000000004" pitchFamily="34" charset="0"/>
                          <a:ea typeface="Inter" panose="020B0502030000000004" pitchFamily="34" charset="0"/>
                        </a:rPr>
                        <a:t>Семейная ипотека</a:t>
                      </a: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tc>
                  <a:txBody>
                    <a:bodyPr/>
                    <a:lstStyle/>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Государственная программа льготного ипотечного кредитования для семей, в которых воспитывается хотя бы один ребенок, не достигший возраста 7 лет или два несовершеннолетних ребенка либо дети с ограниченными возможностями.</a:t>
                      </a:r>
                      <a:r>
                        <a:rPr lang="en-US" sz="1200" u="none" strike="noStrike" dirty="0">
                          <a:effectLst/>
                          <a:latin typeface="Inter" panose="020B0502030000000004" pitchFamily="34" charset="0"/>
                          <a:ea typeface="Inter" panose="020B0502030000000004" pitchFamily="34" charset="0"/>
                        </a:rPr>
                        <a:t> </a:t>
                      </a:r>
                      <a:endParaRPr lang="ru-RU" sz="1200" u="none" strike="noStrike" dirty="0">
                        <a:effectLst/>
                        <a:latin typeface="Inter" panose="020B0502030000000004" pitchFamily="34" charset="0"/>
                        <a:ea typeface="Inter" panose="020B0502030000000004" pitchFamily="34" charset="0"/>
                      </a:endParaRPr>
                    </a:p>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Срок действия</a:t>
                      </a:r>
                      <a:r>
                        <a:rPr lang="en-US" sz="1200" u="none" strike="noStrike" dirty="0">
                          <a:effectLst/>
                          <a:latin typeface="Inter" panose="020B0502030000000004" pitchFamily="34" charset="0"/>
                          <a:ea typeface="Inter" panose="020B0502030000000004" pitchFamily="34" charset="0"/>
                        </a:rPr>
                        <a:t>: </a:t>
                      </a:r>
                      <a:r>
                        <a:rPr lang="ru-RU" sz="1200" u="none" strike="noStrike" dirty="0">
                          <a:effectLst/>
                          <a:latin typeface="Inter" panose="020B0502030000000004" pitchFamily="34" charset="0"/>
                          <a:ea typeface="Inter" panose="020B0502030000000004" pitchFamily="34" charset="0"/>
                        </a:rPr>
                        <a:t>январь 2018 - декабрь 2030 </a:t>
                      </a: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tc>
                  <a:txBody>
                    <a:bodyPr/>
                    <a:lstStyle/>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u="none" strike="noStrike" dirty="0">
                          <a:effectLst/>
                          <a:latin typeface="Inter" panose="020B0502030000000004" pitchFamily="34" charset="0"/>
                          <a:ea typeface="Inter" panose="020B0502030000000004" pitchFamily="34" charset="0"/>
                        </a:rPr>
                        <a:t>1) максимальная ставка  6%</a:t>
                      </a:r>
                    </a:p>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u="none" strike="noStrike" dirty="0">
                          <a:effectLst/>
                          <a:latin typeface="Inter" panose="020B0502030000000004" pitchFamily="34" charset="0"/>
                          <a:ea typeface="Inter" panose="020B0502030000000004" pitchFamily="34" charset="0"/>
                        </a:rPr>
                        <a:t>2) макс</a:t>
                      </a:r>
                      <a:r>
                        <a:rPr lang="en-US" sz="1200" u="none" strike="noStrike" dirty="0">
                          <a:effectLst/>
                          <a:latin typeface="Inter" panose="020B0502030000000004" pitchFamily="34" charset="0"/>
                          <a:ea typeface="Inter" panose="020B0502030000000004" pitchFamily="34" charset="0"/>
                        </a:rPr>
                        <a:t>.</a:t>
                      </a:r>
                      <a:r>
                        <a:rPr lang="ru-RU" sz="1200" u="none" strike="noStrike" dirty="0">
                          <a:effectLst/>
                          <a:latin typeface="Inter" panose="020B0502030000000004" pitchFamily="34" charset="0"/>
                          <a:ea typeface="Inter" panose="020B0502030000000004" pitchFamily="34" charset="0"/>
                        </a:rPr>
                        <a:t> сумма кредита - 12 млн руб. (</a:t>
                      </a:r>
                      <a:r>
                        <a:rPr lang="ru-RU" sz="1200" u="none" strike="noStrike" dirty="0" err="1">
                          <a:effectLst/>
                          <a:latin typeface="Inter" panose="020B0502030000000004" pitchFamily="34" charset="0"/>
                          <a:ea typeface="Inter" panose="020B0502030000000004" pitchFamily="34" charset="0"/>
                        </a:rPr>
                        <a:t>Мск</a:t>
                      </a:r>
                      <a:r>
                        <a:rPr lang="ru-RU" sz="1200" u="none" strike="noStrike" dirty="0">
                          <a:effectLst/>
                          <a:latin typeface="Inter" panose="020B0502030000000004" pitchFamily="34" charset="0"/>
                          <a:ea typeface="Inter" panose="020B0502030000000004" pitchFamily="34" charset="0"/>
                        </a:rPr>
                        <a:t>, СПБ, </a:t>
                      </a:r>
                      <a:r>
                        <a:rPr lang="ru-RU" sz="1200" u="none" strike="noStrike" dirty="0" err="1">
                          <a:effectLst/>
                          <a:latin typeface="Inter" panose="020B0502030000000004" pitchFamily="34" charset="0"/>
                          <a:ea typeface="Inter" panose="020B0502030000000004" pitchFamily="34" charset="0"/>
                        </a:rPr>
                        <a:t>Мос.обл</a:t>
                      </a:r>
                      <a:r>
                        <a:rPr lang="ru-RU" sz="1200" u="none" strike="noStrike" dirty="0">
                          <a:effectLst/>
                          <a:latin typeface="Inter" panose="020B0502030000000004" pitchFamily="34" charset="0"/>
                          <a:ea typeface="Inter" panose="020B0502030000000004" pitchFamily="34" charset="0"/>
                        </a:rPr>
                        <a:t>, </a:t>
                      </a:r>
                      <a:r>
                        <a:rPr lang="ru-RU" sz="1200" u="none" strike="noStrike" dirty="0" err="1">
                          <a:effectLst/>
                          <a:latin typeface="Inter" panose="020B0502030000000004" pitchFamily="34" charset="0"/>
                          <a:ea typeface="Inter" panose="020B0502030000000004" pitchFamily="34" charset="0"/>
                        </a:rPr>
                        <a:t>Лен.обл</a:t>
                      </a:r>
                      <a:r>
                        <a:rPr lang="ru-RU" sz="1200" u="none" strike="noStrike" dirty="0">
                          <a:effectLst/>
                          <a:latin typeface="Inter" panose="020B0502030000000004" pitchFamily="34" charset="0"/>
                          <a:ea typeface="Inter" panose="020B0502030000000004" pitchFamily="34" charset="0"/>
                        </a:rPr>
                        <a:t>), 6 млн руб. - ост. регионы) </a:t>
                      </a:r>
                    </a:p>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u="none" strike="noStrike" dirty="0">
                          <a:effectLst/>
                          <a:latin typeface="Inter" panose="020B0502030000000004" pitchFamily="34" charset="0"/>
                          <a:ea typeface="Inter" panose="020B0502030000000004" pitchFamily="34" charset="0"/>
                        </a:rPr>
                        <a:t>3) минимальный первоначальный взнос - 20%</a:t>
                      </a:r>
                      <a:br>
                        <a:rPr lang="ru-RU" sz="1200" u="none" strike="noStrike" dirty="0">
                          <a:effectLst/>
                          <a:latin typeface="Inter" panose="020B0502030000000004" pitchFamily="34" charset="0"/>
                          <a:ea typeface="Inter" panose="020B0502030000000004" pitchFamily="34" charset="0"/>
                        </a:rPr>
                      </a:br>
                      <a:r>
                        <a:rPr lang="ru-RU" sz="1200" b="1" u="none" strike="noStrike" dirty="0">
                          <a:solidFill>
                            <a:srgbClr val="FFBF00"/>
                          </a:solidFill>
                          <a:effectLst/>
                          <a:latin typeface="Inter" panose="020B0502030000000004" pitchFamily="34" charset="0"/>
                          <a:ea typeface="Inter" panose="020B0502030000000004" pitchFamily="34" charset="0"/>
                        </a:rPr>
                        <a:t>Лимит – 8.65 трлн руб., выдано 6 трлн руб.</a:t>
                      </a:r>
                    </a:p>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b="1" u="none" strike="noStrike" dirty="0">
                          <a:solidFill>
                            <a:srgbClr val="FFBF00"/>
                          </a:solidFill>
                          <a:effectLst/>
                          <a:latin typeface="Inter" panose="020B0502030000000004" pitchFamily="34" charset="0"/>
                          <a:ea typeface="Inter" panose="020B0502030000000004" pitchFamily="34" charset="0"/>
                        </a:rPr>
                        <a:t>Исполнение лимита – 69%</a:t>
                      </a:r>
                      <a:endParaRPr lang="ru-RU" sz="1200" b="1" dirty="0">
                        <a:solidFill>
                          <a:srgbClr val="FFBF00"/>
                        </a:solidFill>
                      </a:endParaRPr>
                    </a:p>
                  </a:txBody>
                  <a:tcPr marL="9525" marR="9525" marT="9525" marB="0" anchor="ctr"/>
                </a:tc>
                <a:extLst>
                  <a:ext uri="{0D108BD9-81ED-4DB2-BD59-A6C34878D82A}">
                    <a16:rowId xmlns:a16="http://schemas.microsoft.com/office/drawing/2014/main" val="1400127822"/>
                  </a:ext>
                </a:extLst>
              </a:tr>
              <a:tr h="1001400">
                <a:tc>
                  <a:txBody>
                    <a:bodyPr/>
                    <a:lstStyle/>
                    <a:p>
                      <a:pPr algn="ctr" fontAlgn="ctr"/>
                      <a:r>
                        <a:rPr lang="ru-RU" sz="1200" u="none" strike="noStrike" dirty="0">
                          <a:effectLst/>
                          <a:latin typeface="Inter" panose="020B0502030000000004" pitchFamily="34" charset="0"/>
                          <a:ea typeface="Inter" panose="020B0502030000000004" pitchFamily="34" charset="0"/>
                        </a:rPr>
                        <a:t>Дальневосточная и Арктическая ипотека</a:t>
                      </a: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tc>
                  <a:txBody>
                    <a:bodyPr/>
                    <a:lstStyle/>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Государственная программа льготного кредитования на приобретение или строительство жилья на территории регионов Дальневосточного федерального округа и сухопутных территориях Арктической зоны Российской Федерации. Введено с 2019 г. (расширено с 2023г.) </a:t>
                      </a:r>
                    </a:p>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Срок действия</a:t>
                      </a:r>
                      <a:r>
                        <a:rPr lang="en-US" sz="1200" u="none" strike="noStrike" dirty="0">
                          <a:effectLst/>
                          <a:latin typeface="Inter" panose="020B0502030000000004" pitchFamily="34" charset="0"/>
                          <a:ea typeface="Inter" panose="020B0502030000000004" pitchFamily="34" charset="0"/>
                        </a:rPr>
                        <a:t>:</a:t>
                      </a:r>
                      <a:r>
                        <a:rPr lang="ru-RU" sz="1200" u="none" strike="noStrike" dirty="0">
                          <a:effectLst/>
                          <a:latin typeface="Inter" panose="020B0502030000000004" pitchFamily="34" charset="0"/>
                          <a:ea typeface="Inter" panose="020B0502030000000004" pitchFamily="34" charset="0"/>
                        </a:rPr>
                        <a:t> декабрь 2019 – декабрь 2030</a:t>
                      </a:r>
                      <a:endParaRPr lang="ru-RU" sz="1200" u="none" strike="noStrike" kern="1200" dirty="0">
                        <a:solidFill>
                          <a:schemeClr val="tx1"/>
                        </a:solidFill>
                        <a:effectLst/>
                        <a:latin typeface="Inter" panose="020B0502030000000004" pitchFamily="34" charset="0"/>
                        <a:ea typeface="Inter" panose="020B0502030000000004" pitchFamily="34" charset="0"/>
                        <a:cs typeface="+mn-cs"/>
                      </a:endParaRPr>
                    </a:p>
                  </a:txBody>
                  <a:tcPr marL="9525" marR="9525" marT="9525" marB="0" anchor="ctr"/>
                </a:tc>
                <a:tc>
                  <a:txBody>
                    <a:bodyPr/>
                    <a:lstStyle/>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1) максимальная ставка  2%                                                                                                 2) макс</a:t>
                      </a:r>
                      <a:r>
                        <a:rPr lang="en-US" sz="1200" u="none" strike="noStrike" dirty="0">
                          <a:effectLst/>
                          <a:latin typeface="Inter" panose="020B0502030000000004" pitchFamily="34" charset="0"/>
                          <a:ea typeface="Inter" panose="020B0502030000000004" pitchFamily="34" charset="0"/>
                        </a:rPr>
                        <a:t>.</a:t>
                      </a:r>
                      <a:r>
                        <a:rPr lang="ru-RU" sz="1200" u="none" strike="noStrike" dirty="0">
                          <a:effectLst/>
                          <a:latin typeface="Inter" panose="020B0502030000000004" pitchFamily="34" charset="0"/>
                          <a:ea typeface="Inter" panose="020B0502030000000004" pitchFamily="34" charset="0"/>
                        </a:rPr>
                        <a:t> сумма кредита - 9 млн руб.</a:t>
                      </a:r>
                    </a:p>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3) минимальный первоначальный взнос - 20%</a:t>
                      </a:r>
                      <a:br>
                        <a:rPr lang="ru-RU" sz="1200" u="none" strike="noStrike" dirty="0">
                          <a:effectLst/>
                          <a:latin typeface="Inter" panose="020B0502030000000004" pitchFamily="34" charset="0"/>
                          <a:ea typeface="Inter" panose="020B0502030000000004" pitchFamily="34" charset="0"/>
                        </a:rPr>
                      </a:br>
                      <a:r>
                        <a:rPr lang="ru-RU" sz="1200" b="1" u="none" strike="noStrike" dirty="0">
                          <a:solidFill>
                            <a:srgbClr val="FFBF00"/>
                          </a:solidFill>
                          <a:effectLst/>
                          <a:latin typeface="Inter" panose="020B0502030000000004" pitchFamily="34" charset="0"/>
                          <a:ea typeface="Inter" panose="020B0502030000000004" pitchFamily="34" charset="0"/>
                        </a:rPr>
                        <a:t>Лимит – 1.4 трлн руб., выдано 0.66 трлн руб. </a:t>
                      </a:r>
                    </a:p>
                    <a:p>
                      <a:pPr marL="72000" algn="l" fontAlgn="ctr">
                        <a:spcBef>
                          <a:spcPts val="0"/>
                        </a:spcBef>
                      </a:pPr>
                      <a:r>
                        <a:rPr lang="ru-RU" sz="1200" b="1" u="none" strike="noStrike" dirty="0">
                          <a:solidFill>
                            <a:srgbClr val="FFBF00"/>
                          </a:solidFill>
                          <a:effectLst/>
                          <a:latin typeface="Inter" panose="020B0502030000000004" pitchFamily="34" charset="0"/>
                          <a:ea typeface="Inter" panose="020B0502030000000004" pitchFamily="34" charset="0"/>
                        </a:rPr>
                        <a:t>Исполнение лимита – 47%</a:t>
                      </a:r>
                      <a:endParaRPr lang="ru-RU" sz="1200" b="1" i="0" u="none" strike="noStrike" dirty="0">
                        <a:solidFill>
                          <a:srgbClr val="FFBF00"/>
                        </a:solidFill>
                        <a:effectLst/>
                        <a:latin typeface="Inter" panose="020B0502030000000004" pitchFamily="34" charset="0"/>
                        <a:ea typeface="Inter" panose="020B0502030000000004" pitchFamily="34" charset="0"/>
                      </a:endParaRPr>
                    </a:p>
                  </a:txBody>
                  <a:tcPr marL="9525" marR="9525" marT="9525" marB="0" anchor="ctr"/>
                </a:tc>
                <a:extLst>
                  <a:ext uri="{0D108BD9-81ED-4DB2-BD59-A6C34878D82A}">
                    <a16:rowId xmlns:a16="http://schemas.microsoft.com/office/drawing/2014/main" val="223567882"/>
                  </a:ext>
                </a:extLst>
              </a:tr>
              <a:tr h="1142319">
                <a:tc>
                  <a:txBody>
                    <a:bodyPr/>
                    <a:lstStyle/>
                    <a:p>
                      <a:pPr algn="ctr" fontAlgn="ctr"/>
                      <a:r>
                        <a:rPr lang="ru-RU" sz="1200" b="0" i="0" u="none" strike="noStrike" dirty="0">
                          <a:solidFill>
                            <a:srgbClr val="000000"/>
                          </a:solidFill>
                          <a:effectLst/>
                          <a:latin typeface="Inter" panose="020B0502030000000004" pitchFamily="34" charset="0"/>
                          <a:ea typeface="Inter" panose="020B0502030000000004" pitchFamily="34" charset="0"/>
                        </a:rPr>
                        <a:t>Льготная ипотека</a:t>
                      </a:r>
                    </a:p>
                  </a:txBody>
                  <a:tcPr marL="9525" marR="9525" marT="9525" marB="0" anchor="ctr"/>
                </a:tc>
                <a:tc>
                  <a:txBody>
                    <a:bodyPr/>
                    <a:lstStyle/>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u="none" strike="noStrike" dirty="0">
                          <a:effectLst/>
                          <a:latin typeface="Inter" panose="020B0502030000000004" pitchFamily="34" charset="0"/>
                          <a:ea typeface="Inter" panose="020B0502030000000004" pitchFamily="34" charset="0"/>
                        </a:rPr>
                        <a:t>Государственная программа льготного кредитования на приобретение жилья в </a:t>
                      </a:r>
                      <a:r>
                        <a:rPr lang="ru-RU" sz="1200" b="1" u="none" strike="noStrike" dirty="0">
                          <a:effectLst/>
                          <a:latin typeface="Inter" panose="020B0502030000000004" pitchFamily="34" charset="0"/>
                          <a:ea typeface="Inter" panose="020B0502030000000004" pitchFamily="34" charset="0"/>
                        </a:rPr>
                        <a:t>новостройках РФ</a:t>
                      </a:r>
                    </a:p>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u="none" strike="noStrike" dirty="0">
                          <a:effectLst/>
                          <a:latin typeface="Inter" panose="020B0502030000000004" pitchFamily="34" charset="0"/>
                          <a:ea typeface="Inter" panose="020B0502030000000004" pitchFamily="34" charset="0"/>
                        </a:rPr>
                        <a:t>Срок действия</a:t>
                      </a:r>
                      <a:r>
                        <a:rPr lang="ru-RU" sz="1200" u="none" strike="noStrike" kern="1200" dirty="0">
                          <a:solidFill>
                            <a:schemeClr val="tx1"/>
                          </a:solidFill>
                          <a:effectLst/>
                          <a:latin typeface="Inter" panose="020B0502030000000004" pitchFamily="34" charset="0"/>
                          <a:ea typeface="Inter" panose="020B0502030000000004" pitchFamily="34" charset="0"/>
                          <a:cs typeface="+mn-cs"/>
                        </a:rPr>
                        <a:t>: апрель 2020 –июнь 2024</a:t>
                      </a: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tc>
                  <a:txBody>
                    <a:bodyPr/>
                    <a:lstStyle/>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u="none" strike="noStrike" dirty="0">
                          <a:effectLst/>
                          <a:latin typeface="Inter" panose="020B0502030000000004" pitchFamily="34" charset="0"/>
                          <a:ea typeface="Inter" panose="020B0502030000000004" pitchFamily="34" charset="0"/>
                        </a:rPr>
                        <a:t>1) максимальная ставка  8%                                                                                                 2) макс</a:t>
                      </a:r>
                      <a:r>
                        <a:rPr lang="en-US" sz="1200" u="none" strike="noStrike" dirty="0">
                          <a:effectLst/>
                          <a:latin typeface="Inter" panose="020B0502030000000004" pitchFamily="34" charset="0"/>
                          <a:ea typeface="Inter" panose="020B0502030000000004" pitchFamily="34" charset="0"/>
                        </a:rPr>
                        <a:t>.</a:t>
                      </a:r>
                      <a:r>
                        <a:rPr lang="ru-RU" sz="1200" u="none" strike="noStrike" dirty="0">
                          <a:effectLst/>
                          <a:latin typeface="Inter" panose="020B0502030000000004" pitchFamily="34" charset="0"/>
                          <a:ea typeface="Inter" panose="020B0502030000000004" pitchFamily="34" charset="0"/>
                        </a:rPr>
                        <a:t> сумма кредита 6 млн руб. для всех регионов                                                                      3) минимальный первоначальный взнос - 20%</a:t>
                      </a:r>
                      <a:br>
                        <a:rPr lang="ru-RU" sz="1200" u="none" strike="noStrike" dirty="0">
                          <a:effectLst/>
                          <a:latin typeface="Inter" panose="020B0502030000000004" pitchFamily="34" charset="0"/>
                          <a:ea typeface="Inter" panose="020B0502030000000004" pitchFamily="34" charset="0"/>
                        </a:rPr>
                      </a:br>
                      <a:r>
                        <a:rPr lang="ru-RU" sz="1200" b="1" u="none" strike="noStrike" dirty="0">
                          <a:solidFill>
                            <a:srgbClr val="FFBF00"/>
                          </a:solidFill>
                          <a:effectLst/>
                          <a:latin typeface="Inter" panose="020B0502030000000004" pitchFamily="34" charset="0"/>
                          <a:ea typeface="Inter" panose="020B0502030000000004" pitchFamily="34" charset="0"/>
                        </a:rPr>
                        <a:t>Лимит </a:t>
                      </a:r>
                      <a:r>
                        <a:rPr lang="ru-RU" sz="1200" b="1" u="none" strike="noStrike" kern="1200" dirty="0">
                          <a:solidFill>
                            <a:srgbClr val="FFBF00"/>
                          </a:solidFill>
                          <a:effectLst/>
                          <a:latin typeface="Inter" panose="020B0502030000000004" pitchFamily="34" charset="0"/>
                          <a:ea typeface="Inter" panose="020B0502030000000004" pitchFamily="34" charset="0"/>
                          <a:cs typeface="+mn-cs"/>
                        </a:rPr>
                        <a:t>– 6.19 трлн руб., выдано 6.17 трлн руб. Исполнение лимита – 99%</a:t>
                      </a: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extLst>
                  <a:ext uri="{0D108BD9-81ED-4DB2-BD59-A6C34878D82A}">
                    <a16:rowId xmlns:a16="http://schemas.microsoft.com/office/drawing/2014/main" val="2388625119"/>
                  </a:ext>
                </a:extLst>
              </a:tr>
              <a:tr h="1196937">
                <a:tc>
                  <a:txBody>
                    <a:bodyPr/>
                    <a:lstStyle/>
                    <a:p>
                      <a:pPr algn="ctr" fontAlgn="ctr"/>
                      <a:r>
                        <a:rPr lang="ru-RU" sz="1200" u="none" strike="noStrike" dirty="0">
                          <a:effectLst/>
                          <a:latin typeface="Inter" panose="020B0502030000000004" pitchFamily="34" charset="0"/>
                          <a:ea typeface="Inter" panose="020B0502030000000004" pitchFamily="34" charset="0"/>
                        </a:rPr>
                        <a:t>Государственная ипотека для </a:t>
                      </a:r>
                      <a:r>
                        <a:rPr lang="en-US" sz="1200" u="none" strike="noStrike" dirty="0">
                          <a:effectLst/>
                          <a:latin typeface="Inter" panose="020B0502030000000004" pitchFamily="34" charset="0"/>
                          <a:ea typeface="Inter" panose="020B0502030000000004" pitchFamily="34" charset="0"/>
                        </a:rPr>
                        <a:t>IT-</a:t>
                      </a:r>
                      <a:r>
                        <a:rPr lang="ru-RU" sz="1200" u="none" strike="noStrike" dirty="0">
                          <a:effectLst/>
                          <a:latin typeface="Inter" panose="020B0502030000000004" pitchFamily="34" charset="0"/>
                          <a:ea typeface="Inter" panose="020B0502030000000004" pitchFamily="34" charset="0"/>
                        </a:rPr>
                        <a:t>специалистов</a:t>
                      </a: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tc>
                  <a:txBody>
                    <a:bodyPr/>
                    <a:lstStyle/>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Программа льготного ипотечного кредитования для IT-специалистов на приобретение жилья у застройщиков, строительство индивидуального жилого дома</a:t>
                      </a:r>
                      <a:r>
                        <a:rPr lang="en-US" sz="1200" u="none" strike="noStrike" dirty="0">
                          <a:effectLst/>
                          <a:latin typeface="Inter" panose="020B0502030000000004" pitchFamily="34" charset="0"/>
                          <a:ea typeface="Inter" panose="020B0502030000000004" pitchFamily="34" charset="0"/>
                        </a:rPr>
                        <a:t>.</a:t>
                      </a:r>
                    </a:p>
                    <a:p>
                      <a:pPr marL="72000" algn="l" fontAlgn="ctr">
                        <a:spcBef>
                          <a:spcPts val="0"/>
                        </a:spcBef>
                      </a:pPr>
                      <a:r>
                        <a:rPr lang="ru-RU" sz="1200" u="none" strike="noStrike" dirty="0">
                          <a:effectLst/>
                          <a:latin typeface="Inter" panose="020B0502030000000004" pitchFamily="34" charset="0"/>
                          <a:ea typeface="Inter" panose="020B0502030000000004" pitchFamily="34" charset="0"/>
                        </a:rPr>
                        <a:t>Срок действия</a:t>
                      </a:r>
                      <a:r>
                        <a:rPr lang="en-US" sz="1200" u="none" strike="noStrike" dirty="0">
                          <a:effectLst/>
                          <a:latin typeface="Inter" panose="020B0502030000000004" pitchFamily="34" charset="0"/>
                          <a:ea typeface="Inter" panose="020B0502030000000004" pitchFamily="34" charset="0"/>
                        </a:rPr>
                        <a:t>: </a:t>
                      </a:r>
                      <a:r>
                        <a:rPr lang="ru-RU" sz="1200" u="none" strike="noStrike" dirty="0">
                          <a:effectLst/>
                          <a:latin typeface="Inter" panose="020B0502030000000004" pitchFamily="34" charset="0"/>
                          <a:ea typeface="Inter" panose="020B0502030000000004" pitchFamily="34" charset="0"/>
                        </a:rPr>
                        <a:t>май 2022 - декабрь 2030 </a:t>
                      </a: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tc>
                  <a:txBody>
                    <a:bodyPr/>
                    <a:lstStyle/>
                    <a:p>
                      <a:pPr marL="72000" indent="0" algn="l" fontAlgn="ctr">
                        <a:spcBef>
                          <a:spcPts val="0"/>
                        </a:spcBef>
                        <a:buAutoNum type="arabicParenR"/>
                      </a:pPr>
                      <a:r>
                        <a:rPr lang="ru-RU" sz="1200" u="none" strike="noStrike" kern="1200" dirty="0">
                          <a:solidFill>
                            <a:schemeClr val="tx1"/>
                          </a:solidFill>
                          <a:effectLst/>
                          <a:latin typeface="Inter" panose="020B0502030000000004" pitchFamily="34" charset="0"/>
                          <a:ea typeface="Inter" panose="020B0502030000000004" pitchFamily="34" charset="0"/>
                          <a:cs typeface="+mn-cs"/>
                        </a:rPr>
                        <a:t>максимальная ставка  6%                                           </a:t>
                      </a:r>
                    </a:p>
                    <a:p>
                      <a:pPr marL="72000" indent="0" algn="l" fontAlgn="ctr">
                        <a:spcBef>
                          <a:spcPts val="0"/>
                        </a:spcBef>
                        <a:buAutoNum type="arabicParenR"/>
                      </a:pPr>
                      <a:r>
                        <a:rPr lang="ru-RU" sz="1200" u="none" strike="noStrike" kern="1200" dirty="0">
                          <a:solidFill>
                            <a:schemeClr val="tx1"/>
                          </a:solidFill>
                          <a:effectLst/>
                          <a:latin typeface="Inter" panose="020B0502030000000004" pitchFamily="34" charset="0"/>
                          <a:ea typeface="Inter" panose="020B0502030000000004" pitchFamily="34" charset="0"/>
                          <a:cs typeface="+mn-cs"/>
                        </a:rPr>
                        <a:t>макс</a:t>
                      </a:r>
                      <a:r>
                        <a:rPr lang="en-US" sz="1200" u="none" strike="noStrike" kern="1200" dirty="0">
                          <a:solidFill>
                            <a:schemeClr val="tx1"/>
                          </a:solidFill>
                          <a:effectLst/>
                          <a:latin typeface="Inter" panose="020B0502030000000004" pitchFamily="34" charset="0"/>
                          <a:ea typeface="Inter" panose="020B0502030000000004" pitchFamily="34" charset="0"/>
                          <a:cs typeface="+mn-cs"/>
                        </a:rPr>
                        <a:t>.</a:t>
                      </a:r>
                      <a:r>
                        <a:rPr lang="ru-RU" sz="1200" u="none" strike="noStrike" kern="1200" dirty="0">
                          <a:solidFill>
                            <a:schemeClr val="tx1"/>
                          </a:solidFill>
                          <a:effectLst/>
                          <a:latin typeface="Inter" panose="020B0502030000000004" pitchFamily="34" charset="0"/>
                          <a:ea typeface="Inter" panose="020B0502030000000004" pitchFamily="34" charset="0"/>
                          <a:cs typeface="+mn-cs"/>
                        </a:rPr>
                        <a:t> сумма кредита – 9 млн руб. для всех регионов </a:t>
                      </a:r>
                    </a:p>
                    <a:p>
                      <a:pPr marL="72000" indent="0" algn="l" fontAlgn="ctr">
                        <a:spcBef>
                          <a:spcPts val="0"/>
                        </a:spcBef>
                        <a:buNone/>
                      </a:pPr>
                      <a:r>
                        <a:rPr lang="ru-RU" sz="1200" u="none" strike="noStrike" dirty="0">
                          <a:effectLst/>
                          <a:latin typeface="Inter" panose="020B0502030000000004" pitchFamily="34" charset="0"/>
                          <a:ea typeface="Inter" panose="020B0502030000000004" pitchFamily="34" charset="0"/>
                        </a:rPr>
                        <a:t>3) минимальный первоначальный взнос - 20%</a:t>
                      </a:r>
                    </a:p>
                    <a:p>
                      <a:pPr marL="72000" marR="0" lvl="0" indent="0" algn="l" defTabSz="914400" rtl="0" eaLnBrk="1" fontAlgn="ctr" latinLnBrk="0" hangingPunct="1">
                        <a:lnSpc>
                          <a:spcPct val="100000"/>
                        </a:lnSpc>
                        <a:spcBef>
                          <a:spcPts val="0"/>
                        </a:spcBef>
                        <a:spcAft>
                          <a:spcPts val="0"/>
                        </a:spcAft>
                        <a:buClrTx/>
                        <a:buSzTx/>
                        <a:buFontTx/>
                        <a:buNone/>
                        <a:tabLst/>
                        <a:defRPr/>
                      </a:pPr>
                      <a:r>
                        <a:rPr lang="ru-RU" sz="1200" b="1" u="none" strike="noStrike" dirty="0">
                          <a:solidFill>
                            <a:srgbClr val="FFBF00"/>
                          </a:solidFill>
                          <a:effectLst/>
                          <a:latin typeface="Inter" panose="020B0502030000000004" pitchFamily="34" charset="0"/>
                          <a:ea typeface="Inter" panose="020B0502030000000004" pitchFamily="34" charset="0"/>
                        </a:rPr>
                        <a:t>Лимит </a:t>
                      </a:r>
                      <a:r>
                        <a:rPr lang="ru-RU" sz="1200" b="1" u="none" strike="noStrike" kern="1200" dirty="0">
                          <a:solidFill>
                            <a:srgbClr val="FFBF00"/>
                          </a:solidFill>
                          <a:effectLst/>
                          <a:latin typeface="Inter" panose="020B0502030000000004" pitchFamily="34" charset="0"/>
                          <a:ea typeface="Inter" panose="020B0502030000000004" pitchFamily="34" charset="0"/>
                          <a:cs typeface="+mn-cs"/>
                        </a:rPr>
                        <a:t>– 0.75 трлн руб., выдано 0.73 трлн руб. Исполнение лимита – 97%</a:t>
                      </a:r>
                    </a:p>
                    <a:p>
                      <a:pPr marL="72000" marR="0" lvl="0" indent="0" algn="l" defTabSz="914400" rtl="0" eaLnBrk="1" fontAlgn="ctr" latinLnBrk="0" hangingPunct="1">
                        <a:lnSpc>
                          <a:spcPct val="100000"/>
                        </a:lnSpc>
                        <a:spcBef>
                          <a:spcPts val="0"/>
                        </a:spcBef>
                        <a:spcAft>
                          <a:spcPts val="0"/>
                        </a:spcAft>
                        <a:buClrTx/>
                        <a:buSzTx/>
                        <a:buFontTx/>
                        <a:buNone/>
                        <a:tabLst/>
                        <a:defRPr/>
                      </a:pPr>
                      <a:endParaRPr lang="ru-RU" sz="1200" b="0" i="0" u="none" strike="noStrike" dirty="0">
                        <a:solidFill>
                          <a:srgbClr val="000000"/>
                        </a:solidFill>
                        <a:effectLst/>
                        <a:latin typeface="Inter" panose="020B0502030000000004" pitchFamily="34" charset="0"/>
                        <a:ea typeface="Inter" panose="020B0502030000000004" pitchFamily="34" charset="0"/>
                      </a:endParaRPr>
                    </a:p>
                  </a:txBody>
                  <a:tcPr marL="9525" marR="9525" marT="9525" marB="0" anchor="ctr"/>
                </a:tc>
                <a:extLst>
                  <a:ext uri="{0D108BD9-81ED-4DB2-BD59-A6C34878D82A}">
                    <a16:rowId xmlns:a16="http://schemas.microsoft.com/office/drawing/2014/main" val="514137109"/>
                  </a:ext>
                </a:extLst>
              </a:tr>
            </a:tbl>
          </a:graphicData>
        </a:graphic>
      </p:graphicFrame>
      <p:sp>
        <p:nvSpPr>
          <p:cNvPr id="9" name="Заголовок 1">
            <a:extLst>
              <a:ext uri="{FF2B5EF4-FFF2-40B4-BE49-F238E27FC236}">
                <a16:creationId xmlns:a16="http://schemas.microsoft.com/office/drawing/2014/main" id="{EF8B6217-7DCE-4CA9-8CCD-6533023C45EB}"/>
              </a:ext>
            </a:extLst>
          </p:cNvPr>
          <p:cNvSpPr txBox="1">
            <a:spLocks/>
          </p:cNvSpPr>
          <p:nvPr/>
        </p:nvSpPr>
        <p:spPr>
          <a:xfrm>
            <a:off x="224024" y="71824"/>
            <a:ext cx="11887291" cy="7339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a:latin typeface="Inter" panose="02000503000000020004" pitchFamily="2" charset="0"/>
                <a:ea typeface="Inter" panose="02000503000000020004" pitchFamily="2" charset="0"/>
              </a:rPr>
              <a:t>ПРОГРАММЫ ГОСПОДДЕРЖКИ В </a:t>
            </a:r>
            <a:r>
              <a:rPr lang="ru-RU" sz="2400" b="1" dirty="0">
                <a:solidFill>
                  <a:srgbClr val="FFC209"/>
                </a:solidFill>
                <a:latin typeface="Inter" panose="02000503000000020004" pitchFamily="2" charset="0"/>
                <a:ea typeface="Inter" panose="02000503000000020004" pitchFamily="2" charset="0"/>
              </a:rPr>
              <a:t>РОССИИ</a:t>
            </a:r>
            <a:r>
              <a:rPr lang="ru-RU" sz="2400" b="1" dirty="0">
                <a:latin typeface="Inter" panose="02000503000000020004" pitchFamily="2" charset="0"/>
                <a:ea typeface="Inter" panose="02000503000000020004" pitchFamily="2" charset="0"/>
              </a:rPr>
              <a:t> </a:t>
            </a:r>
          </a:p>
        </p:txBody>
      </p:sp>
      <p:sp>
        <p:nvSpPr>
          <p:cNvPr id="4" name="TextBox 3">
            <a:extLst>
              <a:ext uri="{FF2B5EF4-FFF2-40B4-BE49-F238E27FC236}">
                <a16:creationId xmlns:a16="http://schemas.microsoft.com/office/drawing/2014/main" id="{A7BC4B45-A34C-47A1-B10B-CEF0120A8546}"/>
              </a:ext>
            </a:extLst>
          </p:cNvPr>
          <p:cNvSpPr txBox="1"/>
          <p:nvPr/>
        </p:nvSpPr>
        <p:spPr>
          <a:xfrm>
            <a:off x="133723" y="6632038"/>
            <a:ext cx="10105503" cy="230832"/>
          </a:xfrm>
          <a:prstGeom prst="rect">
            <a:avLst/>
          </a:prstGeom>
          <a:noFill/>
        </p:spPr>
        <p:txBody>
          <a:bodyPr wrap="square">
            <a:spAutoFit/>
          </a:bodyPr>
          <a:lstStyle/>
          <a:p>
            <a:r>
              <a:rPr lang="ru-RU" sz="900" dirty="0">
                <a:solidFill>
                  <a:srgbClr val="111214"/>
                </a:solidFill>
                <a:latin typeface="Inter" panose="020B0502030000000004" pitchFamily="34" charset="0"/>
                <a:ea typeface="Inter" panose="020B0502030000000004" pitchFamily="34" charset="0"/>
              </a:rPr>
              <a:t>Источник: </a:t>
            </a:r>
            <a:r>
              <a:rPr lang="ru-RU" sz="900" dirty="0">
                <a:hlinkClick r:id="rId3"/>
              </a:rPr>
              <a:t>«ДОМ.РФ» </a:t>
            </a:r>
            <a:endParaRPr lang="ru-RU" sz="900" dirty="0">
              <a:solidFill>
                <a:srgbClr val="111214"/>
              </a:solidFill>
              <a:latin typeface="Inter" panose="020B0502030000000004" pitchFamily="34" charset="0"/>
              <a:ea typeface="Inter" panose="020B0502030000000004" pitchFamily="34" charset="0"/>
            </a:endParaRPr>
          </a:p>
        </p:txBody>
      </p:sp>
      <p:cxnSp>
        <p:nvCxnSpPr>
          <p:cNvPr id="5" name="Прямая соединительная линия 4">
            <a:extLst>
              <a:ext uri="{FF2B5EF4-FFF2-40B4-BE49-F238E27FC236}">
                <a16:creationId xmlns:a16="http://schemas.microsoft.com/office/drawing/2014/main" id="{AF435F49-3647-4C4A-8A26-B8B48D422EA7}"/>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Прямоугольник 1">
            <a:extLst>
              <a:ext uri="{FF2B5EF4-FFF2-40B4-BE49-F238E27FC236}">
                <a16:creationId xmlns:a16="http://schemas.microsoft.com/office/drawing/2014/main" id="{F94FD3B4-D993-4E1E-AE3B-95C8C6C424A7}"/>
              </a:ext>
            </a:extLst>
          </p:cNvPr>
          <p:cNvSpPr/>
          <p:nvPr/>
        </p:nvSpPr>
        <p:spPr>
          <a:xfrm>
            <a:off x="170986" y="5798774"/>
            <a:ext cx="11924555" cy="738664"/>
          </a:xfrm>
          <a:prstGeom prst="rect">
            <a:avLst/>
          </a:prstGeom>
        </p:spPr>
        <p:txBody>
          <a:bodyPr wrap="square">
            <a:spAutoFit/>
          </a:bodyPr>
          <a:lstStyle/>
          <a:p>
            <a:r>
              <a:rPr lang="ru-RU" sz="1400" dirty="0"/>
              <a:t>С 23 декабря 2023 года было введено правило однократности выдачи ипотеки с господдержкой по принципу </a:t>
            </a:r>
            <a:r>
              <a:rPr lang="ru-RU" sz="1400" b="1" dirty="0"/>
              <a:t>«одна ипотека с господдержкой — в одни руки»</a:t>
            </a:r>
            <a:r>
              <a:rPr lang="ru-RU" sz="1400" dirty="0"/>
              <a:t>. Если ипотека по госпрограмме «Семейная ипотека» была оформлена и выдана до 23 декабря, то можно получить еще один льготный ипотечный кредит.</a:t>
            </a:r>
          </a:p>
        </p:txBody>
      </p:sp>
      <p:sp>
        <p:nvSpPr>
          <p:cNvPr id="3" name="Номер слайда 2">
            <a:extLst>
              <a:ext uri="{FF2B5EF4-FFF2-40B4-BE49-F238E27FC236}">
                <a16:creationId xmlns:a16="http://schemas.microsoft.com/office/drawing/2014/main" id="{FE295E02-F116-407A-9948-814656741FE2}"/>
              </a:ext>
            </a:extLst>
          </p:cNvPr>
          <p:cNvSpPr>
            <a:spLocks noGrp="1"/>
          </p:cNvSpPr>
          <p:nvPr>
            <p:ph type="sldNum" sz="quarter" idx="12"/>
          </p:nvPr>
        </p:nvSpPr>
        <p:spPr/>
        <p:txBody>
          <a:bodyPr/>
          <a:lstStyle/>
          <a:p>
            <a:fld id="{9AEAAB3A-B7C9-45EB-AFB0-A159B937AE97}" type="slidenum">
              <a:rPr lang="ru-RU" smtClean="0"/>
              <a:t>11</a:t>
            </a:fld>
            <a:endParaRPr lang="ru-RU"/>
          </a:p>
        </p:txBody>
      </p:sp>
      <p:pic>
        <p:nvPicPr>
          <p:cNvPr id="8" name="Рисунок 7">
            <a:extLst>
              <a:ext uri="{FF2B5EF4-FFF2-40B4-BE49-F238E27FC236}">
                <a16:creationId xmlns:a16="http://schemas.microsoft.com/office/drawing/2014/main" id="{E6F07BAF-6D54-4B7D-8160-236B9C8A5662}"/>
              </a:ext>
            </a:extLst>
          </p:cNvPr>
          <p:cNvPicPr>
            <a:picLocks noChangeAspect="1"/>
          </p:cNvPicPr>
          <p:nvPr/>
        </p:nvPicPr>
        <p:blipFill>
          <a:blip r:embed="rId4"/>
          <a:stretch>
            <a:fillRect/>
          </a:stretch>
        </p:blipFill>
        <p:spPr>
          <a:xfrm>
            <a:off x="11710034" y="9625"/>
            <a:ext cx="476250" cy="466725"/>
          </a:xfrm>
          <a:prstGeom prst="rect">
            <a:avLst/>
          </a:prstGeom>
        </p:spPr>
      </p:pic>
    </p:spTree>
    <p:extLst>
      <p:ext uri="{BB962C8B-B14F-4D97-AF65-F5344CB8AC3E}">
        <p14:creationId xmlns:p14="http://schemas.microsoft.com/office/powerpoint/2010/main" val="3375141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FD88FE-729F-4509-B324-E287DE513B2F}"/>
              </a:ext>
            </a:extLst>
          </p:cNvPr>
          <p:cNvSpPr>
            <a:spLocks noGrp="1"/>
          </p:cNvSpPr>
          <p:nvPr>
            <p:ph type="title"/>
          </p:nvPr>
        </p:nvSpPr>
        <p:spPr>
          <a:xfrm>
            <a:off x="224282" y="47799"/>
            <a:ext cx="11872827" cy="832996"/>
          </a:xfrm>
        </p:spPr>
        <p:txBody>
          <a:bodyPr>
            <a:normAutofit/>
          </a:bodyPr>
          <a:lstStyle/>
          <a:p>
            <a:r>
              <a:rPr lang="ru-RU" sz="2400" b="1" dirty="0">
                <a:latin typeface="Inter" panose="02000503000000020004" pitchFamily="2" charset="0"/>
                <a:ea typeface="Inter" panose="02000503000000020004" pitchFamily="2" charset="0"/>
              </a:rPr>
              <a:t>ФАКТОРЫ, СПОСОБСТВУЮЩИЕ ПОЛОЖИТЕЛЬНОМУ ЭФФЕКТУ ВВЕДЕНИЯ </a:t>
            </a:r>
            <a:r>
              <a:rPr lang="ru-RU" sz="2400" b="1" dirty="0">
                <a:solidFill>
                  <a:srgbClr val="FFC209"/>
                </a:solidFill>
                <a:latin typeface="Inter" panose="02000503000000020004" pitchFamily="2" charset="0"/>
                <a:ea typeface="Inter" panose="02000503000000020004" pitchFamily="2" charset="0"/>
              </a:rPr>
              <a:t>ЭСКРОУ-СЧЕТОВ </a:t>
            </a:r>
            <a:r>
              <a:rPr lang="ru-RU" sz="2400" b="1" dirty="0">
                <a:latin typeface="Inter" panose="02000503000000020004" pitchFamily="2" charset="0"/>
                <a:ea typeface="Inter" panose="02000503000000020004" pitchFamily="2" charset="0"/>
              </a:rPr>
              <a:t>НА ЦЕНЫ НЕДВИЖИМОСТИ</a:t>
            </a:r>
            <a:endParaRPr lang="ru-RU" sz="3200" dirty="0"/>
          </a:p>
        </p:txBody>
      </p:sp>
      <p:sp>
        <p:nvSpPr>
          <p:cNvPr id="4" name="Прямоугольник 3">
            <a:extLst>
              <a:ext uri="{FF2B5EF4-FFF2-40B4-BE49-F238E27FC236}">
                <a16:creationId xmlns:a16="http://schemas.microsoft.com/office/drawing/2014/main" id="{3F47583F-DDCB-4887-AC1C-CCC728C8CEB2}"/>
              </a:ext>
            </a:extLst>
          </p:cNvPr>
          <p:cNvSpPr/>
          <p:nvPr/>
        </p:nvSpPr>
        <p:spPr>
          <a:xfrm>
            <a:off x="277073" y="1028343"/>
            <a:ext cx="11465748" cy="4524315"/>
          </a:xfrm>
          <a:prstGeom prst="rect">
            <a:avLst/>
          </a:prstGeom>
        </p:spPr>
        <p:txBody>
          <a:bodyPr wrap="square">
            <a:spAutoFit/>
          </a:bodyPr>
          <a:lstStyle/>
          <a:p>
            <a:pPr algn="just"/>
            <a:r>
              <a:rPr lang="ru-RU" b="1" dirty="0"/>
              <a:t>Государственное регулирование.</a:t>
            </a:r>
            <a:r>
              <a:rPr lang="ru-RU" dirty="0"/>
              <a:t> Если государство субсидирует процентные ставки или поддерживает застройщиков, рост цен может быть сдержан.</a:t>
            </a:r>
          </a:p>
          <a:p>
            <a:pPr algn="just">
              <a:buFont typeface="Arial" panose="020B0604020202020204" pitchFamily="34" charset="0"/>
              <a:buChar char="•"/>
            </a:pPr>
            <a:endParaRPr lang="ru-RU" dirty="0"/>
          </a:p>
          <a:p>
            <a:pPr algn="just"/>
            <a:r>
              <a:rPr lang="ru-RU" b="1" dirty="0"/>
              <a:t>Конкуренция между застройщиками.</a:t>
            </a:r>
            <a:r>
              <a:rPr lang="ru-RU" dirty="0"/>
              <a:t> На конкурентных рынках возможность значительного повышения цен ограничена.</a:t>
            </a:r>
          </a:p>
          <a:p>
            <a:pPr algn="just"/>
            <a:endParaRPr lang="ru-RU" dirty="0"/>
          </a:p>
          <a:p>
            <a:pPr algn="just"/>
            <a:r>
              <a:rPr lang="ru-RU" b="1" dirty="0"/>
              <a:t>Покупательская способность. </a:t>
            </a:r>
            <a:r>
              <a:rPr lang="ru-RU" dirty="0"/>
              <a:t>Если доходы населения не растут, застройщики вынуждены адаптировать цены к реальной платежеспособности.</a:t>
            </a:r>
          </a:p>
          <a:p>
            <a:pPr algn="just"/>
            <a:endParaRPr lang="ru-RU" b="1" dirty="0"/>
          </a:p>
          <a:p>
            <a:pPr algn="just"/>
            <a:r>
              <a:rPr lang="ru-RU" b="1" dirty="0"/>
              <a:t>Экономия за счет масштаба. </a:t>
            </a:r>
            <a:r>
              <a:rPr lang="ru-RU" dirty="0"/>
              <a:t>Крупные строительные компании, использующие </a:t>
            </a:r>
            <a:r>
              <a:rPr lang="ru-RU" dirty="0" err="1"/>
              <a:t>эскроу</a:t>
            </a:r>
            <a:r>
              <a:rPr lang="ru-RU" dirty="0"/>
              <a:t>-счета, могут перераспределять затраты между проектами и снижать их влияние на конечную стоимость жилья.</a:t>
            </a:r>
          </a:p>
          <a:p>
            <a:pPr algn="just"/>
            <a:endParaRPr lang="ru-RU" b="1" dirty="0"/>
          </a:p>
          <a:p>
            <a:pPr algn="just"/>
            <a:r>
              <a:rPr lang="ru-RU" b="1" dirty="0"/>
              <a:t>Переход на проектное финансирование. </a:t>
            </a:r>
            <a:r>
              <a:rPr lang="ru-RU" dirty="0"/>
              <a:t>Широкое внедрение проектного финансирования, поддерживаемого банками, уменьшает зависимость застройщиков от средств дольщиков и смягчает давление на себестоимость.</a:t>
            </a:r>
          </a:p>
        </p:txBody>
      </p:sp>
      <p:cxnSp>
        <p:nvCxnSpPr>
          <p:cNvPr id="5" name="Прямая соединительная линия 4">
            <a:extLst>
              <a:ext uri="{FF2B5EF4-FFF2-40B4-BE49-F238E27FC236}">
                <a16:creationId xmlns:a16="http://schemas.microsoft.com/office/drawing/2014/main" id="{45A8A959-B3B7-4FB7-8128-2F103398D0B3}"/>
              </a:ext>
            </a:extLst>
          </p:cNvPr>
          <p:cNvCxnSpPr/>
          <p:nvPr/>
        </p:nvCxnSpPr>
        <p:spPr>
          <a:xfrm>
            <a:off x="94891" y="799921"/>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28598987-22C8-4AD3-8CFD-6E3BD0EDC402}"/>
              </a:ext>
            </a:extLst>
          </p:cNvPr>
          <p:cNvSpPr>
            <a:spLocks noGrp="1"/>
          </p:cNvSpPr>
          <p:nvPr>
            <p:ph type="sldNum" sz="quarter" idx="12"/>
          </p:nvPr>
        </p:nvSpPr>
        <p:spPr/>
        <p:txBody>
          <a:bodyPr/>
          <a:lstStyle/>
          <a:p>
            <a:fld id="{9AEAAB3A-B7C9-45EB-AFB0-A159B937AE97}" type="slidenum">
              <a:rPr lang="ru-RU" smtClean="0"/>
              <a:t>12</a:t>
            </a:fld>
            <a:endParaRPr lang="ru-RU"/>
          </a:p>
        </p:txBody>
      </p:sp>
      <p:pic>
        <p:nvPicPr>
          <p:cNvPr id="6" name="Рисунок 5">
            <a:extLst>
              <a:ext uri="{FF2B5EF4-FFF2-40B4-BE49-F238E27FC236}">
                <a16:creationId xmlns:a16="http://schemas.microsoft.com/office/drawing/2014/main" id="{94F64748-A00F-4268-A915-23B0BA3FF801}"/>
              </a:ext>
            </a:extLst>
          </p:cNvPr>
          <p:cNvPicPr>
            <a:picLocks noChangeAspect="1"/>
          </p:cNvPicPr>
          <p:nvPr/>
        </p:nvPicPr>
        <p:blipFill>
          <a:blip r:embed="rId2"/>
          <a:stretch>
            <a:fillRect/>
          </a:stretch>
        </p:blipFill>
        <p:spPr>
          <a:xfrm>
            <a:off x="11710034" y="9625"/>
            <a:ext cx="476250" cy="466725"/>
          </a:xfrm>
          <a:prstGeom prst="rect">
            <a:avLst/>
          </a:prstGeom>
        </p:spPr>
      </p:pic>
    </p:spTree>
    <p:extLst>
      <p:ext uri="{BB962C8B-B14F-4D97-AF65-F5344CB8AC3E}">
        <p14:creationId xmlns:p14="http://schemas.microsoft.com/office/powerpoint/2010/main" val="3834603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F11FD537-BDE1-4640-B76F-3F82C4A09A43}"/>
              </a:ext>
            </a:extLst>
          </p:cNvPr>
          <p:cNvSpPr txBox="1">
            <a:spLocks/>
          </p:cNvSpPr>
          <p:nvPr/>
        </p:nvSpPr>
        <p:spPr>
          <a:xfrm>
            <a:off x="213794" y="85986"/>
            <a:ext cx="10554726" cy="7339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800" b="1" dirty="0">
                <a:latin typeface="Inter" panose="02000503000000020004" pitchFamily="2" charset="0"/>
                <a:ea typeface="Inter" panose="02000503000000020004" pitchFamily="2" charset="0"/>
              </a:rPr>
              <a:t>ВЫВОДЫ</a:t>
            </a:r>
          </a:p>
        </p:txBody>
      </p:sp>
      <p:sp>
        <p:nvSpPr>
          <p:cNvPr id="5" name="TextBox 4">
            <a:extLst>
              <a:ext uri="{FF2B5EF4-FFF2-40B4-BE49-F238E27FC236}">
                <a16:creationId xmlns:a16="http://schemas.microsoft.com/office/drawing/2014/main" id="{59ADE7FF-1CE3-494D-9125-6F61A3CFA711}"/>
              </a:ext>
            </a:extLst>
          </p:cNvPr>
          <p:cNvSpPr txBox="1"/>
          <p:nvPr/>
        </p:nvSpPr>
        <p:spPr>
          <a:xfrm rot="10800000" flipV="1">
            <a:off x="213794" y="798778"/>
            <a:ext cx="11315909" cy="4524315"/>
          </a:xfrm>
          <a:prstGeom prst="rect">
            <a:avLst/>
          </a:prstGeom>
          <a:noFill/>
        </p:spPr>
        <p:txBody>
          <a:bodyPr wrap="square" rtlCol="0">
            <a:spAutoFit/>
          </a:bodyPr>
          <a:lstStyle/>
          <a:p>
            <a:pPr marL="457200" indent="-457200" algn="just">
              <a:buAutoNum type="arabicPeriod"/>
            </a:pPr>
            <a:r>
              <a:rPr lang="ru-RU" dirty="0">
                <a:latin typeface="Inter" panose="02000503000000020004" pitchFamily="2" charset="0"/>
                <a:ea typeface="Inter" panose="02000503000000020004" pitchFamily="2" charset="0"/>
              </a:rPr>
              <a:t>Эскроу-счета, снижая такие риски, как мошенничество и невыполнение обязательств, способствуют </a:t>
            </a:r>
            <a:r>
              <a:rPr lang="ru-RU" b="1" dirty="0">
                <a:solidFill>
                  <a:srgbClr val="FFC209"/>
                </a:solidFill>
                <a:latin typeface="Inter" panose="02000503000000020004" pitchFamily="2" charset="0"/>
                <a:ea typeface="Inter" panose="02000503000000020004" pitchFamily="2" charset="0"/>
              </a:rPr>
              <a:t>более предсказуемому и стабильному</a:t>
            </a:r>
            <a:r>
              <a:rPr lang="ru-RU" dirty="0">
                <a:solidFill>
                  <a:srgbClr val="FFC209"/>
                </a:solidFill>
                <a:latin typeface="Inter" panose="02000503000000020004" pitchFamily="2" charset="0"/>
                <a:ea typeface="Inter" panose="02000503000000020004" pitchFamily="2" charset="0"/>
              </a:rPr>
              <a:t> </a:t>
            </a:r>
            <a:r>
              <a:rPr lang="ru-RU" b="1" dirty="0">
                <a:solidFill>
                  <a:srgbClr val="FFC209"/>
                </a:solidFill>
                <a:latin typeface="Inter" panose="02000503000000020004" pitchFamily="2" charset="0"/>
                <a:ea typeface="Inter" panose="02000503000000020004" pitchFamily="2" charset="0"/>
              </a:rPr>
              <a:t>рынку недвижимости</a:t>
            </a:r>
            <a:r>
              <a:rPr lang="ru-RU" dirty="0">
                <a:latin typeface="Inter" panose="02000503000000020004" pitchFamily="2" charset="0"/>
                <a:ea typeface="Inter" panose="02000503000000020004" pitchFamily="2" charset="0"/>
              </a:rPr>
              <a:t>, что может косвенно влиять на ценовые тенденции.</a:t>
            </a:r>
          </a:p>
          <a:p>
            <a:pPr marL="457200" indent="-457200" algn="just">
              <a:buAutoNum type="arabicPeriod"/>
            </a:pPr>
            <a:endParaRPr lang="ru-RU" dirty="0">
              <a:latin typeface="Inter" panose="02000503000000020004" pitchFamily="2" charset="0"/>
              <a:ea typeface="Inter" panose="02000503000000020004" pitchFamily="2" charset="0"/>
            </a:endParaRPr>
          </a:p>
          <a:p>
            <a:pPr marL="457200" indent="-457200" algn="just">
              <a:buAutoNum type="arabicPeriod"/>
            </a:pPr>
            <a:r>
              <a:rPr lang="ru-RU" dirty="0">
                <a:latin typeface="Inter" panose="02000503000000020004" pitchFamily="2" charset="0"/>
                <a:ea typeface="Inter" panose="02000503000000020004" pitchFamily="2" charset="0"/>
              </a:rPr>
              <a:t>Эскроу-счета могут увеличить транзакционные издержки, но это </a:t>
            </a:r>
            <a:r>
              <a:rPr lang="ru-RU" b="1" dirty="0">
                <a:solidFill>
                  <a:srgbClr val="FFC209"/>
                </a:solidFill>
                <a:latin typeface="Inter" panose="02000503000000020004" pitchFamily="2" charset="0"/>
                <a:ea typeface="Inter" panose="02000503000000020004" pitchFamily="2" charset="0"/>
              </a:rPr>
              <a:t>влияние незначительно </a:t>
            </a:r>
            <a:r>
              <a:rPr lang="ru-RU" dirty="0">
                <a:latin typeface="Inter" panose="02000503000000020004" pitchFamily="2" charset="0"/>
                <a:ea typeface="Inter" panose="02000503000000020004" pitchFamily="2" charset="0"/>
              </a:rPr>
              <a:t>по сравнению с более широкими рыночными силами, такими как спрос, предложение, процентные ставки, местные экономические условия, а также программы государственной поддержки.</a:t>
            </a:r>
          </a:p>
          <a:p>
            <a:pPr marL="457200" indent="-457200" algn="just">
              <a:buAutoNum type="arabicPeriod"/>
            </a:pPr>
            <a:endParaRPr lang="ru-RU" dirty="0">
              <a:latin typeface="Inter" panose="02000503000000020004" pitchFamily="2" charset="0"/>
              <a:ea typeface="Inter" panose="02000503000000020004" pitchFamily="2" charset="0"/>
            </a:endParaRPr>
          </a:p>
          <a:p>
            <a:pPr marL="457200" indent="-457200" algn="just">
              <a:buAutoNum type="arabicPeriod"/>
            </a:pPr>
            <a:r>
              <a:rPr lang="ru-RU" dirty="0"/>
              <a:t>В долгосрочной перспективе эскроу-счета </a:t>
            </a:r>
            <a:r>
              <a:rPr lang="ru-RU" b="1" dirty="0">
                <a:solidFill>
                  <a:srgbClr val="FFC209"/>
                </a:solidFill>
              </a:rPr>
              <a:t>способствуют стабилизации рынка и предотвращению «пузырей»</a:t>
            </a:r>
            <a:r>
              <a:rPr lang="ru-RU" dirty="0"/>
              <a:t>, что делает их полезным инструментом для рынка недвижимости.</a:t>
            </a:r>
          </a:p>
          <a:p>
            <a:pPr marL="457200" indent="-457200" algn="just">
              <a:buAutoNum type="arabicPeriod"/>
            </a:pPr>
            <a:endParaRPr lang="ru-RU" dirty="0">
              <a:latin typeface="Inter" panose="02000503000000020004" pitchFamily="2" charset="0"/>
              <a:ea typeface="Inter" panose="02000503000000020004" pitchFamily="2" charset="0"/>
            </a:endParaRPr>
          </a:p>
          <a:p>
            <a:pPr marL="457200" indent="-457200" algn="just">
              <a:buAutoNum type="arabicPeriod"/>
            </a:pPr>
            <a:r>
              <a:rPr lang="ru-RU" dirty="0">
                <a:latin typeface="Inter" panose="02000503000000020004" pitchFamily="2" charset="0"/>
                <a:ea typeface="Inter" panose="02000503000000020004" pitchFamily="2" charset="0"/>
              </a:rPr>
              <a:t>Эскроу-счета являются </a:t>
            </a:r>
            <a:r>
              <a:rPr lang="ru-RU" b="1" dirty="0">
                <a:solidFill>
                  <a:srgbClr val="FFC209"/>
                </a:solidFill>
                <a:latin typeface="Inter" panose="02000503000000020004" pitchFamily="2" charset="0"/>
                <a:ea typeface="Inter" panose="02000503000000020004" pitchFamily="2" charset="0"/>
              </a:rPr>
              <a:t>индикатором зрелости и устойчивости рынка недвижимости</a:t>
            </a:r>
            <a:r>
              <a:rPr lang="ru-RU" dirty="0">
                <a:latin typeface="Inter" panose="02000503000000020004" pitchFamily="2" charset="0"/>
                <a:ea typeface="Inter" panose="02000503000000020004" pitchFamily="2" charset="0"/>
              </a:rPr>
              <a:t>. Их внедрение свидетельствует о высоком уровне доверия между участниками рынка, прозрачности сделок и наличии эффективного регулирования.</a:t>
            </a:r>
            <a:endParaRPr lang="en-US" sz="1400" dirty="0"/>
          </a:p>
        </p:txBody>
      </p:sp>
      <p:cxnSp>
        <p:nvCxnSpPr>
          <p:cNvPr id="7" name="Прямая соединительная линия 6">
            <a:extLst>
              <a:ext uri="{FF2B5EF4-FFF2-40B4-BE49-F238E27FC236}">
                <a16:creationId xmlns:a16="http://schemas.microsoft.com/office/drawing/2014/main" id="{EB057114-EDF3-4514-B3E0-198983399255}"/>
              </a:ext>
            </a:extLst>
          </p:cNvPr>
          <p:cNvCxnSpPr/>
          <p:nvPr/>
        </p:nvCxnSpPr>
        <p:spPr>
          <a:xfrm>
            <a:off x="94891" y="733246"/>
            <a:ext cx="11725634" cy="0"/>
          </a:xfrm>
          <a:prstGeom prst="line">
            <a:avLst/>
          </a:prstGeom>
          <a:ln w="6350">
            <a:solidFill>
              <a:srgbClr val="FFC209">
                <a:alpha val="20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Номер слайда 1">
            <a:extLst>
              <a:ext uri="{FF2B5EF4-FFF2-40B4-BE49-F238E27FC236}">
                <a16:creationId xmlns:a16="http://schemas.microsoft.com/office/drawing/2014/main" id="{D0AE1151-A8C5-4EEB-BE19-2DC6E1DF1550}"/>
              </a:ext>
            </a:extLst>
          </p:cNvPr>
          <p:cNvSpPr>
            <a:spLocks noGrp="1"/>
          </p:cNvSpPr>
          <p:nvPr>
            <p:ph type="sldNum" sz="quarter" idx="12"/>
          </p:nvPr>
        </p:nvSpPr>
        <p:spPr/>
        <p:txBody>
          <a:bodyPr/>
          <a:lstStyle/>
          <a:p>
            <a:fld id="{9AEAAB3A-B7C9-45EB-AFB0-A159B937AE97}" type="slidenum">
              <a:rPr lang="ru-RU" smtClean="0"/>
              <a:t>13</a:t>
            </a:fld>
            <a:endParaRPr lang="ru-RU"/>
          </a:p>
        </p:txBody>
      </p:sp>
      <p:pic>
        <p:nvPicPr>
          <p:cNvPr id="6" name="Рисунок 5">
            <a:extLst>
              <a:ext uri="{FF2B5EF4-FFF2-40B4-BE49-F238E27FC236}">
                <a16:creationId xmlns:a16="http://schemas.microsoft.com/office/drawing/2014/main" id="{A10D5C96-7C29-4B6D-A968-200CA6D91352}"/>
              </a:ext>
            </a:extLst>
          </p:cNvPr>
          <p:cNvPicPr>
            <a:picLocks noChangeAspect="1"/>
          </p:cNvPicPr>
          <p:nvPr/>
        </p:nvPicPr>
        <p:blipFill>
          <a:blip r:embed="rId2"/>
          <a:stretch>
            <a:fillRect/>
          </a:stretch>
        </p:blipFill>
        <p:spPr>
          <a:xfrm>
            <a:off x="11710034" y="9625"/>
            <a:ext cx="476250" cy="466725"/>
          </a:xfrm>
          <a:prstGeom prst="rect">
            <a:avLst/>
          </a:prstGeom>
        </p:spPr>
      </p:pic>
    </p:spTree>
    <p:extLst>
      <p:ext uri="{BB962C8B-B14F-4D97-AF65-F5344CB8AC3E}">
        <p14:creationId xmlns:p14="http://schemas.microsoft.com/office/powerpoint/2010/main" val="173648797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Другая 11">
      <a:majorFont>
        <a:latin typeface="Inter"/>
        <a:ea typeface=""/>
        <a:cs typeface=""/>
      </a:majorFont>
      <a:minorFont>
        <a:latin typeface="Inter"/>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795</TotalTime>
  <Words>4015</Words>
  <Application>Microsoft Office PowerPoint</Application>
  <PresentationFormat>Широкоэкранный</PresentationFormat>
  <Paragraphs>374</Paragraphs>
  <Slides>13</Slides>
  <Notes>7</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13</vt:i4>
      </vt:variant>
    </vt:vector>
  </HeadingPairs>
  <TitlesOfParts>
    <vt:vector size="17" baseType="lpstr">
      <vt:lpstr>Arial</vt:lpstr>
      <vt:lpstr>Calibri</vt:lpstr>
      <vt:lpstr>Inter</vt:lpstr>
      <vt:lpstr>Тема Office</vt:lpstr>
      <vt:lpstr>ОПРЕДЕЛЕНИЕ ЭСКРОУ-СЧЕТА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ФАКТОРЫ, СПОСОБСТВУЮЩИЕ ПОЛОЖИТЕЛЬНОМУ ЭФФЕКТУ ВВЕДЕНИЯ ЭСКРОУ-СЧЕТОВ НА ЦЕНЫ НЕДВИЖИМОСТИ</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Гульназ Алдибекова</dc:creator>
  <cp:lastModifiedBy>Сейдахметова Клара Кажиахметовна</cp:lastModifiedBy>
  <cp:revision>107</cp:revision>
  <dcterms:created xsi:type="dcterms:W3CDTF">2025-01-13T06:53:13Z</dcterms:created>
  <dcterms:modified xsi:type="dcterms:W3CDTF">2025-01-15T11:06:20Z</dcterms:modified>
</cp:coreProperties>
</file>