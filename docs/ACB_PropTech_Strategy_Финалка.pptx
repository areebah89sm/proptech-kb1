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60" r:id="rId5"/>
    <p:sldId id="259" r:id="rId6"/>
    <p:sldId id="261" r:id="rId7"/>
    <p:sldId id="295" r:id="rId8"/>
    <p:sldId id="29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00" r:id="rId18"/>
    <p:sldId id="301" r:id="rId19"/>
    <p:sldId id="272" r:id="rId20"/>
    <p:sldId id="273" r:id="rId21"/>
    <p:sldId id="274" r:id="rId22"/>
    <p:sldId id="305" r:id="rId23"/>
    <p:sldId id="306" r:id="rId24"/>
    <p:sldId id="307" r:id="rId25"/>
    <p:sldId id="277" r:id="rId26"/>
    <p:sldId id="278" r:id="rId27"/>
    <p:sldId id="279" r:id="rId28"/>
    <p:sldId id="280" r:id="rId29"/>
    <p:sldId id="303" r:id="rId30"/>
    <p:sldId id="282" r:id="rId31"/>
    <p:sldId id="308" r:id="rId32"/>
    <p:sldId id="309" r:id="rId33"/>
    <p:sldId id="310" r:id="rId34"/>
    <p:sldId id="283" r:id="rId35"/>
    <p:sldId id="284" r:id="rId36"/>
    <p:sldId id="285" r:id="rId37"/>
    <p:sldId id="286" r:id="rId38"/>
    <p:sldId id="287" r:id="rId39"/>
    <p:sldId id="288" r:id="rId40"/>
    <p:sldId id="291" r:id="rId41"/>
    <p:sldId id="289" r:id="rId42"/>
    <p:sldId id="290" r:id="rId43"/>
    <p:sldId id="292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60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365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28600"/>
            <a:ext cx="1965960" cy="354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19" y="777240"/>
            <a:ext cx="7647167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Стратегия</a:t>
            </a:r>
            <a:endParaRPr lang="en-US" sz="4000" dirty="0">
              <a:latin typeface="Montserrat" pitchFamily="2" charset="0"/>
            </a:endParaRPr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PropTech-трансформации</a:t>
            </a:r>
            <a:endParaRPr lang="en-US" sz="4000" dirty="0">
              <a:latin typeface="Montserrat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19" y="2880360"/>
            <a:ext cx="72794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Создание первой полноцикловой экосистемы </a:t>
            </a:r>
            <a:r>
              <a:rPr lang="en-US" sz="1500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недвижимости</a:t>
            </a:r>
            <a:r>
              <a:rPr lang="en-US" sz="150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endParaRPr lang="ru-RU" sz="1500" i="1" dirty="0">
              <a:solidFill>
                <a:srgbClr val="D4A017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500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50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Казахстане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19" y="2697479"/>
            <a:ext cx="7279420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50292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г. Астана  |  2026  |  Версия 1.0  |  Конфиденциально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28600" y="4800600"/>
            <a:ext cx="8915400" cy="3429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457200" y="48097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1.0  |  2</a:t>
            </a:r>
            <a:r>
              <a:rPr lang="ru-RU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марта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37160"/>
            <a:ext cx="20057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" y="777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320040" y="77724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850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Глобальный рынок PropTech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252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Тренды и мировые бенчмарки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04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320040" y="178308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320040" y="17830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14400" y="1856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Анализ рынка РК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4400" y="2258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Макроэкономика и барьеры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27889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4"/>
          <p:cNvSpPr/>
          <p:nvPr/>
        </p:nvSpPr>
        <p:spPr>
          <a:xfrm>
            <a:off x="320040" y="278892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320040" y="27889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14400" y="2862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Конкурентная среда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14400" y="3264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Игроки, стартапы </a:t>
            </a:r>
            <a:r>
              <a:rPr lang="en-US" sz="100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20040" y="37947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19"/>
          <p:cNvSpPr/>
          <p:nvPr/>
        </p:nvSpPr>
        <p:spPr>
          <a:xfrm>
            <a:off x="320040" y="379476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320040" y="37947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14400" y="38679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Концепция PropTech-экосистемы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1440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Видение, HLTV, 4 кабинета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09160" y="77724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709160" y="77724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709160" y="7772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03520" y="8503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303520" y="1252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</a:t>
            </a:r>
            <a:r>
              <a:rPr lang="en-US" sz="100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инансовый</a:t>
            </a: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потенциал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709160" y="17830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709160" y="178308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4709160" y="17830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303520" y="1856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303520" y="2258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Блокчейн, эскроу, токенизация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709160" y="27889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7" name="Shape 34"/>
          <p:cNvSpPr/>
          <p:nvPr/>
        </p:nvSpPr>
        <p:spPr>
          <a:xfrm>
            <a:off x="4709160" y="278892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4709160" y="27889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303520" y="2862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Организация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303520" y="3264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Команда и M&amp;A стратегия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709160" y="37947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2" name="Shape 39"/>
          <p:cNvSpPr/>
          <p:nvPr/>
        </p:nvSpPr>
        <p:spPr>
          <a:xfrm>
            <a:off x="4709160" y="379476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4709160" y="37947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303520" y="38679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303520" y="4270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Дорожная карта и риски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465350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ведение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Что такое PropTech?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 (Property Technology) </a:t>
            </a:r>
            <a:r>
              <a:rPr lang="ru-RU" sz="13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совокупность технологических решений, инструментов и бизнес-моделей для повышения эффективности, прозрачности и доступности рынка недвижимости.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1298448"/>
            <a:ext cx="2057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0040" y="1298448"/>
            <a:ext cx="20574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2004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🏦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16002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320040" y="22677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FinProp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9768" y="2706624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Цифровая ипотека, эскроу-счета, токенизация активов, алгоритмический скоринг.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514600" y="1298448"/>
            <a:ext cx="2057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1"/>
          <p:cNvSpPr/>
          <p:nvPr/>
        </p:nvSpPr>
        <p:spPr>
          <a:xfrm>
            <a:off x="2514600" y="1298448"/>
            <a:ext cx="20574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251460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🏗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2743200" y="2148840"/>
            <a:ext cx="16002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2514600" y="22677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ConTech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624328" y="2706624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BIM-моделирование, проектное финансирование, управление стройкой в реальном времени.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709160" y="1298448"/>
            <a:ext cx="2057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4709160" y="1298448"/>
            <a:ext cx="20574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470916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🏠</a:t>
            </a:r>
            <a:endParaRPr lang="en-US" sz="3000" dirty="0"/>
          </a:p>
        </p:txBody>
      </p:sp>
      <p:sp>
        <p:nvSpPr>
          <p:cNvPr id="22" name="Shape 19"/>
          <p:cNvSpPr/>
          <p:nvPr/>
        </p:nvSpPr>
        <p:spPr>
          <a:xfrm>
            <a:off x="4937760" y="2148840"/>
            <a:ext cx="16002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4709160" y="22677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PropMgmt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818888" y="2706624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Умный дом (IoT), автоматизация ЖКУ, маркетплейсы ремонтных услуг.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903720" y="1298448"/>
            <a:ext cx="2057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3"/>
          <p:cNvSpPr/>
          <p:nvPr/>
        </p:nvSpPr>
        <p:spPr>
          <a:xfrm>
            <a:off x="6903720" y="1298448"/>
            <a:ext cx="20574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6903720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8" name="Shape 25"/>
          <p:cNvSpPr/>
          <p:nvPr/>
        </p:nvSpPr>
        <p:spPr>
          <a:xfrm>
            <a:off x="7132320" y="2148840"/>
            <a:ext cx="16002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6903720" y="22677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Маркетплейсы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013448" y="2706624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Онлайн-агрегаторы, платформы аренды, big data-аналитика рынка.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5407" y="126128"/>
            <a:ext cx="545519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Эволюция PropTech: 4 фазы развития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320040" y="749808"/>
            <a:ext cx="2029968" cy="39319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20040" y="87782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1980</a:t>
            </a:r>
            <a:r>
              <a:rPr lang="ru-RU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" y="12344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 1.0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" y="1719072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502920" y="198424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667512" y="1787453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Базовое ПО, ERP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02920" y="253288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667512" y="2345237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Уч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тные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системы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920" y="308152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667512" y="2882447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MLS-базы, AutoCAD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2920" y="363016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667512" y="3442517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SAP RE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496312" y="749808"/>
            <a:ext cx="2029968" cy="3945636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2496312" y="749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2496312" y="87782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2000</a:t>
            </a:r>
            <a:r>
              <a:rPr lang="ru-RU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496312" y="12344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 2.0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862072" y="1719072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Shape 22"/>
          <p:cNvSpPr/>
          <p:nvPr/>
        </p:nvSpPr>
        <p:spPr>
          <a:xfrm>
            <a:off x="2679192" y="198424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2843784" y="1847088"/>
            <a:ext cx="16475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Интернет и листинги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79192" y="253288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2840007" y="2345237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Zillow, Rightmove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679192" y="308152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2840007" y="2882447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CIAN, Krisha.kz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679192" y="363016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2840007" y="3444107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Онлайн-агрегаторы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672584" y="749808"/>
            <a:ext cx="2029968" cy="39319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4" name="Shape 31"/>
          <p:cNvSpPr/>
          <p:nvPr/>
        </p:nvSpPr>
        <p:spPr>
          <a:xfrm>
            <a:off x="4672584" y="749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4672584" y="87782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2010</a:t>
            </a:r>
            <a:r>
              <a:rPr lang="ru-RU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672584" y="12344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 3.0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5038344" y="1719072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Shape 35"/>
          <p:cNvSpPr/>
          <p:nvPr/>
        </p:nvSpPr>
        <p:spPr>
          <a:xfrm>
            <a:off x="4855464" y="198424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5020056" y="1787453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Мобильные аппы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55464" y="253288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8"/>
          <p:cNvSpPr/>
          <p:nvPr/>
        </p:nvSpPr>
        <p:spPr>
          <a:xfrm>
            <a:off x="5020056" y="2326551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Sharing economy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55464" y="308152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5020056" y="2884435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Airbnb, WeWork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855464" y="3630168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5020056" y="34335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Домклик, Opendoor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6848856" y="749808"/>
            <a:ext cx="2029968" cy="3945636"/>
          </a:xfrm>
          <a:prstGeom prst="rect">
            <a:avLst/>
          </a:prstGeom>
          <a:solidFill>
            <a:srgbClr val="D4A017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Shape 44"/>
          <p:cNvSpPr/>
          <p:nvPr/>
        </p:nvSpPr>
        <p:spPr>
          <a:xfrm>
            <a:off x="6848856" y="749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5"/>
          <p:cNvSpPr/>
          <p:nvPr/>
        </p:nvSpPr>
        <p:spPr>
          <a:xfrm>
            <a:off x="6848856" y="87782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2020 </a:t>
            </a:r>
            <a:r>
              <a:rPr lang="ru-RU" sz="1100" i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н.в.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848856" y="123444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 4.0 ★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7214616" y="1719072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Shape 48"/>
          <p:cNvSpPr/>
          <p:nvPr/>
        </p:nvSpPr>
        <p:spPr>
          <a:xfrm>
            <a:off x="7031736" y="1984248"/>
            <a:ext cx="109728" cy="109728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49"/>
          <p:cNvSpPr/>
          <p:nvPr/>
        </p:nvSpPr>
        <p:spPr>
          <a:xfrm>
            <a:off x="7196328" y="1787453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ИИ и большие данные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7031736" y="2532888"/>
            <a:ext cx="109728" cy="109728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Text 51"/>
          <p:cNvSpPr/>
          <p:nvPr/>
        </p:nvSpPr>
        <p:spPr>
          <a:xfrm>
            <a:off x="7196328" y="233629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Блокчейн, эскроу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7031736" y="3081528"/>
            <a:ext cx="109728" cy="109728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Text 53"/>
          <p:cNvSpPr/>
          <p:nvPr/>
        </p:nvSpPr>
        <p:spPr>
          <a:xfrm>
            <a:off x="7196328" y="2853723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IoT, VR/AR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7031736" y="3630168"/>
            <a:ext cx="109728" cy="109728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8" name="Text 55"/>
          <p:cNvSpPr/>
          <p:nvPr/>
        </p:nvSpPr>
        <p:spPr>
          <a:xfrm>
            <a:off x="7196328" y="34061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GreenTech, токены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320040" y="475030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★ Мы находимся в начале PropTech 4.0 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наиболее радикальной трансформации в истории рынка недвижимости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73736"/>
            <a:ext cx="28922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Глобальный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" y="685800"/>
            <a:ext cx="2084832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0040" y="758952"/>
            <a:ext cx="2084832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$393 трлн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7006" y="1741932"/>
            <a:ext cx="1250899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65760" y="1837944"/>
            <a:ext cx="1993392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Мировой рынок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недвижимости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542032" y="685800"/>
            <a:ext cx="2084832" cy="192024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2542032" y="758952"/>
            <a:ext cx="2084832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$47 млрд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58998" y="1741932"/>
            <a:ext cx="1250899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2587752" y="1837944"/>
            <a:ext cx="1993392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 PropTech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2025 г.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64024" y="685800"/>
            <a:ext cx="2084832" cy="192024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4764024" y="758952"/>
            <a:ext cx="2084832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$185 млрд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80990" y="1741932"/>
            <a:ext cx="1250899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809744" y="1837944"/>
            <a:ext cx="1993392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Прогноз рынка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 к 2034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986016" y="685800"/>
            <a:ext cx="1837944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6986016" y="758952"/>
            <a:ext cx="1837944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&lt;3%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353605" y="1741932"/>
            <a:ext cx="1102766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7031736" y="1837944"/>
            <a:ext cx="1746504" cy="691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Уровень цифрового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проникновения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7472" y="2852928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585216" y="27432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 недвижимости в 3× превышает мировой рынок акций и облигаций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47472" y="3364992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2"/>
          <p:cNvSpPr/>
          <p:nvPr/>
        </p:nvSpPr>
        <p:spPr>
          <a:xfrm>
            <a:off x="585216" y="3255264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CAGR PropTech: 16.4% </a:t>
            </a:r>
            <a:r>
              <a:rPr lang="ru-RU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быстрее, чем финтех (~15%) и e-commerce (~8%)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47472" y="3877056"/>
            <a:ext cx="164592" cy="164592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585216" y="373075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Более 10 000 PropTech-стартапов в </a:t>
            </a:r>
            <a:r>
              <a:rPr lang="en-US" sz="12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мире</a:t>
            </a:r>
            <a:r>
              <a:rPr lang="en-US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масштаба достигают те, за кем стоит регулятор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0" name="Text 56">
            <a:extLst>
              <a:ext uri="{FF2B5EF4-FFF2-40B4-BE49-F238E27FC236}">
                <a16:creationId xmlns:a16="http://schemas.microsoft.com/office/drawing/2014/main" id="{8E64B9F3-A315-DCC0-156D-0FA45DDCBE72}"/>
              </a:ext>
            </a:extLst>
          </p:cNvPr>
          <p:cNvSpPr/>
          <p:nvPr/>
        </p:nvSpPr>
        <p:spPr>
          <a:xfrm>
            <a:off x="320040" y="4206240"/>
            <a:ext cx="8321040" cy="726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Ключевой тренд: лидерство на рынке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смещается от чистых стартапов к банкам и финансовым группам, способным объединить платформу, данные и кредитование в единую экосистему.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352" y="185657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118872"/>
            <a:ext cx="325367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Мировые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бенчмарк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49808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49808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84048" y="8595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Домклик (Сбербанк, РФ)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167128" y="841248"/>
            <a:ext cx="86868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2167128" y="84124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8 млн сделок/год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4048" y="1298448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Лучший бенчмарк для 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ACB. Банк как PropTech-оператор полного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цикла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от поиска до электронной регистрации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 дня. 50% ипотек России за 7 лет с нуля.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64408" y="749808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1"/>
          <p:cNvSpPr/>
          <p:nvPr/>
        </p:nvSpPr>
        <p:spPr>
          <a:xfrm>
            <a:off x="3264408" y="749808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3355848" y="8595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DBS Bank (Сингапур)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910328" y="841248"/>
            <a:ext cx="109728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910328" y="8412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Лучший PropTech-банк АТР 2025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355848" y="1298448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B2C + B2B экосистема. Лидер ESG-кредитования застройщиков. ИИ-андеррайтинг (Credit Workbench) сократил время оценки рисков вдвое.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36208" y="749808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6236208" y="749808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6327648" y="8595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Zillow (США)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110728" y="841248"/>
            <a:ext cx="86868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8110728" y="841248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Маржа &gt;75%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327648" y="1298448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Housing Super App: листинг + ипотека + аренда в одном приложении. Контролирует 70% объявлений аренды частных домов США. Рост ипотечных выдач +53%.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92608" y="283464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3"/>
          <p:cNvSpPr/>
          <p:nvPr/>
        </p:nvSpPr>
        <p:spPr>
          <a:xfrm>
            <a:off x="292608" y="28346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384048" y="29443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Dubai Land Department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167128" y="2926080"/>
            <a:ext cx="86868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2167128" y="29260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+32% сделок г/г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" y="33832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Государственная PropTech-инфраструктура. Обязательное эскроу для off-plan + дистанционная регистрация = 158 000 сделок/$136 млрд за 9 месяцев 2025.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64408" y="283464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29"/>
          <p:cNvSpPr/>
          <p:nvPr/>
        </p:nvSpPr>
        <p:spPr>
          <a:xfrm>
            <a:off x="3264408" y="28346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3355848" y="29443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Revolut (Великобритания)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138928" y="2926080"/>
            <a:ext cx="86868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5138928" y="29260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Ипотека за 1 день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355848" y="33832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Необанк, захвативший ипотечный рынок ЕС. Моментальное предодобрение и кредит на ремонт до €30 000 в несколько кликов без визита в офис.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236208" y="283464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8" name="Shape 35"/>
          <p:cNvSpPr/>
          <p:nvPr/>
        </p:nvSpPr>
        <p:spPr>
          <a:xfrm>
            <a:off x="6236208" y="28346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6327648" y="29443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Freedom Bank (Казахстан)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110728" y="2926080"/>
            <a:ext cx="86868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8"/>
          <p:cNvSpPr/>
          <p:nvPr/>
        </p:nvSpPr>
        <p:spPr>
          <a:xfrm>
            <a:off x="8110728" y="29260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Одобрение за 24 часа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327648" y="338328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Ближайший локальный конкурент. Пионер цифровой ипотеки: онлайн-оценка за 3 минуты и полная интеграция с госсервисами через Smart Bridge.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0972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Мировые бенчмарки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11480" y="658368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Text 3"/>
          <p:cNvSpPr/>
          <p:nvPr/>
        </p:nvSpPr>
        <p:spPr>
          <a:xfrm>
            <a:off x="411480" y="7132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320" y="1060704"/>
            <a:ext cx="277063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74320" y="1060704"/>
            <a:ext cx="277063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402336" y="11521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Procore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336" y="1536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США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057400" y="1152144"/>
            <a:ext cx="914400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2057400" y="11521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1,2 млрд м²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057400" y="14447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 управлением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02336" y="1810512"/>
            <a:ext cx="2514600" cy="27432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402336" y="1901952"/>
            <a:ext cx="25146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Облачная B2B-платформа для управления стройкой в реальном времени: бюджеты, графики, документация, контроль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качества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 единой среде для подрядчиков, архитекторов, инженеров и заказчиков. Через Procore управляется более 1,2 млрд кв.м коммерческих площадей по всему миру.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02336" y="4572000"/>
            <a:ext cx="2514600" cy="310896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02336" y="45720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ConTech лидер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177540" y="1060704"/>
            <a:ext cx="277063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Shape 16"/>
          <p:cNvSpPr/>
          <p:nvPr/>
        </p:nvSpPr>
        <p:spPr>
          <a:xfrm>
            <a:off x="3177540" y="1060704"/>
            <a:ext cx="277063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3305556" y="1152144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QuintoAndar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305556" y="1536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Бразилия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700016" y="1152144"/>
            <a:ext cx="1175004" cy="5303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4700016" y="1152144"/>
            <a:ext cx="11750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Стартап-единорог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700016" y="1444752"/>
            <a:ext cx="11750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 аренды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305556" y="1810512"/>
            <a:ext cx="2514600" cy="27432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3305556" y="1901952"/>
            <a:ext cx="25146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Полностью оцифровал рынок долгосрочной аренды, устранив главный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барьер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депозиты и поручителей.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Платформа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бер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риски на себя: арендаторам поручители не нужны, владельцам гарантируется ежемесячная выплата и страховка от ущерба. Модель масштабировалась в Мексику (Benvi).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305556" y="4572000"/>
            <a:ext cx="2514600" cy="310896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3305556" y="45720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Аренда без барьеров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080760" y="1060704"/>
            <a:ext cx="2770632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27"/>
          <p:cNvSpPr/>
          <p:nvPr/>
        </p:nvSpPr>
        <p:spPr>
          <a:xfrm>
            <a:off x="6080760" y="1060704"/>
            <a:ext cx="2770632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6208776" y="115214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REA Group / PropTrack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208776" y="1536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Австралия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863840" y="1152144"/>
            <a:ext cx="914400" cy="53035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7863840" y="11521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EBITDA &gt;60%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863840" y="144475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данные как бизнес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208776" y="1810512"/>
            <a:ext cx="2514600" cy="27432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6208776" y="1901952"/>
            <a:ext cx="25146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Трансформировалась из доски объявлений в PropTech-империю. Подразделение PropTrack специализируется на автоматической оценке недвижимости (AVM) и предиктивной аналитике, продавая сервисы банкам и кредиторам. Формула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успеха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монетизация данных о поведении пользователей через B2B.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208776" y="4572000"/>
            <a:ext cx="2514600" cy="310896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208776" y="457200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Data as a Service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55448"/>
            <a:ext cx="1755648" cy="316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128016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ыводы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 глобальному рынку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84048" y="612648"/>
            <a:ext cx="8394192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320040" y="694944"/>
            <a:ext cx="4169664" cy="992124"/>
          </a:xfrm>
          <a:prstGeom prst="rect">
            <a:avLst/>
          </a:prstGeom>
          <a:solidFill>
            <a:srgbClr val="F5F2E8"/>
          </a:solidFill>
          <a:ln w="12700">
            <a:solidFill>
              <a:srgbClr val="C8A84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320040" y="694944"/>
            <a:ext cx="4169664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5"/>
          <p:cNvSpPr/>
          <p:nvPr/>
        </p:nvSpPr>
        <p:spPr>
          <a:xfrm>
            <a:off x="448056" y="796721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Платформа побеждает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29768" y="1157362"/>
            <a:ext cx="3950208" cy="625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Зарабатывают не на владении активами, а на управлении потоками данных и транзакций. Zillow потерял миллиарды, скупая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дома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и зарабатывает миллиарды как платформа.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690872" y="694944"/>
            <a:ext cx="4169664" cy="992124"/>
          </a:xfrm>
          <a:prstGeom prst="rect">
            <a:avLst/>
          </a:prstGeom>
          <a:solidFill>
            <a:srgbClr val="F5F2E8"/>
          </a:solidFill>
          <a:ln w="12700">
            <a:solidFill>
              <a:srgbClr val="C8A84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Shape 8"/>
          <p:cNvSpPr/>
          <p:nvPr/>
        </p:nvSpPr>
        <p:spPr>
          <a:xfrm>
            <a:off x="4690872" y="694944"/>
            <a:ext cx="4169664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9"/>
          <p:cNvSpPr/>
          <p:nvPr/>
        </p:nvSpPr>
        <p:spPr>
          <a:xfrm>
            <a:off x="4727448" y="75895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Скорость</a:t>
            </a: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новый стандарт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727448" y="1045448"/>
            <a:ext cx="3950208" cy="68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Клиент требует решений «здесь и сейчас». 15 минут на ипотеку, 1 день на регистрацию, кредит на ремонт за несколько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кликов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это уже не УТП, это базовый уровень.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329184" y="1796796"/>
            <a:ext cx="4169664" cy="1133856"/>
          </a:xfrm>
          <a:prstGeom prst="rect">
            <a:avLst/>
          </a:prstGeom>
          <a:solidFill>
            <a:srgbClr val="F5F2E8"/>
          </a:solidFill>
          <a:ln w="12700">
            <a:solidFill>
              <a:srgbClr val="C8A84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7" name="Shape 12"/>
          <p:cNvSpPr/>
          <p:nvPr/>
        </p:nvSpPr>
        <p:spPr>
          <a:xfrm>
            <a:off x="329184" y="1801468"/>
            <a:ext cx="4169664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3"/>
          <p:cNvSpPr/>
          <p:nvPr/>
        </p:nvSpPr>
        <p:spPr>
          <a:xfrm>
            <a:off x="402336" y="178765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Банки</a:t>
            </a: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идеальные узлы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384048" y="2068184"/>
            <a:ext cx="3950208" cy="764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Лицензия + данные + доверие = фундамент экосистемы. Домклик и DBS доказали: банк с инфраструктурой и клиентской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базой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лучший оператор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Банк не конкурирует с агентствами или застройщиками - он становится инфраструктурой, которой они пользуются.</a:t>
            </a:r>
          </a:p>
          <a:p>
            <a:endParaRPr lang="en-US" sz="950" dirty="0">
              <a:latin typeface="Montserrat" pitchFamily="2" charset="0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4700016" y="1796796"/>
            <a:ext cx="4169664" cy="1133856"/>
          </a:xfrm>
          <a:prstGeom prst="rect">
            <a:avLst/>
          </a:prstGeom>
          <a:solidFill>
            <a:srgbClr val="F5F2E8"/>
          </a:solidFill>
          <a:ln w="12700">
            <a:solidFill>
              <a:srgbClr val="C8A84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16"/>
          <p:cNvSpPr/>
          <p:nvPr/>
        </p:nvSpPr>
        <p:spPr>
          <a:xfrm>
            <a:off x="4700016" y="1801468"/>
            <a:ext cx="4169664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17"/>
          <p:cNvSpPr/>
          <p:nvPr/>
        </p:nvSpPr>
        <p:spPr>
          <a:xfrm>
            <a:off x="4773168" y="18013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B2C + B2B = сетевой эффект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4764024" y="2084832"/>
            <a:ext cx="3950208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Больше застройщиков → больше объектов → больше покупателей → больше данных. DBS обслуживает и покупателей, и девелоперов, создавая самоускоряющийся рост.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329184" y="3007274"/>
            <a:ext cx="4169664" cy="1326982"/>
          </a:xfrm>
          <a:prstGeom prst="rect">
            <a:avLst/>
          </a:prstGeom>
          <a:solidFill>
            <a:srgbClr val="F5F2E8"/>
          </a:solidFill>
          <a:ln w="12700">
            <a:solidFill>
              <a:srgbClr val="C8A84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20"/>
          <p:cNvSpPr/>
          <p:nvPr/>
        </p:nvSpPr>
        <p:spPr>
          <a:xfrm>
            <a:off x="329184" y="3010721"/>
            <a:ext cx="4169664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1"/>
          <p:cNvSpPr/>
          <p:nvPr/>
        </p:nvSpPr>
        <p:spPr>
          <a:xfrm>
            <a:off x="429768" y="3051810"/>
            <a:ext cx="41696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Alatau City </a:t>
            </a:r>
            <a:r>
              <a:rPr lang="ru-RU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инвест. площадка регионального уровня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457201" y="3409739"/>
            <a:ext cx="4041647" cy="7795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Эскроу, </a:t>
            </a:r>
            <a:r>
              <a:rPr lang="ru-RU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токенизация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, цифровая регистрация через </a:t>
            </a:r>
            <a:r>
              <a:rPr lang="ru-RU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-узел - все это можно отработать в 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Alatau City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раньше, чем они появятся на основном рынке РК. Это уникальное окно возможностей: стать для иностранных инвесторов тем, чем 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Dubai Land Department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стал для глобального рынка. 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4700016" y="3007274"/>
            <a:ext cx="4169664" cy="1326982"/>
          </a:xfrm>
          <a:prstGeom prst="rect">
            <a:avLst/>
          </a:prstGeom>
          <a:solidFill>
            <a:srgbClr val="F5F2E8"/>
          </a:solidFill>
          <a:ln w="12700">
            <a:solidFill>
              <a:srgbClr val="C8A84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24"/>
          <p:cNvSpPr/>
          <p:nvPr/>
        </p:nvSpPr>
        <p:spPr>
          <a:xfrm>
            <a:off x="4700016" y="3010721"/>
            <a:ext cx="4169664" cy="594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25"/>
          <p:cNvSpPr/>
          <p:nvPr/>
        </p:nvSpPr>
        <p:spPr>
          <a:xfrm>
            <a:off x="4773168" y="2983795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Две </a:t>
            </a:r>
            <a:r>
              <a:rPr lang="en-US" sz="125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одна платформа</a:t>
            </a:r>
            <a:endParaRPr lang="en-US" sz="1250" dirty="0">
              <a:latin typeface="Montserrat" pitchFamily="2" charset="0"/>
            </a:endParaRPr>
          </a:p>
        </p:txBody>
      </p:sp>
      <p:sp>
        <p:nvSpPr>
          <p:cNvPr id="35" name="Text 26"/>
          <p:cNvSpPr/>
          <p:nvPr/>
        </p:nvSpPr>
        <p:spPr>
          <a:xfrm>
            <a:off x="4773168" y="3296312"/>
            <a:ext cx="3950208" cy="8104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 сформировал два пути: </a:t>
            </a:r>
            <a:r>
              <a:rPr lang="en-US" sz="95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обслуживание местного населения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(Домклик, Freedom Bank) и </a:t>
            </a:r>
            <a:r>
              <a:rPr lang="en-US" sz="95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привлечение международного капитала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(Дубай, KE Holdings). ACB имеет редкую возможность решать обе задачи одновременно через «песочницу» Alatau City.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320040" y="4389120"/>
            <a:ext cx="850392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Shape 28"/>
          <p:cNvSpPr/>
          <p:nvPr/>
        </p:nvSpPr>
        <p:spPr>
          <a:xfrm>
            <a:off x="320040" y="4389120"/>
            <a:ext cx="64008" cy="5669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0"/>
          <p:cNvSpPr/>
          <p:nvPr/>
        </p:nvSpPr>
        <p:spPr>
          <a:xfrm>
            <a:off x="429768" y="4407308"/>
            <a:ext cx="83484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 err="1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</a:t>
            </a:r>
            <a:r>
              <a:rPr lang="en-US" sz="950" i="1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i="1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не привилегия технологически развитых стран, а вопрос политической воли. Масштаба достигают те, за кем стоит регуляторная поддержка государства. 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7683" y="1280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РК 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структурные проблемы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20040" y="658368"/>
            <a:ext cx="20116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0040" y="731520"/>
            <a:ext cx="2011680" cy="784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₸12 трлн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22376" y="1488186"/>
            <a:ext cx="120700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65760" y="1563624"/>
            <a:ext cx="192024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Годовой оборот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(стройка + сделки)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87168" y="658368"/>
            <a:ext cx="2011680" cy="150876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87168" y="731520"/>
            <a:ext cx="2011680" cy="784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448 571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889504" y="1488186"/>
            <a:ext cx="120700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2532888" y="1563624"/>
            <a:ext cx="192024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Сделок купли-продажи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 2025 год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54296" y="658368"/>
            <a:ext cx="2011680" cy="150876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4654296" y="731520"/>
            <a:ext cx="2011680" cy="784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24,5 м²</a:t>
            </a:r>
            <a:endParaRPr lang="en-US" sz="24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56632" y="1488186"/>
            <a:ext cx="120700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700016" y="1563624"/>
            <a:ext cx="192024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 чел. (норма ООН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30 м², разрыв 18%)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821424" y="658368"/>
            <a:ext cx="20116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6821424" y="731520"/>
            <a:ext cx="2011680" cy="7845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ru-RU" sz="2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60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223760" y="1488186"/>
            <a:ext cx="120700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6867144" y="1563624"/>
            <a:ext cx="1920240" cy="54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Ипотека от ВВП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dirty="0" err="1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Канада</a:t>
            </a: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78%)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0040" y="230428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320040" y="2304288"/>
            <a:ext cx="64008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457200" y="2350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Серый рынок аренды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7200" y="2688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ru-RU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70% сделок в тени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496312" y="2377440"/>
            <a:ext cx="36576" cy="603504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2606040" y="2377440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Цифровые договоры + автоуплата ИПН 10%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709160" y="230428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26"/>
          <p:cNvSpPr/>
          <p:nvPr/>
        </p:nvSpPr>
        <p:spPr>
          <a:xfrm>
            <a:off x="4709160" y="2304288"/>
            <a:ext cx="64008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4846320" y="235000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Проблемные дольщики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846320" y="268833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&gt;15 000 пострадавших/год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885432" y="2377440"/>
            <a:ext cx="36576" cy="603504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6995160" y="2377440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Эскроу-механизм + проектное финансирование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20040" y="31729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5" name="Shape 32"/>
          <p:cNvSpPr/>
          <p:nvPr/>
        </p:nvSpPr>
        <p:spPr>
          <a:xfrm>
            <a:off x="320040" y="3172968"/>
            <a:ext cx="64008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457200" y="32186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Незаконные продажи ДДУ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57200" y="35570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68% первичного рынка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496312" y="3246120"/>
            <a:ext cx="36576" cy="603504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2606040" y="3246120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Цифровые сделки, блокчейн-регистрация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709160" y="317296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709160" y="3172968"/>
            <a:ext cx="64008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9"/>
          <p:cNvSpPr/>
          <p:nvPr/>
        </p:nvSpPr>
        <p:spPr>
          <a:xfrm>
            <a:off x="4846320" y="32186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Высокие ставки ипотеки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846320" y="355701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ru-RU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25% ГЭСВ (рыночная)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885432" y="3246120"/>
            <a:ext cx="36576" cy="603504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6995160" y="3246120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Рыночная ипотека через экосистему + дифференциация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320040" y="404164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7" name="Shape 44"/>
          <p:cNvSpPr/>
          <p:nvPr/>
        </p:nvSpPr>
        <p:spPr>
          <a:xfrm>
            <a:off x="320040" y="4041648"/>
            <a:ext cx="64008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5"/>
          <p:cNvSpPr/>
          <p:nvPr/>
        </p:nvSpPr>
        <p:spPr>
          <a:xfrm>
            <a:off x="457200" y="40873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Износ жилищного фонда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57200" y="44256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55% построено до 1990 г.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2496312" y="4114800"/>
            <a:ext cx="36576" cy="603504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2606040" y="4114800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Ипотека на реновацию, ремонтный пакет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4709160" y="404164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53" name="Shape 50"/>
          <p:cNvSpPr/>
          <p:nvPr/>
        </p:nvSpPr>
        <p:spPr>
          <a:xfrm>
            <a:off x="4709160" y="4041648"/>
            <a:ext cx="64008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Text 51"/>
          <p:cNvSpPr/>
          <p:nvPr/>
        </p:nvSpPr>
        <p:spPr>
          <a:xfrm>
            <a:off x="4846320" y="40873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Низкая доступность жилья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846320" y="44256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Реальный срок накопления 20+ лет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6885432" y="4114800"/>
            <a:ext cx="36576" cy="603504"/>
          </a:xfrm>
          <a:prstGeom prst="rect">
            <a:avLst/>
          </a:prstGeom>
          <a:solidFill>
            <a:srgbClr val="E8D9A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4"/>
          <p:cNvSpPr/>
          <p:nvPr/>
        </p:nvSpPr>
        <p:spPr>
          <a:xfrm>
            <a:off x="6995160" y="4114800"/>
            <a:ext cx="1783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HLTV-платформа, умная ипотека, рассрочка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1967" y="11668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РК: TAM / SAM / SOM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28600" y="777240"/>
            <a:ext cx="8686800" cy="1143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228600" y="777240"/>
            <a:ext cx="1005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325880" y="85039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Весь рынок РК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25880" y="1252728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Строительство жилья (₸3,2 трлн) + Купля-продажа (~₸7 трлн) + Наблюдаемый сектор аренды и операций (₸1,8 трлн)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55080" y="77724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~₸12 трлн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371600" y="2103120"/>
            <a:ext cx="6400800" cy="1143000"/>
          </a:xfrm>
          <a:prstGeom prst="rect">
            <a:avLst/>
          </a:prstGeom>
          <a:solidFill>
            <a:srgbClr val="2A3A5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1371600" y="2103120"/>
            <a:ext cx="1005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468880" y="21762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PropTech-адресуемый сегмент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468880" y="257860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~25</a:t>
            </a:r>
            <a:r>
              <a:rPr lang="ru-RU" sz="95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30% TAM: новые ипотечные выдачи + сделки с цифровым сопровождением + потенциально легализуемый сегмент аренды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212080" y="210312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~₸3,5 трлн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514600" y="3429000"/>
            <a:ext cx="4114800" cy="11430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2514600" y="3429000"/>
            <a:ext cx="1005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337559" y="3598562"/>
            <a:ext cx="1602189" cy="923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Достижимая доля ACB </a:t>
            </a:r>
            <a:r>
              <a:rPr lang="ru-RU" sz="12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цель 2031: 7</a:t>
            </a:r>
            <a:r>
              <a:rPr lang="ru-RU" sz="12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8% SAM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629400" y="3392822"/>
            <a:ext cx="2468880" cy="11791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2026: пилот Alatau City (₸15</a:t>
            </a:r>
            <a:r>
              <a:rPr lang="ru-RU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30 млрд) </a:t>
            </a:r>
            <a:endParaRPr lang="ru-RU" sz="950" dirty="0">
              <a:solidFill>
                <a:srgbClr val="444444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2028: масштабирование (₸90</a:t>
            </a:r>
            <a:r>
              <a:rPr lang="ru-RU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120 </a:t>
            </a:r>
            <a:r>
              <a:rPr lang="en-US" sz="950" dirty="0" err="1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млрд</a:t>
            </a: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)</a:t>
            </a:r>
            <a:endParaRPr lang="ru-RU" sz="950" dirty="0">
              <a:solidFill>
                <a:srgbClr val="444444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203</a:t>
            </a:r>
            <a:r>
              <a:rPr lang="ru-RU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лидерство (₸210</a:t>
            </a:r>
            <a:r>
              <a:rPr lang="ru-RU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280 млрд)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20317" y="3429000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₸15</a:t>
            </a:r>
            <a:r>
              <a:rPr lang="ru-RU" sz="18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8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280 млрд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11480" y="4650122"/>
            <a:ext cx="8321040" cy="3104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Даже при захвате 0,5% PropTech-адресуемого рынка в первый </a:t>
            </a:r>
            <a:r>
              <a:rPr lang="en-US" sz="95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год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объ</a:t>
            </a:r>
            <a:r>
              <a:rPr lang="ru-RU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5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выручки составит ₸15</a:t>
            </a:r>
            <a:r>
              <a:rPr lang="ru-RU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30 млрд. Ведущие PropTech-платформы выходят </a:t>
            </a:r>
            <a:r>
              <a:rPr lang="en-US" sz="95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5</a:t>
            </a:r>
            <a:r>
              <a:rPr lang="ru-RU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10% SAM </a:t>
            </a:r>
            <a:r>
              <a:rPr lang="en-US" sz="95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5</a:t>
            </a:r>
            <a:r>
              <a:rPr lang="ru-RU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7 лет.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1967" y="13457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Конкурентный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ландшаф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56032" y="713232"/>
            <a:ext cx="8476488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256032" y="71323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Игрок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73352" y="71323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78024" y="71323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Ипотека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282696" y="71323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Оформл.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87368" y="713232"/>
            <a:ext cx="877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Проект. фин.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65192" y="71323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69864" y="7132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Услуги/ремонт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75704" y="713232"/>
            <a:ext cx="11517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Потенциал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56032" y="1143000"/>
            <a:ext cx="84764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56032" y="114300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Kaspi.kz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673352" y="11430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478024" y="11430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82696" y="11430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087368" y="1143000"/>
            <a:ext cx="877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65192" y="11430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69864" y="11430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75704" y="1143000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56032" y="1709928"/>
            <a:ext cx="8476488" cy="512064"/>
          </a:xfrm>
          <a:prstGeom prst="rect">
            <a:avLst/>
          </a:prstGeom>
          <a:solidFill>
            <a:srgbClr val="F8F6F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56032" y="170992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Freedom Bank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673352" y="170992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478024" y="170992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82696" y="170992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087368" y="1709928"/>
            <a:ext cx="877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965192" y="170992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769864" y="170992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75704" y="170992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256032" y="2276856"/>
            <a:ext cx="84764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56032" y="2276856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Halyk Bank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673352" y="2276856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478024" y="2276856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282696" y="2276856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087368" y="2276856"/>
            <a:ext cx="877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965192" y="2276856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769864" y="227685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775704" y="2276856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256032" y="2843784"/>
            <a:ext cx="8476488" cy="512064"/>
          </a:xfrm>
          <a:prstGeom prst="rect">
            <a:avLst/>
          </a:prstGeom>
          <a:solidFill>
            <a:srgbClr val="F8F6F0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56032" y="2843784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Отбасы банк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1673352" y="2843784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2478024" y="2843784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282696" y="2843784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087368" y="2843784"/>
            <a:ext cx="877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965192" y="2843784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5769864" y="284378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775704" y="284378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10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256032" y="3410712"/>
            <a:ext cx="847648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256032" y="341071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BI Group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1673352" y="3410712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2478024" y="3410712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3282696" y="3410712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4087368" y="3410712"/>
            <a:ext cx="877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4965192" y="3410712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5769864" y="341071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775704" y="341071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НИЗКИЙ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256032" y="3977640"/>
            <a:ext cx="8476488" cy="457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Text 68"/>
          <p:cNvSpPr/>
          <p:nvPr/>
        </p:nvSpPr>
        <p:spPr>
          <a:xfrm>
            <a:off x="240527" y="4180597"/>
            <a:ext cx="83210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Вывод: Ни </a:t>
            </a:r>
            <a:r>
              <a:rPr lang="en-US" sz="1000" b="1" i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000" b="1" i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i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игрок на рынке </a:t>
            </a:r>
            <a:r>
              <a:rPr lang="en-US" sz="1000" b="1" i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000" b="1" i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предлагает полный </a:t>
            </a:r>
            <a:r>
              <a:rPr lang="en-US" sz="1000" b="1" i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цикл</a:t>
            </a:r>
            <a:r>
              <a:rPr lang="en-US" sz="1000" b="1" i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i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b="1" i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поиск</a:t>
            </a:r>
            <a:r>
              <a:rPr lang="en-US" sz="1000" b="1" i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→ ипотека → эскроу → регистрация → сервис. Это пространство открыто.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0673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косистема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ров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772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402336" y="9052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ApartX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958009" y="905256"/>
            <a:ext cx="1059511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1956816" y="914400"/>
            <a:ext cx="1059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Автоматизация аренды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84048" y="132588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Умные замки, верификация по ID, цифровые договоры. 150 000 пользователей, 500 000+ транзакций. Резидент Astana Hub.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64408" y="77724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1"/>
          <p:cNvSpPr/>
          <p:nvPr/>
        </p:nvSpPr>
        <p:spPr>
          <a:xfrm>
            <a:off x="3264408" y="7772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3374136" y="9052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Apartchain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020056" y="905256"/>
            <a:ext cx="969264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5020056" y="914400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Токенизация прав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355848" y="132588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Пилот НБ РК (февраль 2026). </a:t>
            </a:r>
            <a:endParaRPr lang="ru-RU" sz="9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 токен = 1 кв.м. Регуляторно одобренный блокчейн-реестр (Hyperledger Fabric).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36208" y="77724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6236208" y="7772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6345936" y="90525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E-knot / OSI.kz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046720" y="905256"/>
            <a:ext cx="914400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8046720" y="90525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Управление МКД и ОСИ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327648" y="132588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Онлайн-собрания, голосования, бюджет дома. 98%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кворум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без платформы лишь 30% ЖК набирали кворум.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92608" y="288036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3"/>
          <p:cNvSpPr/>
          <p:nvPr/>
        </p:nvSpPr>
        <p:spPr>
          <a:xfrm>
            <a:off x="292608" y="288036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402336" y="3008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Naimi.kz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048256" y="3008376"/>
            <a:ext cx="969264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1975104" y="3007283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Маркетплейс мастеров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" y="342900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800 000+ верифицированных специалистов. Инвестиции BI Group $5 млн в 2019 г. Встроенный сервис «ипотека + ремонт».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264408" y="288036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29"/>
          <p:cNvSpPr/>
          <p:nvPr/>
        </p:nvSpPr>
        <p:spPr>
          <a:xfrm>
            <a:off x="3264408" y="288036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3374136" y="3008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Alseco / ЕРЦ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074920" y="3008376"/>
            <a:ext cx="914400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5074920" y="300837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Оплата ЖКУ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355848" y="342900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Крупнейший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расч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тный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центр Алматы. Биллинг сотен тысяч лицевых счетов. Smart ЖКХ (2024).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236208" y="2880360"/>
            <a:ext cx="2834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8" name="Shape 35"/>
          <p:cNvSpPr/>
          <p:nvPr/>
        </p:nvSpPr>
        <p:spPr>
          <a:xfrm>
            <a:off x="6236208" y="288036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6345936" y="30083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Krisha.kz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772401" y="3008376"/>
            <a:ext cx="1188720" cy="347472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8"/>
          <p:cNvSpPr/>
          <p:nvPr/>
        </p:nvSpPr>
        <p:spPr>
          <a:xfrm>
            <a:off x="7772400" y="30083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Листинг недвижимости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327648" y="3429000"/>
            <a:ext cx="265176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5,1 млн уник. пользователей/мес., +22,8% к 2023. 71% узнаваемость. API-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интеграция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точка первого контакта клиента.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Концепция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PropTech-экосистемы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57200" y="777240"/>
            <a:ext cx="822960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594360" y="86868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«Сделать рынок недвижимости Казахстана прозрачным, доступным и эффективным для каждого его участника через единую операционную систему»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" y="2212848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320040" y="2212848"/>
            <a:ext cx="202996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320040" y="23774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0040" y="30175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покупателя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5800" y="3401568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411480" y="3493008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Путь от мечты о жилье до управления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активом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 одном приложении, без бумаг и очередей.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496312" y="2212848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496312" y="2212848"/>
            <a:ext cx="202996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2496312" y="23774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🏗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496312" y="30175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застройщика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862072" y="3401568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2587752" y="3493008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Проектное финансирование,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эскроу-менеджмент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цифровые продажи.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72584" y="2212848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19"/>
          <p:cNvSpPr/>
          <p:nvPr/>
        </p:nvSpPr>
        <p:spPr>
          <a:xfrm>
            <a:off x="4672584" y="2212848"/>
            <a:ext cx="202996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4672584" y="23774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4672584" y="30175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поставщика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038344" y="3401568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4764024" y="3493008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Верифицированный профиль, поток заказов и безопасная оплата через эскроу банка.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848856" y="2212848"/>
            <a:ext cx="202996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Shape 25"/>
          <p:cNvSpPr/>
          <p:nvPr/>
        </p:nvSpPr>
        <p:spPr>
          <a:xfrm>
            <a:off x="6848856" y="2212848"/>
            <a:ext cx="202996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6848856" y="23774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6848856" y="301752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инвестора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214616" y="3401568"/>
            <a:ext cx="1298448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6940296" y="3493008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Токенизированные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объекты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, ежемесячный доход и выход за 1 день.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Четыре точки входа: роли участников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01168" y="749808"/>
            <a:ext cx="2103120" cy="3643884"/>
          </a:xfrm>
          <a:prstGeom prst="rect">
            <a:avLst/>
          </a:prstGeom>
          <a:solidFill>
            <a:srgbClr val="1E1E1E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01168" y="749808"/>
            <a:ext cx="21031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01168" y="749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«Мой дом»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1168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Физические лица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9768" y="1627632"/>
            <a:ext cx="1645920" cy="3657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365760" y="192024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512064" y="178308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Накопление и ипотека за 15 мин.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242316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512064" y="22860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Каталог «Проверено ACB»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" y="292608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512064" y="27889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</a:t>
            </a: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защита дольщика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65760" y="34290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512064" y="32918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Ремонт в ипотечном кредите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65760" y="393192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512064" y="37947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ЖКУ, ОСИ, аренда, инвестиции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414016" y="749808"/>
            <a:ext cx="2103120" cy="3643884"/>
          </a:xfrm>
          <a:prstGeom prst="rect">
            <a:avLst/>
          </a:prstGeom>
          <a:solidFill>
            <a:srgbClr val="2D4A2D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2414016" y="749808"/>
            <a:ext cx="21031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2414016" y="749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«Мой проект»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414016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Застройщики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642616" y="1627632"/>
            <a:ext cx="1645920" cy="3657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2578608" y="192024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2724912" y="178308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Проектное финансирование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578608" y="242316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2724912" y="22860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Управление эскроу в реал. времени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578608" y="292608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2724912" y="27889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Шахматка продаж + CRM дольщиков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578608" y="34290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2724912" y="32918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Онлайн-подписание ДДУ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578608" y="393192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2724912" y="37947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Мониторинг хода стройки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626864" y="749808"/>
            <a:ext cx="2103120" cy="3643884"/>
          </a:xfrm>
          <a:prstGeom prst="rect">
            <a:avLst/>
          </a:prstGeom>
          <a:solidFill>
            <a:srgbClr val="2A2A4A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Shape 35"/>
          <p:cNvSpPr/>
          <p:nvPr/>
        </p:nvSpPr>
        <p:spPr>
          <a:xfrm>
            <a:off x="4626864" y="749808"/>
            <a:ext cx="21031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4626864" y="749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«Мои услуги»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626864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Поставщики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55464" y="1627632"/>
            <a:ext cx="1645920" cy="3657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39"/>
          <p:cNvSpPr/>
          <p:nvPr/>
        </p:nvSpPr>
        <p:spPr>
          <a:xfrm>
            <a:off x="4791456" y="192024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4937760" y="178308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Верифицированный профиль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791456" y="242316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4937760" y="22860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Заявки от покупателей новостроек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791456" y="292608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4"/>
          <p:cNvSpPr/>
          <p:nvPr/>
        </p:nvSpPr>
        <p:spPr>
          <a:xfrm>
            <a:off x="4937760" y="27889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Безопасная оплата через эскроу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791456" y="34290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6"/>
          <p:cNvSpPr/>
          <p:nvPr/>
        </p:nvSpPr>
        <p:spPr>
          <a:xfrm>
            <a:off x="4937760" y="32918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Рейтинг</a:t>
            </a: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поток клиентов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791456" y="393192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4937760" y="37947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Финансирование под контракты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839712" y="749808"/>
            <a:ext cx="2103120" cy="3643884"/>
          </a:xfrm>
          <a:prstGeom prst="rect">
            <a:avLst/>
          </a:prstGeom>
          <a:solidFill>
            <a:srgbClr val="4A2A2A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6839712" y="749808"/>
            <a:ext cx="21031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Text 51"/>
          <p:cNvSpPr/>
          <p:nvPr/>
        </p:nvSpPr>
        <p:spPr>
          <a:xfrm>
            <a:off x="6839712" y="74980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«Мой портфель»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839712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Инвесторы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7068312" y="1627632"/>
            <a:ext cx="1645920" cy="3657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Shape 54"/>
          <p:cNvSpPr/>
          <p:nvPr/>
        </p:nvSpPr>
        <p:spPr>
          <a:xfrm>
            <a:off x="7004304" y="192024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8" name="Text 55"/>
          <p:cNvSpPr/>
          <p:nvPr/>
        </p:nvSpPr>
        <p:spPr>
          <a:xfrm>
            <a:off x="7150608" y="1751076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Токены</a:t>
            </a: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 кв м 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7004304" y="242316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Text 57"/>
          <p:cNvSpPr/>
          <p:nvPr/>
        </p:nvSpPr>
        <p:spPr>
          <a:xfrm>
            <a:off x="7150608" y="228600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Ежемесячный арендный доход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7004304" y="292608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59"/>
          <p:cNvSpPr/>
          <p:nvPr/>
        </p:nvSpPr>
        <p:spPr>
          <a:xfrm>
            <a:off x="7150608" y="27889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Вторичный </a:t>
            </a:r>
            <a:r>
              <a:rPr lang="en-US" sz="95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</a:t>
            </a: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выход за 1 день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7004304" y="342900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Text 61"/>
          <p:cNvSpPr/>
          <p:nvPr/>
        </p:nvSpPr>
        <p:spPr>
          <a:xfrm>
            <a:off x="7150608" y="329184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Иностранный инвестор через SPV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7004304" y="393192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Text 63"/>
          <p:cNvSpPr/>
          <p:nvPr/>
        </p:nvSpPr>
        <p:spPr>
          <a:xfrm>
            <a:off x="7150608" y="379476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Краудфандинг новых ЖК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201168" y="4523099"/>
            <a:ext cx="8714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Все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кабинеты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будут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соединены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единым финансовым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контуром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один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сч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для всего жизненного цикла недвижимости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Трансформация бизнес-модели: CLTV → HLTV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320040" y="749808"/>
            <a:ext cx="397764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0040" y="749808"/>
            <a:ext cx="3977640" cy="475488"/>
          </a:xfrm>
          <a:prstGeom prst="rect">
            <a:avLst/>
          </a:prstGeom>
          <a:solidFill>
            <a:srgbClr val="EEEEEE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411480" y="7498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CLTV </a:t>
            </a:r>
            <a:r>
              <a:rPr lang="ru-RU" sz="13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Customer Lifetime Value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11480" y="1298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Старая логика: продать максимум продуктов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17556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Единица ценности: доход клиента за срок жизни в банке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224942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Продуктовая логика: продать максимум продуктов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27432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Сегментация: по доходу и кредитному поведению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32369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Удержание: ставки, бонусы, кешбэк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37307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Точек контакта: 1 раз в месяц (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ж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 ипотеке)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389120" y="2468880"/>
            <a:ext cx="365760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389120" y="2468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846320" y="749808"/>
            <a:ext cx="3977640" cy="404164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46320" y="749808"/>
            <a:ext cx="397764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4937760" y="749808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HLTV </a:t>
            </a:r>
            <a:r>
              <a:rPr lang="ru-RU" sz="13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Human Lifetime Value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937760" y="129844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Новая логика: решить жизненную ситуацию человека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956048" y="1755648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Единица ценности: ценность для человека на всех жизненных этапах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956048" y="2249424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Продуктовая логика: решить жилищную ситуацию целиком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56048" y="2743200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Сегментация: по жизненным событиям (первый дом, </a:t>
            </a:r>
            <a:r>
              <a:rPr lang="en-US" sz="105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реб</a:t>
            </a:r>
            <a:r>
              <a:rPr lang="ru-RU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нок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, переезд)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956048" y="3236976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Удержание: незаменимость в жилищном пути клиента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956048" y="3730752"/>
            <a:ext cx="3767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• Ежедневных точек контакта: </a:t>
            </a:r>
            <a:r>
              <a:rPr lang="en-US" sz="105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PropMgmt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, ЖКУ, ОСИ, аренда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рхитектура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платформы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74320" y="777240"/>
            <a:ext cx="859536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274320" y="77724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8321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Аналитика и ИИ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1179576"/>
            <a:ext cx="7909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Публичный индекс цен · AVM · Прогнозирование спроса · B2B-аналитика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7200" y="1600200"/>
            <a:ext cx="8229600" cy="749808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457200" y="160020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05840" y="1655064"/>
            <a:ext cx="391403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Цифровая инфраструктура Alatau City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05840" y="2002536"/>
            <a:ext cx="7543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Токенизация · Блокчейн-регистрация прав · Цифровые паспорта объектов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0080" y="2423160"/>
            <a:ext cx="7863840" cy="749808"/>
          </a:xfrm>
          <a:prstGeom prst="rect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640080" y="242316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88720" y="24780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Финансовая платформа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88720" y="2825496"/>
            <a:ext cx="7178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Цифровая ипотека · Эскроу · Проектное финансирование · Токенизированные инвестиции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22960" y="3246120"/>
            <a:ext cx="7498080" cy="74980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822960" y="324612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371600" y="33009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Сервисная экосистема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371600" y="3648456"/>
            <a:ext cx="6812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Маркетплейс ремонта · Автоматизация аренды · Управление домом · Страхование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05840" y="4069080"/>
            <a:ext cx="7132320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1005840" y="4069080"/>
            <a:ext cx="4754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554480" y="412394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Универсальный банк (фундамент)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554480" y="4471416"/>
            <a:ext cx="6446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BBB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Счета · Депозиты · Карты · Бизнес-банкинг · eGov · Реестр недвижимости · ЖКУ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46304"/>
            <a:ext cx="1755648" cy="316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9144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CJM: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Физическое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лицо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47472" y="576072"/>
            <a:ext cx="8449056" cy="4572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347472" y="676656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347472" y="676656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69264" y="676656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1097280" y="749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Осознание и накопление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1051560"/>
            <a:ext cx="34747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Деньги в разных банках, нет плана. Страх: жильё подорожает быстрее, чем копятся деньги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81728" y="676656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0"/>
          <p:cNvSpPr/>
          <p:nvPr/>
        </p:nvSpPr>
        <p:spPr>
          <a:xfrm>
            <a:off x="4681728" y="676656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4809744" y="749808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Раздел «Мой будущий дом». ИИ строит персональный график накоплений с датой покупки. Целевой депозит +1,5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2% к рынку при условии покупки через платформу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47472" y="1559052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347472" y="1559052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69264" y="1559052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1097280" y="16322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Проверка возможностей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97280" y="1848002"/>
            <a:ext cx="3474720" cy="5431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Бюрократия: </a:t>
            </a:r>
            <a:r>
              <a:rPr lang="en-US" sz="950" i="1" dirty="0" err="1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оценка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1</a:t>
            </a:r>
            <a:r>
              <a:rPr lang="ru-RU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 дня, нотариус офлайн, финальное подписание в отделении. Рыночная </a:t>
            </a:r>
            <a:r>
              <a:rPr lang="en-US" sz="950" i="1" dirty="0" err="1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ставка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20</a:t>
            </a:r>
            <a:r>
              <a:rPr lang="ru-RU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25% ГЭСВ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81728" y="1559052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4681728" y="1559052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4809744" y="1632204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Кнопка «Узнать мой лимит» → биометрия → Smart Bridge (ЕНПФ + КГД + МЮ) → одобрение за 15 минут. Лимит-сертификат действует во всей экосистеме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47472" y="2441448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347472" y="2441448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69264" y="2441448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109728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Поиск и выбор объекта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97280" y="2816352"/>
            <a:ext cx="34747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Фейковые объявления, риск купить у застройщика без разрешений, личные поездки на стройки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681728" y="2441448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6"/>
          <p:cNvSpPr/>
          <p:nvPr/>
        </p:nvSpPr>
        <p:spPr>
          <a:xfrm>
            <a:off x="4681728" y="2441448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4809744" y="2514600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Каталог «Проверено ACB» 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только юридически чистые новостройки. ИИ-подбор: «Для вашего лимита подходит 47 квартир». 3D-туры. Нулевой риск незаконного объекта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47472" y="3323844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347472" y="3323844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69264" y="3323844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97280" y="33969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Сделка и оплата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097280" y="3600400"/>
            <a:ext cx="3474720" cy="555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Незаконный договор бронирования. Деньги сразу в </a:t>
            </a:r>
            <a:r>
              <a:rPr lang="en-US" sz="950" i="1" dirty="0" err="1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стройку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вернуть невозможно. Покупатель беззащитен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681728" y="3323844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Shape 34"/>
          <p:cNvSpPr/>
          <p:nvPr/>
        </p:nvSpPr>
        <p:spPr>
          <a:xfrm>
            <a:off x="4681728" y="3323844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4809744" y="3396996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Подписание ДДУ через биометрию и ЭЦП за 5 минут. Деньги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эскроу-сч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те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. Застройщик получает оплату только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подтвержд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нные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этапы. Риск «обманутого дольщика» ликвидирован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47472" y="4206240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347472" y="4206240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969264" y="4206240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9"/>
          <p:cNvSpPr/>
          <p:nvPr/>
        </p:nvSpPr>
        <p:spPr>
          <a:xfrm>
            <a:off x="1097280" y="42793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Период ожидания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97280" y="4495190"/>
            <a:ext cx="3474720" cy="520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Информационный вакуум. Слухи в чатах. Невозможно проверить расход денег. Высокая тревога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681728" y="4206240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Shape 42"/>
          <p:cNvSpPr/>
          <p:nvPr/>
        </p:nvSpPr>
        <p:spPr>
          <a:xfrm>
            <a:off x="4681728" y="4206240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3"/>
          <p:cNvSpPr/>
          <p:nvPr/>
        </p:nvSpPr>
        <p:spPr>
          <a:xfrm>
            <a:off x="4809744" y="4279392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Живой таймлайн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стройки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план-факт по каждому этапу. Независимый мониторинг и фотофиксация. ИИ-прогресс: «Установлено 15 новых окон за неделю»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64008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46304"/>
            <a:ext cx="1755648" cy="3165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72" y="9144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CJM: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Физическое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лицо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47472" y="576072"/>
            <a:ext cx="8449056" cy="4572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347472" y="676656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347472" y="676656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69264" y="676656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1097280" y="749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Оформление и регистрация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97280" y="935412"/>
            <a:ext cx="3474720" cy="536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Походы в ЦОН и к нотариусу, очереди, бумажный техпаспорт. </a:t>
            </a:r>
            <a:r>
              <a:rPr lang="en-US" sz="950" i="1" dirty="0" err="1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Процесс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3</a:t>
            </a:r>
            <a:r>
              <a:rPr lang="ru-RU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 дней. </a:t>
            </a:r>
            <a:r>
              <a:rPr lang="en-US" sz="950" i="1" dirty="0" err="1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Прописка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отдельный визит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681728" y="676656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0"/>
          <p:cNvSpPr/>
          <p:nvPr/>
        </p:nvSpPr>
        <p:spPr>
          <a:xfrm>
            <a:off x="4681728" y="676656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4809744" y="749808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cs typeface="Calibri" pitchFamily="34" charset="-120"/>
              </a:rPr>
              <a:t>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cs typeface="Calibri" pitchFamily="34" charset="-120"/>
              </a:rPr>
              <a:t>Смарт-контракт фиксирует ввод дома → блокчейн-запись в реестре → «Поздравляем, вы стали владельцем». Цифровой техпаспорт. Автопрописка. ЦОН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cs typeface="Calibri" pitchFamily="34" charset="-120"/>
              </a:rPr>
              <a:t>не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cs typeface="Calibri" pitchFamily="34" charset="-120"/>
              </a:rPr>
              <a:t>нужен</a:t>
            </a:r>
            <a:endParaRPr lang="en-US" sz="1050" dirty="0">
              <a:solidFill>
                <a:srgbClr val="1A1A1A"/>
              </a:solidFill>
              <a:latin typeface="Montserrat" pitchFamily="2" charset="0"/>
              <a:cs typeface="Calibri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47472" y="1559052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347472" y="1559052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69264" y="1559052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1097280" y="16322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Ремонт и обустройство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97280" y="1807312"/>
            <a:ext cx="3474720" cy="57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Все деньги ушли на взнос. Бригады через знакомых, риск некачественного ремонта. Кредит на мебель под 30%+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81728" y="1559052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4681728" y="1559052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4809744" y="1632204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Пакет «Ипотека+» 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ремонт и мебель включены в кредит. 3D-планировщик интерьера. Оплата мастеров поэтапно через безопасную сделку. Клиент въезжает в готовую квартиру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47472" y="2441448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347472" y="2441448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69264" y="2441448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109728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Владение и эксплуатация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97280" y="2816352"/>
            <a:ext cx="34747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Конфликты в чатах, непрозрачные квитанции ЖКУ, специалистов ищешь через знакомых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681728" y="2441448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6"/>
          <p:cNvSpPr/>
          <p:nvPr/>
        </p:nvSpPr>
        <p:spPr>
          <a:xfrm>
            <a:off x="4681728" y="2441448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4809744" y="2514600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С платформой: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Вс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 одном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приложении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контроль доступа, ЖКУ с аналитикой, маркетплейс мастеров с безопасной сделкой, чат ОСИ, голосования на блокчейне, жалобы в акимат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47472" y="3323844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347472" y="3323844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69264" y="3323844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1097280" y="33969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Управление активом (аренда)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097280" y="3698748"/>
            <a:ext cx="34747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90% рынка в тени. Ручной сбор денег, риск порчи, сложность с выселением. Налоги никто не считает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681728" y="3323844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Shape 34"/>
          <p:cNvSpPr/>
          <p:nvPr/>
        </p:nvSpPr>
        <p:spPr>
          <a:xfrm>
            <a:off x="4681728" y="3323844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4809744" y="3396996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Автообъявление, ИИ-скоринг арендаторов, цифровой договор через биометрию. Умные замки. Автосписание аренды и уплата ИПН 10%. Легальный пассивный доход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47472" y="4206240"/>
            <a:ext cx="566928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347472" y="4206240"/>
            <a:ext cx="566928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969264" y="4206240"/>
            <a:ext cx="3657600" cy="832104"/>
          </a:xfrm>
          <a:prstGeom prst="rect">
            <a:avLst/>
          </a:prstGeom>
          <a:solidFill>
            <a:srgbClr val="F0ECD8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097280" y="42793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Ликвидный выход</a:t>
            </a:r>
            <a:endParaRPr lang="en-US" sz="1150" dirty="0"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97280" y="4581144"/>
            <a:ext cx="34747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 err="1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Продажа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3</a:t>
            </a:r>
            <a:r>
              <a:rPr lang="ru-RU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 мес., высокие комиссии риелторам, актив «заморожен» на период экспозиции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681728" y="4206240"/>
            <a:ext cx="4553712" cy="832104"/>
          </a:xfrm>
          <a:prstGeom prst="rect">
            <a:avLst/>
          </a:prstGeom>
          <a:solidFill>
            <a:srgbClr val="EDE8D0"/>
          </a:solidFill>
          <a:ln w="9525">
            <a:solidFill>
              <a:srgbClr val="C8A03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681728" y="4206240"/>
            <a:ext cx="54864" cy="832104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3"/>
          <p:cNvSpPr/>
          <p:nvPr/>
        </p:nvSpPr>
        <p:spPr>
          <a:xfrm>
            <a:off x="4809744" y="4279392"/>
            <a:ext cx="437083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С платформой: 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(1) Быстрая продажа через базу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инвесторов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срок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3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7 дней; (2) Залоговый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мост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кредит под старую квартиру при покупке новой; (3)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Токенизация</a:t>
            </a:r>
            <a:r>
              <a:rPr lang="en-US" sz="10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объекта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CJM: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Застройщик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54864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292608" y="77724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14400" y="77724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87551" y="813816"/>
            <a:ext cx="171589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Финансирование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87552" y="1161288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Сейчас: Бумажный пакет документов, </a:t>
            </a:r>
            <a:r>
              <a:rPr lang="en-US" sz="950" i="1" dirty="0" err="1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ожидание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30</a:t>
            </a:r>
            <a:r>
              <a:rPr lang="ru-RU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дней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07408" y="777240"/>
            <a:ext cx="4434840" cy="731520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0"/>
          <p:cNvSpPr/>
          <p:nvPr/>
        </p:nvSpPr>
        <p:spPr>
          <a:xfrm>
            <a:off x="4407408" y="777240"/>
            <a:ext cx="64008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4498848" y="777240"/>
            <a:ext cx="4279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платформой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ИИ-скоринг проекта, решение за 5 рабочих дней; ставка привязана к наполнению эскроу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2608" y="1618488"/>
            <a:ext cx="54864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292608" y="161848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" y="1618488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987551" y="1655064"/>
            <a:ext cx="199418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Эскроу-менеджмент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87552" y="2002536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Сейчас: Бумажные акты, банк </a:t>
            </a:r>
            <a:r>
              <a:rPr lang="en-US" sz="95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рассматривает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3</a:t>
            </a:r>
            <a:r>
              <a:rPr lang="ru-RU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en-US" sz="95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дней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407408" y="1618488"/>
            <a:ext cx="4434840" cy="731520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4407408" y="1618488"/>
            <a:ext cx="64008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4498848" y="1618488"/>
            <a:ext cx="4279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платформой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Авто-раскрытие транша при подтверждении этапа инспектором в платформе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92608" y="2459736"/>
            <a:ext cx="54864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292608" y="245973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14400" y="2459736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87552" y="2496312"/>
            <a:ext cx="163637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Продажи квартир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87552" y="284378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Сейчас: Непрозрачная шахматка, двойные брони, бумажные ДДУ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407408" y="2459736"/>
            <a:ext cx="4434840" cy="731520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6"/>
          <p:cNvSpPr/>
          <p:nvPr/>
        </p:nvSpPr>
        <p:spPr>
          <a:xfrm>
            <a:off x="4407408" y="2459736"/>
            <a:ext cx="64008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4498848" y="2459736"/>
            <a:ext cx="4279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платформой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Шахматка в реальном времени, онлайн-бронирование, подписание ДДУ через биометрию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92608" y="3300984"/>
            <a:ext cx="54864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292608" y="330098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14400" y="3300984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987552" y="3337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Коммуникации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87552" y="3685032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Сейчас: Слухи в чатах WhatsApp, репутационные конфликты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407408" y="3300984"/>
            <a:ext cx="4434840" cy="731520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Shape 34"/>
          <p:cNvSpPr/>
          <p:nvPr/>
        </p:nvSpPr>
        <p:spPr>
          <a:xfrm>
            <a:off x="4407408" y="3300984"/>
            <a:ext cx="64008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4498848" y="3300984"/>
            <a:ext cx="4279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платформой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Официальный верифицированный чат + данные инспектора = факты вместо слухов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292608" y="4142232"/>
            <a:ext cx="54864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292608" y="414223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914400" y="4142232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9"/>
          <p:cNvSpPr/>
          <p:nvPr/>
        </p:nvSpPr>
        <p:spPr>
          <a:xfrm>
            <a:off x="987552" y="4178808"/>
            <a:ext cx="187491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Передача дома УК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987552" y="4526280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Сейчас: Жильцы без инструментов, кворум не собрать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407408" y="4142232"/>
            <a:ext cx="4434840" cy="731520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Shape 42"/>
          <p:cNvSpPr/>
          <p:nvPr/>
        </p:nvSpPr>
        <p:spPr>
          <a:xfrm>
            <a:off x="4407408" y="4142232"/>
            <a:ext cx="64008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3"/>
          <p:cNvSpPr/>
          <p:nvPr/>
        </p:nvSpPr>
        <p:spPr>
          <a:xfrm>
            <a:off x="4498848" y="4142232"/>
            <a:ext cx="4279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платформой</a:t>
            </a: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Платформа автоматически запускает создание ОСИ онлайн; цифровые паспорта объектов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CJM: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Поставщик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услуг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564745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411480" y="631142"/>
            <a:ext cx="8321040" cy="466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 сути это маркетплейс 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услуг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 логике похожий на Naimi или 2ГИС, но с тремя принципиальными отличиями: 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оплата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защищена эскроу банка, история заказов 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формирует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рейтинг и 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кредитный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профиль.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08" y="1170432"/>
            <a:ext cx="5486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292608" y="117043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1170432"/>
            <a:ext cx="1417320" cy="64008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969264" y="1170432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395728" y="1170432"/>
            <a:ext cx="6446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95728" y="1170432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2514600" y="117043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Верификация по ID и </a:t>
            </a:r>
            <a:r>
              <a:rPr lang="en-US" sz="11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портфолио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доверие подтверждено данными, а не рекламой.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2608" y="1920240"/>
            <a:ext cx="5486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292608" y="1920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" y="1920240"/>
            <a:ext cx="1417320" cy="64008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969264" y="1920240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Лиды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395728" y="1920240"/>
            <a:ext cx="6446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2395728" y="1920240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2514600" y="1920240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Заказы от покупателей </a:t>
            </a:r>
            <a:r>
              <a:rPr lang="en-US" sz="11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новостроек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момент максимальной потребности.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92608" y="2670048"/>
            <a:ext cx="5486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292608" y="2670048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14400" y="2670048"/>
            <a:ext cx="1417320" cy="64008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2"/>
          <p:cNvSpPr/>
          <p:nvPr/>
        </p:nvSpPr>
        <p:spPr>
          <a:xfrm>
            <a:off x="969264" y="2670048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395728" y="2670048"/>
            <a:ext cx="6446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2395728" y="2670048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2514600" y="2670048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Безопасная сделка через эскроу: деньги переходят </a:t>
            </a:r>
            <a:r>
              <a:rPr lang="en-US" sz="11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после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ru-RU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мки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каждого этапа работ.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92608" y="3419856"/>
            <a:ext cx="5486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292608" y="3419856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14400" y="3419856"/>
            <a:ext cx="1417320" cy="64008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969264" y="3419856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Рейтинг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2395728" y="3419856"/>
            <a:ext cx="6446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2395728" y="3419856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2514600" y="3419856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Оценки жильцов формируют репутацию. Хороший </a:t>
            </a:r>
            <a:r>
              <a:rPr lang="en-US" sz="110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мастер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поток клиентов без рекламы.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92608" y="4169664"/>
            <a:ext cx="548640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292608" y="4169664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914400" y="4169664"/>
            <a:ext cx="1417320" cy="64008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969264" y="4169664"/>
            <a:ext cx="1307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2395728" y="4169664"/>
            <a:ext cx="6446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Shape 38"/>
          <p:cNvSpPr/>
          <p:nvPr/>
        </p:nvSpPr>
        <p:spPr>
          <a:xfrm>
            <a:off x="2395728" y="4169664"/>
            <a:ext cx="64008" cy="640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9"/>
          <p:cNvSpPr/>
          <p:nvPr/>
        </p:nvSpPr>
        <p:spPr>
          <a:xfrm>
            <a:off x="2514600" y="4169664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История заказов = кредитный профиль. Банк видит реальный поток и предлагает финансирование.</a:t>
            </a:r>
            <a:endParaRPr lang="en-US" sz="11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CJM: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Инвестор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56032" y="749808"/>
            <a:ext cx="1682496" cy="3159451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56032" y="749808"/>
            <a:ext cx="1682496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56032" y="74980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 </a:t>
            </a:r>
            <a:r>
              <a:rPr lang="ru-RU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Вход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8912" y="1298448"/>
            <a:ext cx="1316736" cy="36576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7472" y="1371600"/>
            <a:ext cx="1499616" cy="2391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Покупка токена от ₸50 000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без многомиллионного порога, как при покупке акции.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011680" y="749808"/>
            <a:ext cx="1682496" cy="3159451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3" name="Shape 10"/>
          <p:cNvSpPr/>
          <p:nvPr/>
        </p:nvSpPr>
        <p:spPr>
          <a:xfrm>
            <a:off x="2011680" y="749808"/>
            <a:ext cx="1682496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2011680" y="74980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 </a:t>
            </a:r>
            <a:r>
              <a:rPr lang="ru-RU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Актив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194560" y="1298448"/>
            <a:ext cx="1316736" cy="36576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2103120" y="1371600"/>
            <a:ext cx="1499616" cy="2436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Дробное владение объектом Alatau City (Iconic Towers и др.) через SPV. </a:t>
            </a:r>
            <a:endParaRPr lang="ru-RU" sz="10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 токен = 1 кв.м.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767328" y="749808"/>
            <a:ext cx="1682496" cy="3159451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767328" y="749808"/>
            <a:ext cx="1682496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3767328" y="74980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 </a:t>
            </a:r>
            <a:r>
              <a:rPr lang="ru-RU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Доход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950208" y="1298448"/>
            <a:ext cx="1316736" cy="36576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3858768" y="1371600"/>
            <a:ext cx="1499616" cy="2427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Арендные платежи автоматически распределяются смарт-контрактом ежемесячно.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522976" y="749808"/>
            <a:ext cx="1682496" cy="3159451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5522976" y="749808"/>
            <a:ext cx="1682496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5522976" y="74980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 </a:t>
            </a:r>
            <a:r>
              <a:rPr lang="ru-RU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Ликвидность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705856" y="1298448"/>
            <a:ext cx="1316736" cy="36576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5614416" y="1371600"/>
            <a:ext cx="1499616" cy="2427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Продажа токена через вторичный рынок платформы. </a:t>
            </a:r>
            <a:endParaRPr lang="ru-RU" sz="10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Выход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 1 день vs 3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 месяцев.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278624" y="749808"/>
            <a:ext cx="1682496" cy="3159451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8" name="Shape 25"/>
          <p:cNvSpPr/>
          <p:nvPr/>
        </p:nvSpPr>
        <p:spPr>
          <a:xfrm>
            <a:off x="7278624" y="749808"/>
            <a:ext cx="1682496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7278624" y="749808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05 </a:t>
            </a:r>
            <a:r>
              <a:rPr lang="ru-RU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Иностранцы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461504" y="1298448"/>
            <a:ext cx="1316736" cy="36576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7370064" y="1371600"/>
            <a:ext cx="1499616" cy="2391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Инвестиции через SPV без ВНЖ. </a:t>
            </a:r>
            <a:endParaRPr lang="ru-RU" sz="10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KYC онлайн,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расч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ты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 тенге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сч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ACB.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74320" y="4160618"/>
            <a:ext cx="8686800" cy="502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казахстанского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инвестора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порог от ₸50 000. Для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иностранного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полностью дистанционно через SPV, без ВНЖ.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28016"/>
            <a:ext cx="1755648" cy="3165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320040" y="82296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Ипотечный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РК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040" y="46634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 </a:t>
            </a:r>
            <a:r>
              <a:rPr lang="en-US" sz="800" i="1" dirty="0" err="1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структурно</a:t>
            </a: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раздел</a:t>
            </a:r>
            <a:r>
              <a:rPr lang="ru-RU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800" i="1" dirty="0" err="1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</a:t>
            </a: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на два мира: льготные программы недостижимы, рыночная ипотека недоступна большинству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0040" y="694944"/>
            <a:ext cx="1609344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74904" y="694944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Игрок / программа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929384" y="694944"/>
            <a:ext cx="1353312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1984248" y="694944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Ставка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82696" y="694944"/>
            <a:ext cx="23774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3337560" y="6949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Условия и ограничения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660136" y="694944"/>
            <a:ext cx="2843784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5715000" y="694944"/>
            <a:ext cx="2752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20040" y="1042416"/>
            <a:ext cx="1609344" cy="475488"/>
          </a:xfrm>
          <a:prstGeom prst="rect">
            <a:avLst/>
          </a:prstGeom>
          <a:solidFill>
            <a:srgbClr val="2A0808"/>
          </a:solidFill>
          <a:ln w="635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374904" y="1078992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Базовая ставка НБ РК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929384" y="1042416"/>
            <a:ext cx="1353312" cy="475488"/>
          </a:xfrm>
          <a:prstGeom prst="rect">
            <a:avLst/>
          </a:prstGeom>
          <a:solidFill>
            <a:srgbClr val="2A0808"/>
          </a:solidFill>
          <a:ln w="635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1984248" y="107899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82696" y="1042416"/>
            <a:ext cx="2377440" cy="475488"/>
          </a:xfrm>
          <a:prstGeom prst="rect">
            <a:avLst/>
          </a:prstGeom>
          <a:solidFill>
            <a:srgbClr val="2A0808"/>
          </a:solidFill>
          <a:ln w="635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3337560" y="107899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Ориентир стоимости денег. Стоимость фондирования банка ~16–18%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660136" y="1042416"/>
            <a:ext cx="2843784" cy="475488"/>
          </a:xfrm>
          <a:prstGeom prst="rect">
            <a:avLst/>
          </a:prstGeom>
          <a:solidFill>
            <a:srgbClr val="2A0808"/>
          </a:solidFill>
          <a:ln w="6350">
            <a:solidFill>
              <a:srgbClr val="AA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5715000" y="1078992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Исторический максимум. Делает рыночную ипотеку крайне дорогой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0040" y="1517904"/>
            <a:ext cx="1609344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74904" y="1554480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Рыночная коммерческая ипотека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929384" y="1517904"/>
            <a:ext cx="1353312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1984248" y="155448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ru-RU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25% ГЭСВ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82696" y="1517904"/>
            <a:ext cx="23774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3337560" y="155448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Без господдержки. Первый взнос от 20%. Предельная ГЭСВ 25% до июля 2026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660136" y="1517904"/>
            <a:ext cx="2843784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5715000" y="1554480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Доступна ~10% населения с высоким официальным доходом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1993392"/>
            <a:ext cx="1609344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74904" y="2029968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Freedom Bank (цифровая)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929384" y="1993392"/>
            <a:ext cx="1353312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1984248" y="2029968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ru-RU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25% ГЭСВ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282696" y="1993392"/>
            <a:ext cx="23774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3337560" y="20299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Рыночная ставка. Конкурирует скоростью: одобрение за 24 часа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660136" y="1993392"/>
            <a:ext cx="2843784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715000" y="2029968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Убрал бюрократию, но не решил проблему доступности ставки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320040" y="2468880"/>
            <a:ext cx="1609344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374904" y="2505456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Баспана Хит (банки РК)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1929384" y="2468880"/>
            <a:ext cx="1353312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1984248" y="2505456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19,75%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282696" y="2468880"/>
            <a:ext cx="2377440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3337560" y="250545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Рыночная программа КФУ, привязана к базовой ставке НБ +1,75%. Плавающая. Halyk, Jysan, ForteBank, БЦК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660136" y="2468880"/>
            <a:ext cx="2843784" cy="475488"/>
          </a:xfrm>
          <a:prstGeom prst="rect">
            <a:avLst/>
          </a:prstGeom>
          <a:solidFill>
            <a:srgbClr val="1A1A2E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4"/>
          <p:cNvSpPr/>
          <p:nvPr/>
        </p:nvSpPr>
        <p:spPr>
          <a:xfrm>
            <a:off x="5715000" y="2505456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Номинально «программа» 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фактически рыночная ипотека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320040" y="2944368"/>
            <a:ext cx="160934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374904" y="2980944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Программа 7-20-25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1929384" y="2944368"/>
            <a:ext cx="1353312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1984248" y="2980944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3282696" y="2944368"/>
            <a:ext cx="2377440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0"/>
          <p:cNvSpPr/>
          <p:nvPr/>
        </p:nvSpPr>
        <p:spPr>
          <a:xfrm>
            <a:off x="3337560" y="298094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Только первичное сданное жильё. Первый взнос 20%. Лимит 25 млн тг. 100 млрд тг/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год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лимиты быстро исчерпываются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660136" y="2944368"/>
            <a:ext cx="284378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52"/>
          <p:cNvSpPr/>
          <p:nvPr/>
        </p:nvSpPr>
        <p:spPr>
          <a:xfrm>
            <a:off x="5715000" y="2980944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Самая доступная ставка, но охват крайне ограничен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320040" y="3419856"/>
            <a:ext cx="160934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374904" y="3456432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Отбасы банк (ЖСС)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1929384" y="3419856"/>
            <a:ext cx="1353312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6"/>
          <p:cNvSpPr/>
          <p:nvPr/>
        </p:nvSpPr>
        <p:spPr>
          <a:xfrm>
            <a:off x="1984248" y="3456432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3,5</a:t>
            </a:r>
            <a:r>
              <a:rPr lang="ru-RU" sz="100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8,5%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3282696" y="3419856"/>
            <a:ext cx="2377440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58"/>
          <p:cNvSpPr/>
          <p:nvPr/>
        </p:nvSpPr>
        <p:spPr>
          <a:xfrm>
            <a:off x="3337560" y="345643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Закрытая накопительная система. 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Жилищный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требует 3+ лет накоплений. Депозитная ставка вкладчиков ~2%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5660136" y="3419856"/>
            <a:ext cx="284378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3" name="Text 60"/>
          <p:cNvSpPr/>
          <p:nvPr/>
        </p:nvSpPr>
        <p:spPr>
          <a:xfrm>
            <a:off x="5715000" y="3456432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Самые низкие ставки, но только через 3+ года накоплений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320040" y="3895344"/>
            <a:ext cx="160934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374904" y="3931920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Зел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ная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ипотека» (Отбасы)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1929384" y="3895344"/>
            <a:ext cx="1353312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Text 64"/>
          <p:cNvSpPr/>
          <p:nvPr/>
        </p:nvSpPr>
        <p:spPr>
          <a:xfrm>
            <a:off x="1984248" y="3931920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12,5% → 3,5%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3282696" y="3895344"/>
            <a:ext cx="2377440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Text 66"/>
          <p:cNvSpPr/>
          <p:nvPr/>
        </p:nvSpPr>
        <p:spPr>
          <a:xfrm>
            <a:off x="3337560" y="393192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Только ЖК с сертификатами LEED/BREEAM. Лимит 50 млн тг. 570 займов в 2025 г. Финансируется через АБР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5660136" y="3895344"/>
            <a:ext cx="284378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Text 68"/>
          <p:cNvSpPr/>
          <p:nvPr/>
        </p:nvSpPr>
        <p:spPr>
          <a:xfrm>
            <a:off x="5715000" y="3931920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Привлекательная ставка, но сертифицированных ЖК единицы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320040" y="4370832"/>
            <a:ext cx="160934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374904" y="4407408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«Умай» 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женская ипотека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1929384" y="4370832"/>
            <a:ext cx="1353312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Text 72"/>
          <p:cNvSpPr/>
          <p:nvPr/>
        </p:nvSpPr>
        <p:spPr>
          <a:xfrm>
            <a:off x="1984248" y="4407408"/>
            <a:ext cx="1261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~13,5% → 3,5%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3282696" y="4370832"/>
            <a:ext cx="2377440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7" name="Text 74"/>
          <p:cNvSpPr/>
          <p:nvPr/>
        </p:nvSpPr>
        <p:spPr>
          <a:xfrm>
            <a:off x="3337560" y="440740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Только работающие женщины. Доход до 950 тыс. тг. Лимит 50 млн тг. Конкурсный отбор по баллам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5660136" y="4370832"/>
            <a:ext cx="2843784" cy="475488"/>
          </a:xfrm>
          <a:prstGeom prst="rect">
            <a:avLst/>
          </a:prstGeom>
          <a:solidFill>
            <a:srgbClr val="0828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9" name="Text 76"/>
          <p:cNvSpPr/>
          <p:nvPr/>
        </p:nvSpPr>
        <p:spPr>
          <a:xfrm>
            <a:off x="5715000" y="4407408"/>
            <a:ext cx="2752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Нишевый продукт. Реальная 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льгота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только после накопления 50%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81" name="Shape 78"/>
          <p:cNvSpPr/>
          <p:nvPr/>
        </p:nvSpPr>
        <p:spPr>
          <a:xfrm>
            <a:off x="320040" y="4864608"/>
            <a:ext cx="8503920" cy="384048"/>
          </a:xfrm>
          <a:prstGeom prst="rect">
            <a:avLst/>
          </a:prstGeom>
          <a:solidFill>
            <a:srgbClr val="1A1A1A"/>
          </a:solidFill>
          <a:ln w="762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2" name="Shape 79"/>
          <p:cNvSpPr/>
          <p:nvPr/>
        </p:nvSpPr>
        <p:spPr>
          <a:xfrm>
            <a:off x="320040" y="4873752"/>
            <a:ext cx="54864" cy="384048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3" name="Text 80"/>
          <p:cNvSpPr/>
          <p:nvPr/>
        </p:nvSpPr>
        <p:spPr>
          <a:xfrm>
            <a:off x="374904" y="489661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Ключевой вывод: при медианной зарплате ₸251 тыс. </a:t>
            </a:r>
            <a:r>
              <a:rPr lang="en-US" sz="800" i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</a:t>
            </a:r>
            <a:r>
              <a:rPr lang="ru-RU" sz="800" i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800" i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ж</a:t>
            </a:r>
            <a:r>
              <a:rPr lang="en-US" sz="800" i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 рыночной ипотеке (25 млн тг, 22%) превышает ₸400 тыс./мес. </a:t>
            </a:r>
            <a:r>
              <a:rPr lang="ru-RU" sz="800" i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i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недостижимо для большинства. Льготные ставки требуют 3+ лет ожидания или ограничены узкими категориями граждан.</a:t>
            </a:r>
            <a:endParaRPr lang="en-US" sz="8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28016"/>
            <a:ext cx="1755648" cy="3165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320040" y="82296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Стоимость фондирования и </a:t>
            </a:r>
            <a:r>
              <a:rPr lang="en-US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ипотечная</a:t>
            </a:r>
            <a:r>
              <a:rPr lang="en-US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стратегия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040" y="46634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Банк не печатает </a:t>
            </a:r>
            <a:r>
              <a:rPr lang="en-US" sz="800" i="1" dirty="0" err="1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деньги</a:t>
            </a: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ставка ипотеки определяется стоимостью привлечения средств плюс маржа банка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0040" y="694944"/>
            <a:ext cx="4041648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93192" y="694944"/>
            <a:ext cx="3950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Три канала фондирования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20040" y="1078992"/>
            <a:ext cx="4041648" cy="1225296"/>
          </a:xfrm>
          <a:prstGeom prst="rect">
            <a:avLst/>
          </a:prstGeom>
          <a:solidFill>
            <a:srgbClr val="1E3A7A"/>
          </a:solidFill>
          <a:ln w="635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320040" y="1078992"/>
            <a:ext cx="54864" cy="1225296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429768" y="1152144"/>
            <a:ext cx="310896" cy="27432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429768" y="115214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64408" y="1152144"/>
            <a:ext cx="1042416" cy="256032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3264408" y="115214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ru-RU" sz="7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20% ГЭСВ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3816" y="115214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Депозиты клиентов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8056" y="1463040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Исторический максимум с 1996 г. С декабря 2025 г. уже 11 банков принимают вклады под 20%. </a:t>
            </a:r>
            <a:r>
              <a:rPr lang="en-US" sz="700" dirty="0" err="1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Гибкие</a:t>
            </a: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dirty="0" err="1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16</a:t>
            </a:r>
            <a:r>
              <a:rPr lang="ru-RU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17%. Основной и самый дорогой источник.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040" y="2359152"/>
            <a:ext cx="4041648" cy="1225296"/>
          </a:xfrm>
          <a:prstGeom prst="rect">
            <a:avLst/>
          </a:prstGeom>
          <a:solidFill>
            <a:srgbClr val="3A1E7A"/>
          </a:solidFill>
          <a:ln w="635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6"/>
          <p:cNvSpPr/>
          <p:nvPr/>
        </p:nvSpPr>
        <p:spPr>
          <a:xfrm>
            <a:off x="320040" y="2359152"/>
            <a:ext cx="54864" cy="1225296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429768" y="2432304"/>
            <a:ext cx="310896" cy="27432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429768" y="243230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264408" y="2432304"/>
            <a:ext cx="1042416" cy="256032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3264408" y="243230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TONIA 17,0%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13816" y="243230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Межбанковское кредитование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48056" y="2743200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Краткосрочный инструмент РЕПО на KASE. Для управления </a:t>
            </a:r>
            <a:r>
              <a:rPr lang="en-US" sz="700" dirty="0" err="1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ликвидностью</a:t>
            </a: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закрыть кассовый разрыв на день-неделю, а не финансировать 20-летнюю ипотеку.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3639312"/>
            <a:ext cx="4041648" cy="1225296"/>
          </a:xfrm>
          <a:prstGeom prst="rect">
            <a:avLst/>
          </a:prstGeom>
          <a:solidFill>
            <a:srgbClr val="1E5A3A"/>
          </a:solidFill>
          <a:ln w="635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320040" y="3639312"/>
            <a:ext cx="54864" cy="1225296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5"/>
          <p:cNvSpPr/>
          <p:nvPr/>
        </p:nvSpPr>
        <p:spPr>
          <a:xfrm>
            <a:off x="429768" y="3712464"/>
            <a:ext cx="310896" cy="27432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429768" y="371246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264408" y="3712464"/>
            <a:ext cx="1042416" cy="256032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3264408" y="3712464"/>
            <a:ext cx="1042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ru-RU" sz="7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13816" y="3712464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Облигации / RMBS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48056" y="4023360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CCCC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Долгосрочный источник для институциональных инвесторов (ЕНПФ, страховые). Через RMBS Отбасы привлекает деньги АБР для льготных программ.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20040" y="4882896"/>
            <a:ext cx="4041648" cy="347472"/>
          </a:xfrm>
          <a:prstGeom prst="rect">
            <a:avLst/>
          </a:prstGeom>
          <a:solidFill>
            <a:srgbClr val="5A4200"/>
          </a:solidFill>
          <a:ln w="762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411480" y="4901184"/>
            <a:ext cx="39136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Чистая маржа = Ставка ипотеки (22%) − Фондирование (19%) = 3%</a:t>
            </a:r>
            <a:endParaRPr lang="en-US" sz="700" b="1" dirty="0">
              <a:latin typeface="Montserrat SemiBold" pitchFamily="2" charset="0"/>
            </a:endParaRPr>
          </a:p>
          <a:p>
            <a:pPr marL="0" indent="0">
              <a:buNone/>
            </a:pPr>
            <a:r>
              <a:rPr lang="en-US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Из 3% </a:t>
            </a:r>
            <a:r>
              <a:rPr lang="ru-RU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 операционные расходы, резервы и прибыль. </a:t>
            </a:r>
            <a:r>
              <a:rPr lang="en-US" sz="700" b="1" dirty="0" err="1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Ниже</a:t>
            </a:r>
            <a:r>
              <a:rPr lang="en-US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 20</a:t>
            </a:r>
            <a:r>
              <a:rPr lang="ru-RU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21% </a:t>
            </a:r>
            <a:r>
              <a:rPr lang="ru-RU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b="1" dirty="0">
                <a:solidFill>
                  <a:srgbClr val="D4A820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 убыток.</a:t>
            </a:r>
            <a:endParaRPr lang="en-US" sz="700" b="1" dirty="0">
              <a:latin typeface="Montserrat SemiBold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526280" y="694944"/>
            <a:ext cx="429768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4599432" y="6949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Ипотечная стратегия ACB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526280" y="1060704"/>
            <a:ext cx="4297680" cy="530352"/>
          </a:xfrm>
          <a:prstGeom prst="rect">
            <a:avLst/>
          </a:prstGeom>
          <a:solidFill>
            <a:srgbClr val="1E1E1E"/>
          </a:solidFill>
          <a:ln w="762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Shape 36"/>
          <p:cNvSpPr/>
          <p:nvPr/>
        </p:nvSpPr>
        <p:spPr>
          <a:xfrm>
            <a:off x="4526280" y="1060704"/>
            <a:ext cx="54864" cy="530352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4654296" y="1097280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Ипотека ACB </a:t>
            </a:r>
            <a:r>
              <a:rPr lang="ru-RU" sz="800" b="1" dirty="0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b="1" dirty="0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 не продукт прибыли, а продукт привлечения.</a:t>
            </a:r>
            <a:endParaRPr lang="en-US" sz="800" b="1" dirty="0">
              <a:latin typeface="Montserrat SemiBold" pitchFamily="2" charset="0"/>
            </a:endParaRPr>
          </a:p>
          <a:p>
            <a:pPr marL="0" indent="0">
              <a:buNone/>
            </a:pPr>
            <a:r>
              <a:rPr lang="en-US" sz="800" b="1" dirty="0" err="1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Маржа</a:t>
            </a:r>
            <a:r>
              <a:rPr lang="en-US" sz="800" b="1" dirty="0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 2</a:t>
            </a:r>
            <a:r>
              <a:rPr lang="ru-RU" sz="800" b="1" dirty="0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b="1" dirty="0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4% покрывает стоимость денег и операционные расходы.</a:t>
            </a:r>
            <a:endParaRPr lang="en-US" sz="800" b="1" dirty="0">
              <a:latin typeface="Montserrat SemiBold" pitchFamily="2" charset="0"/>
            </a:endParaRPr>
          </a:p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Банк зарабатывает на кросс-продажах экосистемы на протяжении 25 лет.</a:t>
            </a:r>
            <a:endParaRPr lang="en-US" sz="800" b="1" dirty="0">
              <a:latin typeface="Montserrat SemiBold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526280" y="1645920"/>
            <a:ext cx="4297680" cy="608990"/>
          </a:xfrm>
          <a:prstGeom prst="rect">
            <a:avLst/>
          </a:prstGeom>
          <a:solidFill>
            <a:srgbClr val="162E14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39"/>
          <p:cNvSpPr/>
          <p:nvPr/>
        </p:nvSpPr>
        <p:spPr>
          <a:xfrm>
            <a:off x="4526280" y="1645920"/>
            <a:ext cx="54864" cy="60899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4599432" y="1645920"/>
            <a:ext cx="347472" cy="60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4983480" y="1673352"/>
            <a:ext cx="3785616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15 минут на одобрение через Smart Bridge (ЕНПФ + КГД) против 3–10 дней у конкурентов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526280" y="2300630"/>
            <a:ext cx="4297680" cy="608990"/>
          </a:xfrm>
          <a:prstGeom prst="rect">
            <a:avLst/>
          </a:prstGeom>
          <a:solidFill>
            <a:srgbClr val="102010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43"/>
          <p:cNvSpPr/>
          <p:nvPr/>
        </p:nvSpPr>
        <p:spPr>
          <a:xfrm>
            <a:off x="4526280" y="2300630"/>
            <a:ext cx="54864" cy="60899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4"/>
          <p:cNvSpPr/>
          <p:nvPr/>
        </p:nvSpPr>
        <p:spPr>
          <a:xfrm>
            <a:off x="4599432" y="2300630"/>
            <a:ext cx="347472" cy="60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4983480" y="2328062"/>
            <a:ext cx="3785616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Цифровое </a:t>
            </a:r>
            <a:r>
              <a:rPr lang="en-US" sz="8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деньги дольщика защищены, застройщик получает транши только за выполненные этапы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526280" y="2955341"/>
            <a:ext cx="4297680" cy="608990"/>
          </a:xfrm>
          <a:prstGeom prst="rect">
            <a:avLst/>
          </a:prstGeom>
          <a:solidFill>
            <a:srgbClr val="162E14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Shape 47"/>
          <p:cNvSpPr/>
          <p:nvPr/>
        </p:nvSpPr>
        <p:spPr>
          <a:xfrm>
            <a:off x="4526280" y="2955341"/>
            <a:ext cx="54864" cy="60899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4599432" y="2955341"/>
            <a:ext cx="347472" cy="60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🔨</a:t>
            </a:r>
            <a:endParaRPr lang="en-US" sz="1800" dirty="0"/>
          </a:p>
        </p:txBody>
      </p:sp>
      <p:sp>
        <p:nvSpPr>
          <p:cNvPr id="52" name="Text 49"/>
          <p:cNvSpPr/>
          <p:nvPr/>
        </p:nvSpPr>
        <p:spPr>
          <a:xfrm>
            <a:off x="4983480" y="2982773"/>
            <a:ext cx="3785616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Ипотека с </a:t>
            </a:r>
            <a:r>
              <a:rPr lang="en-US" sz="8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ремонтом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стоимость ремонта включена в кредит, клиент въезжает в готовую квартиру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4526280" y="3610051"/>
            <a:ext cx="4297680" cy="608990"/>
          </a:xfrm>
          <a:prstGeom prst="rect">
            <a:avLst/>
          </a:prstGeom>
          <a:solidFill>
            <a:srgbClr val="102010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Shape 51"/>
          <p:cNvSpPr/>
          <p:nvPr/>
        </p:nvSpPr>
        <p:spPr>
          <a:xfrm>
            <a:off x="4526280" y="3610051"/>
            <a:ext cx="54864" cy="60899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52"/>
          <p:cNvSpPr/>
          <p:nvPr/>
        </p:nvSpPr>
        <p:spPr>
          <a:xfrm>
            <a:off x="4599432" y="3610051"/>
            <a:ext cx="347472" cy="60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🌉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4983480" y="3637483"/>
            <a:ext cx="3785616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Залоговый </a:t>
            </a:r>
            <a:r>
              <a:rPr lang="en-US" sz="8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мост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кредит под залог старой квартиры при покупке новой. Продукта нет на рынке РК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526280" y="4264762"/>
            <a:ext cx="4297680" cy="608990"/>
          </a:xfrm>
          <a:prstGeom prst="rect">
            <a:avLst/>
          </a:prstGeom>
          <a:solidFill>
            <a:srgbClr val="162E14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8" name="Shape 55"/>
          <p:cNvSpPr/>
          <p:nvPr/>
        </p:nvSpPr>
        <p:spPr>
          <a:xfrm>
            <a:off x="4526280" y="4264762"/>
            <a:ext cx="54864" cy="60899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6"/>
          <p:cNvSpPr/>
          <p:nvPr/>
        </p:nvSpPr>
        <p:spPr>
          <a:xfrm>
            <a:off x="4599432" y="4264762"/>
            <a:ext cx="347472" cy="608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4983480" y="4292194"/>
            <a:ext cx="3785616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25-летнее сопровождение: ЖКУ, аренда, управление домом, </a:t>
            </a:r>
            <a:r>
              <a:rPr lang="en-US" sz="8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инвестиции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вс</a:t>
            </a:r>
            <a:r>
              <a:rPr lang="ru-RU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 одном приложении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4526280" y="4773168"/>
            <a:ext cx="429768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59"/>
          <p:cNvSpPr/>
          <p:nvPr/>
        </p:nvSpPr>
        <p:spPr>
          <a:xfrm>
            <a:off x="4599432" y="477316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Конкурент предлагает кредит и исчезает. ACB </a:t>
            </a:r>
            <a:r>
              <a:rPr lang="en-US" sz="700" i="1" dirty="0" err="1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оста</a:t>
            </a:r>
            <a:r>
              <a:rPr lang="ru-RU" sz="700" i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00" i="1" dirty="0" err="1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тся</a:t>
            </a:r>
            <a:r>
              <a:rPr lang="en-US" sz="700" i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рядом на весь срок владения.</a:t>
            </a:r>
            <a:endParaRPr lang="en-US" sz="7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28016"/>
            <a:ext cx="1755648" cy="3165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320040" y="82296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Дифференцированная </a:t>
            </a:r>
            <a:r>
              <a:rPr lang="en-US" sz="16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ставка</a:t>
            </a:r>
            <a:r>
              <a:rPr lang="en-US" sz="16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ACB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040" y="46634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Чем глубже клиент в </a:t>
            </a:r>
            <a:r>
              <a:rPr lang="en-US" sz="800" i="1" dirty="0" err="1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платформе</a:t>
            </a: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i="1" dirty="0">
                <a:solidFill>
                  <a:srgbClr val="666666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тем дешевле ипотека и тем дороже ему уйти к конкуренту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640080"/>
            <a:ext cx="8503920" cy="36576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0040" y="694944"/>
            <a:ext cx="237744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74904" y="69494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Условие снижения ставки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697480" y="694944"/>
            <a:ext cx="877824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2752344" y="694944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Снижение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575304" y="694944"/>
            <a:ext cx="1883664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3630168" y="694944"/>
            <a:ext cx="17922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Логика для банка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" y="1024128"/>
            <a:ext cx="237744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374904" y="106070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Накопительный депозит в ACB 12+ мес.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697480" y="1024128"/>
            <a:ext cx="877824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2752344" y="1060704"/>
            <a:ext cx="7863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−1,0%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575304" y="1024128"/>
            <a:ext cx="1883664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3630168" y="1060704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Деш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вое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фондирование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банк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экономит на стоимости денег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" y="1499616"/>
            <a:ext cx="2377440" cy="475488"/>
          </a:xfrm>
          <a:prstGeom prst="rect">
            <a:avLst/>
          </a:prstGeom>
          <a:solidFill>
            <a:srgbClr val="0822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 sz="800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74904" y="153619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Покупка объекта через платформу ACB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697480" y="1499616"/>
            <a:ext cx="877824" cy="475488"/>
          </a:xfrm>
          <a:prstGeom prst="rect">
            <a:avLst/>
          </a:prstGeom>
          <a:solidFill>
            <a:srgbClr val="0822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2752344" y="1536192"/>
            <a:ext cx="7863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−0,5%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575304" y="1499616"/>
            <a:ext cx="1883664" cy="475488"/>
          </a:xfrm>
          <a:prstGeom prst="rect">
            <a:avLst/>
          </a:prstGeom>
          <a:solidFill>
            <a:srgbClr val="0822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630168" y="1536192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Снижение операционных рисков сделки + комиссионный доход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20040" y="1975104"/>
            <a:ext cx="237744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374904" y="201168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Включение ремонта в ипотечный кредит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697480" y="1975104"/>
            <a:ext cx="877824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2752344" y="2011680"/>
            <a:ext cx="7863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−0,5%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575304" y="1975104"/>
            <a:ext cx="1883664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3630168" y="2011680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Комиссионный доход маркетплейса ремонта компенсирует снижение ставки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20040" y="2450592"/>
            <a:ext cx="2377440" cy="475488"/>
          </a:xfrm>
          <a:prstGeom prst="rect">
            <a:avLst/>
          </a:prstGeom>
          <a:solidFill>
            <a:srgbClr val="0822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374904" y="248716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Страхование через группу Jusan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2697480" y="2450592"/>
            <a:ext cx="877824" cy="475488"/>
          </a:xfrm>
          <a:prstGeom prst="rect">
            <a:avLst/>
          </a:prstGeom>
          <a:solidFill>
            <a:srgbClr val="0822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2752344" y="2487168"/>
            <a:ext cx="7863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−0,5%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575304" y="2450592"/>
            <a:ext cx="1883664" cy="475488"/>
          </a:xfrm>
          <a:prstGeom prst="rect">
            <a:avLst/>
          </a:prstGeom>
          <a:solidFill>
            <a:srgbClr val="082208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3630168" y="2487168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Комиссионный доход от страховой премии покрывает дисконт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20040" y="2926080"/>
            <a:ext cx="237744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374904" y="296265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Рефинансирование внутри ACB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2697480" y="2926080"/>
            <a:ext cx="877824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8"/>
          <p:cNvSpPr/>
          <p:nvPr/>
        </p:nvSpPr>
        <p:spPr>
          <a:xfrm>
            <a:off x="2752344" y="2962656"/>
            <a:ext cx="7863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AFF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−0,5%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3575304" y="2926080"/>
            <a:ext cx="1883664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3388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3630168" y="2962656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Удержание </a:t>
            </a: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клиента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нет оттока портфеля к конкурентам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20040" y="3401568"/>
            <a:ext cx="2377440" cy="475488"/>
          </a:xfrm>
          <a:prstGeom prst="rect">
            <a:avLst/>
          </a:prstGeom>
          <a:solidFill>
            <a:srgbClr val="3A3A00"/>
          </a:solidFill>
          <a:ln w="635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374904" y="3438144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Итого для клиента экосистемы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2697480" y="3401568"/>
            <a:ext cx="877824" cy="475488"/>
          </a:xfrm>
          <a:prstGeom prst="rect">
            <a:avLst/>
          </a:prstGeom>
          <a:solidFill>
            <a:srgbClr val="3A3A00"/>
          </a:solidFill>
          <a:ln w="635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4"/>
          <p:cNvSpPr/>
          <p:nvPr/>
        </p:nvSpPr>
        <p:spPr>
          <a:xfrm>
            <a:off x="2752344" y="3438144"/>
            <a:ext cx="7863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−3,0%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3575304" y="3401568"/>
            <a:ext cx="1883664" cy="475488"/>
          </a:xfrm>
          <a:prstGeom prst="rect">
            <a:avLst/>
          </a:prstGeom>
          <a:solidFill>
            <a:srgbClr val="3A3A00"/>
          </a:solidFill>
          <a:ln w="635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6"/>
          <p:cNvSpPr/>
          <p:nvPr/>
        </p:nvSpPr>
        <p:spPr>
          <a:xfrm>
            <a:off x="3630168" y="3438144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Банк компенсирует снижение через кросс-продажи по всем направлениям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20040" y="4105656"/>
            <a:ext cx="5138928" cy="365760"/>
          </a:xfrm>
          <a:prstGeom prst="rect">
            <a:avLst/>
          </a:prstGeom>
          <a:solidFill>
            <a:srgbClr val="1A1A2A"/>
          </a:solidFill>
          <a:ln w="6350">
            <a:solidFill>
              <a:srgbClr val="33448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Shape 49"/>
          <p:cNvSpPr/>
          <p:nvPr/>
        </p:nvSpPr>
        <p:spPr>
          <a:xfrm>
            <a:off x="320040" y="4105656"/>
            <a:ext cx="54864" cy="365760"/>
          </a:xfrm>
          <a:prstGeom prst="rect">
            <a:avLst/>
          </a:prstGeom>
          <a:solidFill>
            <a:srgbClr val="D4A820"/>
          </a:solidFill>
          <a:ln w="12700">
            <a:solidFill>
              <a:srgbClr val="D4A82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0"/>
          <p:cNvSpPr/>
          <p:nvPr/>
        </p:nvSpPr>
        <p:spPr>
          <a:xfrm>
            <a:off x="448056" y="4123944"/>
            <a:ext cx="4974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AABB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Аналоги: DBS Bank снижает ставки при использовании ESG-продуктов. </a:t>
            </a:r>
            <a:r>
              <a:rPr lang="en-US" sz="700" i="1" dirty="0" err="1">
                <a:solidFill>
                  <a:srgbClr val="AABB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Nubank</a:t>
            </a:r>
            <a:r>
              <a:rPr lang="en-US" sz="700" i="1" dirty="0">
                <a:solidFill>
                  <a:srgbClr val="AABB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i="1" dirty="0">
                <a:solidFill>
                  <a:srgbClr val="AABB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i="1" dirty="0">
                <a:solidFill>
                  <a:srgbClr val="AABB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при активности в экосистеме. Логика одна: банк субсидирует ставку из кросс-продажного дохода, создавая барьер ухода.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623560" y="694944"/>
            <a:ext cx="32004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 sz="1200">
              <a:latin typeface="Montserrat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5696712" y="69494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Параметры ипотечной </a:t>
            </a:r>
            <a:r>
              <a:rPr lang="en-US" sz="1050" b="1" dirty="0" err="1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05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ACB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5623560" y="1024128"/>
            <a:ext cx="320040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Shape 54"/>
          <p:cNvSpPr/>
          <p:nvPr/>
        </p:nvSpPr>
        <p:spPr>
          <a:xfrm>
            <a:off x="5623560" y="1024128"/>
            <a:ext cx="1481328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8" name="Text 55"/>
          <p:cNvSpPr/>
          <p:nvPr/>
        </p:nvSpPr>
        <p:spPr>
          <a:xfrm>
            <a:off x="5678424" y="106070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Ставка ипотеки ACB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7159752" y="1060704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21–23% ГЭСВ при базовой 18%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5623560" y="1408176"/>
            <a:ext cx="3200400" cy="384048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Shape 58"/>
          <p:cNvSpPr/>
          <p:nvPr/>
        </p:nvSpPr>
        <p:spPr>
          <a:xfrm>
            <a:off x="5623560" y="1408176"/>
            <a:ext cx="1481328" cy="384048"/>
          </a:xfrm>
          <a:prstGeom prst="rect">
            <a:avLst/>
          </a:prstGeom>
          <a:solidFill>
            <a:srgbClr val="1A1A28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59"/>
          <p:cNvSpPr/>
          <p:nvPr/>
        </p:nvSpPr>
        <p:spPr>
          <a:xfrm>
            <a:off x="5678424" y="144475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Чистая процентная маржа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159752" y="1444751"/>
            <a:ext cx="1627632" cy="384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4%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5623560" y="1792224"/>
            <a:ext cx="320040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5" name="Shape 62"/>
          <p:cNvSpPr/>
          <p:nvPr/>
        </p:nvSpPr>
        <p:spPr>
          <a:xfrm>
            <a:off x="5623560" y="1792224"/>
            <a:ext cx="1481328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Text 63"/>
          <p:cNvSpPr/>
          <p:nvPr/>
        </p:nvSpPr>
        <p:spPr>
          <a:xfrm>
            <a:off x="5678424" y="182880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Основной источник прибыли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7159752" y="1828800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Кросс-продажи: эскроу, ремонт, аренда, токенизация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5623560" y="2176272"/>
            <a:ext cx="3200400" cy="384048"/>
          </a:xfrm>
          <a:prstGeom prst="rect">
            <a:avLst/>
          </a:prstGeom>
          <a:solidFill>
            <a:srgbClr val="141414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Shape 66"/>
          <p:cNvSpPr/>
          <p:nvPr/>
        </p:nvSpPr>
        <p:spPr>
          <a:xfrm>
            <a:off x="5623560" y="2176272"/>
            <a:ext cx="1481328" cy="384048"/>
          </a:xfrm>
          <a:prstGeom prst="rect">
            <a:avLst/>
          </a:prstGeom>
          <a:solidFill>
            <a:srgbClr val="1A1A28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ru-KZ" sz="1200">
              <a:latin typeface="Montserrat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5678424" y="221284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7159752" y="2212848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Верхние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15</a:t>
            </a:r>
            <a:r>
              <a:rPr lang="ru-RU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20% по доходу + клиенты госпрограмм (до 30% портфеля)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5623560" y="2560320"/>
            <a:ext cx="320040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Shape 70"/>
          <p:cNvSpPr/>
          <p:nvPr/>
        </p:nvSpPr>
        <p:spPr>
          <a:xfrm>
            <a:off x="5623560" y="2560320"/>
            <a:ext cx="1481328" cy="384048"/>
          </a:xfrm>
          <a:prstGeom prst="rect">
            <a:avLst/>
          </a:prstGeom>
          <a:solidFill>
            <a:srgbClr val="222233"/>
          </a:solidFill>
          <a:ln w="635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4" name="Text 71"/>
          <p:cNvSpPr/>
          <p:nvPr/>
        </p:nvSpPr>
        <p:spPr>
          <a:xfrm>
            <a:off x="5678424" y="259689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Аналог на рынке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7159752" y="2596896"/>
            <a:ext cx="1627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DBS Bank (экосистема) · Freedom Bank РК (скорость одобрения)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5623560" y="3017520"/>
            <a:ext cx="32004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7" name="Text 74"/>
          <p:cNvSpPr/>
          <p:nvPr/>
        </p:nvSpPr>
        <p:spPr>
          <a:xfrm>
            <a:off x="5696712" y="3017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Базовые параметры </a:t>
            </a:r>
            <a:r>
              <a:rPr lang="en-US" sz="800" b="1" dirty="0" err="1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финансовой</a:t>
            </a:r>
            <a:r>
              <a:rPr lang="en-US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b="1" dirty="0" err="1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модел</a:t>
            </a:r>
            <a:r>
              <a:rPr lang="ru-RU" sz="8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5623560" y="3387852"/>
            <a:ext cx="3200400" cy="195943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7" name="Shape 84"/>
          <p:cNvSpPr/>
          <p:nvPr/>
        </p:nvSpPr>
        <p:spPr>
          <a:xfrm>
            <a:off x="5623560" y="3387852"/>
            <a:ext cx="1481328" cy="195943"/>
          </a:xfrm>
          <a:prstGeom prst="rect">
            <a:avLst/>
          </a:prstGeom>
          <a:solidFill>
            <a:srgbClr val="282816"/>
          </a:solidFill>
          <a:ln w="6350">
            <a:solidFill>
              <a:srgbClr val="44442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8" name="Text 85"/>
          <p:cNvSpPr/>
          <p:nvPr/>
        </p:nvSpPr>
        <p:spPr>
          <a:xfrm>
            <a:off x="5678424" y="3406140"/>
            <a:ext cx="1389888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Ставка для клиентов экосистемы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7159752" y="3406140"/>
            <a:ext cx="1627632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ru-RU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20% ГЭСВ (−3% за активность в платформе)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0" name="Shape 87"/>
          <p:cNvSpPr/>
          <p:nvPr/>
        </p:nvSpPr>
        <p:spPr>
          <a:xfrm>
            <a:off x="5623560" y="3611227"/>
            <a:ext cx="3200400" cy="195943"/>
          </a:xfrm>
          <a:prstGeom prst="rect">
            <a:avLst/>
          </a:prstGeom>
          <a:solidFill>
            <a:srgbClr val="161616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1" name="Shape 88"/>
          <p:cNvSpPr/>
          <p:nvPr/>
        </p:nvSpPr>
        <p:spPr>
          <a:xfrm>
            <a:off x="5623560" y="3611227"/>
            <a:ext cx="1481328" cy="195943"/>
          </a:xfrm>
          <a:prstGeom prst="rect">
            <a:avLst/>
          </a:prstGeom>
          <a:solidFill>
            <a:srgbClr val="201E10"/>
          </a:solidFill>
          <a:ln w="6350">
            <a:solidFill>
              <a:srgbClr val="44442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2" name="Text 89"/>
          <p:cNvSpPr/>
          <p:nvPr/>
        </p:nvSpPr>
        <p:spPr>
          <a:xfrm>
            <a:off x="5678424" y="3629515"/>
            <a:ext cx="1389888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Ср. стоимость квартиры (2025)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7159752" y="3629515"/>
            <a:ext cx="1627632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₸37,4 млн (~$74 000)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4" name="Shape 91"/>
          <p:cNvSpPr/>
          <p:nvPr/>
        </p:nvSpPr>
        <p:spPr>
          <a:xfrm>
            <a:off x="5623560" y="3834601"/>
            <a:ext cx="3200400" cy="195943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5" name="Shape 92"/>
          <p:cNvSpPr/>
          <p:nvPr/>
        </p:nvSpPr>
        <p:spPr>
          <a:xfrm>
            <a:off x="5623560" y="3834601"/>
            <a:ext cx="1481328" cy="195943"/>
          </a:xfrm>
          <a:prstGeom prst="rect">
            <a:avLst/>
          </a:prstGeom>
          <a:solidFill>
            <a:srgbClr val="282816"/>
          </a:solidFill>
          <a:ln w="6350">
            <a:solidFill>
              <a:srgbClr val="44442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6" name="Text 93"/>
          <p:cNvSpPr/>
          <p:nvPr/>
        </p:nvSpPr>
        <p:spPr>
          <a:xfrm>
            <a:off x="5678424" y="3852889"/>
            <a:ext cx="1389888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Первоначальный взнос (20%)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7159752" y="3852889"/>
            <a:ext cx="1627632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₸7,5 млн → Сумма займа ₸29,9 млн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5623560" y="4057976"/>
            <a:ext cx="3200400" cy="195943"/>
          </a:xfrm>
          <a:prstGeom prst="rect">
            <a:avLst/>
          </a:prstGeom>
          <a:solidFill>
            <a:srgbClr val="161616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9" name="Shape 96"/>
          <p:cNvSpPr/>
          <p:nvPr/>
        </p:nvSpPr>
        <p:spPr>
          <a:xfrm>
            <a:off x="5623560" y="4057976"/>
            <a:ext cx="1481328" cy="195943"/>
          </a:xfrm>
          <a:prstGeom prst="rect">
            <a:avLst/>
          </a:prstGeom>
          <a:solidFill>
            <a:srgbClr val="201E10"/>
          </a:solidFill>
          <a:ln w="6350">
            <a:solidFill>
              <a:srgbClr val="44442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0" name="Text 97"/>
          <p:cNvSpPr/>
          <p:nvPr/>
        </p:nvSpPr>
        <p:spPr>
          <a:xfrm>
            <a:off x="5678424" y="4076264"/>
            <a:ext cx="1389888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Срок ипотеки / эскроу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7159752" y="4076264"/>
            <a:ext cx="1627632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 лет ипотека · 18 месяцев средний срок хранения на эскроу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02" name="Shape 99"/>
          <p:cNvSpPr/>
          <p:nvPr/>
        </p:nvSpPr>
        <p:spPr>
          <a:xfrm>
            <a:off x="5623560" y="4281351"/>
            <a:ext cx="3200400" cy="276933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3" name="Shape 100"/>
          <p:cNvSpPr/>
          <p:nvPr/>
        </p:nvSpPr>
        <p:spPr>
          <a:xfrm>
            <a:off x="5623560" y="4281351"/>
            <a:ext cx="1481328" cy="276933"/>
          </a:xfrm>
          <a:prstGeom prst="rect">
            <a:avLst/>
          </a:prstGeom>
          <a:solidFill>
            <a:srgbClr val="282816"/>
          </a:solidFill>
          <a:ln w="6350">
            <a:solidFill>
              <a:srgbClr val="44442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4" name="Text 101"/>
          <p:cNvSpPr/>
          <p:nvPr/>
        </p:nvSpPr>
        <p:spPr>
          <a:xfrm>
            <a:off x="5678424" y="4339155"/>
            <a:ext cx="1389888" cy="1593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D4A82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Бюджет ремонта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7159752" y="4299639"/>
            <a:ext cx="1627632" cy="240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₸3</a:t>
            </a:r>
            <a:r>
              <a:rPr lang="ru-RU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600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6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включается в ипотечный кредит (пакет «Ипотека+»)</a:t>
            </a:r>
            <a:endParaRPr lang="en-US" sz="6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537" y="87956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4251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Горизонт 1: комиссионный доход на одну сделку</a:t>
            </a:r>
            <a:endParaRPr lang="en-US" b="1" dirty="0">
              <a:latin typeface="Montserrat SemiBold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1168" y="882396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Пример сделки</a:t>
            </a:r>
            <a:r>
              <a:rPr lang="en-US" sz="95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1-комн., 55 м², ₸37,4 млн, займ ₸29,9 млн, ПВ 20%, стройка 18 мес., ремонт ₸4 млн, мебель ₸2 млн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92608" y="1138428"/>
            <a:ext cx="3611880" cy="384048"/>
          </a:xfrm>
          <a:prstGeom prst="rect">
            <a:avLst/>
          </a:prstGeom>
          <a:solidFill>
            <a:srgbClr val="EEEEEE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92608" y="113842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❌  Без экосистемы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92608" y="1595628"/>
            <a:ext cx="3611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336" y="159562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РКО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выдача ипотеки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494722" y="1595628"/>
            <a:ext cx="13457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₸299</a:t>
            </a:r>
            <a:r>
              <a:rPr lang="ru-RU" sz="11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598 тыс.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2608" y="2071116"/>
            <a:ext cx="36118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02336" y="2071116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Страхование (1-й год)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651760" y="207111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₸277</a:t>
            </a:r>
            <a:r>
              <a:rPr lang="ru-RU" sz="11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412 тыс.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2608" y="2564892"/>
            <a:ext cx="3611880" cy="502920"/>
          </a:xfrm>
          <a:prstGeom prst="rect">
            <a:avLst/>
          </a:prstGeom>
          <a:solidFill>
            <a:srgbClr val="DDDDDD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02336" y="25648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645920" y="25648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₸576</a:t>
            </a:r>
            <a:r>
              <a:rPr lang="ru-RU" sz="16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600" b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1 010 тыс.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995928" y="2647188"/>
            <a:ext cx="777240" cy="3474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995928" y="264718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×2,9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864608" y="1138428"/>
            <a:ext cx="397764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864608" y="113842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✅  ACB </a:t>
            </a:r>
            <a:r>
              <a:rPr lang="ru-RU" sz="13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 платформой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864608" y="1595628"/>
            <a:ext cx="3977640" cy="402336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864608" y="1595628"/>
            <a:ext cx="64008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74336" y="15956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Маркетплейс-комиссия (1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2% от объекта)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583557" y="1595628"/>
            <a:ext cx="119468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₸374</a:t>
            </a:r>
            <a:r>
              <a:rPr lang="ru-RU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748 тыс.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864608" y="205282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974336" y="20528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РКО 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выдача ипотеки (1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2% от займа)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583557" y="2052828"/>
            <a:ext cx="119468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₸299</a:t>
            </a:r>
            <a:r>
              <a:rPr lang="ru-RU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598 тыс.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864608" y="2510028"/>
            <a:ext cx="3977640" cy="402336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864608" y="2510028"/>
            <a:ext cx="64008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974336" y="25100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18 мес. (~1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1,5% маржи)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583557" y="2510028"/>
            <a:ext cx="119468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₸449</a:t>
            </a:r>
            <a:r>
              <a:rPr lang="ru-RU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673 тыс.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864608" y="2967228"/>
            <a:ext cx="3977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974336" y="29672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Страхование жилья и жизни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583557" y="2967228"/>
            <a:ext cx="119468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₸277</a:t>
            </a:r>
            <a:r>
              <a:rPr lang="ru-RU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412 тыс.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864608" y="3424428"/>
            <a:ext cx="3977640" cy="402336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864608" y="3424428"/>
            <a:ext cx="64008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974336" y="34244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Ремонт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комиссия (3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8% от ₸4 млн)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717536" y="3424428"/>
            <a:ext cx="10607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₸120</a:t>
            </a:r>
            <a:r>
              <a:rPr lang="ru-RU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320 тыс.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64608" y="3881628"/>
            <a:ext cx="3977640" cy="402336"/>
          </a:xfrm>
          <a:prstGeom prst="rect">
            <a:avLst/>
          </a:prstGeom>
          <a:solidFill>
            <a:srgbClr val="F3F0E8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64608" y="3881628"/>
            <a:ext cx="64008" cy="40233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974336" y="388162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Мебель и техника (3</a:t>
            </a:r>
            <a:r>
              <a:rPr lang="ru-RU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8% от ₸2 млн)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772400" y="38816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₸60</a:t>
            </a:r>
            <a:r>
              <a:rPr lang="ru-RU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160 тыс.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864608" y="4393692"/>
            <a:ext cx="3977640" cy="566928"/>
          </a:xfrm>
          <a:prstGeom prst="rect">
            <a:avLst/>
          </a:prstGeom>
          <a:solidFill>
            <a:srgbClr val="1E1E1E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4974336" y="439369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ИТОГО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126480" y="439369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₸1,58</a:t>
            </a:r>
            <a:r>
              <a:rPr lang="ru-RU" sz="20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2,91 млн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2A3405E2-85AC-2EFD-9417-5623381F081D}"/>
              </a:ext>
            </a:extLst>
          </p:cNvPr>
          <p:cNvSpPr/>
          <p:nvPr/>
        </p:nvSpPr>
        <p:spPr>
          <a:xfrm>
            <a:off x="228600" y="3180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Бизнес-модель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0E516F34-96B7-90E6-AE6D-6E411B28050E}"/>
              </a:ext>
            </a:extLst>
          </p:cNvPr>
          <p:cNvSpPr/>
          <p:nvPr/>
        </p:nvSpPr>
        <p:spPr>
          <a:xfrm>
            <a:off x="292608" y="475286"/>
            <a:ext cx="8439912" cy="52181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012" y="223128"/>
            <a:ext cx="1699988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1752" y="130302"/>
            <a:ext cx="636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1A"/>
                </a:solidFill>
                <a:latin typeface="Montserrat SemiBold" pitchFamily="2" charset="0"/>
                <a:ea typeface="Calibri" pitchFamily="34" charset="-122"/>
                <a:cs typeface="Calibri" pitchFamily="34" charset="-120"/>
              </a:rPr>
              <a:t>Горизонт 2: совокупный доход с клиента за 10 лет</a:t>
            </a:r>
            <a:endParaRPr lang="en-US" b="1" dirty="0">
              <a:latin typeface="Montserrat SemiBold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402336" y="8321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Процентный доход по ипотеке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2336" y="11795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Средний остаток ~₸20 млн × </a:t>
            </a:r>
            <a:r>
              <a:rPr lang="en-US" sz="95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маржа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3</a:t>
            </a:r>
            <a:r>
              <a:rPr lang="ru-RU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5% × 10 лет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712465" y="1050665"/>
            <a:ext cx="502920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7635240" y="99212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₸6</a:t>
            </a:r>
            <a:r>
              <a:rPr lang="ru-RU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 млн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2608" y="1673352"/>
            <a:ext cx="8595360" cy="786384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402336" y="17282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Страхование (ежегодное)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02336" y="20756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~₸200 тыс./год × 10 лет (база снижается по мере погашения)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749040" y="1911096"/>
            <a:ext cx="164592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5440680" y="18562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~₸1,5</a:t>
            </a:r>
            <a:r>
              <a:rPr lang="ru-RU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 млн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92608" y="2569464"/>
            <a:ext cx="8595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02336" y="2624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Повторная сделка / апгрейд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02336" y="2971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Аналог Горизонту 1 </a:t>
            </a:r>
            <a:r>
              <a:rPr lang="en-US" sz="95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7</a:t>
            </a:r>
            <a:r>
              <a:rPr lang="ru-RU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 лет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749040" y="2807208"/>
            <a:ext cx="219456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5989320" y="27523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₸1,58</a:t>
            </a:r>
            <a:r>
              <a:rPr lang="ru-RU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2,91 млн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92608" y="3465576"/>
            <a:ext cx="8595360" cy="786384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402336" y="35204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Рефинансирование внутри ACB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02336" y="3867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₸29,9 млн × 1</a:t>
            </a:r>
            <a:r>
              <a:rPr lang="ru-RU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1,5%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749040" y="3703320"/>
            <a:ext cx="45720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4251960" y="36484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₸299</a:t>
            </a:r>
            <a:r>
              <a:rPr lang="ru-RU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449 тыс.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92608" y="4308414"/>
            <a:ext cx="859536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365760" y="431646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ИТОГО LTV за 10 лет</a:t>
            </a:r>
            <a:endParaRPr lang="en-US" sz="1500" dirty="0">
              <a:latin typeface="Montserrat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029200" y="4298873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₸9,4</a:t>
            </a:r>
            <a:r>
              <a:rPr lang="ru-RU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15,4 млн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56032" y="4788275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* Классическая ипотека без экосистемы: LTV ~₸6,5</a:t>
            </a:r>
            <a:r>
              <a:rPr lang="ru-RU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11 млн (процентный доход ₸6</a:t>
            </a:r>
            <a:r>
              <a:rPr lang="ru-RU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 млн + РКО/страхование ₸576</a:t>
            </a:r>
            <a:r>
              <a:rPr lang="ru-RU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1 010 тыс.)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" y="11927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Финансовый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потенциал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ипотечная стратегия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31520"/>
            <a:ext cx="1938528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Text 5"/>
          <p:cNvSpPr/>
          <p:nvPr/>
        </p:nvSpPr>
        <p:spPr>
          <a:xfrm>
            <a:off x="292608" y="804672"/>
            <a:ext cx="1938528" cy="855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₸40</a:t>
            </a:r>
            <a:r>
              <a:rPr lang="ru-RU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70 млрд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0314" y="1636776"/>
            <a:ext cx="1163117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338328" y="1719072"/>
            <a:ext cx="1847088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Комиссионный доход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/год при 5% рынка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359152" y="731520"/>
            <a:ext cx="1938528" cy="16459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2359152" y="804672"/>
            <a:ext cx="1938528" cy="855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₸100</a:t>
            </a:r>
            <a:r>
              <a:rPr lang="ru-RU" sz="2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160 млрд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46858" y="1636776"/>
            <a:ext cx="1163117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2404872" y="1719072"/>
            <a:ext cx="1847088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Накопленный доход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 10 лет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425696" y="731520"/>
            <a:ext cx="1938528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425696" y="804672"/>
            <a:ext cx="1938528" cy="855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28</a:t>
            </a:r>
            <a:r>
              <a:rPr lang="ru-RU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813402" y="1636776"/>
            <a:ext cx="1163117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4471416" y="1719072"/>
            <a:ext cx="1847088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 текущей прибыли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B8B0A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ACB ₸144,8 млрд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492240" y="731520"/>
            <a:ext cx="2331720" cy="16459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6492240" y="804672"/>
            <a:ext cx="2331720" cy="855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k2 ~28%</a:t>
            </a:r>
            <a:endParaRPr lang="en-US" sz="2200" dirty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58584" y="1636776"/>
            <a:ext cx="1399032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6537960" y="1719072"/>
            <a:ext cx="224028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Запас капитала</a:t>
            </a:r>
            <a:endParaRPr lang="en-US" sz="95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(мин. норма 10%)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92608" y="2514600"/>
            <a:ext cx="8549640" cy="41148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384048" y="2514600"/>
            <a:ext cx="8366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Ипотечная стратегия ACB: конкурировать не ценой, а ценностью вокруг ипотеки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92608" y="3035808"/>
            <a:ext cx="202996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3"/>
          <p:cNvSpPr/>
          <p:nvPr/>
        </p:nvSpPr>
        <p:spPr>
          <a:xfrm>
            <a:off x="292608" y="3035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292608" y="312724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⏱ 15 минут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84048" y="3566160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Одобрение ипотеки через Smart Bridge (ЕНПФ + КГД). 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468880" y="3035808"/>
            <a:ext cx="202996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27"/>
          <p:cNvSpPr/>
          <p:nvPr/>
        </p:nvSpPr>
        <p:spPr>
          <a:xfrm>
            <a:off x="2468880" y="3035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2468880" y="312724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🔒 Эскроу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560320" y="3566160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Деньги дольщика защищены. Застройщик получает транши только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подтвержд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нные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этапы.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645152" y="3035808"/>
            <a:ext cx="202996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4" name="Shape 31"/>
          <p:cNvSpPr/>
          <p:nvPr/>
        </p:nvSpPr>
        <p:spPr>
          <a:xfrm>
            <a:off x="4645152" y="3035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4645152" y="312724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🔨 Ипотека + ремонт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736592" y="3566160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Стоимость ремонта включена в кредит. Клиент въезжает в готовую квартиру.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821424" y="3035808"/>
            <a:ext cx="2029968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8" name="Shape 35"/>
          <p:cNvSpPr/>
          <p:nvPr/>
        </p:nvSpPr>
        <p:spPr>
          <a:xfrm>
            <a:off x="6821424" y="3035808"/>
            <a:ext cx="2029968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6821424" y="312724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🌉 Залоговый мост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912864" y="3566160"/>
            <a:ext cx="18470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Кредит под старую квартиру при покупке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новой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продукт, которого нет на рынке РК.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Конкурент предлагает кредит и исчезает. ACB 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оста</a:t>
            </a:r>
            <a:r>
              <a:rPr lang="ru-RU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b="1" i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тся</a:t>
            </a:r>
            <a:r>
              <a:rPr lang="en-US" sz="1000" b="1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рядом на весь срок владения недвижимостью.</a:t>
            </a:r>
            <a:endParaRPr lang="en-US" sz="10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Вопрос масштабирования и RMBS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772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292608" y="9144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15727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Секьюритизация (RMBS)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58368" y="2029968"/>
            <a:ext cx="21031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402336" y="2121408"/>
            <a:ext cx="2615184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Выпуск ипотечных облигаций для привлечения долгосрочного фондирования от ЕНПФ и страховых компаний по ставке ниже депозитной. Казахстанский рынок ипотечных облигаций практически не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развит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 отличие от России (ДОМ.РФ).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64408" y="77724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1"/>
          <p:cNvSpPr/>
          <p:nvPr/>
        </p:nvSpPr>
        <p:spPr>
          <a:xfrm>
            <a:off x="3264408" y="7772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3264408" y="9144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🗺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355848" y="15727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География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30168" y="2029968"/>
            <a:ext cx="21031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3374136" y="2121408"/>
            <a:ext cx="2615184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2026: Пилот в Alatau City. </a:t>
            </a:r>
            <a:endParaRPr lang="ru-RU" sz="10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2027: масштабирование на Алматы и Астану. </a:t>
            </a:r>
            <a:endParaRPr lang="ru-RU" sz="10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2028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2029: крупные региональные центры (Шымкент, Актобе). </a:t>
            </a:r>
            <a:endParaRPr lang="ru-RU" sz="10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2030: национальное покрытие.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36208" y="777240"/>
            <a:ext cx="28346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6236208" y="777240"/>
            <a:ext cx="283464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6236208" y="9144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327648" y="15727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Data as a Service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601968" y="2029968"/>
            <a:ext cx="210312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6345936" y="2121408"/>
            <a:ext cx="2615184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Монетизация аналитики рынка для государства и крупных застройщиков по модели подписки. </a:t>
            </a:r>
            <a:endParaRPr lang="ru-RU" sz="105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Аналог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REA Group (Австралия) и CoStar Group (США)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маржинальность B2B-аналитики &gt;60%.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28016"/>
            <a:ext cx="1755648" cy="3165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Text 2"/>
          <p:cNvSpPr/>
          <p:nvPr/>
        </p:nvSpPr>
        <p:spPr>
          <a:xfrm>
            <a:off x="320040" y="82296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Техническая</a:t>
            </a:r>
            <a:r>
              <a:rPr lang="en-US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архитектура</a:t>
            </a:r>
            <a:r>
              <a:rPr lang="ru-RU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платформы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20040" y="466344"/>
            <a:ext cx="82296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Платформа-интегратор: микросервисная архитектура, аналогичная WeChat · Kaspi · Grab · DBS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649224"/>
            <a:ext cx="8503920" cy="36576"/>
          </a:xfrm>
          <a:prstGeom prst="rect">
            <a:avLst/>
          </a:prstGeom>
          <a:solidFill>
            <a:srgbClr val="C8980E"/>
          </a:solidFill>
          <a:ln w="12700">
            <a:solidFill>
              <a:srgbClr val="C8980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0040" y="694944"/>
            <a:ext cx="8503920" cy="768096"/>
          </a:xfrm>
          <a:prstGeom prst="rect">
            <a:avLst/>
          </a:prstGeom>
          <a:solidFill>
            <a:srgbClr val="152840"/>
          </a:solidFill>
          <a:ln w="12700">
            <a:solidFill>
              <a:srgbClr val="1528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320040" y="694944"/>
            <a:ext cx="219456" cy="768096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320040" y="721581"/>
            <a:ext cx="21945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758952"/>
            <a:ext cx="1988820" cy="658368"/>
          </a:xfrm>
          <a:prstGeom prst="rect">
            <a:avLst/>
          </a:prstGeom>
          <a:solidFill>
            <a:srgbClr val="1E4D8C"/>
          </a:solidFill>
          <a:ln w="7620">
            <a:solidFill>
              <a:srgbClr val="6699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640080" y="80467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📱 iOS / Android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0080" y="1069848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640080" y="1069848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Super-app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0080" y="1289304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640080" y="1289304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 кабинета пользователей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638044" y="758952"/>
            <a:ext cx="1988820" cy="658368"/>
          </a:xfrm>
          <a:prstGeom prst="rect">
            <a:avLst/>
          </a:prstGeom>
          <a:solidFill>
            <a:srgbClr val="1E4D8C"/>
          </a:solidFill>
          <a:ln w="7620">
            <a:solidFill>
              <a:srgbClr val="6699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2683764" y="80467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🌐 Web-кабинет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683764" y="1069848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2683764" y="1069848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Девелоперы + </a:t>
            </a:r>
            <a:r>
              <a:rPr lang="en-US" sz="600" dirty="0" err="1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600" dirty="0" err="1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683764" y="1289304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2683764" y="1289304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B2B-доступ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681728" y="758952"/>
            <a:ext cx="1988820" cy="658368"/>
          </a:xfrm>
          <a:prstGeom prst="rect">
            <a:avLst/>
          </a:prstGeom>
          <a:solidFill>
            <a:srgbClr val="1E4D8C"/>
          </a:solidFill>
          <a:ln w="7620">
            <a:solidFill>
              <a:srgbClr val="6699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4727448" y="80467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🔐 Авторизация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727448" y="1069848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4727448" y="1069848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Биометрия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727448" y="1289304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4727448" y="1289304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ЭЦП НУЦ РК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725412" y="758952"/>
            <a:ext cx="1988820" cy="658368"/>
          </a:xfrm>
          <a:prstGeom prst="rect">
            <a:avLst/>
          </a:prstGeom>
          <a:solidFill>
            <a:srgbClr val="1E4D8C"/>
          </a:solidFill>
          <a:ln w="7620">
            <a:solidFill>
              <a:srgbClr val="6699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6771132" y="804672"/>
            <a:ext cx="18973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🎨 UI-слой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771132" y="1069848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9"/>
          <p:cNvSpPr/>
          <p:nvPr/>
        </p:nvSpPr>
        <p:spPr>
          <a:xfrm>
            <a:off x="6771132" y="1069848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771132" y="1289304"/>
            <a:ext cx="1897380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6771132" y="1289304"/>
            <a:ext cx="18973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CCDD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Микрофронтенды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20040" y="1508760"/>
            <a:ext cx="8503920" cy="530352"/>
          </a:xfrm>
          <a:prstGeom prst="rect">
            <a:avLst/>
          </a:prstGeom>
          <a:solidFill>
            <a:srgbClr val="4A3600"/>
          </a:solidFill>
          <a:ln w="12700">
            <a:solidFill>
              <a:srgbClr val="4A36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33"/>
          <p:cNvSpPr/>
          <p:nvPr/>
        </p:nvSpPr>
        <p:spPr>
          <a:xfrm>
            <a:off x="320040" y="1508760"/>
            <a:ext cx="219456" cy="530352"/>
          </a:xfrm>
          <a:prstGeom prst="rect">
            <a:avLst/>
          </a:prstGeom>
          <a:solidFill>
            <a:srgbClr val="9A7200"/>
          </a:solidFill>
          <a:ln w="12700">
            <a:solidFill>
              <a:srgbClr val="9A72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331569" y="1499616"/>
            <a:ext cx="219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05889" y="1472075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980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API GATEWAY </a:t>
            </a:r>
            <a:r>
              <a:rPr lang="ru-RU" sz="800" b="1" dirty="0">
                <a:solidFill>
                  <a:srgbClr val="C8980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b="1" dirty="0">
                <a:solidFill>
                  <a:srgbClr val="C8980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центральная шина / ядро-интегратор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594360" y="1636776"/>
            <a:ext cx="1316736" cy="402336"/>
          </a:xfrm>
          <a:prstGeom prst="rect">
            <a:avLst/>
          </a:prstGeom>
          <a:solidFill>
            <a:srgbClr val="9A7200"/>
          </a:solidFill>
          <a:ln w="7620">
            <a:solidFill>
              <a:srgbClr val="DDC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630936" y="1581912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Маршрутизация запросов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1956816" y="1636776"/>
            <a:ext cx="1316736" cy="402336"/>
          </a:xfrm>
          <a:prstGeom prst="rect">
            <a:avLst/>
          </a:prstGeom>
          <a:solidFill>
            <a:srgbClr val="9A7200"/>
          </a:solidFill>
          <a:ln w="7620">
            <a:solidFill>
              <a:srgbClr val="DDC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9"/>
          <p:cNvSpPr/>
          <p:nvPr/>
        </p:nvSpPr>
        <p:spPr>
          <a:xfrm>
            <a:off x="1993392" y="1581912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Авторизация / JWT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319272" y="1636776"/>
            <a:ext cx="1316736" cy="402336"/>
          </a:xfrm>
          <a:prstGeom prst="rect">
            <a:avLst/>
          </a:prstGeom>
          <a:solidFill>
            <a:srgbClr val="9A7200"/>
          </a:solidFill>
          <a:ln w="7620">
            <a:solidFill>
              <a:srgbClr val="DDC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1"/>
          <p:cNvSpPr/>
          <p:nvPr/>
        </p:nvSpPr>
        <p:spPr>
          <a:xfrm>
            <a:off x="3355848" y="1581912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Шифрование / TLS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681728" y="1636776"/>
            <a:ext cx="1316736" cy="402336"/>
          </a:xfrm>
          <a:prstGeom prst="rect">
            <a:avLst/>
          </a:prstGeom>
          <a:solidFill>
            <a:srgbClr val="9A7200"/>
          </a:solidFill>
          <a:ln w="7620">
            <a:solidFill>
              <a:srgbClr val="DDC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3"/>
          <p:cNvSpPr/>
          <p:nvPr/>
        </p:nvSpPr>
        <p:spPr>
          <a:xfrm>
            <a:off x="4718304" y="1581912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Логирование / Audit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044184" y="1636776"/>
            <a:ext cx="1316736" cy="402336"/>
          </a:xfrm>
          <a:prstGeom prst="rect">
            <a:avLst/>
          </a:prstGeom>
          <a:solidFill>
            <a:srgbClr val="9A7200"/>
          </a:solidFill>
          <a:ln w="7620">
            <a:solidFill>
              <a:srgbClr val="DDC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5"/>
          <p:cNvSpPr/>
          <p:nvPr/>
        </p:nvSpPr>
        <p:spPr>
          <a:xfrm>
            <a:off x="6080760" y="1581912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7406640" y="1636776"/>
            <a:ext cx="1316736" cy="402336"/>
          </a:xfrm>
          <a:prstGeom prst="rect">
            <a:avLst/>
          </a:prstGeom>
          <a:solidFill>
            <a:srgbClr val="9A7200"/>
          </a:solidFill>
          <a:ln w="7620">
            <a:solidFill>
              <a:srgbClr val="DDC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7"/>
          <p:cNvSpPr/>
          <p:nvPr/>
        </p:nvSpPr>
        <p:spPr>
          <a:xfrm>
            <a:off x="7443216" y="1581912"/>
            <a:ext cx="1243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Event Bus / Kafka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20040" y="2084832"/>
            <a:ext cx="8503920" cy="1426464"/>
          </a:xfrm>
          <a:prstGeom prst="rect">
            <a:avLst/>
          </a:prstGeom>
          <a:solidFill>
            <a:srgbClr val="0E2A0E"/>
          </a:solidFill>
          <a:ln w="12700">
            <a:solidFill>
              <a:srgbClr val="0E2A0E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320040" y="2084832"/>
            <a:ext cx="219456" cy="1426464"/>
          </a:xfrm>
          <a:prstGeom prst="rect">
            <a:avLst/>
          </a:prstGeom>
          <a:solidFill>
            <a:srgbClr val="1A5A1A"/>
          </a:solidFill>
          <a:ln w="12700">
            <a:solidFill>
              <a:srgbClr val="1A5A1A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320040" y="2084832"/>
            <a:ext cx="219456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30936" y="21214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8980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BACKEND </a:t>
            </a:r>
            <a:r>
              <a:rPr lang="ru-RU" sz="800" b="1" dirty="0">
                <a:solidFill>
                  <a:srgbClr val="C8980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b="1" dirty="0">
                <a:solidFill>
                  <a:srgbClr val="C8980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микросервисы (независимые модули)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594360" y="2350008"/>
            <a:ext cx="1316736" cy="1115568"/>
          </a:xfrm>
          <a:prstGeom prst="rect">
            <a:avLst/>
          </a:prstGeom>
          <a:solidFill>
            <a:srgbClr val="1A5A1A"/>
          </a:solidFill>
          <a:ln w="7620">
            <a:solidFill>
              <a:srgbClr val="44AA44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40080" y="239572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🏠 </a:t>
            </a:r>
            <a:r>
              <a:rPr lang="en-US" sz="700" b="1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Ипотека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40080" y="2660904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40080" y="26609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Скоринг ИИ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640080" y="2880360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Text 57"/>
          <p:cNvSpPr/>
          <p:nvPr/>
        </p:nvSpPr>
        <p:spPr>
          <a:xfrm>
            <a:off x="640080" y="288036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Одобрение 15 мин.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640080" y="3099816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59"/>
          <p:cNvSpPr/>
          <p:nvPr/>
        </p:nvSpPr>
        <p:spPr>
          <a:xfrm>
            <a:off x="640080" y="3099816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Ставки / продукты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640080" y="3319272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40080" y="331927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Лимит-сертификат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1956816" y="2350008"/>
            <a:ext cx="1316736" cy="1115568"/>
          </a:xfrm>
          <a:prstGeom prst="rect">
            <a:avLst/>
          </a:prstGeom>
          <a:solidFill>
            <a:srgbClr val="1A5A1A"/>
          </a:solidFill>
          <a:ln w="7620">
            <a:solidFill>
              <a:srgbClr val="44AA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Text 63"/>
          <p:cNvSpPr/>
          <p:nvPr/>
        </p:nvSpPr>
        <p:spPr>
          <a:xfrm>
            <a:off x="2002536" y="239572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🔒 Эскроу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2002536" y="2660904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8" name="Text 65"/>
          <p:cNvSpPr/>
          <p:nvPr/>
        </p:nvSpPr>
        <p:spPr>
          <a:xfrm>
            <a:off x="2002536" y="26609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Смарт-контракт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2002536" y="2880360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600">
              <a:latin typeface="Montserrat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2002536" y="288036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Авто-транш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2002536" y="3099816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600">
              <a:latin typeface="Montserrat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2002536" y="3099816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Инспектор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2002536" y="3319272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4" name="Text 71"/>
          <p:cNvSpPr/>
          <p:nvPr/>
        </p:nvSpPr>
        <p:spPr>
          <a:xfrm>
            <a:off x="2002536" y="331927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Этапы стройки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3319272" y="2350008"/>
            <a:ext cx="1316736" cy="1115568"/>
          </a:xfrm>
          <a:prstGeom prst="rect">
            <a:avLst/>
          </a:prstGeom>
          <a:solidFill>
            <a:srgbClr val="1A5A1A"/>
          </a:solidFill>
          <a:ln w="7620">
            <a:solidFill>
              <a:srgbClr val="44AA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6" name="Text 73"/>
          <p:cNvSpPr/>
          <p:nvPr/>
        </p:nvSpPr>
        <p:spPr>
          <a:xfrm>
            <a:off x="3364992" y="239572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⛓ Блокчейн-узел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3364992" y="2660904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600">
              <a:latin typeface="Montserrat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3364992" y="26609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Hyperledger Fabric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79" name="Shape 76"/>
          <p:cNvSpPr/>
          <p:nvPr/>
        </p:nvSpPr>
        <p:spPr>
          <a:xfrm>
            <a:off x="3364992" y="2880360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0" name="Text 77"/>
          <p:cNvSpPr/>
          <p:nvPr/>
        </p:nvSpPr>
        <p:spPr>
          <a:xfrm>
            <a:off x="3364992" y="288036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Токены / реестр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81" name="Shape 78"/>
          <p:cNvSpPr/>
          <p:nvPr/>
        </p:nvSpPr>
        <p:spPr>
          <a:xfrm>
            <a:off x="3364992" y="3099816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600">
              <a:latin typeface="Montserrat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3364992" y="3099816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ГИРН-узел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3364992" y="3319272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4" name="Text 81"/>
          <p:cNvSpPr/>
          <p:nvPr/>
        </p:nvSpPr>
        <p:spPr>
          <a:xfrm>
            <a:off x="3364992" y="331927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НБ РК - observer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85" name="Shape 82"/>
          <p:cNvSpPr/>
          <p:nvPr/>
        </p:nvSpPr>
        <p:spPr>
          <a:xfrm>
            <a:off x="4681728" y="2350008"/>
            <a:ext cx="1316736" cy="1115568"/>
          </a:xfrm>
          <a:prstGeom prst="rect">
            <a:avLst/>
          </a:prstGeom>
          <a:solidFill>
            <a:srgbClr val="1A5A1A"/>
          </a:solidFill>
          <a:ln w="7620">
            <a:solidFill>
              <a:srgbClr val="44AA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6" name="Text 83"/>
          <p:cNvSpPr/>
          <p:nvPr/>
        </p:nvSpPr>
        <p:spPr>
          <a:xfrm>
            <a:off x="4727448" y="239572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🏢 Аренда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87" name="Shape 84"/>
          <p:cNvSpPr/>
          <p:nvPr/>
        </p:nvSpPr>
        <p:spPr>
          <a:xfrm>
            <a:off x="4727448" y="2660904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600">
              <a:latin typeface="Montserrat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4727448" y="26609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Умные замки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89" name="Shape 86"/>
          <p:cNvSpPr/>
          <p:nvPr/>
        </p:nvSpPr>
        <p:spPr>
          <a:xfrm>
            <a:off x="4727448" y="2880360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0" name="Text 87"/>
          <p:cNvSpPr/>
          <p:nvPr/>
        </p:nvSpPr>
        <p:spPr>
          <a:xfrm>
            <a:off x="4727448" y="288036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Цифр. договоры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1" name="Shape 88"/>
          <p:cNvSpPr/>
          <p:nvPr/>
        </p:nvSpPr>
        <p:spPr>
          <a:xfrm>
            <a:off x="4727448" y="3099816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2" name="Text 89"/>
          <p:cNvSpPr/>
          <p:nvPr/>
        </p:nvSpPr>
        <p:spPr>
          <a:xfrm>
            <a:off x="4727448" y="3099816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АвтоИПН 10%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3" name="Shape 90"/>
          <p:cNvSpPr/>
          <p:nvPr/>
        </p:nvSpPr>
        <p:spPr>
          <a:xfrm>
            <a:off x="4727448" y="3319272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4727448" y="331927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ApartX API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5" name="Shape 92"/>
          <p:cNvSpPr/>
          <p:nvPr/>
        </p:nvSpPr>
        <p:spPr>
          <a:xfrm>
            <a:off x="6044184" y="2350008"/>
            <a:ext cx="1316736" cy="1115568"/>
          </a:xfrm>
          <a:prstGeom prst="rect">
            <a:avLst/>
          </a:prstGeom>
          <a:solidFill>
            <a:srgbClr val="1A5A1A"/>
          </a:solidFill>
          <a:ln w="7620">
            <a:solidFill>
              <a:srgbClr val="44AA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6" name="Text 93"/>
          <p:cNvSpPr/>
          <p:nvPr/>
        </p:nvSpPr>
        <p:spPr>
          <a:xfrm>
            <a:off x="6089904" y="239572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📈 Инвестиции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97" name="Shape 94"/>
          <p:cNvSpPr/>
          <p:nvPr/>
        </p:nvSpPr>
        <p:spPr>
          <a:xfrm>
            <a:off x="6089904" y="2660904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8" name="Text 95"/>
          <p:cNvSpPr/>
          <p:nvPr/>
        </p:nvSpPr>
        <p:spPr>
          <a:xfrm>
            <a:off x="6089904" y="26609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Токенизация SPV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99" name="Shape 96"/>
          <p:cNvSpPr/>
          <p:nvPr/>
        </p:nvSpPr>
        <p:spPr>
          <a:xfrm>
            <a:off x="6089904" y="2880360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600">
              <a:latin typeface="Montserrat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6089904" y="288036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Вторич. рынок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01" name="Shape 98"/>
          <p:cNvSpPr/>
          <p:nvPr/>
        </p:nvSpPr>
        <p:spPr>
          <a:xfrm>
            <a:off x="6089904" y="3099816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2" name="Text 99"/>
          <p:cNvSpPr/>
          <p:nvPr/>
        </p:nvSpPr>
        <p:spPr>
          <a:xfrm>
            <a:off x="6089904" y="3099816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Краудфандинг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03" name="Shape 100"/>
          <p:cNvSpPr/>
          <p:nvPr/>
        </p:nvSpPr>
        <p:spPr>
          <a:xfrm>
            <a:off x="6089904" y="3319272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4" name="Text 101"/>
          <p:cNvSpPr/>
          <p:nvPr/>
        </p:nvSpPr>
        <p:spPr>
          <a:xfrm>
            <a:off x="6089904" y="331927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Иностр. инвесторы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05" name="Shape 102"/>
          <p:cNvSpPr/>
          <p:nvPr/>
        </p:nvSpPr>
        <p:spPr>
          <a:xfrm>
            <a:off x="7406640" y="2350008"/>
            <a:ext cx="1316736" cy="1115568"/>
          </a:xfrm>
          <a:prstGeom prst="rect">
            <a:avLst/>
          </a:prstGeom>
          <a:solidFill>
            <a:srgbClr val="1A5A1A"/>
          </a:solidFill>
          <a:ln w="7620">
            <a:solidFill>
              <a:srgbClr val="44AA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6" name="Text 103"/>
          <p:cNvSpPr/>
          <p:nvPr/>
        </p:nvSpPr>
        <p:spPr>
          <a:xfrm>
            <a:off x="7452360" y="2395728"/>
            <a:ext cx="12252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📊 Аналитика / AVM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107" name="Shape 104"/>
          <p:cNvSpPr/>
          <p:nvPr/>
        </p:nvSpPr>
        <p:spPr>
          <a:xfrm>
            <a:off x="7452360" y="2660904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8" name="Text 105"/>
          <p:cNvSpPr/>
          <p:nvPr/>
        </p:nvSpPr>
        <p:spPr>
          <a:xfrm>
            <a:off x="7452360" y="2660904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Оценка за 3 мин.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09" name="Shape 106"/>
          <p:cNvSpPr/>
          <p:nvPr/>
        </p:nvSpPr>
        <p:spPr>
          <a:xfrm>
            <a:off x="7452360" y="2880360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0" name="Text 107"/>
          <p:cNvSpPr/>
          <p:nvPr/>
        </p:nvSpPr>
        <p:spPr>
          <a:xfrm>
            <a:off x="7452360" y="2880360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Публ. индекс цен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11" name="Shape 108"/>
          <p:cNvSpPr/>
          <p:nvPr/>
        </p:nvSpPr>
        <p:spPr>
          <a:xfrm>
            <a:off x="7452360" y="3099816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2" name="Text 109"/>
          <p:cNvSpPr/>
          <p:nvPr/>
        </p:nvSpPr>
        <p:spPr>
          <a:xfrm>
            <a:off x="7452360" y="3099816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Прогноз спроса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13" name="Shape 110"/>
          <p:cNvSpPr/>
          <p:nvPr/>
        </p:nvSpPr>
        <p:spPr>
          <a:xfrm>
            <a:off x="7452360" y="3319272"/>
            <a:ext cx="1225296" cy="182880"/>
          </a:xfrm>
          <a:prstGeom prst="rect">
            <a:avLst/>
          </a:prstGeom>
          <a:solidFill>
            <a:srgbClr val="445544"/>
          </a:solidFill>
          <a:ln w="12700">
            <a:solidFill>
              <a:srgbClr val="556655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7452360" y="331927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BBFFBB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B2B-данные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15" name="Shape 112"/>
          <p:cNvSpPr/>
          <p:nvPr/>
        </p:nvSpPr>
        <p:spPr>
          <a:xfrm>
            <a:off x="320040" y="3557016"/>
            <a:ext cx="4169664" cy="877824"/>
          </a:xfrm>
          <a:prstGeom prst="rect">
            <a:avLst/>
          </a:prstGeom>
          <a:solidFill>
            <a:srgbClr val="180A28"/>
          </a:solidFill>
          <a:ln w="12700">
            <a:solidFill>
              <a:srgbClr val="180A2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6" name="Shape 113"/>
          <p:cNvSpPr/>
          <p:nvPr/>
        </p:nvSpPr>
        <p:spPr>
          <a:xfrm>
            <a:off x="320040" y="3557016"/>
            <a:ext cx="219456" cy="877824"/>
          </a:xfrm>
          <a:prstGeom prst="rect">
            <a:avLst/>
          </a:prstGeom>
          <a:solidFill>
            <a:srgbClr val="4A2080"/>
          </a:solidFill>
          <a:ln w="12700">
            <a:solidFill>
              <a:srgbClr val="4A208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7" name="Text 114"/>
          <p:cNvSpPr/>
          <p:nvPr/>
        </p:nvSpPr>
        <p:spPr>
          <a:xfrm>
            <a:off x="320040" y="3543299"/>
            <a:ext cx="21945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ГОС</a:t>
            </a:r>
            <a:endParaRPr lang="en-US" sz="6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6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630936" y="35935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BB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Госсервисы</a:t>
            </a:r>
            <a:r>
              <a:rPr lang="en-US" sz="950" b="1" dirty="0">
                <a:solidFill>
                  <a:srgbClr val="BB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b="1" dirty="0">
                <a:solidFill>
                  <a:srgbClr val="BB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b="1" dirty="0">
                <a:solidFill>
                  <a:srgbClr val="BB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Smart Bridge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594360" y="3831336"/>
            <a:ext cx="603504" cy="548640"/>
          </a:xfrm>
          <a:prstGeom prst="rect">
            <a:avLst/>
          </a:prstGeom>
          <a:solidFill>
            <a:srgbClr val="4A2080"/>
          </a:solidFill>
          <a:ln w="7620">
            <a:solidFill>
              <a:srgbClr val="9977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0" name="Text 117"/>
          <p:cNvSpPr/>
          <p:nvPr/>
        </p:nvSpPr>
        <p:spPr>
          <a:xfrm>
            <a:off x="612648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ЕНПФ · КГД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21" name="Shape 118"/>
          <p:cNvSpPr/>
          <p:nvPr/>
        </p:nvSpPr>
        <p:spPr>
          <a:xfrm>
            <a:off x="1234440" y="3831336"/>
            <a:ext cx="603504" cy="548640"/>
          </a:xfrm>
          <a:prstGeom prst="rect">
            <a:avLst/>
          </a:prstGeom>
          <a:solidFill>
            <a:srgbClr val="4A2080"/>
          </a:solidFill>
          <a:ln w="7620">
            <a:solidFill>
              <a:srgbClr val="9977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2" name="Text 119"/>
          <p:cNvSpPr/>
          <p:nvPr/>
        </p:nvSpPr>
        <p:spPr>
          <a:xfrm>
            <a:off x="1252728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ГИРН (МЮ)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23" name="Shape 120"/>
          <p:cNvSpPr/>
          <p:nvPr/>
        </p:nvSpPr>
        <p:spPr>
          <a:xfrm>
            <a:off x="1874520" y="3831336"/>
            <a:ext cx="603504" cy="548640"/>
          </a:xfrm>
          <a:prstGeom prst="rect">
            <a:avLst/>
          </a:prstGeom>
          <a:solidFill>
            <a:srgbClr val="4A2080"/>
          </a:solidFill>
          <a:ln w="7620">
            <a:solidFill>
              <a:srgbClr val="9977DD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1892808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НУЦ / ЭЦП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25" name="Shape 122"/>
          <p:cNvSpPr/>
          <p:nvPr/>
        </p:nvSpPr>
        <p:spPr>
          <a:xfrm>
            <a:off x="2514600" y="3831336"/>
            <a:ext cx="603504" cy="548640"/>
          </a:xfrm>
          <a:prstGeom prst="rect">
            <a:avLst/>
          </a:prstGeom>
          <a:solidFill>
            <a:srgbClr val="4A2080"/>
          </a:solidFill>
          <a:ln w="7620">
            <a:solidFill>
              <a:srgbClr val="9977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6" name="Text 123"/>
          <p:cNvSpPr/>
          <p:nvPr/>
        </p:nvSpPr>
        <p:spPr>
          <a:xfrm>
            <a:off x="2532888" y="3831336"/>
            <a:ext cx="694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МВД · Прописка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27" name="Shape 124"/>
          <p:cNvSpPr/>
          <p:nvPr/>
        </p:nvSpPr>
        <p:spPr>
          <a:xfrm>
            <a:off x="3154680" y="3831336"/>
            <a:ext cx="603504" cy="548640"/>
          </a:xfrm>
          <a:prstGeom prst="rect">
            <a:avLst/>
          </a:prstGeom>
          <a:solidFill>
            <a:srgbClr val="4A2080"/>
          </a:solidFill>
          <a:ln w="7620">
            <a:solidFill>
              <a:srgbClr val="9977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8" name="Text 125"/>
          <p:cNvSpPr/>
          <p:nvPr/>
        </p:nvSpPr>
        <p:spPr>
          <a:xfrm>
            <a:off x="3172968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ПКБ - скоринг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29" name="Shape 126"/>
          <p:cNvSpPr/>
          <p:nvPr/>
        </p:nvSpPr>
        <p:spPr>
          <a:xfrm>
            <a:off x="3794760" y="3831336"/>
            <a:ext cx="603504" cy="548640"/>
          </a:xfrm>
          <a:prstGeom prst="rect">
            <a:avLst/>
          </a:prstGeom>
          <a:solidFill>
            <a:srgbClr val="4A2080"/>
          </a:solidFill>
          <a:ln w="7620">
            <a:solidFill>
              <a:srgbClr val="9977DD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0" name="Text 127"/>
          <p:cNvSpPr/>
          <p:nvPr/>
        </p:nvSpPr>
        <p:spPr>
          <a:xfrm>
            <a:off x="3813048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Е-нотариат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31" name="Shape 128"/>
          <p:cNvSpPr/>
          <p:nvPr/>
        </p:nvSpPr>
        <p:spPr>
          <a:xfrm>
            <a:off x="4599432" y="3557016"/>
            <a:ext cx="4169664" cy="877824"/>
          </a:xfrm>
          <a:prstGeom prst="rect">
            <a:avLst/>
          </a:prstGeom>
          <a:solidFill>
            <a:srgbClr val="200806"/>
          </a:solidFill>
          <a:ln w="12700">
            <a:solidFill>
              <a:srgbClr val="20080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4" name="Text 131"/>
          <p:cNvSpPr/>
          <p:nvPr/>
        </p:nvSpPr>
        <p:spPr>
          <a:xfrm>
            <a:off x="4910328" y="35935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FFAA8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800" b="1" dirty="0">
                <a:solidFill>
                  <a:srgbClr val="FFAA8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800" b="1" dirty="0" err="1">
                <a:solidFill>
                  <a:srgbClr val="FFAA8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</a:t>
            </a:r>
            <a:r>
              <a:rPr lang="en-US" sz="800" b="1" dirty="0">
                <a:solidFill>
                  <a:srgbClr val="FFAA8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00" b="1" dirty="0">
                <a:solidFill>
                  <a:srgbClr val="FFAA8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00" b="1" dirty="0">
                <a:solidFill>
                  <a:srgbClr val="FFAA88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API-интеграции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135" name="Shape 132"/>
          <p:cNvSpPr/>
          <p:nvPr/>
        </p:nvSpPr>
        <p:spPr>
          <a:xfrm>
            <a:off x="4873752" y="3831336"/>
            <a:ext cx="603504" cy="548640"/>
          </a:xfrm>
          <a:prstGeom prst="rect">
            <a:avLst/>
          </a:prstGeom>
          <a:solidFill>
            <a:srgbClr val="7A2A18"/>
          </a:solidFill>
          <a:ln w="7620">
            <a:solidFill>
              <a:srgbClr val="FF88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6" name="Text 133"/>
          <p:cNvSpPr/>
          <p:nvPr/>
        </p:nvSpPr>
        <p:spPr>
          <a:xfrm>
            <a:off x="4892040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Krisha.kz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37" name="Shape 134"/>
          <p:cNvSpPr/>
          <p:nvPr/>
        </p:nvSpPr>
        <p:spPr>
          <a:xfrm>
            <a:off x="5513832" y="3831336"/>
            <a:ext cx="603504" cy="548640"/>
          </a:xfrm>
          <a:prstGeom prst="rect">
            <a:avLst/>
          </a:prstGeom>
          <a:solidFill>
            <a:srgbClr val="7A2A18"/>
          </a:solidFill>
          <a:ln w="7620">
            <a:solidFill>
              <a:srgbClr val="FF88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8" name="Text 135"/>
          <p:cNvSpPr/>
          <p:nvPr/>
        </p:nvSpPr>
        <p:spPr>
          <a:xfrm>
            <a:off x="5464629" y="3831336"/>
            <a:ext cx="71845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Apartchain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39" name="Shape 136"/>
          <p:cNvSpPr/>
          <p:nvPr/>
        </p:nvSpPr>
        <p:spPr>
          <a:xfrm>
            <a:off x="6153912" y="3831336"/>
            <a:ext cx="603504" cy="548640"/>
          </a:xfrm>
          <a:prstGeom prst="rect">
            <a:avLst/>
          </a:prstGeom>
          <a:solidFill>
            <a:srgbClr val="7A2A18"/>
          </a:solidFill>
          <a:ln w="7620">
            <a:solidFill>
              <a:srgbClr val="FF88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0" name="Text 137"/>
          <p:cNvSpPr/>
          <p:nvPr/>
        </p:nvSpPr>
        <p:spPr>
          <a:xfrm>
            <a:off x="6172200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ApartX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41" name="Shape 138"/>
          <p:cNvSpPr/>
          <p:nvPr/>
        </p:nvSpPr>
        <p:spPr>
          <a:xfrm>
            <a:off x="6793992" y="3831336"/>
            <a:ext cx="603504" cy="548640"/>
          </a:xfrm>
          <a:prstGeom prst="rect">
            <a:avLst/>
          </a:prstGeom>
          <a:solidFill>
            <a:srgbClr val="7A2A18"/>
          </a:solidFill>
          <a:ln w="7620">
            <a:solidFill>
              <a:srgbClr val="FF88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2" name="Text 139"/>
          <p:cNvSpPr/>
          <p:nvPr/>
        </p:nvSpPr>
        <p:spPr>
          <a:xfrm>
            <a:off x="6812280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Naimi.kz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43" name="Shape 140"/>
          <p:cNvSpPr/>
          <p:nvPr/>
        </p:nvSpPr>
        <p:spPr>
          <a:xfrm>
            <a:off x="7434072" y="3831336"/>
            <a:ext cx="603504" cy="548640"/>
          </a:xfrm>
          <a:prstGeom prst="rect">
            <a:avLst/>
          </a:prstGeom>
          <a:solidFill>
            <a:srgbClr val="7A2A18"/>
          </a:solidFill>
          <a:ln w="7620">
            <a:solidFill>
              <a:srgbClr val="FF88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4" name="Text 141"/>
          <p:cNvSpPr/>
          <p:nvPr/>
        </p:nvSpPr>
        <p:spPr>
          <a:xfrm>
            <a:off x="7452360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Alseco / ЕРЦ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45" name="Shape 142"/>
          <p:cNvSpPr/>
          <p:nvPr/>
        </p:nvSpPr>
        <p:spPr>
          <a:xfrm>
            <a:off x="8074152" y="3831336"/>
            <a:ext cx="603504" cy="548640"/>
          </a:xfrm>
          <a:prstGeom prst="rect">
            <a:avLst/>
          </a:prstGeom>
          <a:solidFill>
            <a:srgbClr val="7A2A18"/>
          </a:solidFill>
          <a:ln w="7620">
            <a:solidFill>
              <a:srgbClr val="FF8844"/>
            </a:solidFill>
            <a:prstDash val="solid"/>
          </a:ln>
        </p:spPr>
        <p:txBody>
          <a:bodyPr/>
          <a:lstStyle/>
          <a:p>
            <a:endParaRPr lang="ru-KZ" sz="700">
              <a:latin typeface="Montserrat" pitchFamily="2" charset="0"/>
            </a:endParaRPr>
          </a:p>
        </p:txBody>
      </p:sp>
      <p:sp>
        <p:nvSpPr>
          <p:cNvPr id="146" name="Text 143"/>
          <p:cNvSpPr/>
          <p:nvPr/>
        </p:nvSpPr>
        <p:spPr>
          <a:xfrm>
            <a:off x="8092440" y="3831336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E-knot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47" name="Shape 144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solidFill>
            <a:srgbClr val="0C4040"/>
          </a:solidFill>
          <a:ln w="12700">
            <a:solidFill>
              <a:srgbClr val="0C4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8" name="Shape 145"/>
          <p:cNvSpPr/>
          <p:nvPr/>
        </p:nvSpPr>
        <p:spPr>
          <a:xfrm>
            <a:off x="320040" y="4480560"/>
            <a:ext cx="219456" cy="274320"/>
          </a:xfrm>
          <a:prstGeom prst="rect">
            <a:avLst/>
          </a:prstGeom>
          <a:solidFill>
            <a:srgbClr val="0C4040"/>
          </a:solidFill>
          <a:ln w="12700">
            <a:solidFill>
              <a:srgbClr val="0C4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9" name="Text 146"/>
          <p:cNvSpPr/>
          <p:nvPr/>
        </p:nvSpPr>
        <p:spPr>
          <a:xfrm>
            <a:off x="320040" y="4480560"/>
            <a:ext cx="219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SEC</a:t>
            </a:r>
            <a:endParaRPr lang="en-US" sz="600" dirty="0">
              <a:latin typeface="Montserrat" pitchFamily="2" charset="0"/>
            </a:endParaRPr>
          </a:p>
        </p:txBody>
      </p:sp>
      <p:sp>
        <p:nvSpPr>
          <p:cNvPr id="150" name="Text 147"/>
          <p:cNvSpPr/>
          <p:nvPr/>
        </p:nvSpPr>
        <p:spPr>
          <a:xfrm>
            <a:off x="630936" y="4480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AAFFE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🔐  Security:  Zero-trust  ·  Биометрия  ·  TLS 1.3  ·  Регулярный pentest  ·  Шифрование данных в покое  ·  Страхование киберрисков  ·  99.9% SLA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151" name="Shape 148"/>
          <p:cNvSpPr/>
          <p:nvPr/>
        </p:nvSpPr>
        <p:spPr>
          <a:xfrm>
            <a:off x="4535424" y="1463040"/>
            <a:ext cx="73152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2" name="Shape 149"/>
          <p:cNvSpPr/>
          <p:nvPr/>
        </p:nvSpPr>
        <p:spPr>
          <a:xfrm>
            <a:off x="4535424" y="2039112"/>
            <a:ext cx="73152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3" name="Shape 150"/>
          <p:cNvSpPr/>
          <p:nvPr/>
        </p:nvSpPr>
        <p:spPr>
          <a:xfrm>
            <a:off x="4535424" y="3511296"/>
            <a:ext cx="73152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4" name="Shape 151"/>
          <p:cNvSpPr/>
          <p:nvPr/>
        </p:nvSpPr>
        <p:spPr>
          <a:xfrm>
            <a:off x="4535424" y="4434840"/>
            <a:ext cx="73152" cy="457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2" name="Shape 129"/>
          <p:cNvSpPr/>
          <p:nvPr/>
        </p:nvSpPr>
        <p:spPr>
          <a:xfrm>
            <a:off x="4599432" y="3557016"/>
            <a:ext cx="219456" cy="877824"/>
          </a:xfrm>
          <a:prstGeom prst="rect">
            <a:avLst/>
          </a:prstGeom>
          <a:solidFill>
            <a:srgbClr val="7A2A18"/>
          </a:solidFill>
          <a:ln w="12700">
            <a:solidFill>
              <a:srgbClr val="7A2A18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Необходимые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интеграции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Smart Bridge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42245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77240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292608" y="777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ЕНПФ / КГД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536192" y="777240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Мгновенное подтверждение дохода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при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скоринге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92608" y="1307592"/>
            <a:ext cx="4224528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292608" y="1307592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292608" y="13075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ГИРН (МЮ)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36192" y="130759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Онлайн-регистрация права собственности через блокчейн-узел ACB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2608" y="1837944"/>
            <a:ext cx="42245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292608" y="1837944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292608" y="18379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НУЦ / ЭЦП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536192" y="1837944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Подписание ДДУ, ипотечного договора, договора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аренды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онлайн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92608" y="2368296"/>
            <a:ext cx="4224528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292608" y="2368296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292608" y="23682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МВД (прописка)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536192" y="2368296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Автоматическая смена регистрации после получения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ключей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без ЦОНа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681728" y="777240"/>
            <a:ext cx="42245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1"/>
          <p:cNvSpPr/>
          <p:nvPr/>
        </p:nvSpPr>
        <p:spPr>
          <a:xfrm>
            <a:off x="4681728" y="777240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81728" y="777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ПКБ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925312" y="777240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Скоринг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мщиков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: кредитная история из единой базы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681728" y="1307592"/>
            <a:ext cx="4224528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5"/>
          <p:cNvSpPr/>
          <p:nvPr/>
        </p:nvSpPr>
        <p:spPr>
          <a:xfrm>
            <a:off x="4681728" y="1307592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4681728" y="13075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Е-нотариат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925312" y="1307592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Удал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нные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согласия супруга, заверение ДДУ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без визита к нотариусу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81728" y="1837944"/>
            <a:ext cx="422452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Shape 29"/>
          <p:cNvSpPr/>
          <p:nvPr/>
        </p:nvSpPr>
        <p:spPr>
          <a:xfrm>
            <a:off x="4681728" y="1837944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4681728" y="183794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ЕРЦ / Alseco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925312" y="1837944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Оплата ЖКУ в один клик. Аналитика потребления ресурсов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81728" y="2368296"/>
            <a:ext cx="4224528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33"/>
          <p:cNvSpPr/>
          <p:nvPr/>
        </p:nvSpPr>
        <p:spPr>
          <a:xfrm>
            <a:off x="4681728" y="2368296"/>
            <a:ext cx="1188720" cy="45720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4681728" y="236829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Apartchain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925312" y="2368296"/>
            <a:ext cx="2907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Блокчейн-реестр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токенов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регуляторно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одобренный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НБ РК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47472" y="4089754"/>
            <a:ext cx="8558784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384048" y="4076634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Клиент соглашается на доступ к данным один раз при регистрации. Все взаимодействия с госбазами — автоматически в фоновом режиме.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4592"/>
            <a:ext cx="1600200" cy="2885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182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 в ACB </a:t>
            </a:r>
            <a:r>
              <a:rPr lang="ru-RU" sz="20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 это не криптовалюта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11480" y="859536"/>
            <a:ext cx="832104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411480" y="987552"/>
            <a:ext cx="3977640" cy="3977640"/>
          </a:xfrm>
          <a:prstGeom prst="rect">
            <a:avLst/>
          </a:prstGeom>
          <a:solidFill>
            <a:srgbClr val="1B2134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1033272" y="176479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5"/>
          <p:cNvSpPr/>
          <p:nvPr/>
        </p:nvSpPr>
        <p:spPr>
          <a:xfrm rot="9206097">
            <a:off x="1097280" y="1828800"/>
            <a:ext cx="1124563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6"/>
          <p:cNvSpPr/>
          <p:nvPr/>
        </p:nvSpPr>
        <p:spPr>
          <a:xfrm>
            <a:off x="1856232" y="130759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 rot="6047058">
            <a:off x="1920240" y="1371600"/>
            <a:ext cx="977382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8"/>
          <p:cNvSpPr/>
          <p:nvPr/>
        </p:nvSpPr>
        <p:spPr>
          <a:xfrm>
            <a:off x="3044952" y="158191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9"/>
          <p:cNvSpPr/>
          <p:nvPr/>
        </p:nvSpPr>
        <p:spPr>
          <a:xfrm rot="2057213">
            <a:off x="2103120" y="1645920"/>
            <a:ext cx="1217389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1307592" y="240487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 rot="-10162821">
            <a:off x="1371600" y="2331720"/>
            <a:ext cx="744268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2"/>
          <p:cNvSpPr/>
          <p:nvPr/>
        </p:nvSpPr>
        <p:spPr>
          <a:xfrm>
            <a:off x="2770632" y="222199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Shape 13"/>
          <p:cNvSpPr/>
          <p:nvPr/>
        </p:nvSpPr>
        <p:spPr>
          <a:xfrm rot="214580">
            <a:off x="2103120" y="2286000"/>
            <a:ext cx="732947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4"/>
          <p:cNvSpPr/>
          <p:nvPr/>
        </p:nvSpPr>
        <p:spPr>
          <a:xfrm>
            <a:off x="2130552" y="286207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 rot="-4875230">
            <a:off x="2103120" y="2331720"/>
            <a:ext cx="601353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6"/>
          <p:cNvSpPr/>
          <p:nvPr/>
        </p:nvSpPr>
        <p:spPr>
          <a:xfrm>
            <a:off x="850392" y="295351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7"/>
          <p:cNvSpPr/>
          <p:nvPr/>
        </p:nvSpPr>
        <p:spPr>
          <a:xfrm rot="-9001102">
            <a:off x="914400" y="2331720"/>
            <a:ext cx="1372362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8"/>
          <p:cNvSpPr/>
          <p:nvPr/>
        </p:nvSpPr>
        <p:spPr>
          <a:xfrm>
            <a:off x="3136392" y="3136392"/>
            <a:ext cx="128016" cy="128016"/>
          </a:xfrm>
          <a:prstGeom prst="ellipse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19"/>
          <p:cNvSpPr/>
          <p:nvPr/>
        </p:nvSpPr>
        <p:spPr>
          <a:xfrm rot="-2302049">
            <a:off x="2103120" y="2331720"/>
            <a:ext cx="1399510" cy="22860"/>
          </a:xfrm>
          <a:prstGeom prst="rect">
            <a:avLst/>
          </a:prstGeom>
          <a:solidFill>
            <a:srgbClr val="6B7894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0"/>
          <p:cNvSpPr/>
          <p:nvPr/>
        </p:nvSpPr>
        <p:spPr>
          <a:xfrm>
            <a:off x="1901952" y="2130552"/>
            <a:ext cx="402336" cy="402336"/>
          </a:xfrm>
          <a:prstGeom prst="ellipse">
            <a:avLst/>
          </a:prstGeom>
          <a:solidFill>
            <a:srgbClr val="444455"/>
          </a:solidFill>
          <a:ln w="1270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Shape 21"/>
          <p:cNvSpPr/>
          <p:nvPr/>
        </p:nvSpPr>
        <p:spPr>
          <a:xfrm>
            <a:off x="1993392" y="2276856"/>
            <a:ext cx="219456" cy="182880"/>
          </a:xfrm>
          <a:prstGeom prst="rect">
            <a:avLst/>
          </a:prstGeom>
          <a:solidFill>
            <a:srgbClr val="B0B8CC"/>
          </a:solidFill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Shape 22"/>
          <p:cNvSpPr/>
          <p:nvPr/>
        </p:nvSpPr>
        <p:spPr>
          <a:xfrm>
            <a:off x="2011680" y="2148840"/>
            <a:ext cx="182880" cy="155448"/>
          </a:xfrm>
          <a:prstGeom prst="ellipse">
            <a:avLst/>
          </a:prstGeom>
          <a:solidFill>
            <a:srgbClr val="1A1F2E"/>
          </a:solidFill>
          <a:ln w="3175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3"/>
          <p:cNvSpPr/>
          <p:nvPr/>
        </p:nvSpPr>
        <p:spPr>
          <a:xfrm rot="2700000">
            <a:off x="960120" y="1170432"/>
            <a:ext cx="164592" cy="237744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4"/>
          <p:cNvSpPr/>
          <p:nvPr/>
        </p:nvSpPr>
        <p:spPr>
          <a:xfrm rot="-2700000">
            <a:off x="960120" y="1170432"/>
            <a:ext cx="164592" cy="237744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5"/>
          <p:cNvSpPr/>
          <p:nvPr/>
        </p:nvSpPr>
        <p:spPr>
          <a:xfrm rot="2700000">
            <a:off x="603504" y="3419856"/>
            <a:ext cx="164592" cy="36576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26"/>
          <p:cNvSpPr/>
          <p:nvPr/>
        </p:nvSpPr>
        <p:spPr>
          <a:xfrm rot="-2700000">
            <a:off x="603504" y="3419856"/>
            <a:ext cx="164592" cy="36576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7"/>
          <p:cNvSpPr/>
          <p:nvPr/>
        </p:nvSpPr>
        <p:spPr>
          <a:xfrm>
            <a:off x="877824" y="33832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Публичная сеть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2" name="Shape 28"/>
          <p:cNvSpPr/>
          <p:nvPr/>
        </p:nvSpPr>
        <p:spPr>
          <a:xfrm rot="2700000">
            <a:off x="603504" y="3767328"/>
            <a:ext cx="164592" cy="36576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Shape 29"/>
          <p:cNvSpPr/>
          <p:nvPr/>
        </p:nvSpPr>
        <p:spPr>
          <a:xfrm rot="-2700000">
            <a:off x="603504" y="3767328"/>
            <a:ext cx="164592" cy="36576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0"/>
          <p:cNvSpPr/>
          <p:nvPr/>
        </p:nvSpPr>
        <p:spPr>
          <a:xfrm>
            <a:off x="877824" y="37307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Спекулятивные активы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5" name="Shape 31"/>
          <p:cNvSpPr/>
          <p:nvPr/>
        </p:nvSpPr>
        <p:spPr>
          <a:xfrm rot="2700000">
            <a:off x="603504" y="4114800"/>
            <a:ext cx="164592" cy="36576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32"/>
          <p:cNvSpPr/>
          <p:nvPr/>
        </p:nvSpPr>
        <p:spPr>
          <a:xfrm rot="-2700000">
            <a:off x="603504" y="4114800"/>
            <a:ext cx="164592" cy="36576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3"/>
          <p:cNvSpPr/>
          <p:nvPr/>
        </p:nvSpPr>
        <p:spPr>
          <a:xfrm>
            <a:off x="877824" y="40782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Анонимные транзакции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4572000" y="987552"/>
            <a:ext cx="4160520" cy="3977640"/>
          </a:xfrm>
          <a:prstGeom prst="rect">
            <a:avLst/>
          </a:prstGeom>
          <a:solidFill>
            <a:srgbClr val="1A2020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Shape 35"/>
          <p:cNvSpPr/>
          <p:nvPr/>
        </p:nvSpPr>
        <p:spPr>
          <a:xfrm>
            <a:off x="4983480" y="1143000"/>
            <a:ext cx="1920240" cy="1920240"/>
          </a:xfrm>
          <a:prstGeom prst="rect">
            <a:avLst/>
          </a:prstGeom>
          <a:solidFill>
            <a:srgbClr val="1E2830"/>
          </a:solidFill>
          <a:ln w="1905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Shape 36"/>
          <p:cNvSpPr/>
          <p:nvPr/>
        </p:nvSpPr>
        <p:spPr>
          <a:xfrm>
            <a:off x="5463540" y="1143000"/>
            <a:ext cx="36576" cy="1920240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Shape 37"/>
          <p:cNvSpPr/>
          <p:nvPr/>
        </p:nvSpPr>
        <p:spPr>
          <a:xfrm>
            <a:off x="4983480" y="1623060"/>
            <a:ext cx="192024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Shape 38"/>
          <p:cNvSpPr/>
          <p:nvPr/>
        </p:nvSpPr>
        <p:spPr>
          <a:xfrm>
            <a:off x="5943600" y="1143000"/>
            <a:ext cx="36576" cy="1920240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Shape 39"/>
          <p:cNvSpPr/>
          <p:nvPr/>
        </p:nvSpPr>
        <p:spPr>
          <a:xfrm>
            <a:off x="4983480" y="2103120"/>
            <a:ext cx="192024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Shape 40"/>
          <p:cNvSpPr/>
          <p:nvPr/>
        </p:nvSpPr>
        <p:spPr>
          <a:xfrm>
            <a:off x="6423660" y="1143000"/>
            <a:ext cx="36576" cy="1920240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Shape 41"/>
          <p:cNvSpPr/>
          <p:nvPr/>
        </p:nvSpPr>
        <p:spPr>
          <a:xfrm>
            <a:off x="4983480" y="2583180"/>
            <a:ext cx="192024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42"/>
          <p:cNvSpPr/>
          <p:nvPr/>
        </p:nvSpPr>
        <p:spPr>
          <a:xfrm>
            <a:off x="4919472" y="107899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Shape 43"/>
          <p:cNvSpPr/>
          <p:nvPr/>
        </p:nvSpPr>
        <p:spPr>
          <a:xfrm>
            <a:off x="5399532" y="107899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44"/>
          <p:cNvSpPr/>
          <p:nvPr/>
        </p:nvSpPr>
        <p:spPr>
          <a:xfrm>
            <a:off x="5879592" y="107899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Shape 45"/>
          <p:cNvSpPr/>
          <p:nvPr/>
        </p:nvSpPr>
        <p:spPr>
          <a:xfrm>
            <a:off x="6359652" y="107899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Shape 46"/>
          <p:cNvSpPr/>
          <p:nvPr/>
        </p:nvSpPr>
        <p:spPr>
          <a:xfrm>
            <a:off x="6839712" y="107899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Shape 47"/>
          <p:cNvSpPr/>
          <p:nvPr/>
        </p:nvSpPr>
        <p:spPr>
          <a:xfrm>
            <a:off x="4919472" y="155905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Shape 48"/>
          <p:cNvSpPr/>
          <p:nvPr/>
        </p:nvSpPr>
        <p:spPr>
          <a:xfrm>
            <a:off x="5399532" y="155905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Shape 49"/>
          <p:cNvSpPr/>
          <p:nvPr/>
        </p:nvSpPr>
        <p:spPr>
          <a:xfrm>
            <a:off x="5879592" y="155905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Shape 50"/>
          <p:cNvSpPr/>
          <p:nvPr/>
        </p:nvSpPr>
        <p:spPr>
          <a:xfrm>
            <a:off x="6359652" y="155905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Shape 51"/>
          <p:cNvSpPr/>
          <p:nvPr/>
        </p:nvSpPr>
        <p:spPr>
          <a:xfrm>
            <a:off x="6839712" y="155905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Shape 52"/>
          <p:cNvSpPr/>
          <p:nvPr/>
        </p:nvSpPr>
        <p:spPr>
          <a:xfrm>
            <a:off x="4919472" y="203911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Shape 53"/>
          <p:cNvSpPr/>
          <p:nvPr/>
        </p:nvSpPr>
        <p:spPr>
          <a:xfrm>
            <a:off x="5399532" y="203911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8" name="Shape 54"/>
          <p:cNvSpPr/>
          <p:nvPr/>
        </p:nvSpPr>
        <p:spPr>
          <a:xfrm>
            <a:off x="5879592" y="203911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Shape 55"/>
          <p:cNvSpPr/>
          <p:nvPr/>
        </p:nvSpPr>
        <p:spPr>
          <a:xfrm>
            <a:off x="6359652" y="203911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Shape 56"/>
          <p:cNvSpPr/>
          <p:nvPr/>
        </p:nvSpPr>
        <p:spPr>
          <a:xfrm>
            <a:off x="6839712" y="203911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Shape 57"/>
          <p:cNvSpPr/>
          <p:nvPr/>
        </p:nvSpPr>
        <p:spPr>
          <a:xfrm>
            <a:off x="4919472" y="251917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Shape 58"/>
          <p:cNvSpPr/>
          <p:nvPr/>
        </p:nvSpPr>
        <p:spPr>
          <a:xfrm>
            <a:off x="5399532" y="251917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3" name="Shape 59"/>
          <p:cNvSpPr/>
          <p:nvPr/>
        </p:nvSpPr>
        <p:spPr>
          <a:xfrm>
            <a:off x="5879592" y="251917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Shape 60"/>
          <p:cNvSpPr/>
          <p:nvPr/>
        </p:nvSpPr>
        <p:spPr>
          <a:xfrm>
            <a:off x="6359652" y="251917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5" name="Shape 61"/>
          <p:cNvSpPr/>
          <p:nvPr/>
        </p:nvSpPr>
        <p:spPr>
          <a:xfrm>
            <a:off x="6839712" y="251917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Shape 62"/>
          <p:cNvSpPr/>
          <p:nvPr/>
        </p:nvSpPr>
        <p:spPr>
          <a:xfrm>
            <a:off x="4919472" y="299923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Shape 63"/>
          <p:cNvSpPr/>
          <p:nvPr/>
        </p:nvSpPr>
        <p:spPr>
          <a:xfrm>
            <a:off x="5399532" y="299923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8" name="Shape 64"/>
          <p:cNvSpPr/>
          <p:nvPr/>
        </p:nvSpPr>
        <p:spPr>
          <a:xfrm>
            <a:off x="5879592" y="299923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9" name="Shape 65"/>
          <p:cNvSpPr/>
          <p:nvPr/>
        </p:nvSpPr>
        <p:spPr>
          <a:xfrm>
            <a:off x="6359652" y="299923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0" name="Shape 66"/>
          <p:cNvSpPr/>
          <p:nvPr/>
        </p:nvSpPr>
        <p:spPr>
          <a:xfrm>
            <a:off x="6839712" y="2999232"/>
            <a:ext cx="128016" cy="128016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1" name="Shape 67"/>
          <p:cNvSpPr/>
          <p:nvPr/>
        </p:nvSpPr>
        <p:spPr>
          <a:xfrm rot="-2700000">
            <a:off x="4736592" y="3520440"/>
            <a:ext cx="274320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Shape 68"/>
          <p:cNvSpPr/>
          <p:nvPr/>
        </p:nvSpPr>
        <p:spPr>
          <a:xfrm rot="2700000">
            <a:off x="4736592" y="3520440"/>
            <a:ext cx="402336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3" name="Text 69"/>
          <p:cNvSpPr/>
          <p:nvPr/>
        </p:nvSpPr>
        <p:spPr>
          <a:xfrm>
            <a:off x="5102352" y="3401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Permissioned Network</a:t>
            </a:r>
            <a:endParaRPr lang="en-US" sz="1350" dirty="0">
              <a:latin typeface="Montserrat" pitchFamily="2" charset="0"/>
            </a:endParaRPr>
          </a:p>
        </p:txBody>
      </p:sp>
      <p:sp>
        <p:nvSpPr>
          <p:cNvPr id="74" name="Shape 70"/>
          <p:cNvSpPr/>
          <p:nvPr/>
        </p:nvSpPr>
        <p:spPr>
          <a:xfrm rot="-2700000">
            <a:off x="4736592" y="3995928"/>
            <a:ext cx="274320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Shape 71"/>
          <p:cNvSpPr/>
          <p:nvPr/>
        </p:nvSpPr>
        <p:spPr>
          <a:xfrm rot="2700000">
            <a:off x="4736592" y="3995928"/>
            <a:ext cx="402336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6" name="Text 72"/>
          <p:cNvSpPr/>
          <p:nvPr/>
        </p:nvSpPr>
        <p:spPr>
          <a:xfrm>
            <a:off x="5102352" y="3877056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Это</a:t>
            </a:r>
            <a:r>
              <a:rPr lang="en-US" sz="11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распредел</a:t>
            </a:r>
            <a:r>
              <a:rPr lang="ru-RU" sz="11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нный</a:t>
            </a:r>
            <a:r>
              <a:rPr lang="en-US" sz="11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реестр прав,</a:t>
            </a:r>
            <a:endParaRPr lang="en-US" sz="11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эскроу-транзакций и токенов</a:t>
            </a:r>
            <a:endParaRPr lang="en-US" sz="11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 неизменными записями.</a:t>
            </a:r>
            <a:endParaRPr lang="en-US" sz="11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4592"/>
            <a:ext cx="1600200" cy="2885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182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Архитектура, продиктованная требованиями закона и безопасности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11480" y="859536"/>
            <a:ext cx="832104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>
            <a:off x="411480" y="987552"/>
            <a:ext cx="1737360" cy="438912"/>
          </a:xfrm>
          <a:prstGeom prst="rect">
            <a:avLst/>
          </a:prstGeom>
          <a:solidFill>
            <a:srgbClr val="252D40"/>
          </a:solidFill>
          <a:ln w="635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2148840" y="987552"/>
            <a:ext cx="3182112" cy="438912"/>
          </a:xfrm>
          <a:prstGeom prst="rect">
            <a:avLst/>
          </a:prstGeom>
          <a:solidFill>
            <a:srgbClr val="241A2A"/>
          </a:solidFill>
          <a:ln w="635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5"/>
          <p:cNvSpPr/>
          <p:nvPr/>
        </p:nvSpPr>
        <p:spPr>
          <a:xfrm>
            <a:off x="2221992" y="987552"/>
            <a:ext cx="30723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Публичный блокчейн (Solana, Binance)</a:t>
            </a:r>
            <a:endParaRPr lang="en-US" sz="1000" b="1" dirty="0">
              <a:latin typeface="Montserrat" pitchFamily="2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330952" y="987552"/>
            <a:ext cx="3401568" cy="438912"/>
          </a:xfrm>
          <a:prstGeom prst="rect">
            <a:avLst/>
          </a:prstGeom>
          <a:solidFill>
            <a:srgbClr val="2A2608"/>
          </a:solidFill>
          <a:ln w="1524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7"/>
          <p:cNvSpPr/>
          <p:nvPr/>
        </p:nvSpPr>
        <p:spPr>
          <a:xfrm>
            <a:off x="5404104" y="98755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Permissioned (Hyperledger Fabric) / ACB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11480" y="1426464"/>
            <a:ext cx="1737360" cy="694944"/>
          </a:xfrm>
          <a:prstGeom prst="rect">
            <a:avLst/>
          </a:prstGeom>
          <a:solidFill>
            <a:srgbClr val="1E253A"/>
          </a:solidFill>
          <a:ln w="508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9"/>
          <p:cNvSpPr/>
          <p:nvPr/>
        </p:nvSpPr>
        <p:spPr>
          <a:xfrm>
            <a:off x="502920" y="1499616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Регуляторный</a:t>
            </a:r>
            <a:endParaRPr lang="en-US" sz="105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статус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148840" y="1426464"/>
            <a:ext cx="3182112" cy="694944"/>
          </a:xfrm>
          <a:prstGeom prst="rect">
            <a:avLst/>
          </a:prstGeom>
          <a:solidFill>
            <a:srgbClr val="1E1530"/>
          </a:solidFill>
          <a:ln w="5080">
            <a:solidFill>
              <a:srgbClr val="66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 rot="2700000">
            <a:off x="2148840" y="1627632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2"/>
          <p:cNvSpPr/>
          <p:nvPr/>
        </p:nvSpPr>
        <p:spPr>
          <a:xfrm rot="-2700000">
            <a:off x="2148840" y="1627632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2423160" y="1499616"/>
            <a:ext cx="2852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Запрещ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АРРФР и НБ РК не разрешают хранить данные клиентов на децентрализованных сетях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330952" y="1426464"/>
            <a:ext cx="3401568" cy="694944"/>
          </a:xfrm>
          <a:prstGeom prst="rect">
            <a:avLst/>
          </a:prstGeom>
          <a:solidFill>
            <a:srgbClr val="201E06"/>
          </a:solidFill>
          <a:ln w="889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 rot="-2700000">
            <a:off x="5385816" y="1627632"/>
            <a:ext cx="256032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6"/>
          <p:cNvSpPr/>
          <p:nvPr/>
        </p:nvSpPr>
        <p:spPr>
          <a:xfrm rot="2700000">
            <a:off x="5385816" y="1627632"/>
            <a:ext cx="365760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7"/>
          <p:cNvSpPr/>
          <p:nvPr/>
        </p:nvSpPr>
        <p:spPr>
          <a:xfrm>
            <a:off x="5751576" y="149961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Одобрен</a:t>
            </a:r>
            <a:r>
              <a:rPr lang="en-US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Apartchain использует именно этот тип в регуляторной песочнице НБ РК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11480" y="2121408"/>
            <a:ext cx="1737360" cy="694944"/>
          </a:xfrm>
          <a:prstGeom prst="rect">
            <a:avLst/>
          </a:prstGeom>
          <a:solidFill>
            <a:srgbClr val="1A2034"/>
          </a:solidFill>
          <a:ln w="508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19"/>
          <p:cNvSpPr/>
          <p:nvPr/>
        </p:nvSpPr>
        <p:spPr>
          <a:xfrm>
            <a:off x="502920" y="2194560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Суверенитет</a:t>
            </a:r>
            <a:endParaRPr lang="en-US" sz="105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2148840" y="2121408"/>
            <a:ext cx="3182112" cy="694944"/>
          </a:xfrm>
          <a:prstGeom prst="rect">
            <a:avLst/>
          </a:prstGeom>
          <a:solidFill>
            <a:srgbClr val="1A1228"/>
          </a:solidFill>
          <a:ln w="5080">
            <a:solidFill>
              <a:srgbClr val="66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Shape 21"/>
          <p:cNvSpPr/>
          <p:nvPr/>
        </p:nvSpPr>
        <p:spPr>
          <a:xfrm rot="2700000">
            <a:off x="2148840" y="2322576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Shape 22"/>
          <p:cNvSpPr/>
          <p:nvPr/>
        </p:nvSpPr>
        <p:spPr>
          <a:xfrm rot="-2700000">
            <a:off x="2148840" y="2322576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3"/>
          <p:cNvSpPr/>
          <p:nvPr/>
        </p:nvSpPr>
        <p:spPr>
          <a:xfrm>
            <a:off x="2423160" y="2194560"/>
            <a:ext cx="2852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Данные на узлах по всему </a:t>
            </a: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миру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ни один не под юрисдикцией РК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5330952" y="2121408"/>
            <a:ext cx="3401568" cy="694944"/>
          </a:xfrm>
          <a:prstGeom prst="rect">
            <a:avLst/>
          </a:prstGeom>
          <a:solidFill>
            <a:srgbClr val="161E10"/>
          </a:solidFill>
          <a:ln w="889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5"/>
          <p:cNvSpPr/>
          <p:nvPr/>
        </p:nvSpPr>
        <p:spPr>
          <a:xfrm rot="-2700000">
            <a:off x="5385816" y="2322576"/>
            <a:ext cx="256032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26"/>
          <p:cNvSpPr/>
          <p:nvPr/>
        </p:nvSpPr>
        <p:spPr>
          <a:xfrm rot="2700000">
            <a:off x="5385816" y="2322576"/>
            <a:ext cx="365760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7"/>
          <p:cNvSpPr/>
          <p:nvPr/>
        </p:nvSpPr>
        <p:spPr>
          <a:xfrm>
            <a:off x="5751576" y="21945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Все узлы идентифицированы и расположены в РК или у </a:t>
            </a: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доверенных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11480" y="2816352"/>
            <a:ext cx="1737360" cy="694944"/>
          </a:xfrm>
          <a:prstGeom prst="rect">
            <a:avLst/>
          </a:prstGeom>
          <a:solidFill>
            <a:srgbClr val="1E253A"/>
          </a:solidFill>
          <a:ln w="508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29"/>
          <p:cNvSpPr/>
          <p:nvPr/>
        </p:nvSpPr>
        <p:spPr>
          <a:xfrm>
            <a:off x="502920" y="2889504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Идентификация</a:t>
            </a:r>
            <a:endParaRPr lang="en-US" sz="105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KYC/AML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2148840" y="2816352"/>
            <a:ext cx="3182112" cy="694944"/>
          </a:xfrm>
          <a:prstGeom prst="rect">
            <a:avLst/>
          </a:prstGeom>
          <a:solidFill>
            <a:srgbClr val="1E1530"/>
          </a:solidFill>
          <a:ln w="5080">
            <a:solidFill>
              <a:srgbClr val="66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31"/>
          <p:cNvSpPr/>
          <p:nvPr/>
        </p:nvSpPr>
        <p:spPr>
          <a:xfrm rot="2700000">
            <a:off x="2148840" y="3017520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32"/>
          <p:cNvSpPr/>
          <p:nvPr/>
        </p:nvSpPr>
        <p:spPr>
          <a:xfrm rot="-2700000">
            <a:off x="2148840" y="3017520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3"/>
          <p:cNvSpPr/>
          <p:nvPr/>
        </p:nvSpPr>
        <p:spPr>
          <a:xfrm>
            <a:off x="2423160" y="2889504"/>
            <a:ext cx="2852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Анонимность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невозможно выполнить требования KYC/AML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5330952" y="2816352"/>
            <a:ext cx="3401568" cy="694944"/>
          </a:xfrm>
          <a:prstGeom prst="rect">
            <a:avLst/>
          </a:prstGeom>
          <a:solidFill>
            <a:srgbClr val="201E06"/>
          </a:solidFill>
          <a:ln w="889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Shape 35"/>
          <p:cNvSpPr/>
          <p:nvPr/>
        </p:nvSpPr>
        <p:spPr>
          <a:xfrm rot="-2700000">
            <a:off x="5385816" y="3017520"/>
            <a:ext cx="256032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Shape 36"/>
          <p:cNvSpPr/>
          <p:nvPr/>
        </p:nvSpPr>
        <p:spPr>
          <a:xfrm rot="2700000">
            <a:off x="5385816" y="3017520"/>
            <a:ext cx="365760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7"/>
          <p:cNvSpPr/>
          <p:nvPr/>
        </p:nvSpPr>
        <p:spPr>
          <a:xfrm>
            <a:off x="5751576" y="2889504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Все участники известны и </a:t>
            </a:r>
            <a:r>
              <a:rPr lang="en-US" sz="900" dirty="0" err="1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верифицированы</a:t>
            </a:r>
            <a:r>
              <a:rPr lang="en-US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полное соответствие KYC/AML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411480" y="3511296"/>
            <a:ext cx="1737360" cy="694944"/>
          </a:xfrm>
          <a:prstGeom prst="rect">
            <a:avLst/>
          </a:prstGeom>
          <a:solidFill>
            <a:srgbClr val="1A2034"/>
          </a:solidFill>
          <a:ln w="508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39"/>
          <p:cNvSpPr/>
          <p:nvPr/>
        </p:nvSpPr>
        <p:spPr>
          <a:xfrm>
            <a:off x="502920" y="3584448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Расч</a:t>
            </a:r>
            <a:r>
              <a:rPr lang="ru-RU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b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ты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2148840" y="3511296"/>
            <a:ext cx="3182112" cy="694944"/>
          </a:xfrm>
          <a:prstGeom prst="rect">
            <a:avLst/>
          </a:prstGeom>
          <a:solidFill>
            <a:srgbClr val="1A1228"/>
          </a:solidFill>
          <a:ln w="5080">
            <a:solidFill>
              <a:srgbClr val="66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Shape 41"/>
          <p:cNvSpPr/>
          <p:nvPr/>
        </p:nvSpPr>
        <p:spPr>
          <a:xfrm rot="2700000">
            <a:off x="2148840" y="3712464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Shape 42"/>
          <p:cNvSpPr/>
          <p:nvPr/>
        </p:nvSpPr>
        <p:spPr>
          <a:xfrm rot="-2700000">
            <a:off x="2148840" y="3712464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Text 43"/>
          <p:cNvSpPr/>
          <p:nvPr/>
        </p:nvSpPr>
        <p:spPr>
          <a:xfrm>
            <a:off x="2423160" y="3584448"/>
            <a:ext cx="2852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Только в криптовалюте (SOL, BNB) 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запрещено для банковских операций в тенге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8" name="Shape 44"/>
          <p:cNvSpPr/>
          <p:nvPr/>
        </p:nvSpPr>
        <p:spPr>
          <a:xfrm>
            <a:off x="5330952" y="3511296"/>
            <a:ext cx="3401568" cy="694944"/>
          </a:xfrm>
          <a:prstGeom prst="rect">
            <a:avLst/>
          </a:prstGeom>
          <a:solidFill>
            <a:srgbClr val="161E10"/>
          </a:solidFill>
          <a:ln w="889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Shape 45"/>
          <p:cNvSpPr/>
          <p:nvPr/>
        </p:nvSpPr>
        <p:spPr>
          <a:xfrm rot="-2700000">
            <a:off x="5385816" y="3712464"/>
            <a:ext cx="256032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Shape 46"/>
          <p:cNvSpPr/>
          <p:nvPr/>
        </p:nvSpPr>
        <p:spPr>
          <a:xfrm rot="2700000">
            <a:off x="5385816" y="3712464"/>
            <a:ext cx="365760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7"/>
          <p:cNvSpPr/>
          <p:nvPr/>
        </p:nvSpPr>
        <p:spPr>
          <a:xfrm>
            <a:off x="5751576" y="358444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Расч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ты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 тенге через банковскую инфраструктуру, </a:t>
            </a: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только реестр прав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2" name="Shape 48"/>
          <p:cNvSpPr/>
          <p:nvPr/>
        </p:nvSpPr>
        <p:spPr>
          <a:xfrm>
            <a:off x="411480" y="4206240"/>
            <a:ext cx="1737360" cy="694944"/>
          </a:xfrm>
          <a:prstGeom prst="rect">
            <a:avLst/>
          </a:prstGeom>
          <a:solidFill>
            <a:srgbClr val="1E253A"/>
          </a:solidFill>
          <a:ln w="5080">
            <a:solidFill>
              <a:srgbClr val="6B7894"/>
            </a:solidFill>
            <a:prstDash val="solid"/>
          </a:ln>
        </p:spPr>
        <p:txBody>
          <a:bodyPr/>
          <a:lstStyle/>
          <a:p>
            <a:endParaRPr lang="ru-KZ" sz="1600">
              <a:latin typeface="Montserrat" pitchFamily="2" charset="0"/>
            </a:endParaRPr>
          </a:p>
        </p:txBody>
      </p:sp>
      <p:sp>
        <p:nvSpPr>
          <p:cNvPr id="53" name="Text 49"/>
          <p:cNvSpPr/>
          <p:nvPr/>
        </p:nvSpPr>
        <p:spPr>
          <a:xfrm>
            <a:off x="502920" y="4279392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Исправление</a:t>
            </a:r>
            <a:endParaRPr lang="en-US" sz="105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ошибок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4" name="Shape 50"/>
          <p:cNvSpPr/>
          <p:nvPr/>
        </p:nvSpPr>
        <p:spPr>
          <a:xfrm>
            <a:off x="2148840" y="4206240"/>
            <a:ext cx="3182112" cy="694944"/>
          </a:xfrm>
          <a:prstGeom prst="rect">
            <a:avLst/>
          </a:prstGeom>
          <a:solidFill>
            <a:srgbClr val="1E1530"/>
          </a:solidFill>
          <a:ln w="5080">
            <a:solidFill>
              <a:srgbClr val="66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Shape 51"/>
          <p:cNvSpPr/>
          <p:nvPr/>
        </p:nvSpPr>
        <p:spPr>
          <a:xfrm rot="2700000">
            <a:off x="2148840" y="4407408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6" name="Shape 52"/>
          <p:cNvSpPr/>
          <p:nvPr/>
        </p:nvSpPr>
        <p:spPr>
          <a:xfrm rot="-2700000">
            <a:off x="2148840" y="4407408"/>
            <a:ext cx="201168" cy="457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3"/>
          <p:cNvSpPr/>
          <p:nvPr/>
        </p:nvSpPr>
        <p:spPr>
          <a:xfrm>
            <a:off x="2423160" y="4279392"/>
            <a:ext cx="2852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Невозможно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запись необратима. Ошибка в реестре недвижимости = катастрофа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8" name="Shape 54"/>
          <p:cNvSpPr/>
          <p:nvPr/>
        </p:nvSpPr>
        <p:spPr>
          <a:xfrm>
            <a:off x="5330952" y="4206240"/>
            <a:ext cx="3401568" cy="694944"/>
          </a:xfrm>
          <a:prstGeom prst="rect">
            <a:avLst/>
          </a:prstGeom>
          <a:solidFill>
            <a:srgbClr val="201E06"/>
          </a:solidFill>
          <a:ln w="889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Shape 55"/>
          <p:cNvSpPr/>
          <p:nvPr/>
        </p:nvSpPr>
        <p:spPr>
          <a:xfrm rot="-2700000">
            <a:off x="5385816" y="4407408"/>
            <a:ext cx="256032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0" name="Shape 56"/>
          <p:cNvSpPr/>
          <p:nvPr/>
        </p:nvSpPr>
        <p:spPr>
          <a:xfrm rot="2700000">
            <a:off x="5385816" y="4407408"/>
            <a:ext cx="365760" cy="45720"/>
          </a:xfrm>
          <a:prstGeom prst="rect">
            <a:avLst/>
          </a:prstGeom>
          <a:solidFill>
            <a:srgbClr val="4CAF6A"/>
          </a:solidFill>
          <a:ln w="12700">
            <a:solidFill>
              <a:srgbClr val="4CAF6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Text 57"/>
          <p:cNvSpPr/>
          <p:nvPr/>
        </p:nvSpPr>
        <p:spPr>
          <a:xfrm>
            <a:off x="5751576" y="4279392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Контролируемый механизм исправления с участием авторизованных узлов</a:t>
            </a:r>
            <a:endParaRPr lang="en-US" sz="9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4592"/>
            <a:ext cx="1600200" cy="2885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480" y="109728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Montserrat" pitchFamily="2" charset="0"/>
                <a:ea typeface="Calibri" pitchFamily="34" charset="-122"/>
                <a:cs typeface="Calibri" pitchFamily="34" charset="-120"/>
              </a:rPr>
              <a:t>Ролевая модель сети гарантирует прозрачность и контроль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11480" y="886968"/>
            <a:ext cx="8321040" cy="3657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3"/>
          <p:cNvSpPr/>
          <p:nvPr/>
        </p:nvSpPr>
        <p:spPr>
          <a:xfrm rot="5400000">
            <a:off x="4572000" y="2825496"/>
            <a:ext cx="960120" cy="54864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4498848" y="1773936"/>
            <a:ext cx="146304" cy="146304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5"/>
          <p:cNvSpPr/>
          <p:nvPr/>
        </p:nvSpPr>
        <p:spPr>
          <a:xfrm>
            <a:off x="4572000" y="2825496"/>
            <a:ext cx="3099816" cy="54864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6"/>
          <p:cNvSpPr/>
          <p:nvPr/>
        </p:nvSpPr>
        <p:spPr>
          <a:xfrm>
            <a:off x="7644384" y="2779776"/>
            <a:ext cx="146304" cy="146304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 rot="-5400000">
            <a:off x="4572000" y="2825496"/>
            <a:ext cx="1581912" cy="54864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8"/>
          <p:cNvSpPr/>
          <p:nvPr/>
        </p:nvSpPr>
        <p:spPr>
          <a:xfrm>
            <a:off x="4498848" y="4407408"/>
            <a:ext cx="146304" cy="146304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9"/>
          <p:cNvSpPr/>
          <p:nvPr/>
        </p:nvSpPr>
        <p:spPr>
          <a:xfrm rot="-10800000">
            <a:off x="4572000" y="2825496"/>
            <a:ext cx="3118104" cy="54864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0"/>
          <p:cNvSpPr/>
          <p:nvPr/>
        </p:nvSpPr>
        <p:spPr>
          <a:xfrm>
            <a:off x="1335024" y="2779776"/>
            <a:ext cx="146304" cy="146304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3401568" y="2093976"/>
            <a:ext cx="2340864" cy="1517904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2"/>
          <p:cNvSpPr/>
          <p:nvPr/>
        </p:nvSpPr>
        <p:spPr>
          <a:xfrm>
            <a:off x="3474720" y="2167128"/>
            <a:ext cx="2194560" cy="1371600"/>
          </a:xfrm>
          <a:prstGeom prst="rect">
            <a:avLst/>
          </a:prstGeom>
          <a:solidFill>
            <a:srgbClr val="232B3E"/>
          </a:solidFill>
          <a:ln w="12700">
            <a:solidFill>
              <a:srgbClr val="232B3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Shape 13"/>
          <p:cNvSpPr/>
          <p:nvPr/>
        </p:nvSpPr>
        <p:spPr>
          <a:xfrm>
            <a:off x="4334256" y="2258568"/>
            <a:ext cx="475488" cy="40233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4"/>
          <p:cNvSpPr/>
          <p:nvPr/>
        </p:nvSpPr>
        <p:spPr>
          <a:xfrm>
            <a:off x="4389120" y="2459736"/>
            <a:ext cx="365760" cy="274320"/>
          </a:xfrm>
          <a:prstGeom prst="ellipse">
            <a:avLst/>
          </a:prstGeom>
          <a:solidFill>
            <a:srgbClr val="E0B040"/>
          </a:solidFill>
          <a:ln w="12700">
            <a:solidFill>
              <a:srgbClr val="E0B04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>
            <a:off x="4489704" y="2404872"/>
            <a:ext cx="164592" cy="164592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6"/>
          <p:cNvSpPr/>
          <p:nvPr/>
        </p:nvSpPr>
        <p:spPr>
          <a:xfrm>
            <a:off x="4498848" y="2340864"/>
            <a:ext cx="146304" cy="109728"/>
          </a:xfrm>
          <a:prstGeom prst="ellipse">
            <a:avLst/>
          </a:prstGeom>
          <a:solidFill>
            <a:srgbClr val="000000"/>
          </a:solidFill>
          <a:ln w="25400">
            <a:solidFill>
              <a:srgbClr val="1A1F2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7"/>
          <p:cNvSpPr/>
          <p:nvPr/>
        </p:nvSpPr>
        <p:spPr>
          <a:xfrm>
            <a:off x="3474720" y="27980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OPERATOR: ACB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584448" y="3072384"/>
            <a:ext cx="197510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Оператор сети. Выпускает</a:t>
            </a:r>
            <a:endParaRPr lang="en-US" sz="7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смарт-контракты. </a:t>
            </a: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Вед</a:t>
            </a:r>
            <a:r>
              <a:rPr lang="ru-RU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реестр</a:t>
            </a:r>
            <a:endParaRPr lang="en-US" sz="7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 и токенов.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419856" y="1371600"/>
            <a:ext cx="2304288" cy="950976"/>
          </a:xfrm>
          <a:prstGeom prst="rect">
            <a:avLst/>
          </a:prstGeom>
          <a:solidFill>
            <a:srgbClr val="232B3E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Shape 20"/>
          <p:cNvSpPr/>
          <p:nvPr/>
        </p:nvSpPr>
        <p:spPr>
          <a:xfrm>
            <a:off x="4846320" y="1444752"/>
            <a:ext cx="804672" cy="21945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1"/>
          <p:cNvSpPr/>
          <p:nvPr/>
        </p:nvSpPr>
        <p:spPr>
          <a:xfrm>
            <a:off x="4846320" y="1444752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3511296" y="144475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VALIDATOR: ГИРН (МЮ РК)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3511296" y="1700784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Валидирующий узел. Подтверждает</a:t>
            </a:r>
            <a:endParaRPr lang="en-US" sz="7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записи о правах собственности.</a:t>
            </a:r>
            <a:endParaRPr lang="en-US" sz="7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Источник данных.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6565392" y="2377440"/>
            <a:ext cx="2304288" cy="950976"/>
          </a:xfrm>
          <a:prstGeom prst="rect">
            <a:avLst/>
          </a:prstGeom>
          <a:solidFill>
            <a:srgbClr val="232B3E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5"/>
          <p:cNvSpPr/>
          <p:nvPr/>
        </p:nvSpPr>
        <p:spPr>
          <a:xfrm>
            <a:off x="7991856" y="2450592"/>
            <a:ext cx="804672" cy="21945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6"/>
          <p:cNvSpPr/>
          <p:nvPr/>
        </p:nvSpPr>
        <p:spPr>
          <a:xfrm>
            <a:off x="7991856" y="2450592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656832" y="245059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PARTNER: Apartchain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656832" y="2706624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Технологический</a:t>
            </a: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. Выпуск</a:t>
            </a:r>
            <a:endParaRPr lang="en-US" sz="7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 оборот токенов. </a:t>
            </a: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пилота</a:t>
            </a:r>
            <a:endParaRPr lang="en-US" sz="7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НБ РК (февраль 2026).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3419856" y="4005072"/>
            <a:ext cx="2304288" cy="950976"/>
          </a:xfrm>
          <a:prstGeom prst="rect">
            <a:avLst/>
          </a:prstGeom>
          <a:solidFill>
            <a:srgbClr val="232B3E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 sz="1400">
              <a:latin typeface="Montserrat" pitchFamily="2" charset="0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4846320" y="4078224"/>
            <a:ext cx="804672" cy="21945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1"/>
          <p:cNvSpPr/>
          <p:nvPr/>
        </p:nvSpPr>
        <p:spPr>
          <a:xfrm>
            <a:off x="4846320" y="4078224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3511296" y="407822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OBSERVER: НБ РК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3511296" y="4334256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Observer node. Доступ к реестру</a:t>
            </a:r>
            <a:endParaRPr lang="en-US" sz="7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транзакций без права на изменение.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256032" y="2377440"/>
            <a:ext cx="2304288" cy="950976"/>
          </a:xfrm>
          <a:prstGeom prst="rect">
            <a:avLst/>
          </a:prstGeom>
          <a:solidFill>
            <a:srgbClr val="232B3E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Shape 35"/>
          <p:cNvSpPr/>
          <p:nvPr/>
        </p:nvSpPr>
        <p:spPr>
          <a:xfrm>
            <a:off x="1682496" y="2450592"/>
            <a:ext cx="804672" cy="219456"/>
          </a:xfrm>
          <a:prstGeom prst="rect">
            <a:avLst/>
          </a:prstGeom>
          <a:solidFill>
            <a:srgbClr val="C9941A"/>
          </a:solidFill>
          <a:ln w="12700">
            <a:solidFill>
              <a:srgbClr val="C9941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6"/>
          <p:cNvSpPr/>
          <p:nvPr/>
        </p:nvSpPr>
        <p:spPr>
          <a:xfrm>
            <a:off x="1682496" y="2450592"/>
            <a:ext cx="804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1F2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700" dirty="0">
              <a:latin typeface="Montserrat" pitchFamily="2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347472" y="2450592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0B040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TRIGGER: Инспекторы</a:t>
            </a:r>
            <a:endParaRPr lang="en-US" sz="800" dirty="0">
              <a:latin typeface="Montserrat" pitchFamily="2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347472" y="2706624"/>
            <a:ext cx="21396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Специализированный узел.</a:t>
            </a:r>
            <a:endParaRPr lang="en-US" sz="7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Подтверждают этапы </a:t>
            </a:r>
            <a:r>
              <a:rPr lang="en-US" sz="700" dirty="0" err="1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стройки</a:t>
            </a: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endParaRPr lang="en-US" sz="7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700" dirty="0">
                <a:solidFill>
                  <a:srgbClr val="B0B8C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триггер раскрытия эскроу.</a:t>
            </a:r>
            <a:endParaRPr lang="en-US" sz="7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506" y="173436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Инфраструктура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блокчейна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411480" y="65836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Мы используем частный блокчейн (Hyperledger Fabric), одобренный регулятором. Это не 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криптовалюта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это технология 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ведения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распредел</a:t>
            </a:r>
            <a:r>
              <a:rPr lang="ru-RU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нного</a:t>
            </a:r>
            <a:r>
              <a:rPr lang="en-US" sz="11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реестра с неизменными записями о правах собственности.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08" y="1170432"/>
            <a:ext cx="1645920" cy="31866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292608" y="1170432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292608" y="11704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ACB Node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9768" y="1719072"/>
            <a:ext cx="1371600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9768" y="1719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Оператор сети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4048" y="2103120"/>
            <a:ext cx="1463040" cy="250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Выпуск смарт-контрактов. Управление эскроу и токенами.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011680" y="1170432"/>
            <a:ext cx="1645920" cy="31866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2011680" y="1170432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2011680" y="11704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ГИРН (МЮ РК)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148840" y="1719072"/>
            <a:ext cx="1371600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2148840" y="1719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Валидирующий узел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103120" y="2103120"/>
            <a:ext cx="1463040" cy="250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Подтверждение записей о правах собственности. Источник данных.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730752" y="1170432"/>
            <a:ext cx="1645920" cy="31866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3730752" y="1170432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3730752" y="11704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Apartchain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867912" y="1719072"/>
            <a:ext cx="1371600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3867912" y="1719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Технологический партнёр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822192" y="2103120"/>
            <a:ext cx="1463040" cy="250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Выпуск и оборот токенов.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пилота НБ РК (февраль 2026).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449824" y="1170432"/>
            <a:ext cx="1645920" cy="31866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5449824" y="1170432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5449824" y="11704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НБ РК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586984" y="1719072"/>
            <a:ext cx="1371600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586984" y="1719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Наблюдательный узел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541264" y="2103120"/>
            <a:ext cx="1463040" cy="250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Доступ к реестру транзакций без права на изменение.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168896" y="1170432"/>
            <a:ext cx="1645920" cy="31866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3" name="Shape 30"/>
          <p:cNvSpPr/>
          <p:nvPr/>
        </p:nvSpPr>
        <p:spPr>
          <a:xfrm>
            <a:off x="7168896" y="1170432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7168896" y="117043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Инспекторы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306056" y="1719072"/>
            <a:ext cx="1371600" cy="29260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7306056" y="17190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Специализированный узел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260336" y="2103120"/>
            <a:ext cx="1463040" cy="2505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Подтверждение этапов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строительства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триггер раскрытия эскроу.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92608" y="4572000"/>
            <a:ext cx="8558784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384048" y="457200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Результат: неизменность записей, прозрачность для регулятора и исключение человеческого фактора при раскрытии эскроу.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Смарт-контракт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как это работает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49808"/>
            <a:ext cx="201168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4980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612648" y="896112"/>
            <a:ext cx="137160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612648" y="8961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92608" y="1444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Открытие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12648" y="1883664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384048" y="1975104"/>
            <a:ext cx="1828800" cy="1815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При подписании ДДУ создается смарт-контракт с параметрами суммы, этапов стройки и условий раскрытия. Покупатель переводит деньги на эскроу-счет в 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ACB.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Запись фиксируется в </a:t>
            </a:r>
            <a:r>
              <a:rPr lang="ru-RU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блокчейне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4" name="Shape 11"/>
          <p:cNvSpPr/>
          <p:nvPr/>
        </p:nvSpPr>
        <p:spPr>
          <a:xfrm>
            <a:off x="2468880" y="749808"/>
            <a:ext cx="201168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2468880" y="74980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2788920" y="896112"/>
            <a:ext cx="137160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2788920" y="8961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468880" y="1444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788920" y="1883664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2560320" y="1975104"/>
            <a:ext cx="1828800" cy="1616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Аккредитованный инженер-инспектор (независимый от застройщика) проводит инспекцию объекта. Результат с фотофиксацией и актом загружается в платформу и попадает в </a:t>
            </a:r>
            <a:r>
              <a:rPr lang="ru-RU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21" name="Shape 18"/>
          <p:cNvSpPr/>
          <p:nvPr/>
        </p:nvSpPr>
        <p:spPr>
          <a:xfrm>
            <a:off x="4645152" y="749808"/>
            <a:ext cx="201168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2" name="Shape 19"/>
          <p:cNvSpPr/>
          <p:nvPr/>
        </p:nvSpPr>
        <p:spPr>
          <a:xfrm>
            <a:off x="4645152" y="74980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4965192" y="896112"/>
            <a:ext cx="137160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4965192" y="8961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45152" y="1444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Раскрытие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965192" y="1883664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4736592" y="1975104"/>
            <a:ext cx="1828800" cy="1815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Смарт-контракт автоматически проверяет подписанный акт и инициирует банковский перевод транша застройщику. Застройщик не звонит в банк, банк не рассматривает бумажный пакет.</a:t>
            </a:r>
          </a:p>
        </p:txBody>
      </p:sp>
      <p:sp>
        <p:nvSpPr>
          <p:cNvPr id="28" name="Shape 25"/>
          <p:cNvSpPr/>
          <p:nvPr/>
        </p:nvSpPr>
        <p:spPr>
          <a:xfrm>
            <a:off x="6821424" y="749808"/>
            <a:ext cx="2011680" cy="3072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9" name="Shape 26"/>
          <p:cNvSpPr/>
          <p:nvPr/>
        </p:nvSpPr>
        <p:spPr>
          <a:xfrm>
            <a:off x="6821424" y="74980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27"/>
          <p:cNvSpPr/>
          <p:nvPr/>
        </p:nvSpPr>
        <p:spPr>
          <a:xfrm>
            <a:off x="7141464" y="896112"/>
            <a:ext cx="1371600" cy="47548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7141464" y="8961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821424" y="1444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141464" y="1883664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1"/>
          <p:cNvSpPr/>
          <p:nvPr/>
        </p:nvSpPr>
        <p:spPr>
          <a:xfrm>
            <a:off x="6912864" y="1975104"/>
            <a:ext cx="1828800" cy="16161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Ввод в эксплуатацию = финальный транш + блокчейн-регистрация права → «Поздравляем, вы стали владельцем».</a:t>
            </a:r>
            <a:endParaRPr lang="en-US" sz="10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35409" y="4978908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Флоу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токенизации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329184" y="1243584"/>
            <a:ext cx="1645920" cy="331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329184" y="1243584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92608" y="12618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9184" y="17922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Структурирование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12064" y="2231136"/>
            <a:ext cx="12801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420624" y="2267712"/>
            <a:ext cx="1463040" cy="2207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Iconic Towers ($800 млн, SOM, CSCEC, 276,8 тыс. кв.м, ввод 2029). Три продукта: апартаменты (розница от $500), офисы А (институционалы), отель. 1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= 1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кв.м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048256" y="1243584"/>
            <a:ext cx="1645920" cy="331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4" name="Shape 11"/>
          <p:cNvSpPr/>
          <p:nvPr/>
        </p:nvSpPr>
        <p:spPr>
          <a:xfrm>
            <a:off x="2048256" y="1243584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2011680" y="12618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48256" y="17922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KYC и оплата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231136" y="2231136"/>
            <a:ext cx="12801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2139696" y="2313432"/>
            <a:ext cx="1463040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Биометрическая идентификация + подписание договора через ЭЦП.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Оплата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через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банковский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сч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ACB. 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767328" y="1243584"/>
            <a:ext cx="1645920" cy="331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0" name="Shape 17"/>
          <p:cNvSpPr/>
          <p:nvPr/>
        </p:nvSpPr>
        <p:spPr>
          <a:xfrm>
            <a:off x="3767328" y="1243584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730752" y="12618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767328" y="17922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Размещение и р</a:t>
            </a:r>
            <a:r>
              <a:rPr lang="en-US" sz="11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егистрация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950208" y="2231136"/>
            <a:ext cx="12801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3858768" y="2446020"/>
            <a:ext cx="1463040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Карточка объекта с финансовой моделью и прогнозом доходности. </a:t>
            </a:r>
            <a:endParaRPr lang="en-US" sz="10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Смарт-контракт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фиксирует право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реестре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(Hyperledger Fabric). Транзакция в блокчейне.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486400" y="1243584"/>
            <a:ext cx="1645920" cy="331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6" name="Shape 23"/>
          <p:cNvSpPr/>
          <p:nvPr/>
        </p:nvSpPr>
        <p:spPr>
          <a:xfrm>
            <a:off x="5486400" y="1243584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5449824" y="12618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486400" y="17922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Арендный доход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669280" y="2231136"/>
            <a:ext cx="12801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5577840" y="2313432"/>
            <a:ext cx="1545336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Арендатор платит → УК → смарт-контракт → автораспределение токен-холдерам ежемесячно пропорционально доле.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205472" y="1243584"/>
            <a:ext cx="1645920" cy="331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29"/>
          <p:cNvSpPr/>
          <p:nvPr/>
        </p:nvSpPr>
        <p:spPr>
          <a:xfrm>
            <a:off x="7205472" y="1243584"/>
            <a:ext cx="1645920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205472" y="124358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>
              <a:latin typeface="Montserrat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205472" y="17922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Вторичный рынок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388352" y="2231136"/>
            <a:ext cx="12801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7296912" y="2313432"/>
            <a:ext cx="1463040" cy="1837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Продажа токена через платформу ACB за 1 день. </a:t>
            </a:r>
            <a:endParaRPr lang="ru-RU" sz="1000" dirty="0">
              <a:solidFill>
                <a:srgbClr val="4A4A4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Срок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выхода: 1 день vs 3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6 месяцев.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29102F-1B5F-CB12-4948-7CB8EF9DFF06}"/>
              </a:ext>
            </a:extLst>
          </p:cNvPr>
          <p:cNvSpPr txBox="1"/>
          <p:nvPr/>
        </p:nvSpPr>
        <p:spPr>
          <a:xfrm>
            <a:off x="401752" y="711053"/>
            <a:ext cx="6684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Трансформация</a:t>
            </a:r>
            <a:r>
              <a:rPr lang="en-US" sz="12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бетона</a:t>
            </a:r>
            <a:r>
              <a:rPr lang="en-US" sz="12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2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ликвидный</a:t>
            </a:r>
            <a:r>
              <a:rPr lang="en-US" sz="12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финансовый</a:t>
            </a:r>
            <a:r>
              <a:rPr lang="en-US" sz="1200" i="1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актив</a:t>
            </a:r>
            <a:endParaRPr lang="en-US" sz="12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Команда реализации PropTech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77240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292608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92608" y="1572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Product &amp; Strategy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2648" y="2011680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Shape 9"/>
          <p:cNvSpPr/>
          <p:nvPr/>
        </p:nvSpPr>
        <p:spPr>
          <a:xfrm>
            <a:off x="475488" y="225856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621792" y="2084832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PropTech-директор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5488" y="2825496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621792" y="2688336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Product Owner кластеров (B2C, B2B, Invest)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5488" y="3392424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612648" y="3172968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Data &amp; Analytics lead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458544" y="7152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468880" y="777240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2468880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2468880" y="1572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788920" y="2011680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20"/>
          <p:cNvSpPr/>
          <p:nvPr/>
        </p:nvSpPr>
        <p:spPr>
          <a:xfrm>
            <a:off x="2651760" y="225856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2798064" y="2048654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640124" y="2688336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2798064" y="2468880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азработчики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659712" y="3672781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2787728" y="3540900"/>
            <a:ext cx="1609344" cy="345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AI/ML инженеры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651760" y="3959352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Text 27"/>
          <p:cNvSpPr/>
          <p:nvPr/>
        </p:nvSpPr>
        <p:spPr>
          <a:xfrm>
            <a:off x="2787728" y="3732740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API &amp; интеграции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45152" y="77724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29"/>
          <p:cNvSpPr/>
          <p:nvPr/>
        </p:nvSpPr>
        <p:spPr>
          <a:xfrm>
            <a:off x="4645152" y="777240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4645152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34" name="Text 31"/>
          <p:cNvSpPr/>
          <p:nvPr/>
        </p:nvSpPr>
        <p:spPr>
          <a:xfrm>
            <a:off x="4645152" y="1572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GR &amp; Legal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965192" y="2011680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33"/>
          <p:cNvSpPr/>
          <p:nvPr/>
        </p:nvSpPr>
        <p:spPr>
          <a:xfrm>
            <a:off x="4828032" y="225856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4974336" y="2091690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Юр. 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эксперты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 цифровым активам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828032" y="2825496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4965192" y="2619756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Комплаенс и AML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28032" y="3392424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8"/>
          <p:cNvSpPr/>
          <p:nvPr/>
        </p:nvSpPr>
        <p:spPr>
          <a:xfrm>
            <a:off x="4974336" y="3255264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Регуляторные отношения (АРРФР, НБ РК)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811088" y="708064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3" name="Shape 40"/>
          <p:cNvSpPr/>
          <p:nvPr/>
        </p:nvSpPr>
        <p:spPr>
          <a:xfrm>
            <a:off x="6821424" y="777240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1"/>
          <p:cNvSpPr/>
          <p:nvPr/>
        </p:nvSpPr>
        <p:spPr>
          <a:xfrm>
            <a:off x="6821424" y="9144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45" name="Text 42"/>
          <p:cNvSpPr/>
          <p:nvPr/>
        </p:nvSpPr>
        <p:spPr>
          <a:xfrm>
            <a:off x="6821424" y="15727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7141464" y="2011680"/>
            <a:ext cx="1371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7" name="Shape 44"/>
          <p:cNvSpPr/>
          <p:nvPr/>
        </p:nvSpPr>
        <p:spPr>
          <a:xfrm>
            <a:off x="7004304" y="225856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5"/>
          <p:cNvSpPr/>
          <p:nvPr/>
        </p:nvSpPr>
        <p:spPr>
          <a:xfrm>
            <a:off x="7141464" y="2065351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Работа с девелоперами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7004304" y="2825496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7"/>
          <p:cNvSpPr/>
          <p:nvPr/>
        </p:nvSpPr>
        <p:spPr>
          <a:xfrm>
            <a:off x="7150608" y="2688336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Сервисные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(ремонт, аренда)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7004304" y="3392424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49"/>
          <p:cNvSpPr/>
          <p:nvPr/>
        </p:nvSpPr>
        <p:spPr>
          <a:xfrm>
            <a:off x="7150608" y="3255264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Партнерства и интеграции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292608" y="4432654"/>
            <a:ext cx="8558784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4" name="Text 51"/>
          <p:cNvSpPr/>
          <p:nvPr/>
        </p:nvSpPr>
        <p:spPr>
          <a:xfrm>
            <a:off x="338328" y="4423112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Ключевой принцип: PropTech-команда выделена </a:t>
            </a:r>
            <a:r>
              <a:rPr lang="en-US" sz="1050" b="1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организационно</a:t>
            </a:r>
            <a:r>
              <a:rPr lang="en-US" sz="10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прямое подчинение акционерам, вне традиционной иерархии банка.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EA2AD119-CDE7-54C4-51EB-98D7B53202A9}"/>
              </a:ext>
            </a:extLst>
          </p:cNvPr>
          <p:cNvSpPr/>
          <p:nvPr/>
        </p:nvSpPr>
        <p:spPr>
          <a:xfrm>
            <a:off x="2787728" y="3008774"/>
            <a:ext cx="16093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Блокчейн</a:t>
            </a:r>
            <a:r>
              <a:rPr lang="en-US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ru-RU" sz="10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специалисты</a:t>
            </a:r>
            <a:endParaRPr lang="en-US" sz="1050" dirty="0">
              <a:latin typeface="Montserrat" pitchFamily="2" charset="0"/>
            </a:endParaRPr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D583B16D-265D-524A-594B-9F8989FFD0F3}"/>
              </a:ext>
            </a:extLst>
          </p:cNvPr>
          <p:cNvSpPr/>
          <p:nvPr/>
        </p:nvSpPr>
        <p:spPr>
          <a:xfrm>
            <a:off x="2651760" y="3197293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Стратегия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рств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и M&amp;A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77240"/>
            <a:ext cx="422452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84048" y="8869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Krisha.kz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755648" y="868680"/>
            <a:ext cx="1097280" cy="2743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1755648" y="868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Поиск объектов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2944368" y="868680"/>
            <a:ext cx="1481328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2944368" y="86868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рство</a:t>
            </a:r>
            <a:r>
              <a:rPr lang="en-US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/ API</a:t>
            </a:r>
            <a:endParaRPr lang="en-US" sz="750" dirty="0">
              <a:latin typeface="Montserrat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84048" y="1252728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5+ млн MAU, 71% узнаваемость. M&amp;A невозможна (Kaspi). API-интеграция обеспечивает присутствие в точке первого контакта.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81728" y="777240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4681728" y="777240"/>
            <a:ext cx="422452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773168" y="8869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Apartchain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44768" y="868680"/>
            <a:ext cx="1097280" cy="2743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6"/>
          <p:cNvSpPr/>
          <p:nvPr/>
        </p:nvSpPr>
        <p:spPr>
          <a:xfrm>
            <a:off x="6144768" y="868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Токенизация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333488" y="868680"/>
            <a:ext cx="1481328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7333488" y="868680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Стратегические инвестиции</a:t>
            </a:r>
            <a:endParaRPr lang="en-US" sz="750" dirty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773168" y="1252728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Единственная компания в РК с реальным пилотом токенизации в песочнице НБ РК (февраль 2026).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92608" y="2130552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24" name="Shape 21"/>
          <p:cNvSpPr/>
          <p:nvPr/>
        </p:nvSpPr>
        <p:spPr>
          <a:xfrm>
            <a:off x="292608" y="2130552"/>
            <a:ext cx="422452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2"/>
          <p:cNvSpPr/>
          <p:nvPr/>
        </p:nvSpPr>
        <p:spPr>
          <a:xfrm>
            <a:off x="384048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ApartX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755648" y="2221992"/>
            <a:ext cx="1097280" cy="2743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1755648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Аренда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944368" y="2221992"/>
            <a:ext cx="1481328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2944368" y="22219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рство</a:t>
            </a:r>
            <a:r>
              <a:rPr lang="en-US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/ Поглощение</a:t>
            </a:r>
            <a:endParaRPr lang="en-US" sz="75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84048" y="2606040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SaaS-платформа аренды: умные замки, верификация, цифровые договоры. Резидент Astana Hub.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81728" y="2130552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2" name="Shape 29"/>
          <p:cNvSpPr/>
          <p:nvPr/>
        </p:nvSpPr>
        <p:spPr>
          <a:xfrm>
            <a:off x="4681728" y="2130552"/>
            <a:ext cx="422452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4773168" y="22402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Naimi.kz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144768" y="2221992"/>
            <a:ext cx="1097280" cy="2743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6144768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Ремонт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333488" y="2221992"/>
            <a:ext cx="1481328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7333488" y="222199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рство</a:t>
            </a:r>
            <a:r>
              <a:rPr lang="en-US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/ API</a:t>
            </a:r>
            <a:endParaRPr lang="en-US" sz="750" dirty="0">
              <a:latin typeface="Montserrat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73168" y="2606040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800 000+ специалистов. API-интеграция достаточна для маркетплейса ремонта без поглощения.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292608" y="3483864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0" name="Shape 37"/>
          <p:cNvSpPr/>
          <p:nvPr/>
        </p:nvSpPr>
        <p:spPr>
          <a:xfrm>
            <a:off x="292608" y="3483864"/>
            <a:ext cx="422452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8"/>
          <p:cNvSpPr/>
          <p:nvPr/>
        </p:nvSpPr>
        <p:spPr>
          <a:xfrm>
            <a:off x="384048" y="3593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E-knot / OSI.kz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1755648" y="3575304"/>
            <a:ext cx="1097280" cy="2743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0"/>
          <p:cNvSpPr/>
          <p:nvPr/>
        </p:nvSpPr>
        <p:spPr>
          <a:xfrm>
            <a:off x="1755648" y="3575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Управление домом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2944368" y="3575304"/>
            <a:ext cx="1481328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2944368" y="357530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750" dirty="0" err="1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рство</a:t>
            </a:r>
            <a:r>
              <a:rPr lang="en-US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/ API</a:t>
            </a:r>
            <a:endParaRPr lang="en-US" sz="750" dirty="0">
              <a:latin typeface="Montserrat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84048" y="395935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Платформы управления МКД: онлайн-собрания, голосования, бюджет дома. 98% кворум.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681728" y="3483864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8" name="Shape 45"/>
          <p:cNvSpPr/>
          <p:nvPr/>
        </p:nvSpPr>
        <p:spPr>
          <a:xfrm>
            <a:off x="4681728" y="3483864"/>
            <a:ext cx="4224528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6"/>
          <p:cNvSpPr/>
          <p:nvPr/>
        </p:nvSpPr>
        <p:spPr>
          <a:xfrm>
            <a:off x="4773168" y="35935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Alseco / ЕРЦ</a:t>
            </a:r>
            <a:endParaRPr lang="en-US" sz="1300" dirty="0">
              <a:latin typeface="Montserrat" pitchFamily="2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144768" y="3575304"/>
            <a:ext cx="1097280" cy="274320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6144768" y="357530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ЖКУ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7333488" y="3575304"/>
            <a:ext cx="1481328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0"/>
          <p:cNvSpPr/>
          <p:nvPr/>
        </p:nvSpPr>
        <p:spPr>
          <a:xfrm>
            <a:off x="7333488" y="3575304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750" dirty="0">
              <a:latin typeface="Montserrat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4773168" y="395935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Крупнейшие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расч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тные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центры РК. Без интеграции оплата коммунальных услуг в приложении невозможна.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Дорожная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карта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2026</a:t>
            </a:r>
            <a:r>
              <a:rPr lang="ru-RU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411480" y="1170432"/>
            <a:ext cx="83210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758952" y="1051560"/>
            <a:ext cx="274320" cy="27432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256032" y="1353312"/>
            <a:ext cx="1371600" cy="362102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7"/>
          <p:cNvSpPr/>
          <p:nvPr/>
        </p:nvSpPr>
        <p:spPr>
          <a:xfrm>
            <a:off x="256032" y="13898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Q3</a:t>
            </a:r>
            <a:r>
              <a:rPr lang="ru-RU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1874520"/>
            <a:ext cx="115214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365760" y="1874520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Фундамент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02336" y="244144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Text 11"/>
          <p:cNvSpPr/>
          <p:nvPr/>
        </p:nvSpPr>
        <p:spPr>
          <a:xfrm>
            <a:off x="530352" y="230428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Команда PropTech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93192" y="2962855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530352" y="2713482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Smart Bridge (ЕНПФ/КГД)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93192" y="3394610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5"/>
          <p:cNvSpPr/>
          <p:nvPr/>
        </p:nvSpPr>
        <p:spPr>
          <a:xfrm>
            <a:off x="530352" y="329700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Адаптация ВНД под эскроу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02336" y="4055165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537508" y="4135374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MVP цифровой ипотеки</a:t>
            </a:r>
            <a:endParaRPr lang="en-US" sz="900" dirty="0">
              <a:latin typeface="Montserrat" pitchFamily="2" charset="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F5D78C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SPV + pre-sale токенов Iconic Towers (май 2026)</a:t>
            </a:r>
          </a:p>
        </p:txBody>
      </p:sp>
      <p:sp>
        <p:nvSpPr>
          <p:cNvPr id="21" name="Shape 18"/>
          <p:cNvSpPr/>
          <p:nvPr/>
        </p:nvSpPr>
        <p:spPr>
          <a:xfrm>
            <a:off x="2221992" y="1051560"/>
            <a:ext cx="274320" cy="274320"/>
          </a:xfrm>
          <a:prstGeom prst="ellipse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9"/>
          <p:cNvSpPr/>
          <p:nvPr/>
        </p:nvSpPr>
        <p:spPr>
          <a:xfrm>
            <a:off x="1719072" y="1353312"/>
            <a:ext cx="1371600" cy="3621024"/>
          </a:xfrm>
          <a:prstGeom prst="rect">
            <a:avLst/>
          </a:prstGeom>
          <a:solidFill>
            <a:srgbClr val="1B3A5A"/>
          </a:solidFill>
          <a:ln w="12700">
            <a:solidFill>
              <a:srgbClr val="1B3A5A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719072" y="13898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Q1</a:t>
            </a:r>
            <a:r>
              <a:rPr lang="ru-RU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828800" y="1874520"/>
            <a:ext cx="115214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2"/>
          <p:cNvSpPr/>
          <p:nvPr/>
        </p:nvSpPr>
        <p:spPr>
          <a:xfrm>
            <a:off x="1828800" y="1874520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865376" y="244144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Text 24"/>
          <p:cNvSpPr/>
          <p:nvPr/>
        </p:nvSpPr>
        <p:spPr>
          <a:xfrm>
            <a:off x="1993392" y="230428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Цифровая ипотека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865376" y="308152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1993392" y="294436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Кабинет застройщика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865376" y="372160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1993392" y="358444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ru-RU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5 ЖК на эскроу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865376" y="436168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1993392" y="422452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Iconic Towers: привлечение капитала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685032" y="1051560"/>
            <a:ext cx="274320" cy="274320"/>
          </a:xfrm>
          <a:prstGeom prst="ellipse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32"/>
          <p:cNvSpPr/>
          <p:nvPr/>
        </p:nvSpPr>
        <p:spPr>
          <a:xfrm>
            <a:off x="3182112" y="1353312"/>
            <a:ext cx="1371600" cy="3621024"/>
          </a:xfrm>
          <a:prstGeom prst="rect">
            <a:avLst/>
          </a:prstGeom>
          <a:solidFill>
            <a:srgbClr val="2D5A1B"/>
          </a:solidFill>
          <a:ln w="12700">
            <a:solidFill>
              <a:srgbClr val="2D5A1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3"/>
          <p:cNvSpPr/>
          <p:nvPr/>
        </p:nvSpPr>
        <p:spPr>
          <a:xfrm>
            <a:off x="3182112" y="13898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Q3</a:t>
            </a:r>
            <a:r>
              <a:rPr lang="ru-RU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>
              <a:latin typeface="Montserrat" pitchFamily="2" charset="0"/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291840" y="1874520"/>
            <a:ext cx="115214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3291840" y="1874520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Цифр. сделка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3328416" y="244144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7"/>
          <p:cNvSpPr/>
          <p:nvPr/>
        </p:nvSpPr>
        <p:spPr>
          <a:xfrm>
            <a:off x="3456432" y="230428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Регистрация онлайн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3328416" y="308152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9"/>
          <p:cNvSpPr/>
          <p:nvPr/>
        </p:nvSpPr>
        <p:spPr>
          <a:xfrm>
            <a:off x="3456432" y="294436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Е-нотариат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3328416" y="372160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1"/>
          <p:cNvSpPr/>
          <p:nvPr/>
        </p:nvSpPr>
        <p:spPr>
          <a:xfrm>
            <a:off x="3456432" y="358444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AVM (оценка 3 мин.)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3328416" y="436168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3"/>
          <p:cNvSpPr/>
          <p:nvPr/>
        </p:nvSpPr>
        <p:spPr>
          <a:xfrm>
            <a:off x="3456432" y="422452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Публичный индекс цен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5148072" y="1051560"/>
            <a:ext cx="274320" cy="274320"/>
          </a:xfrm>
          <a:prstGeom prst="ellipse">
            <a:avLst/>
          </a:prstGeom>
          <a:solidFill>
            <a:srgbClr val="4A2A00"/>
          </a:solidFill>
          <a:ln w="12700">
            <a:solidFill>
              <a:srgbClr val="4A2A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Shape 45"/>
          <p:cNvSpPr/>
          <p:nvPr/>
        </p:nvSpPr>
        <p:spPr>
          <a:xfrm>
            <a:off x="4645152" y="1353312"/>
            <a:ext cx="1371600" cy="3621024"/>
          </a:xfrm>
          <a:prstGeom prst="rect">
            <a:avLst/>
          </a:prstGeom>
          <a:solidFill>
            <a:srgbClr val="4A2A00"/>
          </a:solidFill>
          <a:ln w="12700">
            <a:solidFill>
              <a:srgbClr val="4A2A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9" name="Text 46"/>
          <p:cNvSpPr/>
          <p:nvPr/>
        </p:nvSpPr>
        <p:spPr>
          <a:xfrm>
            <a:off x="4645152" y="13898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754880" y="1874520"/>
            <a:ext cx="115214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1" name="Text 48"/>
          <p:cNvSpPr/>
          <p:nvPr/>
        </p:nvSpPr>
        <p:spPr>
          <a:xfrm>
            <a:off x="4754880" y="1874520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Сервисы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4791456" y="244144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50"/>
          <p:cNvSpPr/>
          <p:nvPr/>
        </p:nvSpPr>
        <p:spPr>
          <a:xfrm>
            <a:off x="4919472" y="230428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Ипотека + ремонт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4791456" y="308152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5" name="Text 52"/>
          <p:cNvSpPr/>
          <p:nvPr/>
        </p:nvSpPr>
        <p:spPr>
          <a:xfrm>
            <a:off x="4919472" y="294436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Маркетплейс мастеров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791456" y="372160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7" name="Text 54"/>
          <p:cNvSpPr/>
          <p:nvPr/>
        </p:nvSpPr>
        <p:spPr>
          <a:xfrm>
            <a:off x="4919472" y="358444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Управление домом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791456" y="436168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9" name="Text 56"/>
          <p:cNvSpPr/>
          <p:nvPr/>
        </p:nvSpPr>
        <p:spPr>
          <a:xfrm>
            <a:off x="4919472" y="422452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Цифровая аренда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6611112" y="1051560"/>
            <a:ext cx="274320" cy="274320"/>
          </a:xfrm>
          <a:prstGeom prst="ellipse">
            <a:avLst/>
          </a:prstGeom>
          <a:solidFill>
            <a:srgbClr val="2A004A"/>
          </a:solidFill>
          <a:ln w="12700">
            <a:solidFill>
              <a:srgbClr val="2A00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1" name="Shape 58"/>
          <p:cNvSpPr/>
          <p:nvPr/>
        </p:nvSpPr>
        <p:spPr>
          <a:xfrm>
            <a:off x="6108192" y="1353312"/>
            <a:ext cx="1371600" cy="3621024"/>
          </a:xfrm>
          <a:prstGeom prst="rect">
            <a:avLst/>
          </a:prstGeom>
          <a:solidFill>
            <a:srgbClr val="2A004A"/>
          </a:solidFill>
          <a:ln w="12700">
            <a:solidFill>
              <a:srgbClr val="2A004A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Text 59"/>
          <p:cNvSpPr/>
          <p:nvPr/>
        </p:nvSpPr>
        <p:spPr>
          <a:xfrm>
            <a:off x="6108192" y="13898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3" name="Shape 60"/>
          <p:cNvSpPr/>
          <p:nvPr/>
        </p:nvSpPr>
        <p:spPr>
          <a:xfrm>
            <a:off x="6217920" y="1874520"/>
            <a:ext cx="1152144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4" name="Text 61"/>
          <p:cNvSpPr/>
          <p:nvPr/>
        </p:nvSpPr>
        <p:spPr>
          <a:xfrm>
            <a:off x="6217920" y="1874520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Инвестиции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254496" y="244144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6" name="Text 63"/>
          <p:cNvSpPr/>
          <p:nvPr/>
        </p:nvSpPr>
        <p:spPr>
          <a:xfrm>
            <a:off x="6382512" y="230428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Токены объектов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6254496" y="308152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8" name="Text 65"/>
          <p:cNvSpPr/>
          <p:nvPr/>
        </p:nvSpPr>
        <p:spPr>
          <a:xfrm>
            <a:off x="6382512" y="294436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Вторичный рынок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6254496" y="372160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0" name="Text 67"/>
          <p:cNvSpPr/>
          <p:nvPr/>
        </p:nvSpPr>
        <p:spPr>
          <a:xfrm>
            <a:off x="6382512" y="358444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Залоговый мост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71" name="Shape 68"/>
          <p:cNvSpPr/>
          <p:nvPr/>
        </p:nvSpPr>
        <p:spPr>
          <a:xfrm>
            <a:off x="6254496" y="4361688"/>
            <a:ext cx="91440" cy="9144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Text 69"/>
          <p:cNvSpPr/>
          <p:nvPr/>
        </p:nvSpPr>
        <p:spPr>
          <a:xfrm>
            <a:off x="6382512" y="422452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Регионы РК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8074152" y="1051560"/>
            <a:ext cx="274320" cy="2743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4" name="Shape 71"/>
          <p:cNvSpPr/>
          <p:nvPr/>
        </p:nvSpPr>
        <p:spPr>
          <a:xfrm>
            <a:off x="7571232" y="1353312"/>
            <a:ext cx="1371600" cy="3621024"/>
          </a:xfrm>
          <a:prstGeom prst="rect">
            <a:avLst/>
          </a:prstGeom>
          <a:solidFill>
            <a:srgbClr val="D4A017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5" name="Text 72"/>
          <p:cNvSpPr/>
          <p:nvPr/>
        </p:nvSpPr>
        <p:spPr>
          <a:xfrm>
            <a:off x="7571232" y="13898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2030–31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7680960" y="1874520"/>
            <a:ext cx="1152144" cy="3200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7" name="Text 74"/>
          <p:cNvSpPr/>
          <p:nvPr/>
        </p:nvSpPr>
        <p:spPr>
          <a:xfrm>
            <a:off x="7680960" y="1874520"/>
            <a:ext cx="1152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Лидерство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7717536" y="2441448"/>
            <a:ext cx="91440" cy="9144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9" name="Text 76"/>
          <p:cNvSpPr/>
          <p:nvPr/>
        </p:nvSpPr>
        <p:spPr>
          <a:xfrm>
            <a:off x="7845552" y="230428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100% цифровых сделок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7717536" y="3081528"/>
            <a:ext cx="91440" cy="9144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1" name="Text 78"/>
          <p:cNvSpPr/>
          <p:nvPr/>
        </p:nvSpPr>
        <p:spPr>
          <a:xfrm>
            <a:off x="7845552" y="294436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#1 ипотека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82" name="Shape 79"/>
          <p:cNvSpPr/>
          <p:nvPr/>
        </p:nvSpPr>
        <p:spPr>
          <a:xfrm>
            <a:off x="7717536" y="3721608"/>
            <a:ext cx="91440" cy="9144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3" name="Text 80"/>
          <p:cNvSpPr/>
          <p:nvPr/>
        </p:nvSpPr>
        <p:spPr>
          <a:xfrm>
            <a:off x="7845552" y="358444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#1 эскроу для ЖК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7717536" y="4361688"/>
            <a:ext cx="91440" cy="9144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5" name="Text 82"/>
          <p:cNvSpPr/>
          <p:nvPr/>
        </p:nvSpPr>
        <p:spPr>
          <a:xfrm>
            <a:off x="7845552" y="4224528"/>
            <a:ext cx="10241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Данные как B2B</a:t>
            </a:r>
            <a:endParaRPr lang="en-US" sz="90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Законодательная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база</a:t>
            </a:r>
            <a:endParaRPr lang="ru-RU" sz="2000" b="1" dirty="0">
              <a:solidFill>
                <a:srgbClr val="1A1A1A"/>
              </a:solidFill>
              <a:latin typeface="Montserrat" pitchFamily="2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4"/>
          <p:cNvSpPr/>
          <p:nvPr/>
        </p:nvSpPr>
        <p:spPr>
          <a:xfrm>
            <a:off x="365760" y="580843"/>
            <a:ext cx="8321040" cy="566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Проект</a:t>
            </a:r>
            <a:r>
              <a:rPr lang="en-US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жд</a:t>
            </a:r>
            <a:r>
              <a:rPr lang="ru-RU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i="1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завершения всех изменений для старта. ПРИНЯТО 27.03.2026: Конституционный закон о статусе Alatau City </a:t>
            </a:r>
            <a:r>
              <a:rPr lang="ru-RU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Digital by default, налоговая автономность до 2050, защита инвестиций по английскому праву. Цифровой кодекс + песочница НБ РК </a:t>
            </a:r>
            <a:r>
              <a:rPr lang="ru-RU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i="1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достаточная база. Изменения инициируются параллельно.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608" y="1115568"/>
            <a:ext cx="8558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6"/>
          <p:cNvSpPr/>
          <p:nvPr/>
        </p:nvSpPr>
        <p:spPr>
          <a:xfrm>
            <a:off x="292608" y="1115568"/>
            <a:ext cx="64008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7"/>
          <p:cNvSpPr/>
          <p:nvPr/>
        </p:nvSpPr>
        <p:spPr>
          <a:xfrm>
            <a:off x="7818120" y="1280160"/>
            <a:ext cx="96012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7818120" y="12801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0624" y="1152144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Специализированный строительный банк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0624" y="1463040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Действующий Закон о банках не содержит этого понятия. Введение </a:t>
            </a:r>
            <a:r>
              <a:rPr lang="en-US" sz="95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статуса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созда</a:t>
            </a:r>
            <a:r>
              <a:rPr lang="ru-RU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5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правовую основу для деятельности ACB в сегменте проектного финансирования.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92608" y="1865376"/>
            <a:ext cx="8558784" cy="65836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292608" y="1865376"/>
            <a:ext cx="64008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7818120" y="2029968"/>
            <a:ext cx="96012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7818120" y="202996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0624" y="1901952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 без требования кредитоспособности застройщика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0624" y="2212848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Новая проектная компания без финансовой истории не может получить кредит. Исключение нормы при наличии эскроу открывает рынок для широкого круга застройщиков.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92608" y="2615184"/>
            <a:ext cx="8558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8"/>
          <p:cNvSpPr/>
          <p:nvPr/>
        </p:nvSpPr>
        <p:spPr>
          <a:xfrm>
            <a:off x="292608" y="2615184"/>
            <a:ext cx="64008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9"/>
          <p:cNvSpPr/>
          <p:nvPr/>
        </p:nvSpPr>
        <p:spPr>
          <a:xfrm>
            <a:off x="7818120" y="2779776"/>
            <a:ext cx="96012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Text 20"/>
          <p:cNvSpPr/>
          <p:nvPr/>
        </p:nvSpPr>
        <p:spPr>
          <a:xfrm>
            <a:off x="7818120" y="277977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0624" y="2651760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Цифровая регистрация права собственности через банк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0624" y="2962656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Поправки в Закон о госрегистрации прав на </a:t>
            </a:r>
            <a:r>
              <a:rPr lang="en-US" sz="950" dirty="0" err="1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недвижимость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закрепление права банков подавать документы через API с ЭЦП без ЦОНа.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92608" y="3364992"/>
            <a:ext cx="8558784" cy="65836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4"/>
          <p:cNvSpPr/>
          <p:nvPr/>
        </p:nvSpPr>
        <p:spPr>
          <a:xfrm>
            <a:off x="292608" y="3364992"/>
            <a:ext cx="64008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Shape 25"/>
          <p:cNvSpPr/>
          <p:nvPr/>
        </p:nvSpPr>
        <p:spPr>
          <a:xfrm>
            <a:off x="7818120" y="3529584"/>
            <a:ext cx="96012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6"/>
          <p:cNvSpPr/>
          <p:nvPr/>
        </p:nvSpPr>
        <p:spPr>
          <a:xfrm>
            <a:off x="7818120" y="352958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20624" y="3401568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Токенизация </a:t>
            </a:r>
            <a:r>
              <a:rPr lang="en-US" sz="12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недвижимости</a:t>
            </a: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постоянный режим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20624" y="3712464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Сейчас возможна только в регуляторной песочнице. Для масштабирования нужны поправки в Закон о рынке ценных бумаг: токенизированные ценные бумаги, обеспеченные недвижимостью.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292608" y="4114800"/>
            <a:ext cx="85587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Shape 30"/>
          <p:cNvSpPr/>
          <p:nvPr/>
        </p:nvSpPr>
        <p:spPr>
          <a:xfrm>
            <a:off x="292608" y="4114800"/>
            <a:ext cx="64008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Shape 31"/>
          <p:cNvSpPr/>
          <p:nvPr/>
        </p:nvSpPr>
        <p:spPr>
          <a:xfrm>
            <a:off x="7818120" y="4279392"/>
            <a:ext cx="96012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7818120" y="427939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20624" y="4151376"/>
            <a:ext cx="7269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Е-нотариат как основной формат заверения сделок</a:t>
            </a:r>
            <a:endParaRPr lang="en-US" sz="1200" dirty="0">
              <a:latin typeface="Montserrat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20624" y="4462272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7A7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Закрепление онлайн-нотариальных действий как стандарта для ДДУ, согласий супруга и договоров аренды без визита к нотариусу.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Карта рисков и меры митигации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56032" y="713232"/>
            <a:ext cx="8686800" cy="3474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56032" y="7132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44752" y="7132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73552" y="71323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Вероятн.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50792" y="7132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Воздействие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65192" y="7132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Меры митигации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56032" y="1097280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 sz="900"/>
          </a:p>
        </p:txBody>
      </p:sp>
      <p:sp>
        <p:nvSpPr>
          <p:cNvPr id="14" name="Text 11"/>
          <p:cNvSpPr/>
          <p:nvPr/>
        </p:nvSpPr>
        <p:spPr>
          <a:xfrm>
            <a:off x="256032" y="109728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Конкурентный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44752" y="10972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Kaspi выходит в ипотеку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319272" y="1225296"/>
            <a:ext cx="685800" cy="29260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3319272" y="122529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050792" y="109728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Критичное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010912" y="10972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Общий акционер снижает риск конкуренции. ACB = финансовый цикл, Kaspi = трафик. Банковская лицензия + ипотека + эскроу структурный барьер.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Ускорить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рство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 Krisha.kz.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56032" y="1719072"/>
            <a:ext cx="8686800" cy="56692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8"/>
          <p:cNvSpPr/>
          <p:nvPr/>
        </p:nvSpPr>
        <p:spPr>
          <a:xfrm>
            <a:off x="201168" y="171907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Технологический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444752" y="17190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Задержка разработки / интеграций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319272" y="1847088"/>
            <a:ext cx="685800" cy="29260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3319272" y="184708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050792" y="171907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10912" y="171907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MVP-подход: запуск кластерами. Готовые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решения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ров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вместо разработки с нуля.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56032" y="2340864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 sz="900"/>
          </a:p>
        </p:txBody>
      </p:sp>
      <p:sp>
        <p:nvSpPr>
          <p:cNvPr id="28" name="Text 25"/>
          <p:cNvSpPr/>
          <p:nvPr/>
        </p:nvSpPr>
        <p:spPr>
          <a:xfrm>
            <a:off x="256032" y="234086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Регуляторный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444752" y="2340864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Задержка токенизации (постоянный режим)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319272" y="2468880"/>
            <a:ext cx="685800" cy="292608"/>
          </a:xfrm>
          <a:prstGeom prst="rect">
            <a:avLst/>
          </a:prstGeom>
          <a:solidFill>
            <a:srgbClr val="AA7700"/>
          </a:solidFill>
          <a:ln w="12700">
            <a:solidFill>
              <a:srgbClr val="AA77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3319272" y="246888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050792" y="234086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010912" y="234086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Работа в песочнице НБ РК без ожидания НПА. Участие в разработке нормативной базы.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256032" y="2962656"/>
            <a:ext cx="8686800" cy="56692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56032" y="296265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Рыночный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444752" y="296265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Низкое доверие клиентов к цифровым сделкам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319272" y="3090672"/>
            <a:ext cx="685800" cy="29260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8" name="Text 35"/>
          <p:cNvSpPr/>
          <p:nvPr/>
        </p:nvSpPr>
        <p:spPr>
          <a:xfrm>
            <a:off x="3319272" y="309067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050792" y="296265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010912" y="296265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Пилот в Alatau City как живая демонстрация. Гибридный формат на старте.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256032" y="3584448"/>
            <a:ext cx="8686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256032" y="358444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Операционный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444752" y="358444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Нехватка PropTech-специалистов в РК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3319272" y="3712464"/>
            <a:ext cx="685800" cy="29260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2"/>
          <p:cNvSpPr/>
          <p:nvPr/>
        </p:nvSpPr>
        <p:spPr>
          <a:xfrm>
            <a:off x="3319272" y="371246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050792" y="358444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5010912" y="35844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Партн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рство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с Astana Hub. Привлечение через МФЦА. M&amp;A как способ получить команду.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256032" y="4206240"/>
            <a:ext cx="8686800" cy="566928"/>
          </a:xfrm>
          <a:prstGeom prst="rect">
            <a:avLst/>
          </a:prstGeom>
          <a:solidFill>
            <a:srgbClr val="F3F0E8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56032" y="420624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Операционный</a:t>
            </a:r>
            <a:endParaRPr lang="en-US" sz="900" dirty="0">
              <a:latin typeface="Montserrat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1444752" y="420624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Преждевременное позиционирование экосистемы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3319272" y="4334256"/>
            <a:ext cx="685800" cy="292608"/>
          </a:xfrm>
          <a:prstGeom prst="rect">
            <a:avLst/>
          </a:prstGeom>
          <a:solidFill>
            <a:srgbClr val="CC2222"/>
          </a:solidFill>
          <a:ln w="12700">
            <a:solidFill>
              <a:srgbClr val="CC2222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49"/>
          <p:cNvSpPr/>
          <p:nvPr/>
        </p:nvSpPr>
        <p:spPr>
          <a:xfrm>
            <a:off x="3319272" y="433425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>
              <a:latin typeface="Montserrat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050792" y="420624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950" dirty="0">
              <a:latin typeface="Montserrat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010912" y="42062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На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старте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только реально работающие продукты. Каждый новый </a:t>
            </a:r>
            <a:r>
              <a:rPr lang="en-US" sz="95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сервис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95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только при готовности.</a:t>
            </a:r>
            <a:endParaRPr lang="en-US" sz="950" dirty="0">
              <a:latin typeface="Montserrat" pitchFamily="2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Стратегический эффект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от</a:t>
            </a:r>
            <a:r>
              <a:rPr lang="en-US" sz="2000" b="1" dirty="0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1A1A1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реализации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11480" y="621792"/>
            <a:ext cx="832104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4"/>
          <p:cNvSpPr/>
          <p:nvPr/>
        </p:nvSpPr>
        <p:spPr>
          <a:xfrm>
            <a:off x="292608" y="777240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8" name="Shape 5"/>
          <p:cNvSpPr/>
          <p:nvPr/>
        </p:nvSpPr>
        <p:spPr>
          <a:xfrm>
            <a:off x="292608" y="777240"/>
            <a:ext cx="4224528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6"/>
          <p:cNvSpPr/>
          <p:nvPr/>
        </p:nvSpPr>
        <p:spPr>
          <a:xfrm>
            <a:off x="384048" y="77724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ПОКУПАТЕЛЕЙ ЖИЛЬЯ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2336" y="1252728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Text 8"/>
          <p:cNvSpPr/>
          <p:nvPr/>
        </p:nvSpPr>
        <p:spPr>
          <a:xfrm>
            <a:off x="493776" y="11247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Ипотека за 15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минут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без справок и очередей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02336" y="1508760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Text 10"/>
          <p:cNvSpPr/>
          <p:nvPr/>
        </p:nvSpPr>
        <p:spPr>
          <a:xfrm>
            <a:off x="512064" y="136017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Эскроу: риск обманутого дольщика ликвидирован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89835" y="1762806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2"/>
          <p:cNvSpPr/>
          <p:nvPr/>
        </p:nvSpPr>
        <p:spPr>
          <a:xfrm>
            <a:off x="493776" y="162633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Ремонт и мебель включены в кредит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02336" y="2016852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93776" y="192709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Квартира - работающий актив.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Легальная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аренда и инвестиции через токенизацию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81728" y="777240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>
              <a:latin typeface="Montserrat" pitchFamily="2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81728" y="777240"/>
            <a:ext cx="4224528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4773168" y="77724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ЗАСТРОЙЩИКОВ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91456" y="1252728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9"/>
          <p:cNvSpPr/>
          <p:nvPr/>
        </p:nvSpPr>
        <p:spPr>
          <a:xfrm>
            <a:off x="4901184" y="119786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Проектное финансирование с прозрачным эскроу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91456" y="1600200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4901184" y="154533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Цифровые продажи: CRM, онлайн-ДДУ, шахматка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791456" y="1947672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6" name="Text 23"/>
          <p:cNvSpPr/>
          <p:nvPr/>
        </p:nvSpPr>
        <p:spPr>
          <a:xfrm>
            <a:off x="4901184" y="18928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Репутация на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данных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рейтинг влияет на условия финансирования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791456" y="2295144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4901184" y="22402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Handover 2.0: передача дома с IT-инфраструктурой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92608" y="2880360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30" name="Shape 27"/>
          <p:cNvSpPr/>
          <p:nvPr/>
        </p:nvSpPr>
        <p:spPr>
          <a:xfrm>
            <a:off x="292608" y="2880360"/>
            <a:ext cx="4224528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8"/>
          <p:cNvSpPr/>
          <p:nvPr/>
        </p:nvSpPr>
        <p:spPr>
          <a:xfrm>
            <a:off x="384048" y="288036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ПОСТАВЩИКОВ УСЛУГ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02336" y="3355848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0"/>
          <p:cNvSpPr/>
          <p:nvPr/>
        </p:nvSpPr>
        <p:spPr>
          <a:xfrm>
            <a:off x="512064" y="330098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Верифицированный профиль на платформе открывает поток заказов без затрат на рекламу 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02336" y="3703320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Text 32"/>
          <p:cNvSpPr/>
          <p:nvPr/>
        </p:nvSpPr>
        <p:spPr>
          <a:xfrm>
            <a:off x="512064" y="36484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Безопасная оплата через эскроу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402336" y="4050792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4"/>
          <p:cNvSpPr/>
          <p:nvPr/>
        </p:nvSpPr>
        <p:spPr>
          <a:xfrm>
            <a:off x="512064" y="39959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Рейтинг как капитал: репутация вместо рекламы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02336" y="4398264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9" name="Text 36"/>
          <p:cNvSpPr/>
          <p:nvPr/>
        </p:nvSpPr>
        <p:spPr>
          <a:xfrm>
            <a:off x="512064" y="43434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Финансирование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подтвержд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нные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контракты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681728" y="2880360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9A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KZ"/>
          </a:p>
        </p:txBody>
      </p:sp>
      <p:sp>
        <p:nvSpPr>
          <p:cNvPr id="41" name="Shape 38"/>
          <p:cNvSpPr/>
          <p:nvPr/>
        </p:nvSpPr>
        <p:spPr>
          <a:xfrm>
            <a:off x="4681728" y="2880360"/>
            <a:ext cx="4224528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2" name="Text 39"/>
          <p:cNvSpPr/>
          <p:nvPr/>
        </p:nvSpPr>
        <p:spPr>
          <a:xfrm>
            <a:off x="4773168" y="288036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ДЛЯ ACB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791456" y="3355848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1"/>
          <p:cNvSpPr/>
          <p:nvPr/>
        </p:nvSpPr>
        <p:spPr>
          <a:xfrm>
            <a:off x="4901184" y="330098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Доход на сделку ×2,9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до ₸1,58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2,91 млн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4791456" y="3703320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6" name="Text 43"/>
          <p:cNvSpPr/>
          <p:nvPr/>
        </p:nvSpPr>
        <p:spPr>
          <a:xfrm>
            <a:off x="4901184" y="36484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LTV 10 лет: ₸9,4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15,4 млн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791456" y="4050792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5"/>
          <p:cNvSpPr/>
          <p:nvPr/>
        </p:nvSpPr>
        <p:spPr>
          <a:xfrm>
            <a:off x="4901184" y="39959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Рост дохода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наращивания кредитного риска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791456" y="4398264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0" name="Text 47"/>
          <p:cNvSpPr/>
          <p:nvPr/>
        </p:nvSpPr>
        <p:spPr>
          <a:xfrm>
            <a:off x="4901184" y="43434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Lock-in: ежедневный </a:t>
            </a:r>
            <a:r>
              <a:rPr lang="en-US" sz="1000" dirty="0" err="1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контакт</a:t>
            </a:r>
            <a:r>
              <a:rPr lang="en-US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A4A4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через экосистему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16CDEE06-3677-1845-6426-0D5DEEF2E5B3}"/>
              </a:ext>
            </a:extLst>
          </p:cNvPr>
          <p:cNvSpPr/>
          <p:nvPr/>
        </p:nvSpPr>
        <p:spPr>
          <a:xfrm>
            <a:off x="493776" y="2321433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4A4A4A"/>
                </a:solidFill>
                <a:latin typeface="Montserrat" pitchFamily="2" charset="0"/>
                <a:cs typeface="Calibri" pitchFamily="34" charset="-120"/>
              </a:rPr>
              <a:t>Управление домом, ЖКУ, заявки на обслуживание - все в одном приложении </a:t>
            </a:r>
            <a:endParaRPr lang="en-US" sz="1000" dirty="0">
              <a:solidFill>
                <a:srgbClr val="4A4A4A"/>
              </a:solidFill>
              <a:latin typeface="Montserrat" pitchFamily="2" charset="0"/>
              <a:cs typeface="Calibri" pitchFamily="34" charset="-120"/>
            </a:endParaRPr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B1BED01A-0011-38F5-4FD8-3A69EA796B19}"/>
              </a:ext>
            </a:extLst>
          </p:cNvPr>
          <p:cNvSpPr/>
          <p:nvPr/>
        </p:nvSpPr>
        <p:spPr>
          <a:xfrm>
            <a:off x="402336" y="2403043"/>
            <a:ext cx="54864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"/>
            <a:ext cx="1828800" cy="3297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20116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D4A017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000" dirty="0">
              <a:latin typeface="Montserrat" pitchFamily="2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11480" y="713232"/>
            <a:ext cx="1965960" cy="14447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5"/>
          <p:cNvSpPr/>
          <p:nvPr/>
        </p:nvSpPr>
        <p:spPr>
          <a:xfrm>
            <a:off x="411480" y="713232"/>
            <a:ext cx="196596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E1E1E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GO</a:t>
            </a:r>
            <a:endParaRPr lang="en-US" sz="8000" dirty="0">
              <a:latin typeface="Montserrat" pitchFamily="2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542032" y="777240"/>
            <a:ext cx="630936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>
            <a:off x="2542032" y="777240"/>
            <a:ext cx="64008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2651759" y="813816"/>
            <a:ext cx="272862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Рынок</a:t>
            </a: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готов, но </a:t>
            </a:r>
            <a:r>
              <a:rPr lang="en-US" sz="1100" b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оцифрован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651760" y="1088136"/>
            <a:ext cx="6080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448 571 сделка/год при &lt;3% </a:t>
            </a:r>
            <a:r>
              <a:rPr lang="en-US" sz="1000" dirty="0" err="1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PropTech-проникновения</a:t>
            </a: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крупнейшая незанятая ниша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542032" y="1463040"/>
            <a:ext cx="630936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2542032" y="1463040"/>
            <a:ext cx="64008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2651759" y="1499616"/>
            <a:ext cx="2824701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Конкуренты не закрывают цикл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651760" y="1773936"/>
            <a:ext cx="6080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Ни один банк РК не предлагает поиск → ипотека → эскроу → регистрация → сервис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542032" y="2148840"/>
            <a:ext cx="630936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5"/>
          <p:cNvSpPr/>
          <p:nvPr/>
        </p:nvSpPr>
        <p:spPr>
          <a:xfrm>
            <a:off x="2542032" y="2148840"/>
            <a:ext cx="64008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6"/>
          <p:cNvSpPr/>
          <p:nvPr/>
        </p:nvSpPr>
        <p:spPr>
          <a:xfrm>
            <a:off x="2651760" y="21854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Государство</a:t>
            </a: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созда</a:t>
            </a:r>
            <a:r>
              <a:rPr lang="ru-RU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е</a:t>
            </a:r>
            <a:r>
              <a:rPr lang="en-US" sz="1100" b="1" dirty="0" err="1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т</a:t>
            </a: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 базу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2651760" y="2459736"/>
            <a:ext cx="6080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Конституционный закон 27.03.2026 + Цифровой кодекс + песочница НБ РК — правовая база создана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2542032" y="2834640"/>
            <a:ext cx="630936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19"/>
          <p:cNvSpPr/>
          <p:nvPr/>
        </p:nvSpPr>
        <p:spPr>
          <a:xfrm>
            <a:off x="2542032" y="2834640"/>
            <a:ext cx="64008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0"/>
          <p:cNvSpPr/>
          <p:nvPr/>
        </p:nvSpPr>
        <p:spPr>
          <a:xfrm>
            <a:off x="2651760" y="2871216"/>
            <a:ext cx="28247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Уникальное преимущество ACB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2651760" y="3145536"/>
            <a:ext cx="6080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Банковская лицензия + акционер = инвестор Alatau City + Iconic Towers ($800 млн, старт май 2026)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2542032" y="3520440"/>
            <a:ext cx="630936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7" name="Shape 23"/>
          <p:cNvSpPr/>
          <p:nvPr/>
        </p:nvSpPr>
        <p:spPr>
          <a:xfrm>
            <a:off x="2542032" y="3520440"/>
            <a:ext cx="64008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4"/>
          <p:cNvSpPr/>
          <p:nvPr/>
        </p:nvSpPr>
        <p:spPr>
          <a:xfrm>
            <a:off x="2651760" y="3557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Экономика убедительна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2651760" y="3831336"/>
            <a:ext cx="6080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Рост дохода ×2,9; LTV ₸9,4</a:t>
            </a:r>
            <a:r>
              <a:rPr lang="ru-RU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15,4 млн; без наращивания кредитного риска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2542032" y="4206240"/>
            <a:ext cx="6309360" cy="594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Shape 27"/>
          <p:cNvSpPr/>
          <p:nvPr/>
        </p:nvSpPr>
        <p:spPr>
          <a:xfrm>
            <a:off x="2542032" y="4206240"/>
            <a:ext cx="64008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8"/>
          <p:cNvSpPr/>
          <p:nvPr/>
        </p:nvSpPr>
        <p:spPr>
          <a:xfrm>
            <a:off x="2651760" y="4242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Окно ограничено</a:t>
            </a:r>
            <a:endParaRPr lang="en-US" sz="1100" dirty="0">
              <a:latin typeface="Montserrat" pitchFamily="2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2651760" y="4517136"/>
            <a:ext cx="6080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ru-RU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AAAAAA"/>
                </a:solidFill>
                <a:latin typeface="Montserrat" pitchFamily="2" charset="0"/>
                <a:ea typeface="Calibri" pitchFamily="34" charset="-122"/>
                <a:cs typeface="Calibri" pitchFamily="34" charset="-120"/>
              </a:rPr>
              <a:t>24 месяца до консолидации рынка вокруг других игроков</a:t>
            </a:r>
            <a:endParaRPr lang="en-US" sz="1000" dirty="0">
              <a:latin typeface="Montserrat" pitchFamily="2" charset="0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6416</Words>
  <Application>Microsoft Macintosh PowerPoint</Application>
  <PresentationFormat>Экран (16:9)</PresentationFormat>
  <Paragraphs>1041</Paragraphs>
  <Slides>43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8" baseType="lpstr">
      <vt:lpstr>Arial</vt:lpstr>
      <vt:lpstr>Calibri</vt:lpstr>
      <vt:lpstr>Montserrat</vt:lpstr>
      <vt:lpstr>Montserrat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Стратегия PropTech-трансформации — Alatau City Bank 2026</dc:title>
  <dc:subject>PptxGenJS Presentation</dc:subject>
  <dc:creator>PptxGenJS</dc:creator>
  <cp:lastModifiedBy>xxx</cp:lastModifiedBy>
  <cp:revision>41</cp:revision>
  <dcterms:created xsi:type="dcterms:W3CDTF">2026-03-27T11:45:38Z</dcterms:created>
  <dcterms:modified xsi:type="dcterms:W3CDTF">2026-03-31T12:47:45Z</dcterms:modified>
</cp:coreProperties>
</file>